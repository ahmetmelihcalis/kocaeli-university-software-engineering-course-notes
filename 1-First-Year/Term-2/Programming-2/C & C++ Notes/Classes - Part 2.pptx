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64"/>
  </p:notesMasterIdLst>
  <p:handoutMasterIdLst>
    <p:handoutMasterId r:id="rId165"/>
  </p:handoutMasterIdLst>
  <p:sldIdLst>
    <p:sldId id="301" r:id="rId3"/>
    <p:sldId id="307" r:id="rId4"/>
    <p:sldId id="308" r:id="rId5"/>
    <p:sldId id="471"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35" r:id="rId33"/>
    <p:sldId id="336" r:id="rId34"/>
    <p:sldId id="337" r:id="rId35"/>
    <p:sldId id="338" r:id="rId36"/>
    <p:sldId id="339" r:id="rId37"/>
    <p:sldId id="340" r:id="rId38"/>
    <p:sldId id="341" r:id="rId39"/>
    <p:sldId id="342" r:id="rId40"/>
    <p:sldId id="343" r:id="rId41"/>
    <p:sldId id="344" r:id="rId42"/>
    <p:sldId id="345" r:id="rId43"/>
    <p:sldId id="346" r:id="rId44"/>
    <p:sldId id="347" r:id="rId45"/>
    <p:sldId id="348" r:id="rId46"/>
    <p:sldId id="349" r:id="rId47"/>
    <p:sldId id="350" r:id="rId48"/>
    <p:sldId id="351" r:id="rId49"/>
    <p:sldId id="352" r:id="rId50"/>
    <p:sldId id="353" r:id="rId51"/>
    <p:sldId id="354" r:id="rId52"/>
    <p:sldId id="355" r:id="rId53"/>
    <p:sldId id="356" r:id="rId54"/>
    <p:sldId id="357" r:id="rId55"/>
    <p:sldId id="358" r:id="rId56"/>
    <p:sldId id="359" r:id="rId57"/>
    <p:sldId id="360" r:id="rId58"/>
    <p:sldId id="361" r:id="rId59"/>
    <p:sldId id="362" r:id="rId60"/>
    <p:sldId id="363" r:id="rId61"/>
    <p:sldId id="364" r:id="rId62"/>
    <p:sldId id="365" r:id="rId63"/>
    <p:sldId id="366" r:id="rId64"/>
    <p:sldId id="367"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382" r:id="rId80"/>
    <p:sldId id="383" r:id="rId81"/>
    <p:sldId id="384" r:id="rId82"/>
    <p:sldId id="385" r:id="rId83"/>
    <p:sldId id="386" r:id="rId84"/>
    <p:sldId id="387" r:id="rId85"/>
    <p:sldId id="388" r:id="rId86"/>
    <p:sldId id="389" r:id="rId87"/>
    <p:sldId id="390" r:id="rId88"/>
    <p:sldId id="392" r:id="rId89"/>
    <p:sldId id="393" r:id="rId90"/>
    <p:sldId id="394" r:id="rId91"/>
    <p:sldId id="395" r:id="rId92"/>
    <p:sldId id="396" r:id="rId93"/>
    <p:sldId id="397" r:id="rId94"/>
    <p:sldId id="398" r:id="rId95"/>
    <p:sldId id="399" r:id="rId96"/>
    <p:sldId id="400" r:id="rId97"/>
    <p:sldId id="401" r:id="rId98"/>
    <p:sldId id="402" r:id="rId99"/>
    <p:sldId id="403" r:id="rId100"/>
    <p:sldId id="404" r:id="rId101"/>
    <p:sldId id="405" r:id="rId102"/>
    <p:sldId id="406" r:id="rId103"/>
    <p:sldId id="407" r:id="rId104"/>
    <p:sldId id="408" r:id="rId105"/>
    <p:sldId id="409" r:id="rId106"/>
    <p:sldId id="410" r:id="rId107"/>
    <p:sldId id="411" r:id="rId108"/>
    <p:sldId id="412" r:id="rId109"/>
    <p:sldId id="413" r:id="rId110"/>
    <p:sldId id="414" r:id="rId111"/>
    <p:sldId id="415" r:id="rId112"/>
    <p:sldId id="416" r:id="rId113"/>
    <p:sldId id="417" r:id="rId114"/>
    <p:sldId id="418" r:id="rId115"/>
    <p:sldId id="419" r:id="rId116"/>
    <p:sldId id="420" r:id="rId117"/>
    <p:sldId id="421" r:id="rId118"/>
    <p:sldId id="422" r:id="rId119"/>
    <p:sldId id="423" r:id="rId120"/>
    <p:sldId id="424" r:id="rId121"/>
    <p:sldId id="425" r:id="rId122"/>
    <p:sldId id="426" r:id="rId123"/>
    <p:sldId id="427" r:id="rId124"/>
    <p:sldId id="428" r:id="rId125"/>
    <p:sldId id="429" r:id="rId126"/>
    <p:sldId id="430" r:id="rId127"/>
    <p:sldId id="431" r:id="rId128"/>
    <p:sldId id="432" r:id="rId129"/>
    <p:sldId id="433" r:id="rId130"/>
    <p:sldId id="434" r:id="rId131"/>
    <p:sldId id="435" r:id="rId132"/>
    <p:sldId id="436" r:id="rId133"/>
    <p:sldId id="437" r:id="rId134"/>
    <p:sldId id="438" r:id="rId135"/>
    <p:sldId id="439" r:id="rId136"/>
    <p:sldId id="440" r:id="rId137"/>
    <p:sldId id="472" r:id="rId138"/>
    <p:sldId id="442" r:id="rId139"/>
    <p:sldId id="443" r:id="rId140"/>
    <p:sldId id="444" r:id="rId141"/>
    <p:sldId id="445" r:id="rId142"/>
    <p:sldId id="446" r:id="rId143"/>
    <p:sldId id="447" r:id="rId144"/>
    <p:sldId id="448" r:id="rId145"/>
    <p:sldId id="449" r:id="rId146"/>
    <p:sldId id="450" r:id="rId147"/>
    <p:sldId id="451" r:id="rId148"/>
    <p:sldId id="452" r:id="rId149"/>
    <p:sldId id="453" r:id="rId150"/>
    <p:sldId id="454" r:id="rId151"/>
    <p:sldId id="455" r:id="rId152"/>
    <p:sldId id="456" r:id="rId153"/>
    <p:sldId id="457" r:id="rId154"/>
    <p:sldId id="458" r:id="rId155"/>
    <p:sldId id="459" r:id="rId156"/>
    <p:sldId id="460" r:id="rId157"/>
    <p:sldId id="461" r:id="rId158"/>
    <p:sldId id="462" r:id="rId159"/>
    <p:sldId id="463" r:id="rId160"/>
    <p:sldId id="464" r:id="rId161"/>
    <p:sldId id="465" r:id="rId162"/>
    <p:sldId id="305" r:id="rId163"/>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4088">
          <p15:clr>
            <a:srgbClr val="A4A3A4"/>
          </p15:clr>
        </p15:guide>
        <p15:guide id="2" pos="242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4E4E"/>
    <a:srgbClr val="1937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89759" autoAdjust="0"/>
  </p:normalViewPr>
  <p:slideViewPr>
    <p:cSldViewPr snapToGrid="0" snapToObjects="1">
      <p:cViewPr varScale="1">
        <p:scale>
          <a:sx n="100" d="100"/>
          <a:sy n="100" d="100"/>
        </p:scale>
        <p:origin x="1428" y="78"/>
      </p:cViewPr>
      <p:guideLst>
        <p:guide orient="horz" pos="4088"/>
        <p:guide pos="24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notesMaster" Target="notesMasters/notesMaster1.xml"/><Relationship Id="rId16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handoutMaster" Target="handoutMasters/handoutMaster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Header Placeholder 1"/>
          <p:cNvSpPr>
            <a:spLocks noGrp="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n-US" dirty="0"/>
          </a:p>
        </p:txBody>
      </p:sp>
      <p:sp>
        <p:nvSpPr>
          <p:cNvPr id="13315" name="Date Placeholder 2"/>
          <p:cNvSpPr>
            <a:spLocks noGrp="1"/>
          </p:cNvSpPr>
          <p:nvPr>
            <p:ph type="dt" sz="quarter"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vl1pPr>
          </a:lstStyle>
          <a:p>
            <a:fld id="{E3C6D3FA-7853-45BE-8501-C62527630D28}" type="datetimeFigureOut">
              <a:rPr lang="en-US" altLang="en-US"/>
              <a:pPr/>
              <a:t>4/23/2018</a:t>
            </a:fld>
            <a:endParaRPr lang="en-US" altLang="en-US" dirty="0"/>
          </a:p>
        </p:txBody>
      </p:sp>
      <p:sp>
        <p:nvSpPr>
          <p:cNvPr id="13316" name="Footer Placeholder 3"/>
          <p:cNvSpPr>
            <a:spLocks noGrp="1"/>
          </p:cNvSpPr>
          <p:nvPr>
            <p:ph type="ftr" sz="quarter" idx="2"/>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n-US" dirty="0"/>
          </a:p>
        </p:txBody>
      </p:sp>
      <p:sp>
        <p:nvSpPr>
          <p:cNvPr id="13317" name="Slide Number Placeholder 4"/>
          <p:cNvSpPr>
            <a:spLocks noGrp="1"/>
          </p:cNvSpPr>
          <p:nvPr>
            <p:ph type="sldNum" sz="quarter" idx="3"/>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4783B313-1F54-4016-957F-B2A591765F43}" type="slidenum">
              <a:rPr lang="en-US" altLang="en-US"/>
              <a:pPr/>
              <a:t>‹#›</a:t>
            </a:fld>
            <a:endParaRPr lang="en-US" alt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Shape 3"/>
          <p:cNvSpPr txBox="1">
            <a:spLocks noGrp="1"/>
          </p:cNvSpPr>
          <p:nvPr>
            <p:ph type="hdr" idx="2"/>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eaLnBrk="1" hangingPunct="1">
              <a:defRPr sz="1200"/>
            </a:lvl1pPr>
          </a:lstStyle>
          <a:p>
            <a:endParaRPr lang="en-US" altLang="en-US" dirty="0"/>
          </a:p>
        </p:txBody>
      </p:sp>
      <p:sp>
        <p:nvSpPr>
          <p:cNvPr id="12291" name="Shape 4"/>
          <p:cNvSpPr txBox="1">
            <a:spLocks noGrp="1"/>
          </p:cNvSpPr>
          <p:nvPr>
            <p:ph type="dt" idx="10"/>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lvl1pPr algn="r" eaLnBrk="1" hangingPunct="1">
              <a:defRPr sz="1200"/>
            </a:lvl1pPr>
          </a:lstStyle>
          <a:p>
            <a:endParaRPr lang="en-US" altLang="en-US" dirty="0"/>
          </a:p>
        </p:txBody>
      </p:sp>
      <p:sp>
        <p:nvSpPr>
          <p:cNvPr id="12292" name="Shape 5"/>
          <p:cNvSpPr>
            <a:spLocks noGrp="1" noRot="1" noChangeAspect="1"/>
          </p:cNvSpPr>
          <p:nvPr>
            <p:ph type="sldImg" idx="3"/>
          </p:nvPr>
        </p:nvSpPr>
        <p:spPr bwMode="auto">
          <a:xfrm>
            <a:off x="1143000" y="685800"/>
            <a:ext cx="4572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 name="T10" fmla="*/ 0 w 120000"/>
              <a:gd name="T11" fmla="*/ 0 h 120000"/>
              <a:gd name="T12" fmla="*/ 120000 w 120000"/>
              <a:gd name="T13" fmla="*/ 120000 h 120000"/>
            </a:gdLst>
            <a:ahLst/>
            <a:cxnLst>
              <a:cxn ang="0">
                <a:pos x="T0" y="T1"/>
              </a:cxn>
              <a:cxn ang="0">
                <a:pos x="T2" y="T3"/>
              </a:cxn>
              <a:cxn ang="0">
                <a:pos x="T4" y="T5"/>
              </a:cxn>
              <a:cxn ang="0">
                <a:pos x="T6" y="T7"/>
              </a:cxn>
              <a:cxn ang="0">
                <a:pos x="T8" y="T9"/>
              </a:cxn>
            </a:cxnLst>
            <a:rect l="T10" t="T11" r="T12" b="T13"/>
            <a:pathLst>
              <a:path w="120000" h="120000" extrusionOk="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sp>
      <p:sp>
        <p:nvSpPr>
          <p:cNvPr id="6" name="Shape 6"/>
          <p:cNvSpPr txBox="1">
            <a:spLocks noGrp="1"/>
          </p:cNvSpPr>
          <p:nvPr>
            <p:ph type="body" idx="1"/>
          </p:nvPr>
        </p:nvSpPr>
        <p:spPr>
          <a:xfrm>
            <a:off x="685800" y="4343400"/>
            <a:ext cx="5486400"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pPr lvl="0"/>
            <a:endParaRPr noProof="0">
              <a:sym typeface="Arial"/>
            </a:endParaRPr>
          </a:p>
        </p:txBody>
      </p:sp>
      <p:sp>
        <p:nvSpPr>
          <p:cNvPr id="12294" name="Shape 7"/>
          <p:cNvSpPr txBox="1">
            <a:spLocks noGrp="1"/>
          </p:cNvSpPr>
          <p:nvPr>
            <p:ph type="ftr" idx="11"/>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200"/>
            </a:lvl1pPr>
          </a:lstStyle>
          <a:p>
            <a:endParaRPr lang="en-US" altLang="en-US" dirty="0"/>
          </a:p>
        </p:txBody>
      </p:sp>
      <p:sp>
        <p:nvSpPr>
          <p:cNvPr id="12295" name="Shape 8"/>
          <p:cNvSpPr txBox="1">
            <a:spLocks noGrp="1"/>
          </p:cNvSpPr>
          <p:nvPr>
            <p:ph type="sldNum" idx="12"/>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b" anchorCtr="0" compatLnSpc="1">
            <a:prstTxWarp prst="textNoShape">
              <a:avLst/>
            </a:prstTxWarp>
          </a:bodyPr>
          <a:lstStyle>
            <a:lvl1pPr algn="r" eaLnBrk="1" hangingPunct="1">
              <a:buSzPct val="25000"/>
              <a:defRPr sz="1200"/>
            </a:lvl1pPr>
          </a:lstStyle>
          <a:p>
            <a:fld id="{3F13B36E-81BD-4C19-B246-FD132E16AD4A}" type="slidenum">
              <a:rPr lang="en-US" altLang="en-US"/>
              <a:pPr/>
              <a:t>‹#›</a:t>
            </a:fld>
            <a:endParaRPr lang="en-US" altLang="en-US" dirty="0"/>
          </a:p>
        </p:txBody>
      </p:sp>
    </p:spTree>
  </p:cSld>
  <p:clrMap bg1="lt1" tx1="dk1" bg2="dk2" tx2="lt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mn-ea"/>
        <a:cs typeface="+mn-cs"/>
      </a:defRPr>
    </a:lvl1pPr>
    <a:lvl2pPr marL="457200" algn="l" defTabSz="457200" rtl="0" fontAlgn="base">
      <a:spcBef>
        <a:spcPct val="30000"/>
      </a:spcBef>
      <a:spcAft>
        <a:spcPct val="0"/>
      </a:spcAft>
      <a:defRPr sz="1200" kern="1200">
        <a:solidFill>
          <a:schemeClr val="tx1"/>
        </a:solidFill>
        <a:latin typeface="+mn-lt"/>
        <a:ea typeface="+mn-ea"/>
        <a:cs typeface="+mn-cs"/>
      </a:defRPr>
    </a:lvl2pPr>
    <a:lvl3pPr marL="914400" algn="l" defTabSz="457200" rtl="0" fontAlgn="base">
      <a:spcBef>
        <a:spcPct val="30000"/>
      </a:spcBef>
      <a:spcAft>
        <a:spcPct val="0"/>
      </a:spcAft>
      <a:defRPr sz="1200" kern="1200">
        <a:solidFill>
          <a:schemeClr val="tx1"/>
        </a:solidFill>
        <a:latin typeface="+mn-lt"/>
        <a:ea typeface="+mn-ea"/>
        <a:cs typeface="+mn-cs"/>
      </a:defRPr>
    </a:lvl3pPr>
    <a:lvl4pPr marL="1371600" algn="l" defTabSz="457200" rtl="0" fontAlgn="base">
      <a:spcBef>
        <a:spcPct val="30000"/>
      </a:spcBef>
      <a:spcAft>
        <a:spcPct val="0"/>
      </a:spcAft>
      <a:defRPr sz="1200" kern="1200">
        <a:solidFill>
          <a:schemeClr val="tx1"/>
        </a:solidFill>
        <a:latin typeface="+mn-lt"/>
        <a:ea typeface="+mn-ea"/>
        <a:cs typeface="+mn-cs"/>
      </a:defRPr>
    </a:lvl4pPr>
    <a:lvl5pPr marL="1828800" algn="l" defTabSz="457200" rtl="0" fontAlgn="base">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a:headEnd/>
            <a:tailEnd/>
          </a:ln>
        </p:spPr>
      </p:sp>
      <p:sp>
        <p:nvSpPr>
          <p:cNvPr id="15363" name="Notes Placeholder 2"/>
          <p:cNvSpPr txBox="1">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r>
              <a:rPr lang="en-US" altLang="en-US" dirty="0" smtClean="0">
                <a:solidFill>
                  <a:srgbClr val="000000"/>
                </a:solidFill>
                <a:latin typeface="Arial" panose="020B0604020202020204" pitchFamily="34" charset="0"/>
                <a:cs typeface="Arial" panose="020B0604020202020204" pitchFamily="34" charset="0"/>
                <a:sym typeface="Arial" panose="020B0604020202020204" pitchFamily="34" charset="0"/>
              </a:rPr>
              <a:t>If this PowerPoint presentation contains mathematical equations, you may need to check that your computer has the following installed:</a:t>
            </a:r>
          </a:p>
          <a:p>
            <a:pPr>
              <a:spcBef>
                <a:spcPct val="0"/>
              </a:spcBef>
            </a:pPr>
            <a:r>
              <a:rPr lang="en-US" altLang="en-US" dirty="0" smtClean="0">
                <a:solidFill>
                  <a:srgbClr val="000000"/>
                </a:solidFill>
                <a:latin typeface="Arial" panose="020B0604020202020204" pitchFamily="34" charset="0"/>
                <a:cs typeface="Arial" panose="020B0604020202020204" pitchFamily="34" charset="0"/>
                <a:sym typeface="Arial" panose="020B0604020202020204" pitchFamily="34" charset="0"/>
              </a:rPr>
              <a:t>1) </a:t>
            </a:r>
            <a:r>
              <a:rPr lang="en-US" altLang="en-US" dirty="0" err="1" smtClean="0">
                <a:solidFill>
                  <a:srgbClr val="000000"/>
                </a:solidFill>
                <a:latin typeface="Arial" panose="020B0604020202020204" pitchFamily="34" charset="0"/>
                <a:cs typeface="Arial" panose="020B0604020202020204" pitchFamily="34" charset="0"/>
                <a:sym typeface="Arial" panose="020B0604020202020204" pitchFamily="34" charset="0"/>
              </a:rPr>
              <a:t>MathType</a:t>
            </a:r>
            <a:r>
              <a:rPr lang="en-US" altLang="en-US" dirty="0" smtClean="0">
                <a:solidFill>
                  <a:srgbClr val="000000"/>
                </a:solidFill>
                <a:latin typeface="Arial" panose="020B0604020202020204" pitchFamily="34" charset="0"/>
                <a:cs typeface="Arial" panose="020B0604020202020204" pitchFamily="34" charset="0"/>
                <a:sym typeface="Arial" panose="020B0604020202020204" pitchFamily="34" charset="0"/>
              </a:rPr>
              <a:t> Plugin</a:t>
            </a:r>
          </a:p>
          <a:p>
            <a:pPr>
              <a:spcBef>
                <a:spcPct val="0"/>
              </a:spcBef>
            </a:pPr>
            <a:r>
              <a:rPr lang="en-US" altLang="en-US" dirty="0" smtClean="0">
                <a:solidFill>
                  <a:srgbClr val="000000"/>
                </a:solidFill>
                <a:latin typeface="Arial" panose="020B0604020202020204" pitchFamily="34" charset="0"/>
                <a:cs typeface="Arial" panose="020B0604020202020204" pitchFamily="34" charset="0"/>
                <a:sym typeface="Arial" panose="020B0604020202020204" pitchFamily="34" charset="0"/>
              </a:rPr>
              <a:t>2) Math Player (free versions available)</a:t>
            </a:r>
          </a:p>
          <a:p>
            <a:pPr>
              <a:spcBef>
                <a:spcPct val="0"/>
              </a:spcBef>
            </a:pPr>
            <a:r>
              <a:rPr lang="en-US" altLang="en-US" dirty="0" smtClean="0">
                <a:solidFill>
                  <a:srgbClr val="000000"/>
                </a:solidFill>
                <a:latin typeface="Arial" panose="020B0604020202020204" pitchFamily="34" charset="0"/>
                <a:cs typeface="Arial" panose="020B0604020202020204" pitchFamily="34" charset="0"/>
                <a:sym typeface="Arial" panose="020B0604020202020204" pitchFamily="34" charset="0"/>
              </a:rPr>
              <a:t>3) NVDA Reader (free versions available)</a:t>
            </a:r>
          </a:p>
        </p:txBody>
      </p:sp>
      <p:sp>
        <p:nvSpPr>
          <p:cNvPr id="15364" name="Slide Number Placeholder 3"/>
          <p:cNvSpPr>
            <a:spLocks noGrp="1"/>
          </p:cNvSpPr>
          <p:nvPr>
            <p:ph type="sldNum" sz="quarter" idx="12"/>
          </p:nvPr>
        </p:nvSpPr>
        <p:spPr>
          <a:noFill/>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8668FC81-1A06-47B9-963D-1E4C1FE1EA42}" type="slidenum">
              <a:rPr lang="en-US" altLang="en-US" sz="1200"/>
              <a:pPr/>
              <a:t>1</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endParaRPr lang="en-US" altLang="en-US" sz="1800" dirty="0">
              <a:solidFill>
                <a:srgbClr val="FFFFFF"/>
              </a:solidFil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a:defRPr/>
            </a:lvl1pPr>
          </a:lstStyle>
          <a:p>
            <a:endParaRPr lang="en-US" altLang="en-US" dirty="0"/>
          </a:p>
        </p:txBody>
      </p:sp>
      <p:sp>
        <p:nvSpPr>
          <p:cNvPr id="6" name="Shape 22"/>
          <p:cNvSpPr txBox="1">
            <a:spLocks noGrp="1"/>
          </p:cNvSpPr>
          <p:nvPr>
            <p:ph type="dt" idx="11"/>
          </p:nvPr>
        </p:nvSpPr>
        <p:spPr/>
        <p:txBody>
          <a:bodyPr/>
          <a:lstStyle>
            <a:lvl1pPr>
              <a:defRPr/>
            </a:lvl1pPr>
          </a:lstStyle>
          <a:p>
            <a:endParaRPr lang="en-US" altLang="en-US" dirty="0"/>
          </a:p>
        </p:txBody>
      </p:sp>
      <p:sp>
        <p:nvSpPr>
          <p:cNvPr id="7" name="Shape 23"/>
          <p:cNvSpPr txBox="1">
            <a:spLocks noGrp="1"/>
          </p:cNvSpPr>
          <p:nvPr>
            <p:ph type="sldNum" idx="12"/>
          </p:nvPr>
        </p:nvSpPr>
        <p:spPr/>
        <p:txBody>
          <a:bodyPr/>
          <a:lstStyle>
            <a:lvl1pPr>
              <a:defRPr/>
            </a:lvl1pPr>
          </a:lstStyle>
          <a:p>
            <a:fld id="{90050717-B824-4BE4-BF9E-D7E0E2548077}" type="slidenum">
              <a:rPr lang="en-US" altLang="en-US"/>
              <a:pPr/>
              <a:t>‹#›</a:t>
            </a:fld>
            <a:endParaRPr lang="en-US" altLang="en-US" dirty="0"/>
          </a:p>
        </p:txBody>
      </p:sp>
    </p:spTree>
    <p:extLst>
      <p:ext uri="{BB962C8B-B14F-4D97-AF65-F5344CB8AC3E}">
        <p14:creationId xmlns:p14="http://schemas.microsoft.com/office/powerpoint/2010/main" val="1067795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a:defRPr/>
            </a:lvl1pPr>
          </a:lstStyle>
          <a:p>
            <a:endParaRPr lang="en-US" altLang="en-US" dirty="0"/>
          </a:p>
        </p:txBody>
      </p:sp>
      <p:sp>
        <p:nvSpPr>
          <p:cNvPr id="5" name="Shape 57"/>
          <p:cNvSpPr txBox="1">
            <a:spLocks noGrp="1"/>
          </p:cNvSpPr>
          <p:nvPr>
            <p:ph type="dt" idx="11"/>
          </p:nvPr>
        </p:nvSpPr>
        <p:spPr/>
        <p:txBody>
          <a:bodyPr/>
          <a:lstStyle>
            <a:lvl1pPr>
              <a:defRPr>
                <a:solidFill>
                  <a:srgbClr val="000000"/>
                </a:solidFill>
              </a:defRPr>
            </a:lvl1pPr>
          </a:lstStyle>
          <a:p>
            <a:endParaRPr lang="en-US" altLang="en-US" dirty="0"/>
          </a:p>
        </p:txBody>
      </p:sp>
      <p:sp>
        <p:nvSpPr>
          <p:cNvPr id="6" name="Shape 58"/>
          <p:cNvSpPr txBox="1">
            <a:spLocks noGrp="1"/>
          </p:cNvSpPr>
          <p:nvPr>
            <p:ph type="sldNum" idx="12"/>
          </p:nvPr>
        </p:nvSpPr>
        <p:spPr/>
        <p:txBody>
          <a:bodyPr/>
          <a:lstStyle>
            <a:lvl1pPr>
              <a:defRPr>
                <a:solidFill>
                  <a:srgbClr val="000000"/>
                </a:solidFill>
              </a:defRPr>
            </a:lvl1pPr>
          </a:lstStyle>
          <a:p>
            <a:fld id="{76A8F893-8B15-4144-97C6-845134185ED8}" type="slidenum">
              <a:rPr lang="en-US" altLang="en-US"/>
              <a:pPr/>
              <a:t>‹#›</a:t>
            </a:fld>
            <a:endParaRPr lang="en-US" altLang="en-US" dirty="0"/>
          </a:p>
        </p:txBody>
      </p:sp>
    </p:spTree>
    <p:extLst>
      <p:ext uri="{BB962C8B-B14F-4D97-AF65-F5344CB8AC3E}">
        <p14:creationId xmlns:p14="http://schemas.microsoft.com/office/powerpoint/2010/main" val="2755602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a:p>
            <a:pPr lvl="1"/>
            <a:endParaRPr lang="en-IN" dirty="0" smtClean="0"/>
          </a:p>
          <a:p>
            <a:pPr lvl="2"/>
            <a:endParaRPr lang="en-IN" dirty="0" smtClean="0"/>
          </a:p>
        </p:txBody>
      </p:sp>
    </p:spTree>
    <p:extLst>
      <p:ext uri="{BB962C8B-B14F-4D97-AF65-F5344CB8AC3E}">
        <p14:creationId xmlns:p14="http://schemas.microsoft.com/office/powerpoint/2010/main" val="204773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2189397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smtClean="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7"/>
          <p:cNvSpPr>
            <a:spLocks noGrp="1"/>
          </p:cNvSpPr>
          <p:nvPr>
            <p:ph sz="quarter" idx="19"/>
          </p:nvPr>
        </p:nvSpPr>
        <p:spPr>
          <a:xfrm>
            <a:off x="3657601" y="6418263"/>
            <a:ext cx="479834" cy="2984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Content Placeholder 11"/>
          <p:cNvSpPr>
            <a:spLocks noGrp="1"/>
          </p:cNvSpPr>
          <p:nvPr>
            <p:ph sz="quarter" idx="20"/>
          </p:nvPr>
        </p:nvSpPr>
        <p:spPr>
          <a:xfrm>
            <a:off x="5503863" y="6418263"/>
            <a:ext cx="45331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Content Placeholder 13"/>
          <p:cNvSpPr>
            <a:spLocks noGrp="1"/>
          </p:cNvSpPr>
          <p:nvPr>
            <p:ph sz="quarter" idx="21"/>
          </p:nvPr>
        </p:nvSpPr>
        <p:spPr>
          <a:xfrm>
            <a:off x="7200900" y="6418263"/>
            <a:ext cx="576027"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Content Placeholder 5"/>
          <p:cNvSpPr>
            <a:spLocks noGrp="1"/>
          </p:cNvSpPr>
          <p:nvPr>
            <p:ph sz="quarter" idx="22"/>
          </p:nvPr>
        </p:nvSpPr>
        <p:spPr>
          <a:xfrm flipH="1">
            <a:off x="7976101" y="6418263"/>
            <a:ext cx="778599" cy="298450"/>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4254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a:defRPr/>
            </a:lvl1pPr>
          </a:lstStyle>
          <a:p>
            <a:endParaRPr lang="en-US" altLang="en-US" dirty="0"/>
          </a:p>
        </p:txBody>
      </p:sp>
      <p:sp>
        <p:nvSpPr>
          <p:cNvPr id="7" name="Shape 43"/>
          <p:cNvSpPr txBox="1">
            <a:spLocks noGrp="1"/>
          </p:cNvSpPr>
          <p:nvPr>
            <p:ph type="dt" idx="11"/>
          </p:nvPr>
        </p:nvSpPr>
        <p:spPr/>
        <p:txBody>
          <a:bodyPr/>
          <a:lstStyle>
            <a:lvl1pPr>
              <a:defRPr/>
            </a:lvl1pPr>
          </a:lstStyle>
          <a:p>
            <a:endParaRPr lang="en-US" altLang="en-US" dirty="0"/>
          </a:p>
        </p:txBody>
      </p:sp>
      <p:sp>
        <p:nvSpPr>
          <p:cNvPr id="8" name="Shape 44"/>
          <p:cNvSpPr txBox="1">
            <a:spLocks noGrp="1"/>
          </p:cNvSpPr>
          <p:nvPr>
            <p:ph type="sldNum" idx="12"/>
          </p:nvPr>
        </p:nvSpPr>
        <p:spPr/>
        <p:txBody>
          <a:bodyPr/>
          <a:lstStyle>
            <a:lvl1pPr>
              <a:defRPr/>
            </a:lvl1pPr>
          </a:lstStyle>
          <a:p>
            <a:fld id="{ED1C0643-9B27-4A1B-88AA-9F0A44F603FE}" type="slidenum">
              <a:rPr lang="en-US" altLang="en-US"/>
              <a:pPr/>
              <a:t>‹#›</a:t>
            </a:fld>
            <a:endParaRPr lang="en-US" altLang="en-US" dirty="0"/>
          </a:p>
        </p:txBody>
      </p:sp>
    </p:spTree>
    <p:extLst>
      <p:ext uri="{BB962C8B-B14F-4D97-AF65-F5344CB8AC3E}">
        <p14:creationId xmlns:p14="http://schemas.microsoft.com/office/powerpoint/2010/main" val="3167663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 name="Shape 12"/>
          <p:cNvSpPr txBox="1">
            <a:spLocks noGrp="1"/>
          </p:cNvSpPr>
          <p:nvPr>
            <p:ph type="ftr" idx="12"/>
          </p:nvPr>
        </p:nvSpPr>
        <p:spPr>
          <a:ln/>
        </p:spPr>
        <p:txBody>
          <a:bodyPr/>
          <a:lstStyle>
            <a:lvl1pPr>
              <a:defRPr/>
            </a:lvl1pPr>
          </a:lstStyle>
          <a:p>
            <a:endParaRPr lang="en-US" altLang="en-US" dirty="0"/>
          </a:p>
        </p:txBody>
      </p:sp>
      <p:sp>
        <p:nvSpPr>
          <p:cNvPr id="6" name="Shape 13"/>
          <p:cNvSpPr txBox="1">
            <a:spLocks noGrp="1"/>
          </p:cNvSpPr>
          <p:nvPr>
            <p:ph type="dt" idx="13"/>
          </p:nvPr>
        </p:nvSpPr>
        <p:spPr>
          <a:ln/>
        </p:spPr>
        <p:txBody>
          <a:bodyPr/>
          <a:lstStyle>
            <a:lvl1pPr>
              <a:defRPr/>
            </a:lvl1pPr>
          </a:lstStyle>
          <a:p>
            <a:endParaRPr lang="en-US" altLang="en-US" dirty="0"/>
          </a:p>
        </p:txBody>
      </p:sp>
      <p:sp>
        <p:nvSpPr>
          <p:cNvPr id="7" name="Shape 14"/>
          <p:cNvSpPr txBox="1">
            <a:spLocks noGrp="1"/>
          </p:cNvSpPr>
          <p:nvPr>
            <p:ph type="sldNum" idx="14"/>
          </p:nvPr>
        </p:nvSpPr>
        <p:spPr>
          <a:ln/>
        </p:spPr>
        <p:txBody>
          <a:bodyPr/>
          <a:lstStyle>
            <a:lvl1pPr>
              <a:defRPr/>
            </a:lvl1pPr>
          </a:lstStyle>
          <a:p>
            <a:fld id="{D2E4C545-22DD-4164-8A01-63F27566E104}" type="slidenum">
              <a:rPr lang="en-US" altLang="en-US"/>
              <a:pPr/>
              <a:t>‹#›</a:t>
            </a:fld>
            <a:endParaRPr lang="en-US" altLang="en-US" dirty="0"/>
          </a:p>
        </p:txBody>
      </p:sp>
    </p:spTree>
    <p:extLst>
      <p:ext uri="{BB962C8B-B14F-4D97-AF65-F5344CB8AC3E}">
        <p14:creationId xmlns:p14="http://schemas.microsoft.com/office/powerpoint/2010/main" val="371311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endParaRPr lang="en-US" altLang="en-US" dirty="0"/>
          </a:p>
        </p:txBody>
      </p:sp>
      <p:sp>
        <p:nvSpPr>
          <p:cNvPr id="5" name="Shape 13"/>
          <p:cNvSpPr txBox="1">
            <a:spLocks noGrp="1"/>
          </p:cNvSpPr>
          <p:nvPr>
            <p:ph type="dt" idx="13"/>
          </p:nvPr>
        </p:nvSpPr>
        <p:spPr>
          <a:ln/>
        </p:spPr>
        <p:txBody>
          <a:bodyPr/>
          <a:lstStyle>
            <a:lvl1pPr>
              <a:defRPr/>
            </a:lvl1pPr>
          </a:lstStyle>
          <a:p>
            <a:endParaRPr lang="en-US" altLang="en-US" dirty="0"/>
          </a:p>
        </p:txBody>
      </p:sp>
      <p:sp>
        <p:nvSpPr>
          <p:cNvPr id="6" name="Shape 14"/>
          <p:cNvSpPr txBox="1">
            <a:spLocks noGrp="1"/>
          </p:cNvSpPr>
          <p:nvPr>
            <p:ph type="sldNum" idx="14"/>
          </p:nvPr>
        </p:nvSpPr>
        <p:spPr>
          <a:ln/>
        </p:spPr>
        <p:txBody>
          <a:bodyPr/>
          <a:lstStyle>
            <a:lvl1pPr>
              <a:defRPr/>
            </a:lvl1pPr>
          </a:lstStyle>
          <a:p>
            <a:fld id="{70CE55AD-1DDD-4B3C-B81E-FF1EA29DCEA5}" type="slidenum">
              <a:rPr lang="en-US" altLang="en-US"/>
              <a:pPr/>
              <a:t>‹#›</a:t>
            </a:fld>
            <a:endParaRPr lang="en-US" altLang="en-US" dirty="0"/>
          </a:p>
        </p:txBody>
      </p:sp>
    </p:spTree>
    <p:extLst>
      <p:ext uri="{BB962C8B-B14F-4D97-AF65-F5344CB8AC3E}">
        <p14:creationId xmlns:p14="http://schemas.microsoft.com/office/powerpoint/2010/main" val="3879639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endParaRPr lang="en-US" altLang="en-US" dirty="0"/>
          </a:p>
        </p:txBody>
      </p:sp>
      <p:sp>
        <p:nvSpPr>
          <p:cNvPr id="4" name="Shape 13"/>
          <p:cNvSpPr txBox="1">
            <a:spLocks noGrp="1"/>
          </p:cNvSpPr>
          <p:nvPr>
            <p:ph type="dt" idx="13"/>
          </p:nvPr>
        </p:nvSpPr>
        <p:spPr>
          <a:ln/>
        </p:spPr>
        <p:txBody>
          <a:bodyPr/>
          <a:lstStyle>
            <a:lvl1pPr>
              <a:defRPr/>
            </a:lvl1pPr>
          </a:lstStyle>
          <a:p>
            <a:endParaRPr lang="en-US" altLang="en-US" dirty="0"/>
          </a:p>
        </p:txBody>
      </p:sp>
      <p:sp>
        <p:nvSpPr>
          <p:cNvPr id="5" name="Shape 14"/>
          <p:cNvSpPr txBox="1">
            <a:spLocks noGrp="1"/>
          </p:cNvSpPr>
          <p:nvPr>
            <p:ph type="sldNum" idx="14"/>
          </p:nvPr>
        </p:nvSpPr>
        <p:spPr>
          <a:ln/>
        </p:spPr>
        <p:txBody>
          <a:bodyPr/>
          <a:lstStyle>
            <a:lvl1pPr>
              <a:defRPr/>
            </a:lvl1pPr>
          </a:lstStyle>
          <a:p>
            <a:fld id="{204E23CE-7283-40CA-B425-4425B244A857}" type="slidenum">
              <a:rPr lang="en-US" altLang="en-US"/>
              <a:pPr/>
              <a:t>‹#›</a:t>
            </a:fld>
            <a:endParaRPr lang="en-US" altLang="en-US" dirty="0"/>
          </a:p>
        </p:txBody>
      </p:sp>
    </p:spTree>
    <p:extLst>
      <p:ext uri="{BB962C8B-B14F-4D97-AF65-F5344CB8AC3E}">
        <p14:creationId xmlns:p14="http://schemas.microsoft.com/office/powerpoint/2010/main" val="3053758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smtClean="0"/>
          </a:p>
          <a:p>
            <a:pPr lvl="1"/>
            <a:endParaRPr lang="en-US" dirty="0" smtClean="0"/>
          </a:p>
          <a:p>
            <a:pPr lvl="2"/>
            <a:endParaRPr dirty="0"/>
          </a:p>
        </p:txBody>
      </p:sp>
      <p:sp>
        <p:nvSpPr>
          <p:cNvPr id="5" name="Shape 12"/>
          <p:cNvSpPr txBox="1">
            <a:spLocks noGrp="1"/>
          </p:cNvSpPr>
          <p:nvPr>
            <p:ph type="ftr" idx="12"/>
          </p:nvPr>
        </p:nvSpPr>
        <p:spPr>
          <a:ln/>
        </p:spPr>
        <p:txBody>
          <a:bodyPr/>
          <a:lstStyle>
            <a:lvl1pPr>
              <a:defRPr/>
            </a:lvl1pPr>
          </a:lstStyle>
          <a:p>
            <a:endParaRPr lang="en-US" altLang="en-US" dirty="0"/>
          </a:p>
        </p:txBody>
      </p:sp>
      <p:sp>
        <p:nvSpPr>
          <p:cNvPr id="6" name="Shape 13"/>
          <p:cNvSpPr txBox="1">
            <a:spLocks noGrp="1"/>
          </p:cNvSpPr>
          <p:nvPr>
            <p:ph type="dt" idx="13"/>
          </p:nvPr>
        </p:nvSpPr>
        <p:spPr>
          <a:ln/>
        </p:spPr>
        <p:txBody>
          <a:bodyPr/>
          <a:lstStyle>
            <a:lvl1pPr>
              <a:defRPr/>
            </a:lvl1pPr>
          </a:lstStyle>
          <a:p>
            <a:endParaRPr lang="en-US" altLang="en-US" dirty="0"/>
          </a:p>
        </p:txBody>
      </p:sp>
      <p:sp>
        <p:nvSpPr>
          <p:cNvPr id="7" name="Shape 14"/>
          <p:cNvSpPr txBox="1">
            <a:spLocks noGrp="1"/>
          </p:cNvSpPr>
          <p:nvPr>
            <p:ph type="sldNum" idx="14"/>
          </p:nvPr>
        </p:nvSpPr>
        <p:spPr>
          <a:ln/>
        </p:spPr>
        <p:txBody>
          <a:bodyPr/>
          <a:lstStyle>
            <a:lvl1pPr>
              <a:defRPr/>
            </a:lvl1pPr>
          </a:lstStyle>
          <a:p>
            <a:fld id="{5C9617DC-AB9A-4BE2-A678-E5EE62D3BFA5}" type="slidenum">
              <a:rPr lang="en-US" altLang="en-US"/>
              <a:pPr/>
              <a:t>‹#›</a:t>
            </a:fld>
            <a:endParaRPr lang="en-US" altLang="en-US" dirty="0"/>
          </a:p>
        </p:txBody>
      </p:sp>
    </p:spTree>
    <p:extLst>
      <p:ext uri="{BB962C8B-B14F-4D97-AF65-F5344CB8AC3E}">
        <p14:creationId xmlns:p14="http://schemas.microsoft.com/office/powerpoint/2010/main" val="898491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a:defRPr/>
            </a:lvl1pPr>
          </a:lstStyle>
          <a:p>
            <a:endParaRPr lang="en-US" altLang="en-US" dirty="0"/>
          </a:p>
        </p:txBody>
      </p:sp>
      <p:sp>
        <p:nvSpPr>
          <p:cNvPr id="3" name="Shape 81"/>
          <p:cNvSpPr txBox="1">
            <a:spLocks noGrp="1"/>
          </p:cNvSpPr>
          <p:nvPr>
            <p:ph type="dt" idx="11"/>
          </p:nvPr>
        </p:nvSpPr>
        <p:spPr/>
        <p:txBody>
          <a:bodyPr/>
          <a:lstStyle>
            <a:lvl1pPr>
              <a:defRPr>
                <a:solidFill>
                  <a:srgbClr val="000000"/>
                </a:solidFill>
              </a:defRPr>
            </a:lvl1pPr>
          </a:lstStyle>
          <a:p>
            <a:endParaRPr lang="en-US" altLang="en-US" dirty="0"/>
          </a:p>
        </p:txBody>
      </p:sp>
      <p:sp>
        <p:nvSpPr>
          <p:cNvPr id="4" name="Shape 82"/>
          <p:cNvSpPr txBox="1">
            <a:spLocks noGrp="1"/>
          </p:cNvSpPr>
          <p:nvPr>
            <p:ph type="sldNum" idx="12"/>
          </p:nvPr>
        </p:nvSpPr>
        <p:spPr/>
        <p:txBody>
          <a:bodyPr/>
          <a:lstStyle>
            <a:lvl1pPr>
              <a:defRPr>
                <a:solidFill>
                  <a:srgbClr val="000000"/>
                </a:solidFill>
              </a:defRPr>
            </a:lvl1pPr>
          </a:lstStyle>
          <a:p>
            <a:fld id="{C3CBF72F-BF21-4C98-B2E6-AA9B8BC2C348}" type="slidenum">
              <a:rPr lang="en-US" altLang="en-US"/>
              <a:pPr/>
              <a:t>‹#›</a:t>
            </a:fld>
            <a:endParaRPr lang="en-US" altLang="en-US" dirty="0"/>
          </a:p>
        </p:txBody>
      </p:sp>
    </p:spTree>
    <p:extLst>
      <p:ext uri="{BB962C8B-B14F-4D97-AF65-F5344CB8AC3E}">
        <p14:creationId xmlns:p14="http://schemas.microsoft.com/office/powerpoint/2010/main" val="40117431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4/23/2018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33151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7" name="Shape 42"/>
          <p:cNvSpPr txBox="1">
            <a:spLocks noGrp="1"/>
          </p:cNvSpPr>
          <p:nvPr>
            <p:ph type="ftr" idx="14"/>
          </p:nvPr>
        </p:nvSpPr>
        <p:spPr>
          <a:xfrm>
            <a:off x="93663" y="6165850"/>
            <a:ext cx="8596312" cy="234950"/>
          </a:xfrm>
        </p:spPr>
        <p:txBody>
          <a:bodyPr/>
          <a:lstStyle>
            <a:lvl1pPr>
              <a:defRPr/>
            </a:lvl1pPr>
          </a:lstStyle>
          <a:p>
            <a:endParaRPr lang="en-US" altLang="en-US" dirty="0"/>
          </a:p>
        </p:txBody>
      </p:sp>
      <p:sp>
        <p:nvSpPr>
          <p:cNvPr id="8" name="Shape 43"/>
          <p:cNvSpPr txBox="1">
            <a:spLocks noGrp="1"/>
          </p:cNvSpPr>
          <p:nvPr>
            <p:ph type="dt" idx="15"/>
          </p:nvPr>
        </p:nvSpPr>
        <p:spPr/>
        <p:txBody>
          <a:bodyPr/>
          <a:lstStyle>
            <a:lvl1pPr>
              <a:defRPr/>
            </a:lvl1pPr>
          </a:lstStyle>
          <a:p>
            <a:endParaRPr lang="en-US" altLang="en-US" dirty="0"/>
          </a:p>
        </p:txBody>
      </p:sp>
      <p:sp>
        <p:nvSpPr>
          <p:cNvPr id="10" name="Shape 44"/>
          <p:cNvSpPr txBox="1">
            <a:spLocks noGrp="1"/>
          </p:cNvSpPr>
          <p:nvPr>
            <p:ph type="sldNum" idx="16"/>
          </p:nvPr>
        </p:nvSpPr>
        <p:spPr/>
        <p:txBody>
          <a:bodyPr/>
          <a:lstStyle>
            <a:lvl1pPr>
              <a:defRPr/>
            </a:lvl1pPr>
          </a:lstStyle>
          <a:p>
            <a:fld id="{985B212D-EB01-4F8C-9670-A96D3F6B21FA}" type="slidenum">
              <a:rPr lang="en-US" altLang="en-US"/>
              <a:pPr/>
              <a:t>‹#›</a:t>
            </a:fld>
            <a:endParaRPr lang="en-US" altLang="en-US" dirty="0"/>
          </a:p>
        </p:txBody>
      </p:sp>
    </p:spTree>
    <p:extLst>
      <p:ext uri="{BB962C8B-B14F-4D97-AF65-F5344CB8AC3E}">
        <p14:creationId xmlns:p14="http://schemas.microsoft.com/office/powerpoint/2010/main" val="3440506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lvl1pPr>
              <a:defRPr/>
            </a:lvl1pPr>
          </a:lstStyle>
          <a:p>
            <a:endParaRPr lang="en-US" altLang="en-US" dirty="0"/>
          </a:p>
        </p:txBody>
      </p:sp>
      <p:sp>
        <p:nvSpPr>
          <p:cNvPr id="3" name="Date Placeholder 2"/>
          <p:cNvSpPr>
            <a:spLocks noGrp="1"/>
          </p:cNvSpPr>
          <p:nvPr>
            <p:ph type="dt" idx="11"/>
          </p:nvPr>
        </p:nvSpPr>
        <p:spPr/>
        <p:txBody>
          <a:bodyPr/>
          <a:lstStyle>
            <a:lvl1pPr>
              <a:defRPr/>
            </a:lvl1pPr>
          </a:lstStyle>
          <a:p>
            <a:endParaRPr lang="en-US" altLang="en-US" dirty="0"/>
          </a:p>
        </p:txBody>
      </p:sp>
      <p:sp>
        <p:nvSpPr>
          <p:cNvPr id="4" name="Slide Number Placeholder 3"/>
          <p:cNvSpPr>
            <a:spLocks noGrp="1"/>
          </p:cNvSpPr>
          <p:nvPr>
            <p:ph type="sldNum" idx="12"/>
          </p:nvPr>
        </p:nvSpPr>
        <p:spPr/>
        <p:txBody>
          <a:bodyPr/>
          <a:lstStyle>
            <a:lvl1pPr>
              <a:defRPr/>
            </a:lvl1pPr>
          </a:lstStyle>
          <a:p>
            <a:fld id="{EF1D61FF-A894-4BC3-A287-6DCDEDC832B9}" type="slidenum">
              <a:rPr lang="en-US" altLang="en-US"/>
              <a:pPr/>
              <a:t>‹#›</a:t>
            </a:fld>
            <a:endParaRPr lang="en-US" altLang="en-US" dirty="0"/>
          </a:p>
        </p:txBody>
      </p:sp>
    </p:spTree>
    <p:extLst>
      <p:ext uri="{BB962C8B-B14F-4D97-AF65-F5344CB8AC3E}">
        <p14:creationId xmlns:p14="http://schemas.microsoft.com/office/powerpoint/2010/main" val="203839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smtClean="0">
              <a:sym typeface="Arial" panose="020B0604020202020204" pitchFamily="34" charset="0"/>
            </a:endParaRPr>
          </a:p>
        </p:txBody>
      </p:sp>
      <p:sp>
        <p:nvSpPr>
          <p:cNvPr id="1027"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1028" name="Shape 12"/>
          <p:cNvSpPr txBox="1">
            <a:spLocks noGrp="1"/>
          </p:cNvSpPr>
          <p:nvPr>
            <p:ph type="ftr" idx="11"/>
          </p:nvPr>
        </p:nvSpPr>
        <p:spPr bwMode="auto">
          <a:xfrm>
            <a:off x="93663" y="6172200"/>
            <a:ext cx="8596312"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100"/>
            </a:lvl1pPr>
          </a:lstStyle>
          <a:p>
            <a:endParaRPr lang="en-US" altLang="en-US" dirty="0"/>
          </a:p>
        </p:txBody>
      </p:sp>
      <p:sp>
        <p:nvSpPr>
          <p:cNvPr id="1029" name="Shape 13"/>
          <p:cNvSpPr txBox="1">
            <a:spLocks noGrp="1"/>
          </p:cNvSpPr>
          <p:nvPr>
            <p:ph type="dt" idx="10"/>
          </p:nvPr>
        </p:nvSpPr>
        <p:spPr bwMode="auto">
          <a:xfrm>
            <a:off x="6335713" y="112713"/>
            <a:ext cx="2133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defRPr sz="900">
                <a:solidFill>
                  <a:srgbClr val="FFFFFF"/>
                </a:solidFill>
              </a:defRPr>
            </a:lvl1pPr>
          </a:lstStyle>
          <a:p>
            <a:endParaRPr lang="en-US" altLang="en-US" dirty="0"/>
          </a:p>
        </p:txBody>
      </p:sp>
      <p:sp>
        <p:nvSpPr>
          <p:cNvPr id="1030" name="Shape 14"/>
          <p:cNvSpPr txBox="1">
            <a:spLocks noGrp="1"/>
          </p:cNvSpPr>
          <p:nvPr>
            <p:ph type="sldNum" idx="12"/>
          </p:nvPr>
        </p:nvSpPr>
        <p:spPr bwMode="auto">
          <a:xfrm>
            <a:off x="8469313" y="112713"/>
            <a:ext cx="552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SzPct val="25000"/>
              <a:defRPr sz="900">
                <a:solidFill>
                  <a:srgbClr val="FFFFFF"/>
                </a:solidFill>
              </a:defRPr>
            </a:lvl1pPr>
          </a:lstStyle>
          <a:p>
            <a:fld id="{32244B2B-DB92-42B5-A0FF-04456A428A30}" type="slidenum">
              <a:rPr lang="en-US" altLang="en-US"/>
              <a:pPr/>
              <a:t>‹#›</a:t>
            </a:fld>
            <a:endParaRPr lang="en-US" altLang="en-US" dirty="0"/>
          </a:p>
        </p:txBody>
      </p:sp>
      <p:pic>
        <p:nvPicPr>
          <p:cNvPr id="1031" name="Shape 15" descr="Pearson Logo"/>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Placeholder 5"/>
          <p:cNvSpPr txBox="1">
            <a:spLocks/>
          </p:cNvSpPr>
          <p:nvPr userDrawn="1"/>
        </p:nvSpPr>
        <p:spPr>
          <a:xfrm>
            <a:off x="2682875" y="6473825"/>
            <a:ext cx="6076950" cy="201613"/>
          </a:xfrm>
          <a:prstGeom prst="rect">
            <a:avLst/>
          </a:prstGeom>
        </p:spPr>
        <p:txBody>
          <a:bodyPr anchor="ctr"/>
          <a:lst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eaLnBrk="1" hangingPunct="1"/>
            <a:r>
              <a:rPr lang="en-US" altLang="en-US" sz="1200" kern="0" smtClean="0">
                <a:solidFill>
                  <a:schemeClr val="tx1"/>
                </a:solidFill>
                <a:latin typeface="Verdana" panose="020B0604030504040204" pitchFamily="34" charset="0"/>
                <a:cs typeface="Arial" panose="020B0604020202020204" pitchFamily="34" charset="0"/>
              </a:rPr>
              <a:t>Copyright © 2016, 2013, 2010 Pearson Education, Inc. All Rights Reserved</a:t>
            </a:r>
            <a:endParaRPr lang="en-US" altLang="en-US" sz="1200" kern="0" dirty="0" smtClean="0">
              <a:solidFill>
                <a:schemeClr val="tx1"/>
              </a:solidFill>
              <a:latin typeface="Verdana" panose="020B0604030504040204" pitchFamily="34"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03" r:id="rId7"/>
    <p:sldLayoutId id="2147483704" r:id="rId8"/>
    <p:sldLayoutId id="2147483705" r:id="rId9"/>
    <p:sldLayoutId id="2147483706" r:id="rId10"/>
    <p:sldLayoutId id="2147483713" r:id="rId11"/>
    <p:sldLayoutId id="2147483716" r:id="rId12"/>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smtClean="0">
              <a:sym typeface="Arial" panose="020B0604020202020204" pitchFamily="34" charset="0"/>
            </a:endParaRPr>
          </a:p>
        </p:txBody>
      </p:sp>
      <p:sp>
        <p:nvSpPr>
          <p:cNvPr id="2051"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smtClean="0">
              <a:sym typeface="Arial" panose="020B0604020202020204" pitchFamily="34" charset="0"/>
            </a:endParaRPr>
          </a:p>
        </p:txBody>
      </p:sp>
      <p:sp>
        <p:nvSpPr>
          <p:cNvPr id="2052" name="Shape 12"/>
          <p:cNvSpPr txBox="1">
            <a:spLocks noGrp="1"/>
          </p:cNvSpPr>
          <p:nvPr>
            <p:ph type="ftr" idx="11"/>
          </p:nvPr>
        </p:nvSpPr>
        <p:spPr bwMode="auto">
          <a:xfrm>
            <a:off x="93663" y="6172200"/>
            <a:ext cx="8596312"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lvl1pPr eaLnBrk="1" hangingPunct="1">
              <a:defRPr sz="1100"/>
            </a:lvl1pPr>
          </a:lstStyle>
          <a:p>
            <a:endParaRPr lang="en-US" altLang="en-US" dirty="0"/>
          </a:p>
        </p:txBody>
      </p:sp>
      <p:sp>
        <p:nvSpPr>
          <p:cNvPr id="2053" name="Shape 13"/>
          <p:cNvSpPr txBox="1">
            <a:spLocks noGrp="1"/>
          </p:cNvSpPr>
          <p:nvPr>
            <p:ph type="dt" idx="10"/>
          </p:nvPr>
        </p:nvSpPr>
        <p:spPr bwMode="auto">
          <a:xfrm>
            <a:off x="6335713" y="112713"/>
            <a:ext cx="2133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ctr" anchorCtr="0" compatLnSpc="1">
            <a:prstTxWarp prst="textNoShape">
              <a:avLst/>
            </a:prstTxWarp>
          </a:bodyPr>
          <a:lstStyle>
            <a:lvl1pPr algn="r" eaLnBrk="1" hangingPunct="1">
              <a:defRPr sz="900">
                <a:solidFill>
                  <a:srgbClr val="FFFFFF"/>
                </a:solidFill>
              </a:defRPr>
            </a:lvl1pPr>
          </a:lstStyle>
          <a:p>
            <a:endParaRPr lang="en-US" altLang="en-US" dirty="0"/>
          </a:p>
        </p:txBody>
      </p:sp>
      <p:sp>
        <p:nvSpPr>
          <p:cNvPr id="2054" name="Shape 14"/>
          <p:cNvSpPr txBox="1">
            <a:spLocks noGrp="1"/>
          </p:cNvSpPr>
          <p:nvPr>
            <p:ph type="sldNum" idx="12"/>
          </p:nvPr>
        </p:nvSpPr>
        <p:spPr bwMode="auto">
          <a:xfrm>
            <a:off x="8469313" y="112713"/>
            <a:ext cx="5524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lvl1pPr algn="r" eaLnBrk="1" hangingPunct="1">
              <a:buSzPct val="25000"/>
              <a:defRPr sz="900">
                <a:solidFill>
                  <a:srgbClr val="FFFFFF"/>
                </a:solidFill>
              </a:defRPr>
            </a:lvl1pPr>
          </a:lstStyle>
          <a:p>
            <a:fld id="{FA837E5E-CA49-413D-8D90-F81E1DD77073}" type="slidenum">
              <a:rPr lang="en-US" altLang="en-US"/>
              <a:pPr/>
              <a:t>‹#›</a:t>
            </a:fld>
            <a:endParaRPr lang="en-US" altLang="en-US" dirty="0"/>
          </a:p>
        </p:txBody>
      </p:sp>
      <p:pic>
        <p:nvPicPr>
          <p:cNvPr id="2055" name="Shape 15" descr="Pearson Logo"/>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dk2" tx2="lt2" accent1="accent1" accent2="accent2" accent3="accent3" accent4="accent4" accent5="accent5" accent6="accent6" hlink="hlink" folHlink="folHlink"/>
  <p:sldLayoutIdLst>
    <p:sldLayoutId id="2147483714" r:id="rId1"/>
    <p:sldLayoutId id="2147483715" r:id="rId2"/>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marL="255588" indent="-255588"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12.wmf"/></Relationships>
</file>

<file path=ppt/slides/_rels/slide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14.jpg"/><Relationship Id="rId4" Type="http://schemas.openxmlformats.org/officeDocument/2006/relationships/image" Target="../media/image12.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0.xml"/><Relationship Id="rId1" Type="http://schemas.openxmlformats.org/officeDocument/2006/relationships/vmlDrawing" Target="../drawings/vmlDrawing3.vml"/><Relationship Id="rId4" Type="http://schemas.openxmlformats.org/officeDocument/2006/relationships/image" Target="../media/image28.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0.xml"/><Relationship Id="rId1" Type="http://schemas.openxmlformats.org/officeDocument/2006/relationships/vmlDrawing" Target="../drawings/vmlDrawing4.vml"/><Relationship Id="rId4" Type="http://schemas.openxmlformats.org/officeDocument/2006/relationships/image" Target="../media/image73.wmf"/></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txBox="1">
            <a:spLocks noGrp="1"/>
          </p:cNvSpPr>
          <p:nvPr>
            <p:ph type="title"/>
          </p:nvPr>
        </p:nvSpPr>
        <p:spPr>
          <a:xfrm>
            <a:off x="457200" y="320675"/>
            <a:ext cx="8362950" cy="803275"/>
          </a:xfrm>
        </p:spPr>
        <p:txBody>
          <a:bodyPr anchor="b"/>
          <a:lstStyle/>
          <a:p>
            <a:pPr eaLnBrk="1" hangingPunct="1">
              <a:spcBef>
                <a:spcPct val="0"/>
              </a:spcBef>
              <a:buFont typeface="Times New Roman" panose="02020603050405020304" pitchFamily="18" charset="0"/>
              <a:buNone/>
            </a:pPr>
            <a:r>
              <a:rPr lang="en-US" altLang="en-US" dirty="0" smtClean="0">
                <a:latin typeface="Times New Roman" panose="02020603050405020304" pitchFamily="18" charset="0"/>
                <a:cs typeface="Times New Roman" panose="02020603050405020304" pitchFamily="18" charset="0"/>
                <a:sym typeface="Times New Roman" panose="02020603050405020304" pitchFamily="18" charset="0"/>
              </a:rPr>
              <a:t>C How to Program</a:t>
            </a:r>
            <a:endParaRPr lang="en-US" altLang="en-US" dirty="0" smtClean="0">
              <a:latin typeface="Times New Roman" panose="02020603050405020304" pitchFamily="18" charset="0"/>
              <a:cs typeface="Times New Roman" panose="02020603050405020304" pitchFamily="18" charset="0"/>
              <a:sym typeface="Arial" panose="020B0604020202020204" pitchFamily="34" charset="0"/>
            </a:endParaRPr>
          </a:p>
        </p:txBody>
      </p:sp>
      <p:sp>
        <p:nvSpPr>
          <p:cNvPr id="3" name="Text Placeholder 2"/>
          <p:cNvSpPr>
            <a:spLocks noGrp="1"/>
          </p:cNvSpPr>
          <p:nvPr>
            <p:ph type="body" idx="1"/>
          </p:nvPr>
        </p:nvSpPr>
        <p:spPr>
          <a:xfrm>
            <a:off x="457200" y="1227138"/>
            <a:ext cx="8362950" cy="449262"/>
          </a:xfrm>
        </p:spPr>
        <p:txBody>
          <a:bodyPr/>
          <a:lstStyle/>
          <a:p>
            <a:pPr eaLnBrk="1" fontAlgn="auto" hangingPunct="1">
              <a:spcAft>
                <a:spcPts val="0"/>
              </a:spcAft>
              <a:buSzPct val="100000"/>
              <a:defRPr/>
            </a:pPr>
            <a:r>
              <a:rPr lang="en-US" dirty="0" smtClean="0">
                <a:latin typeface="+mn-lt"/>
              </a:rPr>
              <a:t>Eighth </a:t>
            </a:r>
            <a:r>
              <a:rPr lang="en-US" dirty="0">
                <a:latin typeface="+mn-lt"/>
              </a:rPr>
              <a:t>Edition</a:t>
            </a:r>
          </a:p>
        </p:txBody>
      </p:sp>
      <p:sp>
        <p:nvSpPr>
          <p:cNvPr id="4" name="Text Placeholder 3"/>
          <p:cNvSpPr>
            <a:spLocks noGrp="1"/>
          </p:cNvSpPr>
          <p:nvPr>
            <p:ph type="body" idx="2"/>
          </p:nvPr>
        </p:nvSpPr>
        <p:spPr>
          <a:xfrm>
            <a:off x="4876800" y="2286000"/>
            <a:ext cx="3657600" cy="739775"/>
          </a:xfrm>
        </p:spPr>
        <p:txBody>
          <a:bodyPr/>
          <a:lstStyle/>
          <a:p>
            <a:pPr algn="ctr" eaLnBrk="1" fontAlgn="auto" hangingPunct="1">
              <a:spcAft>
                <a:spcPts val="0"/>
              </a:spcAft>
              <a:buSzPct val="100000"/>
              <a:defRPr/>
            </a:pPr>
            <a:r>
              <a:rPr lang="en-US" b="1" dirty="0" smtClean="0">
                <a:latin typeface="+mn-lt"/>
              </a:rPr>
              <a:t>Chapter 17</a:t>
            </a:r>
            <a:endParaRPr lang="en-US" b="1" dirty="0">
              <a:latin typeface="+mn-lt"/>
            </a:endParaRPr>
          </a:p>
        </p:txBody>
      </p:sp>
      <p:sp>
        <p:nvSpPr>
          <p:cNvPr id="5" name="Text Placeholder 4"/>
          <p:cNvSpPr>
            <a:spLocks noGrp="1"/>
          </p:cNvSpPr>
          <p:nvPr>
            <p:ph type="body" idx="3"/>
          </p:nvPr>
        </p:nvSpPr>
        <p:spPr>
          <a:xfrm>
            <a:off x="4876800" y="3114675"/>
            <a:ext cx="3657600" cy="1235075"/>
          </a:xfrm>
        </p:spPr>
        <p:txBody>
          <a:bodyPr/>
          <a:lstStyle/>
          <a:p>
            <a:pPr algn="ctr" eaLnBrk="1" fontAlgn="auto" hangingPunct="1">
              <a:spcBef>
                <a:spcPts val="440"/>
              </a:spcBef>
              <a:spcAft>
                <a:spcPts val="0"/>
              </a:spcAft>
              <a:buClr>
                <a:schemeClr val="lt1"/>
              </a:buClr>
              <a:buSzPct val="25000"/>
              <a:defRPr/>
            </a:pPr>
            <a:r>
              <a:rPr lang="en-US" dirty="0">
                <a:solidFill>
                  <a:schemeClr val="tx1"/>
                </a:solidFill>
                <a:latin typeface="+mn-lt"/>
              </a:rPr>
              <a:t>Classes: A Deeper Look; Throwing Exceptions</a:t>
            </a:r>
          </a:p>
        </p:txBody>
      </p:sp>
      <p:pic>
        <p:nvPicPr>
          <p:cNvPr id="14342" name="Picture 6" descr="Front Cover: C How to Program Eighth Edition by Paul Deitel and Harvey Deitel."/>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6125" y="1906588"/>
            <a:ext cx="3486150" cy="4338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4343" name="Text Placeholder 5"/>
          <p:cNvSpPr txBox="1">
            <a:spLocks noGrp="1"/>
          </p:cNvSpPr>
          <p:nvPr>
            <p:ph type="body" idx="13"/>
          </p:nvPr>
        </p:nvSpPr>
        <p:spPr>
          <a:xfrm>
            <a:off x="2682875" y="6473825"/>
            <a:ext cx="6076950" cy="201613"/>
          </a:xfrm>
        </p:spPr>
        <p:txBody>
          <a:bodyPr anchor="ctr"/>
          <a:lstStyle/>
          <a:p>
            <a:pPr algn="r" eaLnBrk="1" hangingPunct="1">
              <a:spcBef>
                <a:spcPct val="0"/>
              </a:spcBef>
              <a:buFontTx/>
              <a:buNone/>
            </a:pPr>
            <a:r>
              <a:rPr lang="en-US" altLang="en-US" sz="1200" dirty="0" smtClean="0">
                <a:solidFill>
                  <a:schemeClr val="tx1"/>
                </a:solidFill>
                <a:latin typeface="Verdana" panose="020B0604030504040204" pitchFamily="34" charset="0"/>
                <a:cs typeface="Arial" panose="020B0604020202020204" pitchFamily="34" charset="0"/>
                <a:sym typeface="Arial" panose="020B0604020202020204" pitchFamily="34" charset="0"/>
              </a:rPr>
              <a:t>Copyright © 2016, 2013, 2010 Pearson Education, Inc. All Rights Reserved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Learning Objectives</a:t>
            </a:r>
          </a:p>
        </p:txBody>
      </p:sp>
      <p:sp>
        <p:nvSpPr>
          <p:cNvPr id="3" name="Text Placeholder 2"/>
          <p:cNvSpPr>
            <a:spLocks noGrp="1"/>
          </p:cNvSpPr>
          <p:nvPr>
            <p:ph type="body" idx="1"/>
          </p:nvPr>
        </p:nvSpPr>
        <p:spPr/>
        <p:txBody>
          <a:bodyPr/>
          <a:lstStyle/>
          <a:p>
            <a:pPr>
              <a:spcBef>
                <a:spcPts val="1200"/>
              </a:spcBef>
            </a:pPr>
            <a:r>
              <a:rPr lang="en-US" sz="1800" dirty="0" smtClean="0">
                <a:latin typeface="Arial Body"/>
              </a:rPr>
              <a:t>Use </a:t>
            </a:r>
            <a:r>
              <a:rPr lang="en-US" sz="1800" dirty="0">
                <a:latin typeface="Arial Body"/>
              </a:rPr>
              <a:t>an include </a:t>
            </a:r>
            <a:r>
              <a:rPr lang="en-US" sz="1800" dirty="0" smtClean="0">
                <a:latin typeface="Arial Body"/>
              </a:rPr>
              <a:t>guard.</a:t>
            </a:r>
          </a:p>
          <a:p>
            <a:pPr>
              <a:spcBef>
                <a:spcPts val="1200"/>
              </a:spcBef>
            </a:pPr>
            <a:r>
              <a:rPr lang="en-US" sz="1800" dirty="0" smtClean="0">
                <a:latin typeface="Arial Body"/>
              </a:rPr>
              <a:t>Access </a:t>
            </a:r>
            <a:r>
              <a:rPr lang="en-US" sz="1800" dirty="0">
                <a:latin typeface="Arial Body"/>
              </a:rPr>
              <a:t>class members via an object’s name, a reference or a </a:t>
            </a:r>
            <a:r>
              <a:rPr lang="en-US" sz="1800" dirty="0" smtClean="0">
                <a:latin typeface="Arial Body"/>
              </a:rPr>
              <a:t>pointer.</a:t>
            </a:r>
          </a:p>
          <a:p>
            <a:pPr>
              <a:spcBef>
                <a:spcPts val="1200"/>
              </a:spcBef>
            </a:pPr>
            <a:r>
              <a:rPr lang="en-US" sz="1800" dirty="0" smtClean="0">
                <a:latin typeface="Arial Body"/>
              </a:rPr>
              <a:t>Use destructors to perform “termination housekeeping.”</a:t>
            </a:r>
          </a:p>
          <a:p>
            <a:pPr>
              <a:spcBef>
                <a:spcPts val="1200"/>
              </a:spcBef>
            </a:pPr>
            <a:r>
              <a:rPr lang="en-US" sz="1800" dirty="0" smtClean="0">
                <a:latin typeface="Arial Body"/>
              </a:rPr>
              <a:t>Learn the order of constructor and destructor calls.</a:t>
            </a:r>
          </a:p>
          <a:p>
            <a:pPr>
              <a:spcBef>
                <a:spcPts val="1200"/>
              </a:spcBef>
            </a:pPr>
            <a:r>
              <a:rPr lang="en-US" sz="1800" dirty="0" smtClean="0">
                <a:latin typeface="Arial Body"/>
              </a:rPr>
              <a:t>Learn about the dangers of returning a reference to </a:t>
            </a:r>
            <a:r>
              <a:rPr lang="en-US" sz="1800" b="1" dirty="0" smtClean="0">
                <a:latin typeface="Consolas" panose="020B0609020204030204" pitchFamily="49" charset="0"/>
              </a:rPr>
              <a:t>private</a:t>
            </a:r>
            <a:r>
              <a:rPr lang="en-US" sz="1800" dirty="0" smtClean="0">
                <a:latin typeface="Arial Body"/>
              </a:rPr>
              <a:t> data.</a:t>
            </a:r>
          </a:p>
          <a:p>
            <a:pPr>
              <a:spcBef>
                <a:spcPts val="1200"/>
              </a:spcBef>
            </a:pPr>
            <a:r>
              <a:rPr lang="en-US" sz="1800" dirty="0" smtClean="0">
                <a:latin typeface="Arial Body"/>
              </a:rPr>
              <a:t>Assign the data members of one object to those of another object.</a:t>
            </a:r>
          </a:p>
          <a:p>
            <a:pPr>
              <a:spcBef>
                <a:spcPts val="1200"/>
              </a:spcBef>
            </a:pPr>
            <a:r>
              <a:rPr lang="en-US" sz="1800" dirty="0" smtClean="0">
                <a:latin typeface="Arial Body"/>
              </a:rPr>
              <a:t>Create objects composed of other objects.</a:t>
            </a:r>
          </a:p>
          <a:p>
            <a:pPr>
              <a:spcBef>
                <a:spcPts val="1200"/>
              </a:spcBef>
            </a:pPr>
            <a:r>
              <a:rPr lang="en-US" sz="1800" dirty="0" smtClean="0">
                <a:latin typeface="Arial Body"/>
              </a:rPr>
              <a:t>Use </a:t>
            </a:r>
            <a:r>
              <a:rPr lang="en-US" sz="1800" b="1" dirty="0" smtClean="0">
                <a:latin typeface="Consolas" panose="020B0609020204030204" pitchFamily="49" charset="0"/>
              </a:rPr>
              <a:t>friend</a:t>
            </a:r>
            <a:r>
              <a:rPr lang="en-US" sz="1800" dirty="0" smtClean="0">
                <a:latin typeface="Arial Body"/>
              </a:rPr>
              <a:t> functions and </a:t>
            </a:r>
            <a:r>
              <a:rPr lang="en-US" sz="1800" b="1" dirty="0" smtClean="0">
                <a:latin typeface="Consolas" panose="020B0609020204030204" pitchFamily="49" charset="0"/>
              </a:rPr>
              <a:t>friend</a:t>
            </a:r>
            <a:r>
              <a:rPr lang="en-US" sz="1800" dirty="0" smtClean="0">
                <a:latin typeface="Arial Body"/>
              </a:rPr>
              <a:t> classes.</a:t>
            </a:r>
          </a:p>
          <a:p>
            <a:pPr>
              <a:spcBef>
                <a:spcPts val="1200"/>
              </a:spcBef>
            </a:pPr>
            <a:r>
              <a:rPr lang="en-US" sz="1800" dirty="0" smtClean="0">
                <a:latin typeface="Arial Body"/>
              </a:rPr>
              <a:t>Use the </a:t>
            </a:r>
            <a:r>
              <a:rPr lang="en-US" sz="1800" b="1" dirty="0" smtClean="0">
                <a:latin typeface="Consolas" panose="020B0609020204030204" pitchFamily="49" charset="0"/>
              </a:rPr>
              <a:t>this</a:t>
            </a:r>
            <a:r>
              <a:rPr lang="en-US" sz="1800" dirty="0" smtClean="0">
                <a:latin typeface="Arial Body"/>
              </a:rPr>
              <a:t> pointer in a member function to access a non-</a:t>
            </a:r>
            <a:r>
              <a:rPr lang="en-US" sz="1800" b="1" dirty="0" smtClean="0">
                <a:latin typeface="Consolas" panose="020B0609020204030204" pitchFamily="49" charset="0"/>
              </a:rPr>
              <a:t>static</a:t>
            </a:r>
            <a:r>
              <a:rPr lang="en-US" sz="1800" dirty="0" smtClean="0">
                <a:latin typeface="Arial Body"/>
              </a:rPr>
              <a:t> class member.</a:t>
            </a:r>
          </a:p>
          <a:p>
            <a:pPr>
              <a:spcBef>
                <a:spcPts val="1200"/>
              </a:spcBef>
            </a:pPr>
            <a:r>
              <a:rPr lang="en-US" sz="1800" dirty="0" smtClean="0">
                <a:latin typeface="Arial Body"/>
              </a:rPr>
              <a:t>Use </a:t>
            </a:r>
            <a:r>
              <a:rPr lang="en-US" sz="1800" b="1" dirty="0" smtClean="0">
                <a:latin typeface="Consolas" panose="020B0609020204030204" pitchFamily="49" charset="0"/>
              </a:rPr>
              <a:t>static</a:t>
            </a:r>
            <a:r>
              <a:rPr lang="en-US" sz="1800" dirty="0" smtClean="0">
                <a:latin typeface="Arial Body"/>
              </a:rPr>
              <a:t> data members and member functions.</a:t>
            </a:r>
            <a:endParaRPr lang="en-US" sz="1800" dirty="0">
              <a:latin typeface="Arial Body"/>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 </a:t>
            </a:r>
            <a:r>
              <a:rPr lang="en-US" sz="2000" b="0" dirty="0" smtClean="0"/>
              <a:t>(1 of 2)</a:t>
            </a:r>
            <a:endParaRPr lang="en-US" sz="2000" b="0" dirty="0"/>
          </a:p>
        </p:txBody>
      </p:sp>
      <p:sp>
        <p:nvSpPr>
          <p:cNvPr id="3" name="Text Placeholder 2"/>
          <p:cNvSpPr>
            <a:spLocks noGrp="1"/>
          </p:cNvSpPr>
          <p:nvPr>
            <p:ph type="body" idx="1"/>
          </p:nvPr>
        </p:nvSpPr>
        <p:spPr>
          <a:xfrm>
            <a:off x="457200" y="1600200"/>
            <a:ext cx="8229600" cy="4800600"/>
          </a:xfrm>
        </p:spPr>
        <p:txBody>
          <a:bodyPr/>
          <a:lstStyle/>
          <a:p>
            <a:pPr marL="432000" indent="-457200">
              <a:buNone/>
            </a:pPr>
            <a:r>
              <a:rPr lang="en-US" sz="2200" b="1" dirty="0" smtClean="0">
                <a:solidFill>
                  <a:schemeClr val="tx2"/>
                </a:solidFill>
                <a:latin typeface="Arial Body"/>
              </a:rPr>
              <a:t>17.1</a:t>
            </a:r>
            <a:r>
              <a:rPr lang="en-US" sz="2200" dirty="0" smtClean="0">
                <a:latin typeface="Arial Body"/>
              </a:rPr>
              <a:t> Introduction</a:t>
            </a:r>
          </a:p>
          <a:p>
            <a:pPr marL="432000" indent="-457200">
              <a:buNone/>
            </a:pPr>
            <a:r>
              <a:rPr lang="en-US" sz="2200" b="1" dirty="0" smtClean="0">
                <a:solidFill>
                  <a:schemeClr val="tx2"/>
                </a:solidFill>
                <a:latin typeface="Arial Body"/>
              </a:rPr>
              <a:t>17.2</a:t>
            </a:r>
            <a:r>
              <a:rPr lang="en-US" sz="2200" dirty="0" smtClean="0">
                <a:latin typeface="Arial Body"/>
              </a:rPr>
              <a:t> </a:t>
            </a:r>
            <a:r>
              <a:rPr lang="en-US" sz="2200" dirty="0">
                <a:latin typeface="Consolas" panose="020B0609020204030204" pitchFamily="49" charset="0"/>
              </a:rPr>
              <a:t>Time</a:t>
            </a:r>
            <a:r>
              <a:rPr lang="en-US" sz="2200" dirty="0">
                <a:latin typeface="Arial Body"/>
              </a:rPr>
              <a:t> Class Case </a:t>
            </a:r>
            <a:r>
              <a:rPr lang="en-US" sz="2200" dirty="0" smtClean="0">
                <a:latin typeface="Arial Body"/>
              </a:rPr>
              <a:t>Study</a:t>
            </a:r>
          </a:p>
          <a:p>
            <a:pPr marL="432000" indent="-457200">
              <a:buNone/>
            </a:pPr>
            <a:r>
              <a:rPr lang="en-US" sz="2200" b="1" dirty="0" smtClean="0">
                <a:solidFill>
                  <a:schemeClr val="tx2"/>
                </a:solidFill>
                <a:latin typeface="Arial Body"/>
              </a:rPr>
              <a:t>17.3</a:t>
            </a:r>
            <a:r>
              <a:rPr lang="en-US" sz="2200" dirty="0" smtClean="0">
                <a:latin typeface="Arial Body"/>
              </a:rPr>
              <a:t> </a:t>
            </a:r>
            <a:r>
              <a:rPr lang="en-US" sz="2200" dirty="0">
                <a:latin typeface="Arial Body"/>
              </a:rPr>
              <a:t>Class Scope and Accessing Class </a:t>
            </a:r>
            <a:r>
              <a:rPr lang="en-US" sz="2200" dirty="0" smtClean="0">
                <a:latin typeface="Arial Body"/>
              </a:rPr>
              <a:t>Members</a:t>
            </a:r>
          </a:p>
          <a:p>
            <a:pPr marL="432000" indent="-457200">
              <a:buNone/>
            </a:pPr>
            <a:r>
              <a:rPr lang="en-US" sz="2200" b="1" dirty="0" smtClean="0">
                <a:solidFill>
                  <a:schemeClr val="tx2"/>
                </a:solidFill>
                <a:latin typeface="Arial Body"/>
              </a:rPr>
              <a:t>17.4</a:t>
            </a:r>
            <a:r>
              <a:rPr lang="en-US" sz="2200" dirty="0" smtClean="0">
                <a:latin typeface="Arial Body"/>
              </a:rPr>
              <a:t> </a:t>
            </a:r>
            <a:r>
              <a:rPr lang="en-US" sz="2200" dirty="0">
                <a:latin typeface="Arial Body"/>
              </a:rPr>
              <a:t>Access Functions and Utility </a:t>
            </a:r>
            <a:r>
              <a:rPr lang="en-US" sz="2200" dirty="0" smtClean="0">
                <a:latin typeface="Arial Body"/>
              </a:rPr>
              <a:t>Functions</a:t>
            </a:r>
          </a:p>
          <a:p>
            <a:pPr marL="0" indent="0">
              <a:buNone/>
            </a:pPr>
            <a:r>
              <a:rPr lang="en-US" sz="2200" b="1" dirty="0" smtClean="0">
                <a:solidFill>
                  <a:schemeClr val="tx2"/>
                </a:solidFill>
                <a:latin typeface="Arial Body"/>
              </a:rPr>
              <a:t>17.5</a:t>
            </a:r>
            <a:r>
              <a:rPr lang="en-US" sz="2200" dirty="0" smtClean="0">
                <a:latin typeface="Arial Body"/>
              </a:rPr>
              <a:t> </a:t>
            </a:r>
            <a:r>
              <a:rPr lang="en-US" sz="2200" dirty="0">
                <a:latin typeface="Consolas" panose="020B0609020204030204" pitchFamily="49" charset="0"/>
              </a:rPr>
              <a:t>Time</a:t>
            </a:r>
            <a:r>
              <a:rPr lang="en-US" sz="2200" dirty="0">
                <a:latin typeface="Arial Body"/>
              </a:rPr>
              <a:t> Class Case Study: Constructors with Default </a:t>
            </a:r>
            <a:r>
              <a:rPr lang="en-US" sz="2200" dirty="0" smtClean="0">
                <a:latin typeface="Arial Body"/>
              </a:rPr>
              <a:t>arguments</a:t>
            </a:r>
          </a:p>
          <a:p>
            <a:pPr marL="432000" indent="-457200">
              <a:buNone/>
            </a:pPr>
            <a:r>
              <a:rPr lang="en-US" sz="2200" b="1" dirty="0" smtClean="0">
                <a:solidFill>
                  <a:schemeClr val="tx2"/>
                </a:solidFill>
                <a:latin typeface="Arial Body"/>
              </a:rPr>
              <a:t>17.6</a:t>
            </a:r>
            <a:r>
              <a:rPr lang="en-US" sz="2200" dirty="0" smtClean="0">
                <a:latin typeface="Arial Body"/>
              </a:rPr>
              <a:t> Destructors</a:t>
            </a:r>
          </a:p>
          <a:p>
            <a:pPr marL="432000" indent="-457200">
              <a:buNone/>
            </a:pPr>
            <a:r>
              <a:rPr lang="en-US" sz="2200" b="1" dirty="0" smtClean="0">
                <a:solidFill>
                  <a:schemeClr val="tx2"/>
                </a:solidFill>
                <a:latin typeface="Arial Body"/>
              </a:rPr>
              <a:t>17.7</a:t>
            </a:r>
            <a:r>
              <a:rPr lang="en-US" sz="2200" dirty="0" smtClean="0">
                <a:latin typeface="Arial Body"/>
              </a:rPr>
              <a:t> When </a:t>
            </a:r>
            <a:r>
              <a:rPr lang="en-US" sz="2200" dirty="0">
                <a:latin typeface="Arial Body"/>
              </a:rPr>
              <a:t>Constructors and Destructors Are </a:t>
            </a:r>
            <a:r>
              <a:rPr lang="en-US" sz="2200" dirty="0" smtClean="0">
                <a:latin typeface="Arial Body"/>
              </a:rPr>
              <a:t>Called</a:t>
            </a:r>
          </a:p>
          <a:p>
            <a:pPr marL="25400" indent="-25400">
              <a:buNone/>
            </a:pPr>
            <a:r>
              <a:rPr lang="en-US" sz="2200" b="1" dirty="0" smtClean="0">
                <a:solidFill>
                  <a:schemeClr val="tx2"/>
                </a:solidFill>
                <a:latin typeface="Arial Body"/>
              </a:rPr>
              <a:t>17.8</a:t>
            </a:r>
            <a:r>
              <a:rPr lang="en-US" sz="2200" dirty="0" smtClean="0">
                <a:latin typeface="Arial Body"/>
              </a:rPr>
              <a:t> </a:t>
            </a:r>
            <a:r>
              <a:rPr lang="en-US" sz="2200" dirty="0">
                <a:latin typeface="Consolas" panose="020B0609020204030204" pitchFamily="49" charset="0"/>
              </a:rPr>
              <a:t>Time</a:t>
            </a:r>
            <a:r>
              <a:rPr lang="en-US" sz="2200" dirty="0">
                <a:latin typeface="Arial Body"/>
              </a:rPr>
              <a:t> Class Case Study: A Subtle Trap— Returning a Reference or a Pointer to a </a:t>
            </a:r>
            <a:r>
              <a:rPr lang="en-US" sz="2200" dirty="0">
                <a:latin typeface="Consolas" panose="020B0609020204030204" pitchFamily="49" charset="0"/>
              </a:rPr>
              <a:t>private</a:t>
            </a:r>
            <a:r>
              <a:rPr lang="en-US" sz="2200" dirty="0">
                <a:latin typeface="Arial Body"/>
              </a:rPr>
              <a:t> Data </a:t>
            </a:r>
            <a:r>
              <a:rPr lang="en-US" sz="2200" dirty="0" smtClean="0">
                <a:latin typeface="Arial Body"/>
              </a:rPr>
              <a:t>Member</a:t>
            </a:r>
            <a:endParaRPr lang="en-US" sz="2200" dirty="0">
              <a:latin typeface="Arial Body"/>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Outline </a:t>
            </a:r>
            <a:r>
              <a:rPr lang="en-US" sz="2000" b="0" dirty="0" smtClean="0"/>
              <a:t>(2 </a:t>
            </a:r>
            <a:r>
              <a:rPr lang="en-US" sz="2000" b="0" dirty="0"/>
              <a:t>of 2)</a:t>
            </a:r>
            <a:endParaRPr lang="en-US" dirty="0"/>
          </a:p>
        </p:txBody>
      </p:sp>
      <p:sp>
        <p:nvSpPr>
          <p:cNvPr id="3" name="Text Placeholder 2"/>
          <p:cNvSpPr>
            <a:spLocks noGrp="1"/>
          </p:cNvSpPr>
          <p:nvPr>
            <p:ph type="body" idx="1"/>
          </p:nvPr>
        </p:nvSpPr>
        <p:spPr/>
        <p:txBody>
          <a:bodyPr/>
          <a:lstStyle/>
          <a:p>
            <a:pPr marL="432000" indent="-457200">
              <a:buNone/>
            </a:pPr>
            <a:r>
              <a:rPr lang="en-US" sz="2400" b="1" dirty="0" smtClean="0">
                <a:solidFill>
                  <a:schemeClr val="tx2"/>
                </a:solidFill>
                <a:latin typeface="Arial Body"/>
              </a:rPr>
              <a:t>17.9</a:t>
            </a:r>
            <a:r>
              <a:rPr lang="en-US" sz="2400" dirty="0" smtClean="0">
                <a:latin typeface="Arial Body"/>
              </a:rPr>
              <a:t> </a:t>
            </a:r>
            <a:r>
              <a:rPr lang="en-US" sz="2400" dirty="0">
                <a:latin typeface="Arial Body"/>
              </a:rPr>
              <a:t>Default Memberwise </a:t>
            </a:r>
            <a:r>
              <a:rPr lang="en-US" sz="2400" dirty="0" smtClean="0">
                <a:latin typeface="Arial Body"/>
              </a:rPr>
              <a:t>Assignment</a:t>
            </a:r>
          </a:p>
          <a:p>
            <a:pPr marL="432000" indent="-457200">
              <a:buNone/>
            </a:pPr>
            <a:r>
              <a:rPr lang="en-US" sz="2400" b="1" dirty="0" smtClean="0">
                <a:solidFill>
                  <a:schemeClr val="tx2"/>
                </a:solidFill>
                <a:latin typeface="Arial Body"/>
              </a:rPr>
              <a:t>17.10</a:t>
            </a:r>
            <a:r>
              <a:rPr lang="en-US" sz="2400" dirty="0" smtClean="0">
                <a:latin typeface="Arial Body"/>
              </a:rPr>
              <a:t> </a:t>
            </a:r>
            <a:r>
              <a:rPr lang="en-US" sz="2400" dirty="0">
                <a:latin typeface="Consolas" panose="020B0609020204030204" pitchFamily="49" charset="0"/>
              </a:rPr>
              <a:t>const</a:t>
            </a:r>
            <a:r>
              <a:rPr lang="en-US" sz="2400" dirty="0">
                <a:latin typeface="Arial Body"/>
              </a:rPr>
              <a:t> Objects and </a:t>
            </a:r>
            <a:r>
              <a:rPr lang="en-US" sz="2400" dirty="0">
                <a:latin typeface="Consolas" panose="020B0609020204030204" pitchFamily="49" charset="0"/>
              </a:rPr>
              <a:t>const</a:t>
            </a:r>
            <a:r>
              <a:rPr lang="en-US" sz="2400" dirty="0">
                <a:latin typeface="Arial Body"/>
              </a:rPr>
              <a:t> Member </a:t>
            </a:r>
            <a:r>
              <a:rPr lang="en-US" sz="2400" dirty="0" smtClean="0">
                <a:latin typeface="Arial Body"/>
              </a:rPr>
              <a:t>Functions</a:t>
            </a:r>
          </a:p>
          <a:p>
            <a:pPr marL="432000" indent="-457200">
              <a:buNone/>
            </a:pPr>
            <a:r>
              <a:rPr lang="en-US" sz="2400" b="1" dirty="0" smtClean="0">
                <a:solidFill>
                  <a:schemeClr val="tx2"/>
                </a:solidFill>
                <a:latin typeface="Arial Body"/>
              </a:rPr>
              <a:t>17.11</a:t>
            </a:r>
            <a:r>
              <a:rPr lang="en-US" sz="2400" dirty="0" smtClean="0">
                <a:latin typeface="Arial Body"/>
              </a:rPr>
              <a:t> </a:t>
            </a:r>
            <a:r>
              <a:rPr lang="en-US" sz="2400" dirty="0">
                <a:latin typeface="Arial Body"/>
              </a:rPr>
              <a:t>Composition: Objects as Members of </a:t>
            </a:r>
            <a:r>
              <a:rPr lang="en-US" sz="2400" dirty="0" smtClean="0">
                <a:latin typeface="Arial Body"/>
              </a:rPr>
              <a:t>Classes</a:t>
            </a:r>
          </a:p>
          <a:p>
            <a:pPr marL="432000" indent="-457200">
              <a:buNone/>
            </a:pPr>
            <a:r>
              <a:rPr lang="en-US" sz="2400" b="1" dirty="0" smtClean="0">
                <a:solidFill>
                  <a:schemeClr val="tx2"/>
                </a:solidFill>
                <a:latin typeface="Arial Body"/>
              </a:rPr>
              <a:t>17.12</a:t>
            </a:r>
            <a:r>
              <a:rPr lang="en-US" sz="2400" dirty="0" smtClean="0">
                <a:latin typeface="Arial Body"/>
              </a:rPr>
              <a:t> </a:t>
            </a:r>
            <a:r>
              <a:rPr lang="en-US" sz="2400" dirty="0">
                <a:latin typeface="Consolas" panose="020B0609020204030204" pitchFamily="49" charset="0"/>
              </a:rPr>
              <a:t>friend</a:t>
            </a:r>
            <a:r>
              <a:rPr lang="en-US" sz="2400" dirty="0">
                <a:latin typeface="Arial Body"/>
              </a:rPr>
              <a:t> Functions and </a:t>
            </a:r>
            <a:r>
              <a:rPr lang="en-US" sz="2400" dirty="0">
                <a:latin typeface="Consolas" panose="020B0609020204030204" pitchFamily="49" charset="0"/>
              </a:rPr>
              <a:t>friend</a:t>
            </a:r>
            <a:r>
              <a:rPr lang="en-US" sz="2400" dirty="0">
                <a:latin typeface="Arial Body"/>
              </a:rPr>
              <a:t> </a:t>
            </a:r>
            <a:r>
              <a:rPr lang="en-US" sz="2400" dirty="0" smtClean="0">
                <a:latin typeface="Arial Body"/>
              </a:rPr>
              <a:t>Classes</a:t>
            </a:r>
          </a:p>
          <a:p>
            <a:pPr marL="432000" indent="-457200">
              <a:buNone/>
            </a:pPr>
            <a:r>
              <a:rPr lang="en-US" sz="2400" b="1" dirty="0" smtClean="0">
                <a:solidFill>
                  <a:schemeClr val="tx2"/>
                </a:solidFill>
                <a:latin typeface="Arial Body"/>
              </a:rPr>
              <a:t>17.13</a:t>
            </a:r>
            <a:r>
              <a:rPr lang="en-US" sz="2400" dirty="0" smtClean="0">
                <a:latin typeface="Arial Body"/>
              </a:rPr>
              <a:t> </a:t>
            </a:r>
            <a:r>
              <a:rPr lang="en-US" sz="2400" dirty="0">
                <a:latin typeface="Arial Body"/>
              </a:rPr>
              <a:t>Using the </a:t>
            </a:r>
            <a:r>
              <a:rPr lang="en-US" sz="2400" dirty="0">
                <a:latin typeface="Consolas" panose="020B0609020204030204" pitchFamily="49" charset="0"/>
              </a:rPr>
              <a:t>this</a:t>
            </a:r>
            <a:r>
              <a:rPr lang="en-US" sz="2400" dirty="0">
                <a:latin typeface="Arial Body"/>
              </a:rPr>
              <a:t> </a:t>
            </a:r>
            <a:r>
              <a:rPr lang="en-US" sz="2400" dirty="0" smtClean="0">
                <a:latin typeface="Arial Body"/>
              </a:rPr>
              <a:t>Pointer</a:t>
            </a:r>
          </a:p>
          <a:p>
            <a:pPr marL="432000" indent="-457200">
              <a:buNone/>
            </a:pPr>
            <a:r>
              <a:rPr lang="en-US" sz="2400" b="1" dirty="0" smtClean="0">
                <a:solidFill>
                  <a:schemeClr val="tx2"/>
                </a:solidFill>
                <a:latin typeface="Arial Body"/>
              </a:rPr>
              <a:t>17.14</a:t>
            </a:r>
            <a:r>
              <a:rPr lang="en-US" sz="2400" dirty="0" smtClean="0">
                <a:latin typeface="Arial Body"/>
              </a:rPr>
              <a:t> </a:t>
            </a:r>
            <a:r>
              <a:rPr lang="en-US" sz="2400" dirty="0">
                <a:latin typeface="Consolas" panose="020B0609020204030204" pitchFamily="49" charset="0"/>
              </a:rPr>
              <a:t>static</a:t>
            </a:r>
            <a:r>
              <a:rPr lang="en-US" sz="2400" dirty="0">
                <a:latin typeface="Arial Body"/>
              </a:rPr>
              <a:t> Class </a:t>
            </a:r>
            <a:r>
              <a:rPr lang="en-US" sz="2400" dirty="0" smtClean="0">
                <a:latin typeface="Arial Body"/>
              </a:rPr>
              <a:t>Members</a:t>
            </a:r>
          </a:p>
          <a:p>
            <a:pPr marL="432000" indent="-457200">
              <a:buNone/>
            </a:pPr>
            <a:r>
              <a:rPr lang="en-US" sz="2400" b="1" dirty="0" smtClean="0">
                <a:solidFill>
                  <a:schemeClr val="tx2"/>
                </a:solidFill>
                <a:latin typeface="Arial Body"/>
              </a:rPr>
              <a:t>17.15</a:t>
            </a:r>
            <a:r>
              <a:rPr lang="en-US" sz="2400" dirty="0" smtClean="0">
                <a:latin typeface="Arial Body"/>
              </a:rPr>
              <a:t> Wrap-Up</a:t>
            </a:r>
            <a:endParaRPr lang="en-US" sz="2400" dirty="0">
              <a:latin typeface="Arial Body"/>
            </a:endParaRPr>
          </a:p>
        </p:txBody>
      </p:sp>
    </p:spTree>
    <p:extLst>
      <p:ext uri="{BB962C8B-B14F-4D97-AF65-F5344CB8AC3E}">
        <p14:creationId xmlns:p14="http://schemas.microsoft.com/office/powerpoint/2010/main" val="29709740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 Introduction </a:t>
            </a:r>
            <a:r>
              <a:rPr lang="en-US" altLang="en-US" sz="2000" b="0" kern="1200" dirty="0" smtClean="0">
                <a:latin typeface="Times New Roman" panose="02020603050405020304" pitchFamily="18" charset="0"/>
                <a:ea typeface="+mj-ea"/>
                <a:cs typeface="+mj-cs"/>
              </a:rPr>
              <a:t>(1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686300"/>
          </a:xfrm>
        </p:spPr>
        <p:txBody>
          <a:bodyPr>
            <a:spAutoFit/>
          </a:bodyPr>
          <a:lstStyle/>
          <a:p>
            <a:pPr marL="255651" indent="-255651" eaLnBrk="1" hangingPunct="1">
              <a:tabLst/>
              <a:defRPr/>
            </a:pPr>
            <a:r>
              <a:rPr lang="en-US" altLang="en-US" sz="2000" kern="1200" dirty="0">
                <a:solidFill>
                  <a:srgbClr val="000000"/>
                </a:solidFill>
                <a:latin typeface="Arial (Body)"/>
                <a:ea typeface="+mn-ea"/>
                <a:cs typeface="+mn-cs"/>
              </a:rPr>
              <a:t>This chapter takes a deeper look at classes.</a:t>
            </a:r>
          </a:p>
          <a:p>
            <a:pPr marL="255651" indent="-255651" eaLnBrk="1" hangingPunct="1">
              <a:tabLst/>
              <a:defRPr/>
            </a:pPr>
            <a:r>
              <a:rPr lang="en-US" altLang="en-US" sz="2000" kern="1200" dirty="0">
                <a:solidFill>
                  <a:srgbClr val="000000"/>
                </a:solidFill>
                <a:latin typeface="Arial (Body)"/>
                <a:ea typeface="+mn-ea"/>
                <a:cs typeface="+mn-cs"/>
              </a:rPr>
              <a:t>Coverage includes:</a:t>
            </a: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ea typeface="+mn-ea"/>
                <a:cs typeface="+mn-cs"/>
              </a:rPr>
              <a:t>The example also demonstrates using an </a:t>
            </a:r>
            <a:r>
              <a:rPr lang="en-US" altLang="en-US" sz="2000" b="1" kern="1200" dirty="0">
                <a:solidFill>
                  <a:srgbClr val="000000"/>
                </a:solidFill>
                <a:latin typeface="Arial (Body)"/>
                <a:ea typeface="+mn-ea"/>
                <a:cs typeface="+mn-cs"/>
              </a:rPr>
              <a:t>include guard </a:t>
            </a:r>
            <a:r>
              <a:rPr lang="en-US" altLang="en-US" sz="2000" kern="1200" dirty="0">
                <a:solidFill>
                  <a:srgbClr val="000000"/>
                </a:solidFill>
                <a:latin typeface="Arial (Body)"/>
                <a:ea typeface="+mn-ea"/>
                <a:cs typeface="+mn-cs"/>
              </a:rPr>
              <a:t>in headers to prevent header code from being included in the same source code file more than </a:t>
            </a:r>
            <a:r>
              <a:rPr lang="en-US" altLang="en-US" sz="2000" kern="1200" dirty="0" smtClean="0">
                <a:solidFill>
                  <a:srgbClr val="000000"/>
                </a:solidFill>
                <a:latin typeface="Arial (Body)"/>
                <a:ea typeface="+mn-ea"/>
                <a:cs typeface="+mn-cs"/>
              </a:rPr>
              <a:t>once.</a:t>
            </a:r>
            <a:endParaRPr lang="en-US" altLang="en-US" sz="20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ea typeface="+mn-ea"/>
                <a:cs typeface="+mn-cs"/>
              </a:rPr>
              <a:t>We demonstrate how client code can access a class’s </a:t>
            </a:r>
            <a:r>
              <a:rPr lang="en-US" altLang="en-US" sz="2000" kern="1200" dirty="0">
                <a:solidFill>
                  <a:srgbClr val="000000"/>
                </a:solidFill>
                <a:latin typeface="Consolas" panose="020B0609020204030204" pitchFamily="49" charset="0"/>
                <a:ea typeface="+mn-ea"/>
                <a:cs typeface="+mn-cs"/>
              </a:rPr>
              <a:t>public</a:t>
            </a:r>
            <a:r>
              <a:rPr lang="en-US" altLang="en-US" sz="2000" kern="1200" dirty="0">
                <a:solidFill>
                  <a:srgbClr val="000000"/>
                </a:solidFill>
                <a:latin typeface="Arial (Body)"/>
                <a:ea typeface="+mn-ea"/>
                <a:cs typeface="+mn-cs"/>
              </a:rPr>
              <a:t> members via the name of an object, a reference to an object or a pointer to an </a:t>
            </a:r>
            <a:r>
              <a:rPr lang="en-US" altLang="en-US" sz="2000" kern="1200" dirty="0" smtClean="0">
                <a:solidFill>
                  <a:srgbClr val="000000"/>
                </a:solidFill>
                <a:latin typeface="Arial (Body)"/>
                <a:ea typeface="+mn-ea"/>
                <a:cs typeface="+mn-cs"/>
              </a:rPr>
              <a:t>object.</a:t>
            </a:r>
            <a:endParaRPr lang="en-US" altLang="en-US" sz="20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ea typeface="+mn-ea"/>
                <a:cs typeface="+mn-cs"/>
              </a:rPr>
              <a:t>We discuss access functions that can read or write an object’s data members.</a:t>
            </a: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ea typeface="+mn-ea"/>
                <a:cs typeface="+mn-cs"/>
              </a:rPr>
              <a:t>We also demonstrate utility functions—</a:t>
            </a:r>
            <a:r>
              <a:rPr lang="en-US" altLang="en-US" sz="2000" kern="1200" dirty="0">
                <a:solidFill>
                  <a:srgbClr val="000000"/>
                </a:solidFill>
                <a:latin typeface="Consolas" panose="020B0609020204030204" pitchFamily="49" charset="0"/>
                <a:ea typeface="+mn-ea"/>
                <a:cs typeface="+mn-cs"/>
              </a:rPr>
              <a:t>private</a:t>
            </a:r>
            <a:r>
              <a:rPr lang="en-US" altLang="en-US" sz="2000" kern="1200" dirty="0">
                <a:solidFill>
                  <a:srgbClr val="000000"/>
                </a:solidFill>
                <a:latin typeface="Arial (Body)"/>
                <a:ea typeface="+mn-ea"/>
                <a:cs typeface="+mn-cs"/>
              </a:rPr>
              <a:t> member functions that support the operation of the class’s </a:t>
            </a:r>
            <a:r>
              <a:rPr lang="en-US" altLang="en-US" sz="2000" kern="1200" dirty="0">
                <a:solidFill>
                  <a:srgbClr val="000000"/>
                </a:solidFill>
                <a:latin typeface="Consolas" panose="020B0609020204030204" pitchFamily="49" charset="0"/>
                <a:ea typeface="+mn-ea"/>
                <a:cs typeface="+mn-cs"/>
              </a:rPr>
              <a:t>public</a:t>
            </a:r>
            <a:r>
              <a:rPr lang="en-US" altLang="en-US" sz="2000" kern="1200" dirty="0">
                <a:solidFill>
                  <a:srgbClr val="000000"/>
                </a:solidFill>
                <a:latin typeface="Arial (Body)"/>
                <a:ea typeface="+mn-ea"/>
                <a:cs typeface="+mn-cs"/>
              </a:rPr>
              <a:t> member functions.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 Introduction </a:t>
            </a:r>
            <a:r>
              <a:rPr lang="en-US" altLang="en-US" sz="2000" b="0" kern="1200" dirty="0" smtClean="0">
                <a:latin typeface="Times New Roman" panose="02020603050405020304" pitchFamily="18" charset="0"/>
                <a:ea typeface="+mj-ea"/>
                <a:cs typeface="+mj-cs"/>
              </a:rPr>
              <a:t>(2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877954"/>
          </a:xfrm>
        </p:spPr>
        <p:txBody>
          <a:bodyPr>
            <a:spAutoFit/>
          </a:bodyPr>
          <a:lstStyle/>
          <a:p>
            <a:pPr marL="741553" lvl="1" indent="-284353" eaLnBrk="1" hangingPunct="1">
              <a:buFont typeface="Arial" panose="020B0604020202020204" pitchFamily="34" charset="0"/>
              <a:buChar char="–"/>
              <a:defRPr/>
            </a:pPr>
            <a:r>
              <a:rPr lang="en-US" altLang="en-US" sz="2200" kern="1200" dirty="0" smtClean="0">
                <a:solidFill>
                  <a:srgbClr val="000000"/>
                </a:solidFill>
                <a:latin typeface="Arial (Body)"/>
                <a:ea typeface="+mn-ea"/>
                <a:cs typeface="+mn-cs"/>
              </a:rPr>
              <a:t>How </a:t>
            </a:r>
            <a:r>
              <a:rPr lang="en-US" altLang="en-US" sz="2200" kern="1200" dirty="0">
                <a:solidFill>
                  <a:srgbClr val="000000"/>
                </a:solidFill>
                <a:latin typeface="Arial (Body)"/>
                <a:ea typeface="+mn-ea"/>
                <a:cs typeface="+mn-cs"/>
              </a:rPr>
              <a:t>default arguments can be used in constructors.</a:t>
            </a:r>
          </a:p>
          <a:p>
            <a:pPr marL="741553" lvl="1" indent="-284353" eaLnBrk="1" hangingPunct="1">
              <a:buFont typeface="Arial" panose="020B0604020202020204" pitchFamily="34" charset="0"/>
              <a:buChar char="–"/>
              <a:defRPr/>
            </a:pPr>
            <a:r>
              <a:rPr lang="en-US" altLang="en-US" sz="2200" kern="1200" dirty="0">
                <a:solidFill>
                  <a:srgbClr val="000000"/>
                </a:solidFill>
                <a:latin typeface="Arial (Body)"/>
                <a:ea typeface="+mn-ea"/>
                <a:cs typeface="+mn-cs"/>
              </a:rPr>
              <a:t>Destructors that perform “termination housekeeping” on objects before they’re destroyed.</a:t>
            </a:r>
          </a:p>
          <a:p>
            <a:pPr marL="741553" lvl="1" indent="-284353" eaLnBrk="1" hangingPunct="1">
              <a:buFont typeface="Arial" panose="020B0604020202020204" pitchFamily="34" charset="0"/>
              <a:buChar char="–"/>
              <a:defRPr/>
            </a:pPr>
            <a:r>
              <a:rPr lang="en-US" altLang="en-US" sz="2200" kern="1200" dirty="0">
                <a:solidFill>
                  <a:srgbClr val="000000"/>
                </a:solidFill>
                <a:latin typeface="Arial (Body)"/>
                <a:ea typeface="+mn-ea"/>
                <a:cs typeface="+mn-cs"/>
              </a:rPr>
              <a:t>The </a:t>
            </a:r>
            <a:r>
              <a:rPr lang="en-US" altLang="en-US" sz="2200" b="1" kern="1200" dirty="0">
                <a:solidFill>
                  <a:srgbClr val="000000"/>
                </a:solidFill>
                <a:latin typeface="Arial (Body)"/>
                <a:ea typeface="+mn-ea"/>
                <a:cs typeface="+mn-cs"/>
              </a:rPr>
              <a:t>order</a:t>
            </a:r>
            <a:r>
              <a:rPr lang="en-US" altLang="en-US" sz="2200" kern="1200" dirty="0">
                <a:solidFill>
                  <a:srgbClr val="000000"/>
                </a:solidFill>
                <a:latin typeface="Arial (Body)"/>
                <a:ea typeface="+mn-ea"/>
                <a:cs typeface="+mn-cs"/>
              </a:rPr>
              <a:t> in which constructors and destructors are called.</a:t>
            </a:r>
          </a:p>
          <a:p>
            <a:pPr marL="741553" lvl="1" indent="-284353" eaLnBrk="1" hangingPunct="1">
              <a:buFont typeface="Arial" panose="020B0604020202020204" pitchFamily="34" charset="0"/>
              <a:buChar char="–"/>
              <a:defRPr/>
            </a:pPr>
            <a:r>
              <a:rPr lang="en-US" altLang="en-US" sz="2200" kern="1200" dirty="0">
                <a:solidFill>
                  <a:srgbClr val="000000"/>
                </a:solidFill>
                <a:latin typeface="Arial (Body)"/>
                <a:ea typeface="+mn-ea"/>
                <a:cs typeface="+mn-cs"/>
              </a:rPr>
              <a:t>We show that returning a reference or pointer to </a:t>
            </a:r>
            <a:r>
              <a:rPr lang="en-US" altLang="en-US" sz="2200" kern="1200" dirty="0">
                <a:solidFill>
                  <a:srgbClr val="000000"/>
                </a:solidFill>
                <a:latin typeface="Consolas" panose="020B0609020204030204" pitchFamily="49" charset="0"/>
                <a:ea typeface="+mn-ea"/>
                <a:cs typeface="+mn-cs"/>
              </a:rPr>
              <a:t>private</a:t>
            </a:r>
            <a:r>
              <a:rPr lang="en-US" altLang="en-US" sz="2200" kern="1200" dirty="0">
                <a:solidFill>
                  <a:srgbClr val="000000"/>
                </a:solidFill>
                <a:latin typeface="Arial (Body)"/>
                <a:ea typeface="+mn-ea"/>
                <a:cs typeface="+mn-cs"/>
              </a:rPr>
              <a:t> data </a:t>
            </a:r>
            <a:r>
              <a:rPr lang="en-US" altLang="en-US" sz="2200" b="1" kern="1200" dirty="0">
                <a:solidFill>
                  <a:srgbClr val="000000"/>
                </a:solidFill>
                <a:latin typeface="Arial (Body)"/>
                <a:ea typeface="+mn-ea"/>
                <a:cs typeface="+mn-cs"/>
              </a:rPr>
              <a:t>breaks the encapsulation </a:t>
            </a:r>
            <a:r>
              <a:rPr lang="en-US" altLang="en-US" sz="2200" kern="1200" dirty="0">
                <a:solidFill>
                  <a:srgbClr val="000000"/>
                </a:solidFill>
                <a:latin typeface="Arial (Body)"/>
                <a:ea typeface="+mn-ea"/>
                <a:cs typeface="+mn-cs"/>
              </a:rPr>
              <a:t>of a class, allowing client code to directly access an object’s data.</a:t>
            </a:r>
          </a:p>
          <a:p>
            <a:pPr marL="741553" lvl="1" indent="-284353" eaLnBrk="1" hangingPunct="1">
              <a:buFont typeface="Arial" panose="020B0604020202020204" pitchFamily="34" charset="0"/>
              <a:buChar char="–"/>
              <a:defRPr/>
            </a:pPr>
            <a:r>
              <a:rPr lang="en-US" altLang="en-US" sz="2200" kern="1200" dirty="0">
                <a:solidFill>
                  <a:srgbClr val="000000"/>
                </a:solidFill>
                <a:latin typeface="Arial (Body)"/>
                <a:ea typeface="+mn-ea"/>
                <a:cs typeface="+mn-cs"/>
              </a:rPr>
              <a:t>We use default memberwise assignment to assign an object of a class to another object of the same class.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nchor="b">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 Introduction </a:t>
            </a:r>
            <a:r>
              <a:rPr lang="en-US" altLang="en-US" sz="2000" b="0" kern="1200" dirty="0" smtClean="0">
                <a:latin typeface="Times New Roman" panose="02020603050405020304" pitchFamily="18" charset="0"/>
                <a:ea typeface="+mj-ea"/>
                <a:cs typeface="+mj-cs"/>
              </a:rPr>
              <a:t>(3 of 3)</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10248"/>
            <a:ext cx="8229600" cy="4816673"/>
          </a:xfrm>
        </p:spPr>
        <p:txBody>
          <a:bodyPr wrap="square">
            <a:spAutoFit/>
          </a:bodyPr>
          <a:lstStyle/>
          <a:p>
            <a:pPr marL="741553" lvl="1" indent="-284353" eaLnBrk="1" hangingPunct="1">
              <a:buFont typeface="Arial" panose="020B0604020202020204" pitchFamily="34" charset="0"/>
              <a:buChar char="–"/>
              <a:defRPr/>
            </a:pPr>
            <a:r>
              <a:rPr lang="en-US" altLang="en-US" sz="2200" kern="1200" dirty="0" smtClean="0">
                <a:solidFill>
                  <a:srgbClr val="000000"/>
                </a:solidFill>
                <a:latin typeface="Consolas" panose="020B0609020204030204" pitchFamily="49" charset="0"/>
                <a:ea typeface="+mn-ea"/>
                <a:cs typeface="+mn-cs"/>
              </a:rPr>
              <a:t>const</a:t>
            </a:r>
            <a:r>
              <a:rPr lang="en-US" altLang="en-US" sz="2200" kern="1200" dirty="0" smtClean="0">
                <a:solidFill>
                  <a:srgbClr val="000000"/>
                </a:solidFill>
                <a:latin typeface="Arial (Body)"/>
                <a:ea typeface="+mn-ea"/>
                <a:cs typeface="+mn-cs"/>
              </a:rPr>
              <a:t> </a:t>
            </a:r>
            <a:r>
              <a:rPr lang="en-US" altLang="en-US" sz="2200" kern="1200" dirty="0">
                <a:solidFill>
                  <a:srgbClr val="000000"/>
                </a:solidFill>
                <a:latin typeface="Arial (Body)"/>
                <a:ea typeface="+mn-ea"/>
                <a:cs typeface="+mn-cs"/>
              </a:rPr>
              <a:t>objects and </a:t>
            </a:r>
            <a:r>
              <a:rPr lang="en-US" altLang="en-US" sz="2200" kern="1200" dirty="0">
                <a:solidFill>
                  <a:srgbClr val="000000"/>
                </a:solidFill>
                <a:latin typeface="Consolas" panose="020B0609020204030204" pitchFamily="49" charset="0"/>
                <a:ea typeface="+mn-ea"/>
                <a:cs typeface="+mn-cs"/>
              </a:rPr>
              <a:t>const</a:t>
            </a:r>
            <a:r>
              <a:rPr lang="en-US" altLang="en-US" sz="2200" kern="1200" dirty="0">
                <a:solidFill>
                  <a:srgbClr val="000000"/>
                </a:solidFill>
                <a:latin typeface="Arial (Body)"/>
                <a:ea typeface="+mn-ea"/>
                <a:cs typeface="+mn-cs"/>
              </a:rPr>
              <a:t> member functions to prevent modifications of objects and enforce the principle of least </a:t>
            </a:r>
            <a:r>
              <a:rPr lang="en-US" altLang="en-US" sz="2200" kern="1200" dirty="0" smtClean="0">
                <a:solidFill>
                  <a:srgbClr val="000000"/>
                </a:solidFill>
                <a:latin typeface="Arial (Body)"/>
                <a:ea typeface="+mn-ea"/>
                <a:cs typeface="+mn-cs"/>
              </a:rPr>
              <a:t>privilege.</a:t>
            </a:r>
            <a:endParaRPr lang="en-US" altLang="en-US" sz="22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200" b="1" kern="1200" dirty="0">
                <a:solidFill>
                  <a:srgbClr val="000000"/>
                </a:solidFill>
                <a:latin typeface="Arial (Body)"/>
                <a:ea typeface="+mn-ea"/>
                <a:cs typeface="+mn-cs"/>
              </a:rPr>
              <a:t>Composition</a:t>
            </a:r>
            <a:r>
              <a:rPr lang="en-US" altLang="en-US" sz="2200" kern="1200" dirty="0">
                <a:solidFill>
                  <a:srgbClr val="000000"/>
                </a:solidFill>
                <a:latin typeface="Arial (Body)"/>
                <a:ea typeface="+mn-ea"/>
                <a:cs typeface="+mn-cs"/>
              </a:rPr>
              <a:t>—a form of reuse in which a class can have objects of other classes as </a:t>
            </a:r>
            <a:r>
              <a:rPr lang="en-US" altLang="en-US" sz="2200" kern="1200" dirty="0" smtClean="0">
                <a:solidFill>
                  <a:srgbClr val="000000"/>
                </a:solidFill>
                <a:latin typeface="Arial (Body)"/>
                <a:ea typeface="+mn-ea"/>
                <a:cs typeface="+mn-cs"/>
              </a:rPr>
              <a:t>members.</a:t>
            </a:r>
            <a:endParaRPr lang="en-US" altLang="en-US" sz="22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200" b="1" kern="1200" dirty="0">
                <a:solidFill>
                  <a:srgbClr val="000000"/>
                </a:solidFill>
                <a:latin typeface="Arial (Body)"/>
                <a:ea typeface="+mn-ea"/>
                <a:cs typeface="+mn-cs"/>
              </a:rPr>
              <a:t>Friendship</a:t>
            </a:r>
            <a:r>
              <a:rPr lang="en-US" altLang="en-US" sz="2200" kern="1200" dirty="0">
                <a:solidFill>
                  <a:srgbClr val="000000"/>
                </a:solidFill>
                <a:latin typeface="Arial (Body)"/>
                <a:ea typeface="+mn-ea"/>
                <a:cs typeface="+mn-cs"/>
              </a:rPr>
              <a:t> to specify that a nonmember function can also access a class’s non-public members—a technique that’s often used in operator overloading for performance </a:t>
            </a:r>
            <a:r>
              <a:rPr lang="en-US" altLang="en-US" sz="2200" kern="1200" dirty="0" smtClean="0">
                <a:solidFill>
                  <a:srgbClr val="000000"/>
                </a:solidFill>
                <a:latin typeface="Arial (Body)"/>
                <a:ea typeface="+mn-ea"/>
                <a:cs typeface="+mn-cs"/>
              </a:rPr>
              <a:t>reasons.</a:t>
            </a:r>
            <a:endParaRPr lang="en-US" altLang="en-US" sz="2200" kern="1200" dirty="0">
              <a:solidFill>
                <a:srgbClr val="000000"/>
              </a:solidFill>
              <a:latin typeface="Arial (Body)"/>
              <a:ea typeface="+mn-ea"/>
              <a:cs typeface="+mn-cs"/>
            </a:endParaRPr>
          </a:p>
          <a:p>
            <a:pPr marL="741553" lvl="1" indent="-284353" eaLnBrk="1" hangingPunct="1">
              <a:buFont typeface="Arial" panose="020B0604020202020204" pitchFamily="34" charset="0"/>
              <a:buChar char="–"/>
              <a:defRPr/>
            </a:pPr>
            <a:r>
              <a:rPr lang="en-US" altLang="en-US" sz="2200" kern="1200" dirty="0">
                <a:solidFill>
                  <a:srgbClr val="000000"/>
                </a:solidFill>
                <a:latin typeface="Consolas" panose="020B0609020204030204" pitchFamily="49" charset="0"/>
                <a:ea typeface="+mn-ea"/>
                <a:cs typeface="+mn-cs"/>
              </a:rPr>
              <a:t>this</a:t>
            </a:r>
            <a:r>
              <a:rPr lang="en-US" altLang="en-US" sz="2200" kern="1200" dirty="0">
                <a:solidFill>
                  <a:srgbClr val="000000"/>
                </a:solidFill>
                <a:latin typeface="Arial (Body)"/>
                <a:ea typeface="+mn-ea"/>
                <a:cs typeface="+mn-cs"/>
              </a:rPr>
              <a:t> pointer, which is an implicit argument in all calls to a class’s non-static member functions, allowing them to access the correct object’s data members and non-static member </a:t>
            </a:r>
            <a:r>
              <a:rPr lang="en-US" altLang="en-US" sz="2200" kern="1200" dirty="0" smtClean="0">
                <a:solidFill>
                  <a:srgbClr val="000000"/>
                </a:solidFill>
                <a:latin typeface="Arial (Body)"/>
                <a:ea typeface="+mn-ea"/>
                <a:cs typeface="+mn-cs"/>
              </a:rPr>
              <a:t>functions.</a:t>
            </a:r>
            <a:endParaRPr lang="en-US" altLang="en-US" sz="22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Time Class Case Study </a:t>
            </a:r>
            <a:r>
              <a:rPr lang="en-US" altLang="en-US" sz="2000" b="0" kern="1200" dirty="0" smtClean="0">
                <a:latin typeface="Times New Roman" panose="02020603050405020304" pitchFamily="18" charset="0"/>
                <a:ea typeface="+mj-ea"/>
                <a:cs typeface="+mj-cs"/>
              </a:rPr>
              <a:t>(1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92392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Our first example (</a:t>
            </a:r>
            <a:r>
              <a:rPr lang="en-US" altLang="en-US" sz="2400" kern="1200" dirty="0" smtClean="0">
                <a:solidFill>
                  <a:srgbClr val="000000"/>
                </a:solidFill>
                <a:latin typeface="Arial (Body)"/>
                <a:ea typeface="+mn-ea"/>
                <a:cs typeface="+mn-cs"/>
              </a:rPr>
              <a:t>Figure 17.1 (see slide 11)) </a:t>
            </a:r>
            <a:r>
              <a:rPr lang="en-US" altLang="en-US" sz="2400" kern="1200" dirty="0">
                <a:solidFill>
                  <a:srgbClr val="000000"/>
                </a:solidFill>
                <a:latin typeface="Arial (Body)"/>
                <a:ea typeface="+mn-ea"/>
                <a:cs typeface="+mn-cs"/>
              </a:rPr>
              <a:t>creates class </a:t>
            </a:r>
            <a:r>
              <a:rPr lang="en-US" altLang="en-US" sz="2400" kern="1200" dirty="0">
                <a:solidFill>
                  <a:srgbClr val="000000"/>
                </a:solidFill>
                <a:latin typeface="Consolas" panose="020B0609020204030204" pitchFamily="49" charset="0"/>
                <a:ea typeface="+mn-ea"/>
                <a:cs typeface="+mn-cs"/>
              </a:rPr>
              <a:t>Time</a:t>
            </a:r>
            <a:r>
              <a:rPr lang="en-US" altLang="en-US" sz="2400" kern="1200" dirty="0">
                <a:solidFill>
                  <a:srgbClr val="000000"/>
                </a:solidFill>
                <a:latin typeface="Arial (Body)"/>
                <a:ea typeface="+mn-ea"/>
                <a:cs typeface="+mn-cs"/>
              </a:rPr>
              <a:t> and tests the class.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Good Programming Practice </a:t>
            </a:r>
            <a:r>
              <a:rPr lang="en-US" dirty="0" smtClean="0"/>
              <a:t>17.1</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For clarity and readability, use each access specifier only once in a class definition. Place </a:t>
            </a:r>
            <a:r>
              <a:rPr lang="en-US" sz="2400" dirty="0">
                <a:latin typeface="Consolas" panose="020B0609020204030204" pitchFamily="49" charset="0"/>
              </a:rPr>
              <a:t>public</a:t>
            </a:r>
            <a:r>
              <a:rPr lang="en-US" sz="2400" dirty="0">
                <a:latin typeface="Arial Body"/>
              </a:rPr>
              <a:t> members first, where they’re easy to locate</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a:t>
            </a:r>
            <a:endParaRPr lang="en-US" dirty="0"/>
          </a:p>
        </p:txBody>
      </p:sp>
      <p:sp>
        <p:nvSpPr>
          <p:cNvPr id="3" name="Text Placeholder 2"/>
          <p:cNvSpPr>
            <a:spLocks noGrp="1"/>
          </p:cNvSpPr>
          <p:nvPr>
            <p:ph type="body" idx="1"/>
          </p:nvPr>
        </p:nvSpPr>
        <p:spPr>
          <a:xfrm>
            <a:off x="457200" y="1600200"/>
            <a:ext cx="8229600" cy="1666875"/>
          </a:xfrm>
        </p:spPr>
        <p:txBody>
          <a:bodyPr/>
          <a:lstStyle/>
          <a:p>
            <a:pPr marL="0" indent="0">
              <a:buNone/>
            </a:pPr>
            <a:r>
              <a:rPr lang="en-US" sz="2400" dirty="0">
                <a:latin typeface="Arial Body"/>
              </a:rPr>
              <a:t>Each member of a class should have </a:t>
            </a:r>
            <a:r>
              <a:rPr lang="en-US" sz="2400" dirty="0">
                <a:latin typeface="Consolas" panose="020B0609020204030204" pitchFamily="49" charset="0"/>
              </a:rPr>
              <a:t>private</a:t>
            </a:r>
            <a:r>
              <a:rPr lang="en-US" sz="2400" dirty="0">
                <a:latin typeface="Arial Body"/>
              </a:rPr>
              <a:t> visibility unless it can be proven that the element needs </a:t>
            </a:r>
            <a:r>
              <a:rPr lang="en-US" sz="2400" dirty="0">
                <a:latin typeface="Consolas" panose="020B0609020204030204" pitchFamily="49" charset="0"/>
              </a:rPr>
              <a:t>public</a:t>
            </a:r>
            <a:r>
              <a:rPr lang="en-US" sz="2400" dirty="0">
                <a:latin typeface="Arial Body"/>
              </a:rPr>
              <a:t> visibility. This is another example of the principle of least privilege.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17.1 </a:t>
            </a:r>
            <a:r>
              <a:rPr lang="en-US" dirty="0" smtClean="0">
                <a:latin typeface="Consolas" panose="020B0609020204030204" pitchFamily="49" charset="0"/>
              </a:rPr>
              <a:t>Time</a:t>
            </a:r>
            <a:r>
              <a:rPr lang="en-US" dirty="0" smtClean="0"/>
              <a:t> Class Definition</a:t>
            </a:r>
            <a:endParaRPr lang="en-US" dirty="0"/>
          </a:p>
        </p:txBody>
      </p:sp>
      <p:pic>
        <p:nvPicPr>
          <p:cNvPr id="4" name="Picture 3" descr="The computer code has 23 lines. The lines read as follows. Line 1. forward slash forward slash Fig period 17 period 1 colon Time period h. The words, Time period h, in line 1 are highlighted. Line 2. forward slash forward slash Time class definition period. Line 3. forward slash forward slash Member functions are defined in Time period c p p. Line 2 and 3 are highlighted. Line 4. Blank. Line 5. forward slash forward slash prevent multiple inclusions of header. Line 6. hash if n d e f TIME underscore H. Line 7. hash define TIME underscore H. Line 8. Blank. Line 9. forward slash forward slash Time class definition. Line 10. class Time. Line 11. left brace. Line 12. public colon. Line 13. Time left parenthesis right parenthesis semicolon forward slash forward slash constructor. Line 14. void set Time left parenthesis i n t comma i n t comma i n t right parenthesis semicolon forward slash forward slash set hour comma minute and second. Line 15. void print Universal left parenthesis right parenthesis c o n s t semicolon forward slash forward slash print time in universal dash time format. Line 16. void print Standard left parenthesis right parenthesis c o n s t semicolon forward slash forward slash print time in standard dash time format. Line 17. private colon. Line 18. unsigned i n t hour semicolon forward slash forward slash 0 dash 23 left parenthesis 24 dash hour clock format right parenthesis. Line 19. unsigned i n t minute semicolon forward slash forward slash 0 dash 59. Line 20. unsigned i n t second semicolon forward slash forward slash 0 dash 59. Line 21. right brace semicolon forward slash forward slash end class Time. Line 22. Blank. Line 23. hash end if."/>
          <p:cNvPicPr>
            <a:picLocks noChangeAspect="1"/>
          </p:cNvPicPr>
          <p:nvPr/>
        </p:nvPicPr>
        <p:blipFill>
          <a:blip r:embed="rId2"/>
          <a:stretch>
            <a:fillRect/>
          </a:stretch>
        </p:blipFill>
        <p:spPr>
          <a:xfrm>
            <a:off x="849496" y="1508128"/>
            <a:ext cx="7445006" cy="4725314"/>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(2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8229600" cy="800189"/>
          </a:xfrm>
        </p:spPr>
        <p:txBody>
          <a:bodyPr>
            <a:spAutoFit/>
          </a:bodyPr>
          <a:lstStyle/>
          <a:p>
            <a:pPr marL="255651" indent="-255651" eaLnBrk="1" hangingPunct="1">
              <a:tabLst/>
              <a:defRPr/>
            </a:pPr>
            <a:r>
              <a:rPr lang="en-US" altLang="en-US" sz="2000" kern="1200" dirty="0">
                <a:solidFill>
                  <a:srgbClr val="000000"/>
                </a:solidFill>
                <a:latin typeface="Arial (Body)"/>
                <a:ea typeface="+mn-ea"/>
                <a:cs typeface="+mn-cs"/>
              </a:rPr>
              <a:t>In </a:t>
            </a:r>
            <a:r>
              <a:rPr lang="en-US" altLang="en-US" sz="2000" kern="1200" dirty="0" smtClean="0">
                <a:solidFill>
                  <a:srgbClr val="000000"/>
                </a:solidFill>
                <a:latin typeface="Arial (Body)"/>
                <a:ea typeface="+mn-ea"/>
                <a:cs typeface="+mn-cs"/>
              </a:rPr>
              <a:t>Figure</a:t>
            </a:r>
            <a:r>
              <a:rPr lang="en-US" altLang="en-US" sz="2000" kern="1200" dirty="0">
                <a:solidFill>
                  <a:srgbClr val="000000"/>
                </a:solidFill>
                <a:latin typeface="Arial (Body)"/>
                <a:ea typeface="+mn-ea"/>
                <a:cs typeface="+mn-cs"/>
              </a:rPr>
              <a:t> </a:t>
            </a:r>
            <a:r>
              <a:rPr lang="en-US" altLang="en-US" sz="2000" kern="1200" dirty="0" smtClean="0">
                <a:solidFill>
                  <a:srgbClr val="000000"/>
                </a:solidFill>
                <a:latin typeface="Arial (Body)"/>
                <a:ea typeface="+mn-ea"/>
                <a:cs typeface="+mn-cs"/>
              </a:rPr>
              <a:t>17.1, the </a:t>
            </a:r>
            <a:r>
              <a:rPr lang="en-US" altLang="en-US" sz="2000" kern="1200" dirty="0">
                <a:solidFill>
                  <a:srgbClr val="000000"/>
                </a:solidFill>
                <a:latin typeface="Arial (Body)"/>
                <a:ea typeface="+mn-ea"/>
                <a:cs typeface="+mn-cs"/>
              </a:rPr>
              <a:t>class definition is enclosed in the following include guard</a:t>
            </a:r>
            <a:r>
              <a:rPr lang="en-US" altLang="en-US" sz="2000" kern="1200" dirty="0" smtClean="0">
                <a:solidFill>
                  <a:srgbClr val="000000"/>
                </a:solidFill>
                <a:latin typeface="Arial (Body)"/>
                <a:ea typeface="+mn-ea"/>
                <a:cs typeface="+mn-cs"/>
              </a:rPr>
              <a:t>:</a:t>
            </a:r>
            <a:endParaRPr lang="en-US" altLang="en-US" sz="2000" kern="1200" dirty="0">
              <a:solidFill>
                <a:srgbClr val="000000"/>
              </a:solidFill>
              <a:latin typeface="Arial (Body)"/>
              <a:ea typeface="+mn-ea"/>
              <a:cs typeface="+mn-cs"/>
            </a:endParaRPr>
          </a:p>
        </p:txBody>
      </p:sp>
      <p:pic>
        <p:nvPicPr>
          <p:cNvPr id="10" name="Picture 9" descr="The computer code has 5 lines. The lines read as follows. Line 1. Forward slash forward slash prevent multiple inclusions of header file. Line 2. Hash if n d e f TIME underscore H. Line 3. Hash define TIME underscore H. Line 4. Incomplete line of code. Line 5. Hash end 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257" y="2434163"/>
            <a:ext cx="6028854" cy="1213433"/>
          </a:xfrm>
          <a:prstGeom prst="rect">
            <a:avLst/>
          </a:prstGeom>
        </p:spPr>
      </p:pic>
      <p:sp>
        <p:nvSpPr>
          <p:cNvPr id="8" name="Content Placeholder 7"/>
          <p:cNvSpPr>
            <a:spLocks noGrp="1"/>
          </p:cNvSpPr>
          <p:nvPr>
            <p:ph sz="quarter" idx="17"/>
          </p:nvPr>
        </p:nvSpPr>
        <p:spPr>
          <a:xfrm>
            <a:off x="457200" y="3700305"/>
            <a:ext cx="8229600" cy="2530929"/>
          </a:xfrm>
        </p:spPr>
        <p:txBody>
          <a:bodyPr/>
          <a:lstStyle/>
          <a:p>
            <a:pPr marL="741600" lvl="1" indent="-284400" eaLnBrk="1" hangingPunct="1">
              <a:spcBef>
                <a:spcPts val="600"/>
              </a:spcBef>
              <a:buClr>
                <a:schemeClr val="tx2"/>
              </a:buClr>
              <a:buFontTx/>
              <a:buChar char="–"/>
              <a:defRPr/>
            </a:pPr>
            <a:r>
              <a:rPr lang="en-US" altLang="en-US" sz="2000" kern="1200" dirty="0">
                <a:latin typeface="Arial (Body)"/>
              </a:rPr>
              <a:t>Prevents the code between </a:t>
            </a:r>
            <a:r>
              <a:rPr lang="en-US" altLang="en-US" sz="2000" b="1" kern="1200" dirty="0">
                <a:latin typeface="Consolas" panose="020B0609020204030204" pitchFamily="49" charset="0"/>
              </a:rPr>
              <a:t>#ifndef</a:t>
            </a:r>
            <a:r>
              <a:rPr lang="en-US" altLang="en-US" sz="2000" kern="1200" dirty="0">
                <a:latin typeface="Arial (Body)"/>
              </a:rPr>
              <a:t> and </a:t>
            </a:r>
            <a:r>
              <a:rPr lang="en-US" altLang="en-US" sz="2000" b="1" kern="1200" dirty="0">
                <a:latin typeface="Consolas" panose="020B0609020204030204" pitchFamily="49" charset="0"/>
              </a:rPr>
              <a:t>#endif</a:t>
            </a:r>
            <a:r>
              <a:rPr lang="en-US" altLang="en-US" sz="2000" kern="1200" dirty="0">
                <a:latin typeface="Arial (Body)"/>
              </a:rPr>
              <a:t> from being included if the name </a:t>
            </a:r>
            <a:r>
              <a:rPr lang="en-US" altLang="en-US" sz="2000" kern="1200" dirty="0">
                <a:latin typeface="Consolas" panose="020B0609020204030204" pitchFamily="49" charset="0"/>
              </a:rPr>
              <a:t>TIME_H</a:t>
            </a:r>
            <a:r>
              <a:rPr lang="en-US" altLang="en-US" sz="2000" kern="1200" dirty="0">
                <a:latin typeface="Arial (Body)"/>
              </a:rPr>
              <a:t> has been defined.</a:t>
            </a:r>
          </a:p>
          <a:p>
            <a:pPr marL="741600" lvl="1" indent="-284400" eaLnBrk="1" hangingPunct="1">
              <a:spcBef>
                <a:spcPts val="600"/>
              </a:spcBef>
              <a:buClr>
                <a:schemeClr val="tx2"/>
              </a:buClr>
              <a:buFontTx/>
              <a:buChar char="–"/>
              <a:defRPr/>
            </a:pPr>
            <a:r>
              <a:rPr lang="en-US" altLang="en-US" sz="2000" kern="1200" dirty="0">
                <a:latin typeface="Arial (Body)"/>
              </a:rPr>
              <a:t>If the header has </a:t>
            </a:r>
            <a:r>
              <a:rPr lang="en-US" altLang="en-US" sz="2000" b="1" kern="1200" dirty="0">
                <a:latin typeface="Arial (Body)"/>
              </a:rPr>
              <a:t>not</a:t>
            </a:r>
            <a:r>
              <a:rPr lang="en-US" altLang="en-US" sz="2000" kern="1200" dirty="0">
                <a:latin typeface="Arial (Body)"/>
              </a:rPr>
              <a:t> been included previously in a file, the name </a:t>
            </a:r>
            <a:r>
              <a:rPr lang="en-US" altLang="en-US" sz="2000" kern="1200" dirty="0">
                <a:latin typeface="Consolas" panose="020B0609020204030204" pitchFamily="49" charset="0"/>
              </a:rPr>
              <a:t>TIME_H</a:t>
            </a:r>
            <a:r>
              <a:rPr lang="en-US" altLang="en-US" sz="2000" kern="1200" dirty="0">
                <a:latin typeface="Arial (Body)"/>
              </a:rPr>
              <a:t> is </a:t>
            </a:r>
            <a:r>
              <a:rPr lang="en-US" altLang="en-US" sz="2000" b="1" kern="1200" dirty="0">
                <a:latin typeface="Arial (Body)"/>
              </a:rPr>
              <a:t>defined</a:t>
            </a:r>
            <a:r>
              <a:rPr lang="en-US" altLang="en-US" sz="2000" kern="1200" dirty="0">
                <a:latin typeface="Arial (Body)"/>
              </a:rPr>
              <a:t> by the </a:t>
            </a:r>
            <a:r>
              <a:rPr lang="en-US" altLang="en-US" sz="2000" b="1" kern="1200" dirty="0">
                <a:latin typeface="Consolas" panose="020B0609020204030204" pitchFamily="49" charset="0"/>
              </a:rPr>
              <a:t>#define</a:t>
            </a:r>
            <a:r>
              <a:rPr lang="en-US" altLang="en-US" sz="2000" kern="1200" dirty="0">
                <a:latin typeface="Arial (Body)"/>
              </a:rPr>
              <a:t> directive and the header file statements are included.</a:t>
            </a:r>
          </a:p>
          <a:p>
            <a:pPr marL="741600" lvl="1" indent="-284400" eaLnBrk="1" hangingPunct="1">
              <a:spcBef>
                <a:spcPts val="600"/>
              </a:spcBef>
              <a:buClr>
                <a:schemeClr val="tx2"/>
              </a:buClr>
              <a:buFontTx/>
              <a:buChar char="–"/>
              <a:defRPr/>
            </a:pPr>
            <a:r>
              <a:rPr lang="en-US" altLang="en-US" sz="2000" kern="1200" dirty="0">
                <a:latin typeface="Arial (Body)"/>
              </a:rPr>
              <a:t>If the header has been included previously, </a:t>
            </a:r>
            <a:r>
              <a:rPr lang="en-US" altLang="en-US" sz="2000" kern="1200" dirty="0">
                <a:latin typeface="Consolas" panose="020B0609020204030204" pitchFamily="49" charset="0"/>
              </a:rPr>
              <a:t>TIME_H</a:t>
            </a:r>
            <a:r>
              <a:rPr lang="en-US" altLang="en-US" sz="2000" kern="1200" dirty="0">
                <a:latin typeface="Arial (Body)"/>
              </a:rPr>
              <a:t> is defined already and the header file is not included again</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Error-Prevention Tip </a:t>
            </a:r>
            <a:r>
              <a:rPr lang="en-US" dirty="0" smtClean="0"/>
              <a:t>17.1</a:t>
            </a:r>
            <a:endParaRPr lang="en-US" dirty="0"/>
          </a:p>
        </p:txBody>
      </p:sp>
      <p:sp>
        <p:nvSpPr>
          <p:cNvPr id="5" name="Text Placeholder 4"/>
          <p:cNvSpPr>
            <a:spLocks noGrp="1"/>
          </p:cNvSpPr>
          <p:nvPr>
            <p:ph type="body" idx="1"/>
          </p:nvPr>
        </p:nvSpPr>
        <p:spPr/>
        <p:txBody>
          <a:bodyPr/>
          <a:lstStyle/>
          <a:p>
            <a:pPr marL="0" indent="0">
              <a:buNone/>
            </a:pPr>
            <a:r>
              <a:rPr lang="en-US" sz="2400" dirty="0">
                <a:latin typeface="Arial Body"/>
              </a:rPr>
              <a:t>Use</a:t>
            </a:r>
            <a:r>
              <a:rPr lang="en-US" sz="2400" b="1" dirty="0">
                <a:latin typeface="Arial Body"/>
              </a:rPr>
              <a:t> </a:t>
            </a:r>
            <a:r>
              <a:rPr lang="en-US" sz="2400" b="1" dirty="0">
                <a:latin typeface="Consolas" panose="020B0609020204030204" pitchFamily="49" charset="0"/>
              </a:rPr>
              <a:t>#ifndef</a:t>
            </a:r>
            <a:r>
              <a:rPr lang="en-US" sz="2400" b="1" dirty="0">
                <a:latin typeface="Arial Body"/>
              </a:rPr>
              <a:t>, </a:t>
            </a:r>
            <a:r>
              <a:rPr lang="en-US" sz="2400" b="1" dirty="0">
                <a:latin typeface="Consolas" panose="020B0609020204030204" pitchFamily="49" charset="0"/>
              </a:rPr>
              <a:t>#define</a:t>
            </a:r>
            <a:r>
              <a:rPr lang="en-US" sz="2400" b="1" dirty="0">
                <a:latin typeface="Arial Body"/>
              </a:rPr>
              <a:t> </a:t>
            </a:r>
            <a:r>
              <a:rPr lang="en-US" sz="2400" dirty="0">
                <a:latin typeface="Arial Body"/>
              </a:rPr>
              <a:t>and</a:t>
            </a:r>
            <a:r>
              <a:rPr lang="en-US" sz="2400" b="1" dirty="0">
                <a:latin typeface="Arial Body"/>
              </a:rPr>
              <a:t> </a:t>
            </a:r>
            <a:r>
              <a:rPr lang="en-US" sz="2400" b="1" dirty="0">
                <a:latin typeface="Consolas" panose="020B0609020204030204" pitchFamily="49" charset="0"/>
              </a:rPr>
              <a:t>#endif</a:t>
            </a:r>
            <a:r>
              <a:rPr lang="en-US" sz="2400" dirty="0">
                <a:latin typeface="Arial Body"/>
              </a:rPr>
              <a:t> preprocessing directives to form an include guard that prevents headers from being included more than once in a source-code file.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Good Programming Practice </a:t>
            </a:r>
            <a:r>
              <a:rPr lang="en-US" dirty="0" smtClean="0"/>
              <a:t>17.2</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By convention, use the name of the header in uppercase with the period replaced by an underscore in the </a:t>
            </a:r>
            <a:r>
              <a:rPr lang="en-US" sz="2400" b="1" dirty="0">
                <a:latin typeface="Consolas" panose="020B0609020204030204" pitchFamily="49" charset="0"/>
              </a:rPr>
              <a:t>#ifndef</a:t>
            </a:r>
            <a:r>
              <a:rPr lang="en-US" sz="2400" dirty="0">
                <a:latin typeface="Arial Body"/>
              </a:rPr>
              <a:t> and </a:t>
            </a:r>
            <a:r>
              <a:rPr lang="en-US" sz="2400" b="1" dirty="0">
                <a:latin typeface="Consolas" panose="020B0609020204030204" pitchFamily="49" charset="0"/>
              </a:rPr>
              <a:t>#define</a:t>
            </a:r>
            <a:r>
              <a:rPr lang="en-US" sz="2400" dirty="0">
                <a:latin typeface="Arial Body"/>
              </a:rPr>
              <a:t> preprocessing directives of a header.</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(3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454525"/>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Time Class Member Functions</a:t>
            </a:r>
          </a:p>
          <a:p>
            <a:pPr marL="255651" indent="-255651" eaLnBrk="1" hangingPunct="1">
              <a:tabLst/>
              <a:defRPr/>
            </a:pPr>
            <a:r>
              <a:rPr lang="en-US" sz="2400" kern="1200" dirty="0">
                <a:solidFill>
                  <a:srgbClr val="000000"/>
                </a:solidFill>
                <a:latin typeface="Arial (Body)"/>
                <a:ea typeface="+mn-ea"/>
                <a:cs typeface="+mn-cs"/>
              </a:rPr>
              <a:t>In </a:t>
            </a:r>
            <a:r>
              <a:rPr lang="en-US" sz="2400" kern="1200" dirty="0" smtClean="0">
                <a:solidFill>
                  <a:srgbClr val="000000"/>
                </a:solidFill>
                <a:latin typeface="Arial (Body)"/>
                <a:ea typeface="+mn-ea"/>
                <a:cs typeface="+mn-cs"/>
              </a:rPr>
              <a:t>Figure 17.2, </a:t>
            </a:r>
            <a:r>
              <a:rPr lang="en-US" sz="2400" kern="1200" dirty="0">
                <a:solidFill>
                  <a:srgbClr val="000000"/>
                </a:solidFill>
                <a:latin typeface="Arial (Body)"/>
                <a:ea typeface="+mn-ea"/>
                <a:cs typeface="+mn-cs"/>
              </a:rPr>
              <a:t>the </a:t>
            </a:r>
            <a:r>
              <a:rPr lang="en-US" sz="2400" kern="1200" dirty="0">
                <a:solidFill>
                  <a:srgbClr val="000000"/>
                </a:solidFill>
                <a:latin typeface="Consolas" panose="020B0609020204030204" pitchFamily="49" charset="0"/>
                <a:ea typeface="+mn-ea"/>
                <a:cs typeface="+mn-cs"/>
              </a:rPr>
              <a:t>Time</a:t>
            </a:r>
            <a:r>
              <a:rPr lang="en-US" sz="2400" kern="1200" dirty="0">
                <a:solidFill>
                  <a:srgbClr val="000000"/>
                </a:solidFill>
                <a:latin typeface="Arial (Body)"/>
                <a:ea typeface="+mn-ea"/>
                <a:cs typeface="+mn-cs"/>
              </a:rPr>
              <a:t> constructor (lines 11–14) initializes the data members to 0—the universal-time equivalent of 12 </a:t>
            </a:r>
            <a:r>
              <a:rPr lang="en-US" sz="2400" kern="1200" dirty="0" smtClean="0">
                <a:solidFill>
                  <a:srgbClr val="000000"/>
                </a:solidFill>
                <a:latin typeface="Arial (Body)"/>
                <a:ea typeface="+mn-ea"/>
                <a:cs typeface="+mn-cs"/>
              </a:rPr>
              <a:t>A</a:t>
            </a:r>
            <a:r>
              <a:rPr lang="en-US" sz="100" kern="1200" dirty="0" smtClean="0">
                <a:solidFill>
                  <a:srgbClr val="000000"/>
                </a:solidFill>
                <a:latin typeface="Arial (Body)"/>
                <a:ea typeface="+mn-ea"/>
                <a:cs typeface="+mn-cs"/>
              </a:rPr>
              <a:t> </a:t>
            </a:r>
            <a:r>
              <a:rPr lang="en-US" sz="2400" kern="1200" dirty="0" smtClean="0">
                <a:solidFill>
                  <a:srgbClr val="000000"/>
                </a:solidFill>
                <a:latin typeface="Arial (Body)"/>
                <a:ea typeface="+mn-ea"/>
                <a:cs typeface="+mn-cs"/>
              </a:rPr>
              <a:t>M.</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Invalid values cannot be stored in the data members of a </a:t>
            </a:r>
            <a:r>
              <a:rPr lang="en-US" sz="2400" kern="1200" dirty="0">
                <a:solidFill>
                  <a:srgbClr val="000000"/>
                </a:solidFill>
                <a:latin typeface="Consolas" panose="020B0609020204030204" pitchFamily="49" charset="0"/>
                <a:ea typeface="+mn-ea"/>
                <a:cs typeface="+mn-cs"/>
              </a:rPr>
              <a:t>Time</a:t>
            </a:r>
            <a:r>
              <a:rPr lang="en-US" sz="2400" kern="1200" dirty="0">
                <a:solidFill>
                  <a:srgbClr val="000000"/>
                </a:solidFill>
                <a:latin typeface="Arial (Body)"/>
                <a:ea typeface="+mn-ea"/>
                <a:cs typeface="+mn-cs"/>
              </a:rPr>
              <a:t> object, because the constructor is called when the </a:t>
            </a:r>
            <a:r>
              <a:rPr lang="en-US" sz="2400" kern="1200" dirty="0">
                <a:solidFill>
                  <a:srgbClr val="000000"/>
                </a:solidFill>
                <a:latin typeface="Consolas" panose="020B0609020204030204" pitchFamily="49" charset="0"/>
                <a:ea typeface="+mn-ea"/>
                <a:cs typeface="+mn-cs"/>
              </a:rPr>
              <a:t>Time</a:t>
            </a:r>
            <a:r>
              <a:rPr lang="en-US" sz="2400" kern="1200" dirty="0">
                <a:solidFill>
                  <a:srgbClr val="000000"/>
                </a:solidFill>
                <a:latin typeface="Arial (Body)"/>
                <a:ea typeface="+mn-ea"/>
                <a:cs typeface="+mn-cs"/>
              </a:rPr>
              <a:t> object is created, and all subsequent attempts by a client to modify the data members are scrutinized by function </a:t>
            </a:r>
            <a:r>
              <a:rPr lang="en-US" sz="2400" kern="1200" dirty="0" smtClean="0">
                <a:solidFill>
                  <a:srgbClr val="000000"/>
                </a:solidFill>
                <a:latin typeface="Consolas" panose="020B0609020204030204" pitchFamily="49" charset="0"/>
                <a:ea typeface="+mn-ea"/>
                <a:cs typeface="+mn-cs"/>
              </a:rPr>
              <a:t>setTime</a:t>
            </a:r>
            <a:r>
              <a:rPr lang="en-US" sz="2400" kern="1200" dirty="0" smtClean="0">
                <a:solidFill>
                  <a:srgbClr val="000000"/>
                </a:solidFill>
                <a:latin typeface="Arial (Body)"/>
                <a:ea typeface="+mn-ea"/>
                <a:cs typeface="+mn-cs"/>
              </a:rPr>
              <a:t> </a:t>
            </a:r>
            <a:r>
              <a:rPr lang="en-US" sz="2400" kern="1200" dirty="0">
                <a:solidFill>
                  <a:srgbClr val="000000"/>
                </a:solidFill>
                <a:latin typeface="Arial (Body)"/>
                <a:ea typeface="+mn-ea"/>
                <a:cs typeface="+mn-cs"/>
              </a:rPr>
              <a:t>(discussed </a:t>
            </a:r>
            <a:r>
              <a:rPr lang="en-US" sz="2400" kern="1200" dirty="0" smtClean="0">
                <a:solidFill>
                  <a:srgbClr val="000000"/>
                </a:solidFill>
                <a:latin typeface="Arial (Body)"/>
                <a:ea typeface="+mn-ea"/>
                <a:cs typeface="+mn-cs"/>
              </a:rPr>
              <a:t>shortly).</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You can define </a:t>
            </a:r>
            <a:r>
              <a:rPr lang="en-US" sz="2400" b="1" kern="1200" dirty="0">
                <a:solidFill>
                  <a:srgbClr val="000000"/>
                </a:solidFill>
                <a:latin typeface="Arial (Body)"/>
                <a:ea typeface="+mn-ea"/>
                <a:cs typeface="+mn-cs"/>
              </a:rPr>
              <a:t>overloaded constructors </a:t>
            </a:r>
            <a:r>
              <a:rPr lang="en-US" sz="2400" kern="1200" dirty="0">
                <a:solidFill>
                  <a:srgbClr val="000000"/>
                </a:solidFill>
                <a:latin typeface="Arial (Body)"/>
                <a:ea typeface="+mn-ea"/>
                <a:cs typeface="+mn-cs"/>
              </a:rPr>
              <a:t>for a class.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Figure </a:t>
            </a:r>
            <a:r>
              <a:rPr lang="en-US" dirty="0" smtClean="0"/>
              <a:t>17.2 </a:t>
            </a:r>
            <a:r>
              <a:rPr lang="en-US" dirty="0">
                <a:latin typeface="Consolas" panose="020B0609020204030204" pitchFamily="49" charset="0"/>
              </a:rPr>
              <a:t>Time</a:t>
            </a:r>
            <a:r>
              <a:rPr lang="en-US" dirty="0"/>
              <a:t> Class Member-Function </a:t>
            </a:r>
            <a:r>
              <a:rPr lang="en-US" dirty="0" smtClean="0"/>
              <a:t>Definitions </a:t>
            </a:r>
            <a:r>
              <a:rPr lang="en-US" sz="2000" b="0" dirty="0" smtClean="0"/>
              <a:t>(1 </a:t>
            </a:r>
            <a:r>
              <a:rPr lang="en-US" sz="2000" b="0" dirty="0"/>
              <a:t>of </a:t>
            </a:r>
            <a:r>
              <a:rPr lang="en-US" sz="2000" b="0" dirty="0" smtClean="0"/>
              <a:t>3)</a:t>
            </a:r>
            <a:endParaRPr lang="en-US" sz="2000" b="0" dirty="0"/>
          </a:p>
        </p:txBody>
      </p:sp>
      <p:pic>
        <p:nvPicPr>
          <p:cNvPr id="3" name="Picture 2" descr="The computer code has 45 lines. The lines read as follows. Line 1. forward slash forward slash F i g period 17 period 2 colon Time period c p p. The words, Time period c p p, in line 1 are highlighted. Line 2. forward slash forward slash Time class member dash function definitions period. Line 2 is highlighted. Line 3. hash include left angle bracket i o stream right angle bracket. Line 4. hash include left angle bracket i o m a n i p right angle bracket. Line 5. hash include left angle bracket s t d except right angle bracket forward slash forward slash for invalid underscore argument exception class. Line 6. hash include double quote Time period h double quote forward slash forward slash include definition of class Time from Time period h. Lines 5 and 6 are highlighted. Line 7. blank. Line 8. using namespace s t d semicolon. Line 9. Blank. Line 10. forward slash forward slash Time constructor initializes each data member to zero period. Line 11. Time colon colon Time left parenthesis right parenthesis. Line 12, indented once. colon hour left parenthesis 0 right parenthesis comma minute left parenthesis 0 right parenthesis comma second left parenthesis 0 right parenthesis. Line 13. left brace. Line 14. right brace forward slash forward slash end Time constructor. Line 15. Blank."/>
          <p:cNvPicPr>
            <a:picLocks noChangeAspect="1"/>
          </p:cNvPicPr>
          <p:nvPr/>
        </p:nvPicPr>
        <p:blipFill>
          <a:blip r:embed="rId2"/>
          <a:stretch>
            <a:fillRect/>
          </a:stretch>
        </p:blipFill>
        <p:spPr>
          <a:xfrm>
            <a:off x="493962" y="1745075"/>
            <a:ext cx="8156075" cy="3429492"/>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 </a:t>
            </a:r>
            <a:r>
              <a:rPr lang="en-US" dirty="0">
                <a:latin typeface="Consolas" panose="020B0609020204030204" pitchFamily="49" charset="0"/>
              </a:rPr>
              <a:t>Time</a:t>
            </a:r>
            <a:r>
              <a:rPr lang="en-US" dirty="0"/>
              <a:t> Class Member-Function Definitions </a:t>
            </a:r>
            <a:r>
              <a:rPr lang="en-US" sz="2000" b="0" dirty="0" smtClean="0"/>
              <a:t>(2 </a:t>
            </a:r>
            <a:r>
              <a:rPr lang="en-US" sz="2000" b="0" dirty="0"/>
              <a:t>of 3)</a:t>
            </a:r>
            <a:endParaRPr lang="en-US" dirty="0"/>
          </a:p>
        </p:txBody>
      </p:sp>
      <p:pic>
        <p:nvPicPr>
          <p:cNvPr id="4" name="Picture 3" descr="The code continues. Line 16. forward slash forward slash set new Time value using universal time. Line 17. void Time colon colon set Time left parenthesis i n t, h comma i n t, m comma i n t, s right parenthesis. Line 18. left brace. Line 19, indented once. forward slash forward slash validate hour comma minute and second. Line 20, indented once. if left parenthesis left parenthesis h greater than sign equals 0 ampersand ampersand h less than sign 24 right parenthesis ampersand ampersand left parenthesis m greater than sign equals 0 ampersand ampersand m less than sign 60 right parenthesis ampersand ampersand. Line 21, indented twice. left parenthesis s greater than sign equals 0 ampersand ampersand s less than sign 60 right parenthesis right parenthesis. Line 22, indented once. left brace. Line 23, indented twice. hour equals h semicolon. Line 24, indented twice. minute equals m semicolon. Line 25, indented twice. second equals s semicolon. Line 26, indented once. right brace forward slash forward slash end if. Line 27, indented once. else. Line 28, indented twice. throw invalid underscore argument left parenthesis. Line 29, indented 3 times. hour comma minute and forward slash or second was out of range right parenthesis semicolon. Lines 28 and 29 are highlighted. Line 30. right brace forward slash forward slash end function set Time. Line 31. Blank. Line 32. forward slash forward slash print Time in universal dash time format left parenthesis HH colon MM colon SS right parenthesis. Line 33. void Time colon colon print Universal left parenthesis right parenthesis c o n s t. Line 34. left brace. Line 35, indented once. c out left angle bracket left angle bracket set fill left parenthesis single quote 0 single quote right parenthesis left angle bracket left angle bracket set w left parenthesis 2 right parenthesis left angle bracket left angle bracket hour left angle bracket left angle bracket double quote colon double quote. Line 36, indented twice. left angle bracket left angle bracket set w left parenthesis 2 right parenthesis left angle bracket left angle bracket minute left angle bracket left angle bracket double quote colon double quote left angle bracket left angle bracket set w left parenthesis 2 right parenthesis left angle bracket left angle bracket second semicolon. Line 37. right brace forward slash forward slash end function print Universal. Line 38. Blank."/>
          <p:cNvPicPr>
            <a:picLocks noChangeAspect="1"/>
          </p:cNvPicPr>
          <p:nvPr/>
        </p:nvPicPr>
        <p:blipFill>
          <a:blip r:embed="rId2"/>
          <a:stretch>
            <a:fillRect/>
          </a:stretch>
        </p:blipFill>
        <p:spPr>
          <a:xfrm>
            <a:off x="659612" y="1413347"/>
            <a:ext cx="7824777" cy="4940247"/>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 </a:t>
            </a:r>
            <a:r>
              <a:rPr lang="en-US" dirty="0">
                <a:latin typeface="Consolas" panose="020B0609020204030204" pitchFamily="49" charset="0"/>
              </a:rPr>
              <a:t>Time</a:t>
            </a:r>
            <a:r>
              <a:rPr lang="en-US" dirty="0"/>
              <a:t> Class Member-Function Definitions </a:t>
            </a:r>
            <a:r>
              <a:rPr lang="en-US" sz="2000" b="0" dirty="0" smtClean="0"/>
              <a:t>(3 </a:t>
            </a:r>
            <a:r>
              <a:rPr lang="en-US" sz="2000" b="0" dirty="0"/>
              <a:t>of 3)</a:t>
            </a:r>
            <a:endParaRPr lang="en-US" dirty="0"/>
          </a:p>
        </p:txBody>
      </p:sp>
      <p:pic>
        <p:nvPicPr>
          <p:cNvPr id="5" name="Picture 4" descr="The code continues. Line 39. forward slash forward slash print Time in standard dash time format left parenthesis H H colon M M colon S S, A M or P M right parenthesis. Line 40. void Time colon colon print Standard left parenthesis right parenthesis c o n s t. Line 41. left brace. Line 42, indented once. c out left angle bracket left angle bracket left parenthesis left parenthesis hour equals equals 0 double pipe hour equals equals 12 right parenthesis question mark 12 colon hour percent sign 12 right parenthesis left angle bracket left angle bracket double quote colon double quote. Line 43, indented twice. left angle bracket left angle bracket set fill left parenthesis single quote 0 single quote right parenthesis left angle bracket left angle bracket set w left parenthesis 2 right parenthesis left angle bracket left angle bracket minute left angle bracket left angle bracket double quote colon double quote left angle bracket left angle bracket set w left parenthesis 2 right parenthesis. Line 44, indented twice. left angle bracket left angle bracket second left angle bracket left angle bracket left parenthesis hour less than sign 12 question mark double quote AM double quote colon double quote PM double quote right parenthesis semicolon. Line 45. right brace forward slash forward slash end function print Standard. The words, hour, set fill left parenthesis single quote 0 single quote, minute, and second in lines 42, 43, and 44 are highlighted"/>
          <p:cNvPicPr>
            <a:picLocks noChangeAspect="1"/>
          </p:cNvPicPr>
          <p:nvPr/>
        </p:nvPicPr>
        <p:blipFill>
          <a:blip r:embed="rId2"/>
          <a:stretch>
            <a:fillRect/>
          </a:stretch>
        </p:blipFill>
        <p:spPr>
          <a:xfrm>
            <a:off x="557212" y="2462212"/>
            <a:ext cx="8029575" cy="193357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(4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262438"/>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Before C++11, only </a:t>
            </a:r>
            <a:r>
              <a:rPr lang="en-US" altLang="en-US" sz="2400" kern="1200" dirty="0">
                <a:solidFill>
                  <a:srgbClr val="000000"/>
                </a:solidFill>
                <a:latin typeface="Consolas" panose="020B0609020204030204" pitchFamily="49" charset="0"/>
                <a:ea typeface="+mn-ea"/>
                <a:cs typeface="+mn-cs"/>
              </a:rPr>
              <a:t>static</a:t>
            </a:r>
            <a:r>
              <a:rPr lang="en-US" altLang="en-US" sz="2400" kern="1200" dirty="0">
                <a:solidFill>
                  <a:srgbClr val="000000"/>
                </a:solidFill>
                <a:latin typeface="Arial (Body)"/>
                <a:ea typeface="+mn-ea"/>
                <a:cs typeface="+mn-cs"/>
              </a:rPr>
              <a:t> </a:t>
            </a:r>
            <a:r>
              <a:rPr lang="en-US" altLang="en-US" sz="2400" kern="1200" dirty="0">
                <a:solidFill>
                  <a:srgbClr val="000000"/>
                </a:solidFill>
                <a:latin typeface="Consolas" panose="020B0609020204030204" pitchFamily="49" charset="0"/>
                <a:ea typeface="+mn-ea"/>
                <a:cs typeface="+mn-cs"/>
              </a:rPr>
              <a:t>const</a:t>
            </a:r>
            <a:r>
              <a:rPr lang="en-US" altLang="en-US" sz="2400" kern="1200" dirty="0">
                <a:solidFill>
                  <a:srgbClr val="000000"/>
                </a:solidFill>
                <a:latin typeface="Arial (Body)"/>
                <a:ea typeface="+mn-ea"/>
                <a:cs typeface="+mn-cs"/>
              </a:rPr>
              <a:t> </a:t>
            </a:r>
            <a:r>
              <a:rPr lang="en-US" altLang="en-US" sz="2400" kern="1200" dirty="0">
                <a:solidFill>
                  <a:srgbClr val="000000"/>
                </a:solidFill>
                <a:latin typeface="Consolas" panose="020B0609020204030204" pitchFamily="49" charset="0"/>
                <a:ea typeface="+mn-ea"/>
                <a:cs typeface="+mn-cs"/>
              </a:rPr>
              <a:t>int</a:t>
            </a:r>
            <a:r>
              <a:rPr lang="en-US" altLang="en-US" sz="2400" kern="1200" dirty="0">
                <a:solidFill>
                  <a:srgbClr val="000000"/>
                </a:solidFill>
                <a:latin typeface="Arial (Body)"/>
                <a:ea typeface="+mn-ea"/>
                <a:cs typeface="+mn-cs"/>
              </a:rPr>
              <a:t> data members (which you saw in Chapter 7) could be initialized where they were declared in the class body.</a:t>
            </a:r>
          </a:p>
          <a:p>
            <a:pPr marL="255651" indent="-255651" eaLnBrk="1" hangingPunct="1">
              <a:tabLst/>
              <a:defRPr/>
            </a:pPr>
            <a:r>
              <a:rPr lang="en-US" altLang="en-US" sz="2400" kern="1200" dirty="0">
                <a:solidFill>
                  <a:srgbClr val="000000"/>
                </a:solidFill>
                <a:latin typeface="Arial (Body)"/>
                <a:ea typeface="+mn-ea"/>
                <a:cs typeface="+mn-cs"/>
              </a:rPr>
              <a:t>For this reason, data members typically should be initialized by the class’s constructor as </a:t>
            </a:r>
            <a:r>
              <a:rPr lang="en-US" altLang="en-US" sz="2400" b="1" kern="1200" dirty="0">
                <a:solidFill>
                  <a:srgbClr val="000000"/>
                </a:solidFill>
                <a:latin typeface="Arial (Body)"/>
                <a:ea typeface="+mn-ea"/>
                <a:cs typeface="+mn-cs"/>
              </a:rPr>
              <a:t>there is no default initialization for fundamental-type data </a:t>
            </a:r>
            <a:r>
              <a:rPr lang="en-US" altLang="en-US" sz="2400" b="1" kern="1200" dirty="0" smtClean="0">
                <a:solidFill>
                  <a:srgbClr val="000000"/>
                </a:solidFill>
                <a:latin typeface="Arial (Body)"/>
                <a:ea typeface="+mn-ea"/>
                <a:cs typeface="+mn-cs"/>
              </a:rPr>
              <a:t>members.</a:t>
            </a:r>
            <a:endParaRPr lang="en-US" altLang="en-US" sz="2400" b="1"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As of C++11, you can now use an </a:t>
            </a:r>
            <a:r>
              <a:rPr lang="en-US" altLang="en-US" sz="2400" b="1" kern="1200" dirty="0">
                <a:solidFill>
                  <a:srgbClr val="000000"/>
                </a:solidFill>
                <a:latin typeface="Arial (Body)"/>
                <a:ea typeface="+mn-ea"/>
                <a:cs typeface="+mn-cs"/>
              </a:rPr>
              <a:t>in-class initializer </a:t>
            </a:r>
            <a:r>
              <a:rPr lang="en-US" altLang="en-US" sz="2400" kern="1200" dirty="0">
                <a:solidFill>
                  <a:srgbClr val="000000"/>
                </a:solidFill>
                <a:latin typeface="Arial (Body)"/>
                <a:ea typeface="+mn-ea"/>
                <a:cs typeface="+mn-cs"/>
              </a:rPr>
              <a:t>to initialize any data member where it’s declared in the class </a:t>
            </a:r>
            <a:r>
              <a:rPr lang="en-US" altLang="en-US" sz="2400" kern="1200" dirty="0" smtClean="0">
                <a:solidFill>
                  <a:srgbClr val="000000"/>
                </a:solidFill>
                <a:latin typeface="Arial (Body)"/>
                <a:ea typeface="+mn-ea"/>
                <a:cs typeface="+mn-cs"/>
              </a:rPr>
              <a:t>definition.</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(5 of 8)</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0"/>
            <a:ext cx="8229600" cy="4690068"/>
          </a:xfrm>
        </p:spPr>
        <p:txBody>
          <a:bodyPr/>
          <a:lstStyle/>
          <a:p>
            <a:pPr marL="255651" indent="-255651" eaLnBrk="1" hangingPunct="1">
              <a:tabLst/>
              <a:defRPr/>
            </a:pPr>
            <a:r>
              <a:rPr lang="en-US" altLang="en-US" sz="2200" kern="1200" dirty="0">
                <a:solidFill>
                  <a:srgbClr val="000000"/>
                </a:solidFill>
                <a:latin typeface="Arial (Body)"/>
              </a:rPr>
              <a:t>Parameterized stream manipulator </a:t>
            </a:r>
            <a:r>
              <a:rPr lang="en-US" altLang="en-US" sz="2200" b="1" kern="1200" dirty="0">
                <a:solidFill>
                  <a:schemeClr val="tx1"/>
                </a:solidFill>
                <a:latin typeface="Consolas" panose="020B0609020204030204" pitchFamily="49" charset="0"/>
              </a:rPr>
              <a:t>setfill</a:t>
            </a:r>
            <a:r>
              <a:rPr lang="en-US" altLang="en-US" sz="2200" kern="1200" dirty="0">
                <a:solidFill>
                  <a:srgbClr val="000000"/>
                </a:solidFill>
                <a:latin typeface="Arial (Body)"/>
              </a:rPr>
              <a:t> specifies the </a:t>
            </a:r>
            <a:r>
              <a:rPr lang="en-US" altLang="en-US" sz="2200" b="1" kern="1200" dirty="0">
                <a:solidFill>
                  <a:srgbClr val="000000"/>
                </a:solidFill>
                <a:latin typeface="Arial (Body)"/>
              </a:rPr>
              <a:t>fill character</a:t>
            </a:r>
            <a:r>
              <a:rPr lang="en-US" altLang="en-US" sz="2200" kern="1200" dirty="0">
                <a:solidFill>
                  <a:srgbClr val="000000"/>
                </a:solidFill>
                <a:latin typeface="Arial (Body)"/>
              </a:rPr>
              <a:t> that is displayed when an integer is output in a field wider than the number of digits in the value.</a:t>
            </a:r>
          </a:p>
          <a:p>
            <a:pPr marL="255651" indent="-255651" eaLnBrk="1" hangingPunct="1">
              <a:tabLst/>
              <a:defRPr/>
            </a:pPr>
            <a:r>
              <a:rPr lang="en-US" altLang="en-US" sz="2200" kern="1200" dirty="0">
                <a:solidFill>
                  <a:srgbClr val="000000"/>
                </a:solidFill>
                <a:latin typeface="Arial (Body)"/>
              </a:rPr>
              <a:t>The fill characters appear to the </a:t>
            </a:r>
            <a:r>
              <a:rPr lang="en-US" altLang="en-US" sz="2200" b="1" kern="1200" dirty="0">
                <a:solidFill>
                  <a:srgbClr val="000000"/>
                </a:solidFill>
                <a:latin typeface="Arial (Body)"/>
              </a:rPr>
              <a:t>left</a:t>
            </a:r>
            <a:r>
              <a:rPr lang="en-US" altLang="en-US" sz="2200" kern="1200" dirty="0">
                <a:solidFill>
                  <a:srgbClr val="000000"/>
                </a:solidFill>
                <a:latin typeface="Arial (Body)"/>
              </a:rPr>
              <a:t> of the digits in the number, because the number is </a:t>
            </a:r>
            <a:r>
              <a:rPr lang="en-US" altLang="en-US" sz="2200" b="1" kern="1200" dirty="0">
                <a:solidFill>
                  <a:srgbClr val="000000"/>
                </a:solidFill>
                <a:latin typeface="Arial (Body)"/>
              </a:rPr>
              <a:t>right aligned </a:t>
            </a:r>
            <a:r>
              <a:rPr lang="en-US" altLang="en-US" sz="2200" kern="1200" dirty="0">
                <a:solidFill>
                  <a:srgbClr val="000000"/>
                </a:solidFill>
                <a:latin typeface="Arial (Body)"/>
              </a:rPr>
              <a:t>by default—for </a:t>
            </a:r>
            <a:r>
              <a:rPr lang="en-US" altLang="en-US" sz="2200" b="1" kern="1200" dirty="0">
                <a:solidFill>
                  <a:srgbClr val="000000"/>
                </a:solidFill>
                <a:latin typeface="Arial (Body)"/>
              </a:rPr>
              <a:t>left aligned </a:t>
            </a:r>
            <a:r>
              <a:rPr lang="en-US" altLang="en-US" sz="2200" kern="1200" dirty="0">
                <a:solidFill>
                  <a:srgbClr val="000000"/>
                </a:solidFill>
                <a:latin typeface="Arial (Body)"/>
              </a:rPr>
              <a:t>values, the fill characters would appear to the right.</a:t>
            </a:r>
          </a:p>
          <a:p>
            <a:pPr marL="255651" indent="-255651" eaLnBrk="1" hangingPunct="1">
              <a:tabLst/>
              <a:defRPr/>
            </a:pPr>
            <a:r>
              <a:rPr lang="en-US" altLang="en-US" sz="2200" kern="1200" dirty="0">
                <a:solidFill>
                  <a:srgbClr val="000000"/>
                </a:solidFill>
                <a:latin typeface="Arial (Body)"/>
              </a:rPr>
              <a:t>If the number being output fills the specified field, the fill character will not be displayed.</a:t>
            </a:r>
          </a:p>
          <a:p>
            <a:pPr marL="255651" indent="-255651" eaLnBrk="1" hangingPunct="1">
              <a:tabLst/>
              <a:defRPr/>
            </a:pPr>
            <a:r>
              <a:rPr lang="en-US" altLang="en-US" sz="2200" kern="1200" dirty="0">
                <a:solidFill>
                  <a:srgbClr val="000000"/>
                </a:solidFill>
                <a:latin typeface="Arial (Body)"/>
              </a:rPr>
              <a:t>Once the fill character is specified with </a:t>
            </a:r>
            <a:r>
              <a:rPr lang="en-US" altLang="en-US" sz="2200" b="1" kern="1200" dirty="0">
                <a:solidFill>
                  <a:srgbClr val="000000"/>
                </a:solidFill>
                <a:latin typeface="Consolas" panose="020B0609020204030204" pitchFamily="49" charset="0"/>
              </a:rPr>
              <a:t>setfill</a:t>
            </a:r>
            <a:r>
              <a:rPr lang="en-US" altLang="en-US" sz="2200" kern="1200" dirty="0">
                <a:solidFill>
                  <a:srgbClr val="000000"/>
                </a:solidFill>
                <a:latin typeface="Arial (Body)"/>
              </a:rPr>
              <a:t>, it applies for </a:t>
            </a:r>
            <a:r>
              <a:rPr lang="en-US" altLang="en-US" sz="2200" b="1" kern="1200" dirty="0">
                <a:solidFill>
                  <a:srgbClr val="000000"/>
                </a:solidFill>
                <a:latin typeface="Arial (Body)"/>
              </a:rPr>
              <a:t>all</a:t>
            </a:r>
            <a:r>
              <a:rPr lang="en-US" altLang="en-US" sz="2200" kern="1200" dirty="0">
                <a:solidFill>
                  <a:srgbClr val="000000"/>
                </a:solidFill>
                <a:latin typeface="Arial (Body)"/>
              </a:rPr>
              <a:t> subsequent values that are displayed in fields wider than the value being displayed</a:t>
            </a:r>
            <a:r>
              <a:rPr lang="en-US" altLang="en-US" sz="2200" kern="1200" dirty="0" smtClean="0">
                <a:solidFill>
                  <a:srgbClr val="000000"/>
                </a:solidFill>
                <a:latin typeface="Arial (Body)"/>
              </a:rPr>
              <a:t>.</a:t>
            </a:r>
            <a:endParaRPr lang="en-US" altLang="en-US" sz="22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Error-Prevention Tip </a:t>
            </a:r>
            <a:r>
              <a:rPr lang="en-US" dirty="0" smtClean="0"/>
              <a:t>17.2</a:t>
            </a:r>
            <a:endParaRPr lang="en-US" dirty="0"/>
          </a:p>
        </p:txBody>
      </p:sp>
      <p:sp>
        <p:nvSpPr>
          <p:cNvPr id="3" name="Text Placeholder 2"/>
          <p:cNvSpPr>
            <a:spLocks noGrp="1"/>
          </p:cNvSpPr>
          <p:nvPr>
            <p:ph type="body" idx="1"/>
          </p:nvPr>
        </p:nvSpPr>
        <p:spPr>
          <a:xfrm>
            <a:off x="457200" y="1600201"/>
            <a:ext cx="8229600" cy="2305050"/>
          </a:xfrm>
        </p:spPr>
        <p:txBody>
          <a:bodyPr/>
          <a:lstStyle/>
          <a:p>
            <a:pPr marL="0" indent="0">
              <a:buNone/>
            </a:pPr>
            <a:r>
              <a:rPr lang="en-US" sz="2400" dirty="0">
                <a:latin typeface="Arial Body"/>
              </a:rPr>
              <a:t>Each sticky setting (such as a fill character or floating-point precision) should be restored to its previous setting when it’s no longer needed. Failure to do so may result in incorrectly formatted output later in a program. Chapter 21, Stream Input/Output: A Deeper Look, discusses how to reset the fill character and precision.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(6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154363"/>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Defining Member Functions Outside the Class Definition; Class Scope</a:t>
            </a:r>
          </a:p>
          <a:p>
            <a:pPr marL="255651" indent="-255651" eaLnBrk="1" hangingPunct="1">
              <a:tabLst/>
              <a:defRPr/>
            </a:pPr>
            <a:r>
              <a:rPr lang="en-US" sz="2400" kern="1200" dirty="0">
                <a:solidFill>
                  <a:srgbClr val="000000"/>
                </a:solidFill>
                <a:latin typeface="Arial (Body)"/>
                <a:ea typeface="+mn-ea"/>
                <a:cs typeface="+mn-cs"/>
              </a:rPr>
              <a:t>Even though a member function declared in a class definition may be defined outside that class definition, that member function is still within that </a:t>
            </a:r>
            <a:r>
              <a:rPr lang="en-US" sz="2400" b="1" kern="1200" dirty="0">
                <a:solidFill>
                  <a:srgbClr val="000000"/>
                </a:solidFill>
                <a:latin typeface="Arial (Body)"/>
                <a:ea typeface="+mn-ea"/>
                <a:cs typeface="+mn-cs"/>
              </a:rPr>
              <a:t>class’s scope</a:t>
            </a:r>
            <a:r>
              <a:rPr lang="en-US" sz="2400" kern="1200" dirty="0">
                <a:solidFill>
                  <a:srgbClr val="000000"/>
                </a:solidFill>
                <a:latin typeface="Arial (Body)"/>
                <a:ea typeface="+mn-ea"/>
                <a:cs typeface="+mn-cs"/>
              </a:rPr>
              <a:t>.</a:t>
            </a:r>
          </a:p>
          <a:p>
            <a:pPr marL="255651" indent="-255651" eaLnBrk="1" hangingPunct="1">
              <a:tabLst/>
              <a:defRPr/>
            </a:pPr>
            <a:r>
              <a:rPr lang="en-US" sz="2400" kern="1200" dirty="0">
                <a:solidFill>
                  <a:srgbClr val="000000"/>
                </a:solidFill>
                <a:latin typeface="Arial (Body)"/>
                <a:ea typeface="+mn-ea"/>
                <a:cs typeface="+mn-cs"/>
              </a:rPr>
              <a:t>If a member function is defined in the class’s body, the compiler attempts to inline calls to the member function.</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Performance Tip </a:t>
            </a:r>
            <a:r>
              <a:rPr lang="en-US" dirty="0" smtClean="0"/>
              <a:t>17.1</a:t>
            </a:r>
            <a:endParaRPr lang="en-US" dirty="0"/>
          </a:p>
        </p:txBody>
      </p:sp>
      <p:sp>
        <p:nvSpPr>
          <p:cNvPr id="3" name="Text Placeholder 2"/>
          <p:cNvSpPr>
            <a:spLocks noGrp="1"/>
          </p:cNvSpPr>
          <p:nvPr>
            <p:ph type="body" idx="1"/>
          </p:nvPr>
        </p:nvSpPr>
        <p:spPr>
          <a:xfrm>
            <a:off x="457200" y="1600201"/>
            <a:ext cx="8229600" cy="1238250"/>
          </a:xfrm>
        </p:spPr>
        <p:txBody>
          <a:bodyPr/>
          <a:lstStyle/>
          <a:p>
            <a:pPr marL="0" indent="0">
              <a:buNone/>
            </a:pPr>
            <a:r>
              <a:rPr lang="en-US" sz="2400" dirty="0">
                <a:latin typeface="Arial Body"/>
              </a:rPr>
              <a:t>Defining a member function inside the class definition inlines the member function (if the compiler chooses to do so). This can improve performance.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17.2</a:t>
            </a:r>
            <a:endParaRPr lang="en-US" dirty="0"/>
          </a:p>
        </p:txBody>
      </p:sp>
      <p:sp>
        <p:nvSpPr>
          <p:cNvPr id="3" name="Text Placeholder 2"/>
          <p:cNvSpPr>
            <a:spLocks noGrp="1"/>
          </p:cNvSpPr>
          <p:nvPr>
            <p:ph type="body" idx="1"/>
          </p:nvPr>
        </p:nvSpPr>
        <p:spPr>
          <a:xfrm>
            <a:off x="457200" y="1600201"/>
            <a:ext cx="8229600" cy="1200150"/>
          </a:xfrm>
        </p:spPr>
        <p:txBody>
          <a:bodyPr/>
          <a:lstStyle/>
          <a:p>
            <a:pPr marL="0" indent="0">
              <a:buNone/>
            </a:pPr>
            <a:r>
              <a:rPr lang="en-US" sz="2400" dirty="0">
                <a:latin typeface="Arial Body"/>
              </a:rPr>
              <a:t>Only the simplest and most stable member functions (i.e., whose implementations are unlikely to change) should be defined in the class header</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17.3</a:t>
            </a:r>
            <a:endParaRPr lang="en-US" dirty="0"/>
          </a:p>
        </p:txBody>
      </p:sp>
      <p:sp>
        <p:nvSpPr>
          <p:cNvPr id="3" name="Text Placeholder 2"/>
          <p:cNvSpPr>
            <a:spLocks noGrp="1"/>
          </p:cNvSpPr>
          <p:nvPr>
            <p:ph type="body" idx="1"/>
          </p:nvPr>
        </p:nvSpPr>
        <p:spPr>
          <a:xfrm>
            <a:off x="457200" y="1600201"/>
            <a:ext cx="8229600" cy="2286000"/>
          </a:xfrm>
        </p:spPr>
        <p:txBody>
          <a:bodyPr/>
          <a:lstStyle/>
          <a:p>
            <a:pPr marL="0" indent="0">
              <a:buNone/>
            </a:pPr>
            <a:r>
              <a:rPr lang="en-US" sz="2400" dirty="0">
                <a:latin typeface="Arial Body"/>
              </a:rPr>
              <a:t>Using an object-oriented programming approach often simplifies function calls by reducing the number of parameters. This benefit derives from the fact that encapsulating data members and member functions within a class gives the member functions the right to access the data members.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17.4</a:t>
            </a:r>
            <a:endParaRPr lang="en-US" dirty="0"/>
          </a:p>
        </p:txBody>
      </p:sp>
      <p:sp>
        <p:nvSpPr>
          <p:cNvPr id="3" name="Text Placeholder 2"/>
          <p:cNvSpPr>
            <a:spLocks noGrp="1"/>
          </p:cNvSpPr>
          <p:nvPr>
            <p:ph type="body" idx="1"/>
          </p:nvPr>
        </p:nvSpPr>
        <p:spPr>
          <a:xfrm>
            <a:off x="457200" y="1600201"/>
            <a:ext cx="8229600" cy="3371850"/>
          </a:xfrm>
        </p:spPr>
        <p:txBody>
          <a:bodyPr/>
          <a:lstStyle/>
          <a:p>
            <a:pPr marL="0" indent="0">
              <a:buNone/>
            </a:pPr>
            <a:r>
              <a:rPr lang="en-US" sz="2400" dirty="0">
                <a:latin typeface="Arial Body"/>
              </a:rPr>
              <a:t>Member functions are usually shorter than functions in non-object-oriented programs, because the data stored in data members have ideally been validated by a constructor or by member functions that store new data. Because the data is already in the object, the member-function calls often have no arguments or fewer arguments than function calls in non-object-oriented languages. Thus, the calls, the function definitions and the function prototypes are shorter. This improves many aspects of program development</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Error-Prevention Tip </a:t>
            </a:r>
            <a:r>
              <a:rPr lang="en-US" dirty="0" smtClean="0"/>
              <a:t>17.3</a:t>
            </a:r>
            <a:endParaRPr lang="en-US" dirty="0"/>
          </a:p>
        </p:txBody>
      </p:sp>
      <p:sp>
        <p:nvSpPr>
          <p:cNvPr id="3" name="Text Placeholder 2"/>
          <p:cNvSpPr>
            <a:spLocks noGrp="1"/>
          </p:cNvSpPr>
          <p:nvPr>
            <p:ph type="body" idx="1"/>
          </p:nvPr>
        </p:nvSpPr>
        <p:spPr>
          <a:xfrm>
            <a:off x="457200" y="1600201"/>
            <a:ext cx="8229600" cy="2352674"/>
          </a:xfrm>
        </p:spPr>
        <p:txBody>
          <a:bodyPr/>
          <a:lstStyle/>
          <a:p>
            <a:pPr marL="0" indent="0">
              <a:buNone/>
            </a:pPr>
            <a:r>
              <a:rPr lang="en-US" sz="2400" dirty="0">
                <a:latin typeface="Arial Body"/>
              </a:rPr>
              <a:t>The fact that member function calls generally take either no arguments or substantially fewer arguments than conventional function calls in non-object-oriented languages reduces the likelihood of passing the wrong arguments, the wrong types of arguments or the wrong number of arguments.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Time Class Case Study </a:t>
            </a:r>
            <a:r>
              <a:rPr lang="en-US" altLang="en-US" sz="2000" b="0" kern="1200" dirty="0" smtClean="0">
                <a:latin typeface="Times New Roman" panose="02020603050405020304" pitchFamily="18" charset="0"/>
                <a:ea typeface="+mj-ea"/>
                <a:cs typeface="+mj-cs"/>
              </a:rPr>
              <a:t>(7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326570" y="1600200"/>
            <a:ext cx="8229600" cy="1392659"/>
          </a:xfrm>
        </p:spPr>
        <p:txBody>
          <a:bodyPr wrap="square">
            <a:spAutoFit/>
          </a:bodyPr>
          <a:lstStyle/>
          <a:p>
            <a:pPr marL="0" indent="0" eaLnBrk="1" hangingPunct="1">
              <a:buNone/>
              <a:tabLst/>
              <a:defRPr/>
            </a:pPr>
            <a:r>
              <a:rPr lang="en-US" sz="2200" b="1" kern="1200" dirty="0">
                <a:solidFill>
                  <a:srgbClr val="000000"/>
                </a:solidFill>
                <a:latin typeface="Arial (Body)"/>
                <a:ea typeface="+mn-ea"/>
                <a:cs typeface="+mn-cs"/>
              </a:rPr>
              <a:t>Using Class </a:t>
            </a:r>
            <a:r>
              <a:rPr lang="en-US" sz="2200" b="1" kern="1200" dirty="0">
                <a:solidFill>
                  <a:srgbClr val="000000"/>
                </a:solidFill>
                <a:latin typeface="Consolas" panose="020B0609020204030204" pitchFamily="49" charset="0"/>
                <a:ea typeface="+mn-ea"/>
                <a:cs typeface="+mn-cs"/>
              </a:rPr>
              <a:t>Time</a:t>
            </a:r>
          </a:p>
          <a:p>
            <a:pPr marL="255651" indent="-255651" eaLnBrk="1" hangingPunct="1">
              <a:tabLst/>
              <a:defRPr/>
            </a:pPr>
            <a:r>
              <a:rPr lang="en-US" sz="2200" kern="1200" dirty="0">
                <a:solidFill>
                  <a:srgbClr val="000000"/>
                </a:solidFill>
                <a:latin typeface="Arial (Body)"/>
                <a:ea typeface="+mn-ea"/>
                <a:cs typeface="+mn-cs"/>
              </a:rPr>
              <a:t>Once class </a:t>
            </a:r>
            <a:r>
              <a:rPr lang="en-US" sz="2200" kern="1200" dirty="0">
                <a:solidFill>
                  <a:srgbClr val="000000"/>
                </a:solidFill>
                <a:latin typeface="Consolas" panose="020B0609020204030204" pitchFamily="49" charset="0"/>
                <a:ea typeface="+mn-ea"/>
                <a:cs typeface="+mn-cs"/>
              </a:rPr>
              <a:t>Time</a:t>
            </a:r>
            <a:r>
              <a:rPr lang="en-US" sz="2200" kern="1200" dirty="0">
                <a:solidFill>
                  <a:srgbClr val="000000"/>
                </a:solidFill>
                <a:latin typeface="Arial (Body)"/>
                <a:ea typeface="+mn-ea"/>
                <a:cs typeface="+mn-cs"/>
              </a:rPr>
              <a:t> has been defined, it can be used as a type in object, array, pointer and reference declarations as follows</a:t>
            </a:r>
            <a:r>
              <a:rPr lang="en-US" sz="2200" kern="1200" dirty="0" smtClean="0">
                <a:solidFill>
                  <a:srgbClr val="000000"/>
                </a:solidFill>
                <a:latin typeface="Arial (Body)"/>
                <a:ea typeface="+mn-ea"/>
                <a:cs typeface="+mn-cs"/>
              </a:rPr>
              <a:t>:</a:t>
            </a:r>
            <a:endParaRPr lang="en-US" sz="2200" kern="1200" dirty="0">
              <a:solidFill>
                <a:srgbClr val="000000"/>
              </a:solidFill>
              <a:latin typeface="Arial (Body)"/>
              <a:ea typeface="+mn-ea"/>
              <a:cs typeface="+mn-cs"/>
            </a:endParaRPr>
          </a:p>
        </p:txBody>
      </p:sp>
      <p:pic>
        <p:nvPicPr>
          <p:cNvPr id="5" name="Picture 4" descr="The computer code has 4 lines. The lines read as follows. Line 1. Time sunset semicolon forward slash forward slash object of type Time. Line 2. array less than sign Time comma 5 greater than sign array Of Times semicolon forward slash forward slash array of 5 Time objects. Line 3. Time ampersand dinner Time equals sunset semicolon forward slash forward slash reference to a Time object. Line 4. Time asterisk time P t r equals ampersand dinner Time semicolon forward slash forward slash pointer to a Time obj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263" y="3142480"/>
            <a:ext cx="7791758" cy="1628131"/>
          </a:xfrm>
          <a:prstGeom prst="rect">
            <a:avLst/>
          </a:prstGeom>
        </p:spPr>
      </p:pic>
      <p:sp>
        <p:nvSpPr>
          <p:cNvPr id="4" name="Text Placeholder 3"/>
          <p:cNvSpPr>
            <a:spLocks noGrp="1"/>
          </p:cNvSpPr>
          <p:nvPr>
            <p:ph type="body" idx="2"/>
          </p:nvPr>
        </p:nvSpPr>
        <p:spPr>
          <a:xfrm>
            <a:off x="346761" y="4950378"/>
            <a:ext cx="4486495" cy="505878"/>
          </a:xfrm>
        </p:spPr>
        <p:txBody>
          <a:bodyPr/>
          <a:lstStyle/>
          <a:p>
            <a:r>
              <a:rPr lang="en-US" sz="2200" kern="1200" dirty="0">
                <a:solidFill>
                  <a:srgbClr val="000000"/>
                </a:solidFill>
                <a:latin typeface="Arial (Body)"/>
                <a:cs typeface="Times New Roman" pitchFamily="18" charset="0"/>
              </a:rPr>
              <a:t>Figure </a:t>
            </a:r>
            <a:r>
              <a:rPr lang="en-US" sz="2200" kern="1200" dirty="0" smtClean="0">
                <a:solidFill>
                  <a:srgbClr val="000000"/>
                </a:solidFill>
                <a:latin typeface="Arial (Body)"/>
                <a:cs typeface="Times New Roman" pitchFamily="18" charset="0"/>
              </a:rPr>
              <a:t>17.3 </a:t>
            </a:r>
            <a:r>
              <a:rPr lang="en-US" sz="2200" kern="1200" dirty="0">
                <a:solidFill>
                  <a:srgbClr val="000000"/>
                </a:solidFill>
                <a:latin typeface="Arial (Body)"/>
                <a:cs typeface="Times New Roman" pitchFamily="18" charset="0"/>
              </a:rPr>
              <a:t>uses class </a:t>
            </a:r>
            <a:r>
              <a:rPr lang="en-US" sz="2200" kern="1200" dirty="0">
                <a:solidFill>
                  <a:srgbClr val="000000"/>
                </a:solidFill>
                <a:latin typeface="Consolas" panose="020B0609020204030204" pitchFamily="49" charset="0"/>
                <a:cs typeface="Times New Roman" pitchFamily="18" charset="0"/>
              </a:rPr>
              <a:t>Time</a:t>
            </a:r>
            <a:r>
              <a:rPr lang="en-US" sz="2200" kern="1200" dirty="0" smtClean="0">
                <a:solidFill>
                  <a:srgbClr val="000000"/>
                </a:solidFill>
                <a:latin typeface="Arial (Body)"/>
                <a:cs typeface="Times New Roman" pitchFamily="18" charset="0"/>
              </a:rPr>
              <a:t>.</a:t>
            </a:r>
            <a:endParaRPr lang="en-US" sz="2200" kern="1200" dirty="0">
              <a:solidFill>
                <a:srgbClr val="000000"/>
              </a:solidFill>
              <a:latin typeface="Arial (Body)"/>
              <a:cs typeface="Times New Roman"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437419" cy="1097279"/>
          </a:xfrm>
        </p:spPr>
        <p:txBody>
          <a:bodyPr anchor="b"/>
          <a:lstStyle/>
          <a:p>
            <a:r>
              <a:rPr lang="en-US" dirty="0" smtClean="0"/>
              <a:t>Figure 17.3 Program </a:t>
            </a:r>
            <a:r>
              <a:rPr lang="en-US" dirty="0"/>
              <a:t>to </a:t>
            </a:r>
            <a:r>
              <a:rPr lang="en-US" dirty="0" smtClean="0"/>
              <a:t>Test Class </a:t>
            </a:r>
            <a:r>
              <a:rPr lang="en-US" dirty="0" smtClean="0">
                <a:latin typeface="Consolas" panose="020B0609020204030204" pitchFamily="49" charset="0"/>
              </a:rPr>
              <a:t>Time</a:t>
            </a:r>
            <a:r>
              <a:rPr lang="en-US" dirty="0" smtClean="0"/>
              <a:t> </a:t>
            </a:r>
            <a:r>
              <a:rPr lang="en-US" sz="2000" b="0" dirty="0" smtClean="0"/>
              <a:t>(1 </a:t>
            </a:r>
            <a:r>
              <a:rPr lang="en-US" sz="2000" b="0" dirty="0"/>
              <a:t>of </a:t>
            </a:r>
            <a:r>
              <a:rPr lang="en-US" sz="2000" b="0" dirty="0" smtClean="0"/>
              <a:t>3)</a:t>
            </a:r>
            <a:endParaRPr lang="en-US" sz="2000" b="0" dirty="0"/>
          </a:p>
        </p:txBody>
      </p:sp>
      <p:pic>
        <p:nvPicPr>
          <p:cNvPr id="3" name="Picture 2" descr="The computer code has 44 lines. The lines read as follows. Line 1. forward slash forward slash F i g period 17 period 3 colon f i g 17 underscore 0 3 period c p p. Line 2. forward slash forward slash Program to test class Time period. Line 3. forward slash forward slash NOTE colon This file must be compiled with Time period c p p period. Line 2 and line 3 are highlighted. Line 4. hash include left angle bracket i o stream right angle bracket. Line 5. hash include left angle bracket s t d except right angle bracket forward slash forward slash for invalid underscore argument exception class. Line 6. hash include double quote Time period h double quote forward slash forward slash include definition of class Time from Time period h. Line 6 is highlighted. Line 7. using namespace s t d semicolon. Line 8. Blank. Line 9. i n t main left parenthesis right parenthesis. Line 10. left brace. Line 11, indented once. Time t semicolon forward slash forward slash instantiate object t of class Time. Line 12. Blank. Line 13, indented once. forward slash forward slash output Time object t's initial values. Line 14, indented once. c out left angle bracket left angle bracket double quote The initial universal time is double quote semicolon. Line 15, indented once. t period print Universal left parenthesis right parenthesis semicolon forward slash forward slash 0 0 colon 0 0 colon 0 0. Line 16, indented once. c out left angle bracket left angle bracket double quote back slash n The initial standard time is double quote semicolon. Line 17, indented once. t period print Standard left parenthesis right parenthesis semicolon forward slash forward slash 1 2 colon 0 0 colon 0 0 A M. Line 18. Blank. Line 19, indented once. t period set Time left parenthesis 1 3 comma 2 7 comma 6 right parenthesis semicolon forward slash forward slash change time. Line 20. Blank."/>
          <p:cNvPicPr>
            <a:picLocks noChangeAspect="1"/>
          </p:cNvPicPr>
          <p:nvPr/>
        </p:nvPicPr>
        <p:blipFill rotWithShape="1">
          <a:blip r:embed="rId2"/>
          <a:srcRect t="-106" r="7421" b="1"/>
          <a:stretch/>
        </p:blipFill>
        <p:spPr>
          <a:xfrm>
            <a:off x="664442" y="1647441"/>
            <a:ext cx="7848455" cy="464740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199" y="238874"/>
            <a:ext cx="8468592" cy="1066799"/>
          </a:xfrm>
        </p:spPr>
        <p:txBody>
          <a:bodyPr anchor="b"/>
          <a:lstStyle/>
          <a:p>
            <a:r>
              <a:rPr lang="en-US" dirty="0"/>
              <a:t>Figure </a:t>
            </a:r>
            <a:r>
              <a:rPr lang="en-US" dirty="0" smtClean="0"/>
              <a:t>17.3 </a:t>
            </a:r>
            <a:r>
              <a:rPr lang="en-US" dirty="0"/>
              <a:t>Program to </a:t>
            </a:r>
            <a:r>
              <a:rPr lang="en-US" dirty="0" smtClean="0"/>
              <a:t>Test Class </a:t>
            </a:r>
            <a:r>
              <a:rPr lang="en-US" dirty="0">
                <a:latin typeface="Consolas" panose="020B0609020204030204" pitchFamily="49" charset="0"/>
              </a:rPr>
              <a:t>Time</a:t>
            </a:r>
            <a:r>
              <a:rPr lang="en-US" dirty="0" smtClean="0"/>
              <a:t> </a:t>
            </a:r>
            <a:r>
              <a:rPr lang="en-US" sz="2000" b="0" dirty="0" smtClean="0"/>
              <a:t>(2 </a:t>
            </a:r>
            <a:r>
              <a:rPr lang="en-US" sz="2000" b="0" dirty="0"/>
              <a:t>of </a:t>
            </a:r>
            <a:r>
              <a:rPr lang="en-US" sz="2000" b="0" dirty="0" smtClean="0"/>
              <a:t>3)</a:t>
            </a:r>
            <a:endParaRPr lang="en-US" dirty="0"/>
          </a:p>
        </p:txBody>
      </p:sp>
      <p:pic>
        <p:nvPicPr>
          <p:cNvPr id="3" name="Picture 2" descr="The code continues. Line 21, indented once. forward slash forward slash output Time object t's new values. Line 22, indented once. c out left angle bracket left angle bracket double quote back slash n back slash n Universal time after set Time is double quote semicolon. Line 23, indented once. t period print Universal left parenthesis right parenthesis semicolon forward slash forward slash 13 colon 27 colon 06. Line 24, indented once. c out left angle bracket left angle bracket double quote back slash n Standard time after set Time is double quote semicolon. Line 25, indented once. t period print Standard left parenthesis right parenthesis semicolon forward slash forward slash 1 colon 27 colon 06 PM. Line 26. Blank. Line 27, indented once. forward slash forward slash attempt to set the time with invalid values. Line 28, indented once. try. Line 29, indented once. left brace. Line 30, indented twice. t period set Time left parenthesis 99 comma 99 comma 99 right parenthesis semicolon forward slash forward slash all values out of range. Line 31, indented once. right brace forward slash forward slash end try. Line 32, indented once. catch left parenthesis invalid underscore argument ampersand e right parenthesis. Line 33, indented once. left brace. Line 34, indented twice. c out left angle bracket left angle bracket double quote Exception colon double quote left angle bracket left angle bracket e period what left parenthesis right parenthesis left angle bracket left angle bracket end l semicolon. Line 35, indented once. right brace forward slash forward slash end catch. Line 36. Blank. Line 37, indented once. forward slash forward slash output t's values after specifying invalid values. Line 38, indented once. c out left angle bracket left angle bracket double quote back slash n back slash n After attempting invalid settings colon double quote. Line 39, indented twice. left angle bracket left angle bracket double quote back slash n Universal time colon double quote semicolon. Line 40, indented once. t period print Universal left parenthesis right parenthesis semicolon forward slash forward slash 13 colon 27 colon 06. Line 41, indented once. c out left angle bracket left angle bracket double quote back slash n Standard time colon double quote semicolon. Line 42, indented once. t period print Standard left parenthesis right parenthesis semicolon forward slash forward slash 1 colon 27 colon 06 PM. Line 43, indented once. c out left angle bracket left angle bracket end l semicolon. Line 44. right brace forward slash forward slash end main."/>
          <p:cNvPicPr>
            <a:picLocks noChangeAspect="1"/>
          </p:cNvPicPr>
          <p:nvPr/>
        </p:nvPicPr>
        <p:blipFill>
          <a:blip r:embed="rId2"/>
          <a:stretch>
            <a:fillRect/>
          </a:stretch>
        </p:blipFill>
        <p:spPr>
          <a:xfrm>
            <a:off x="1533190" y="1487227"/>
            <a:ext cx="6077621" cy="4849303"/>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8648"/>
            <a:ext cx="8478982" cy="1066799"/>
          </a:xfrm>
        </p:spPr>
        <p:txBody>
          <a:bodyPr anchor="b"/>
          <a:lstStyle/>
          <a:p>
            <a:r>
              <a:rPr lang="en-US" dirty="0"/>
              <a:t>Figure </a:t>
            </a:r>
            <a:r>
              <a:rPr lang="en-US" dirty="0" smtClean="0"/>
              <a:t>17.3 </a:t>
            </a:r>
            <a:r>
              <a:rPr lang="en-US" dirty="0"/>
              <a:t>Program to </a:t>
            </a:r>
            <a:r>
              <a:rPr lang="en-US" dirty="0" smtClean="0"/>
              <a:t>Test Class </a:t>
            </a:r>
            <a:r>
              <a:rPr lang="en-US" dirty="0" smtClean="0">
                <a:latin typeface="Consolas" panose="020B0609020204030204" pitchFamily="49" charset="0"/>
              </a:rPr>
              <a:t>Time</a:t>
            </a:r>
            <a:r>
              <a:rPr lang="en-US" dirty="0" smtClean="0"/>
              <a:t> </a:t>
            </a:r>
            <a:r>
              <a:rPr lang="en-US" sz="2000" b="0" dirty="0" smtClean="0"/>
              <a:t>(3 </a:t>
            </a:r>
            <a:r>
              <a:rPr lang="en-US" sz="2000" b="0" dirty="0"/>
              <a:t>of 3)</a:t>
            </a:r>
            <a:endParaRPr lang="en-US" dirty="0"/>
          </a:p>
        </p:txBody>
      </p:sp>
      <p:pic>
        <p:nvPicPr>
          <p:cNvPr id="3" name="Picture 2" descr="The code output has 5 lines. The lines read as follows. Line 1. The initial universal time is 0 0 colon 0 0 colon 0 0. Line 2. The initial standard time is 12 colon 0 0 colon 0 0 A M. Line 3. Universal time after set Time is 1 3 colon 2 7 colon 0 6. Line 4. Standard time after set Time is 1 colon 2 7 colon 0 6 P M. Line 5. Exception colon hour comma minute and forward slash or second was out of ran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3102" y="2226131"/>
            <a:ext cx="8237797" cy="2805789"/>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17.2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a:t>
            </a:r>
            <a:r>
              <a:rPr lang="en-US" altLang="en-US" sz="2000" b="0" kern="1200" dirty="0" smtClean="0">
                <a:latin typeface="Times New Roman" panose="02020603050405020304" pitchFamily="18" charset="0"/>
                <a:ea typeface="+mj-ea"/>
                <a:cs typeface="+mj-cs"/>
              </a:rPr>
              <a:t>(8 of 8)</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250"/>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Object Size</a:t>
            </a:r>
          </a:p>
          <a:p>
            <a:pPr marL="255651" indent="-255651" eaLnBrk="1" hangingPunct="1">
              <a:tabLst/>
              <a:defRPr/>
            </a:pPr>
            <a:r>
              <a:rPr lang="en-US" sz="2400" kern="1200" dirty="0">
                <a:solidFill>
                  <a:srgbClr val="000000"/>
                </a:solidFill>
                <a:latin typeface="Arial (Body)"/>
                <a:ea typeface="+mn-ea"/>
                <a:cs typeface="+mn-cs"/>
              </a:rPr>
              <a:t>People new to object-oriented programming often suppose that objects must be quite large because they contain data members and member functions.</a:t>
            </a:r>
          </a:p>
          <a:p>
            <a:pPr marL="255651" indent="-255651" eaLnBrk="1" hangingPunct="1">
              <a:tabLst/>
              <a:defRPr/>
            </a:pPr>
            <a:r>
              <a:rPr lang="en-US" sz="2400" b="1" kern="1200" dirty="0">
                <a:solidFill>
                  <a:srgbClr val="000000"/>
                </a:solidFill>
                <a:latin typeface="Arial (Body)"/>
                <a:ea typeface="+mn-ea"/>
                <a:cs typeface="+mn-cs"/>
              </a:rPr>
              <a:t>Logically</a:t>
            </a:r>
            <a:r>
              <a:rPr lang="en-US" sz="2400" kern="1200" dirty="0">
                <a:solidFill>
                  <a:srgbClr val="000000"/>
                </a:solidFill>
                <a:latin typeface="Arial (Body)"/>
                <a:ea typeface="+mn-ea"/>
                <a:cs typeface="+mn-cs"/>
              </a:rPr>
              <a:t>, this is true—you may think of objects as containing data and functions (and our discussion has certainly encouraged this view); </a:t>
            </a:r>
            <a:r>
              <a:rPr lang="en-US" sz="2400" b="1" kern="1200" dirty="0">
                <a:solidFill>
                  <a:srgbClr val="000000"/>
                </a:solidFill>
                <a:latin typeface="Arial (Body)"/>
                <a:ea typeface="+mn-ea"/>
                <a:cs typeface="+mn-cs"/>
              </a:rPr>
              <a:t>physically</a:t>
            </a:r>
            <a:r>
              <a:rPr lang="en-US" sz="2400" kern="1200" dirty="0">
                <a:solidFill>
                  <a:srgbClr val="000000"/>
                </a:solidFill>
                <a:latin typeface="Arial (Body)"/>
                <a:ea typeface="+mn-ea"/>
                <a:cs typeface="+mn-cs"/>
              </a:rPr>
              <a:t>, however, this is not true.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Performance Tip </a:t>
            </a:r>
            <a:r>
              <a:rPr lang="en-US" dirty="0" smtClean="0"/>
              <a:t>17.2</a:t>
            </a:r>
            <a:endParaRPr lang="en-US" dirty="0"/>
          </a:p>
        </p:txBody>
      </p:sp>
      <p:sp>
        <p:nvSpPr>
          <p:cNvPr id="3" name="Text Placeholder 2"/>
          <p:cNvSpPr>
            <a:spLocks noGrp="1"/>
          </p:cNvSpPr>
          <p:nvPr>
            <p:ph type="body" idx="1"/>
          </p:nvPr>
        </p:nvSpPr>
        <p:spPr>
          <a:xfrm>
            <a:off x="457200" y="1600201"/>
            <a:ext cx="8229600" cy="3181350"/>
          </a:xfrm>
        </p:spPr>
        <p:txBody>
          <a:bodyPr/>
          <a:lstStyle/>
          <a:p>
            <a:pPr marL="0" indent="0">
              <a:buNone/>
            </a:pPr>
            <a:r>
              <a:rPr lang="en-US" sz="2400" dirty="0">
                <a:latin typeface="Arial Body"/>
              </a:rPr>
              <a:t>Objects contain only data, so objects are much smaller than if they also contained member functions. The compiler creates one copy (only) of the member functions separate from all objects of the class. All objects of the class share this one copy. Each object, of course, needs its own copy of the class’s data, because the data can vary among the objects. The function code is nonmodifiable and, hence, can be shared among all objects of one class</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7923125" cy="1169521"/>
          </a:xfrm>
        </p:spPr>
        <p:txBody>
          <a:bodyPr wrap="square">
            <a:spAutoFit/>
          </a:bodyPr>
          <a:lstStyle/>
          <a:p>
            <a:pPr eaLnBrk="1" hangingPunct="1">
              <a:spcBef>
                <a:spcPct val="0"/>
              </a:spcBef>
              <a:buClrTx/>
              <a:defRPr/>
            </a:pPr>
            <a:r>
              <a:rPr lang="en-US" altLang="en-US" sz="3200" kern="1200" dirty="0" smtClean="0">
                <a:latin typeface="Times New Roman" panose="02020603050405020304" pitchFamily="18" charset="0"/>
                <a:ea typeface="+mj-ea"/>
                <a:cs typeface="+mj-cs"/>
              </a:rPr>
              <a:t>17.3 Class Scope and Accessing Class Members </a:t>
            </a:r>
            <a:r>
              <a:rPr lang="en-US" altLang="en-US" sz="2000" b="0" kern="1200" dirty="0" smtClean="0">
                <a:latin typeface="Times New Roman" panose="02020603050405020304" pitchFamily="18" charset="0"/>
                <a:ea typeface="+mj-ea"/>
                <a:cs typeface="+mj-cs"/>
              </a:rPr>
              <a:t>(1 of 5)</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p:txBody>
          <a:bodyPr/>
          <a:lstStyle/>
          <a:p>
            <a:pPr marL="255651" indent="-255651" eaLnBrk="1" hangingPunct="1">
              <a:tabLst/>
              <a:defRPr/>
            </a:pPr>
            <a:r>
              <a:rPr lang="en-US" altLang="en-US" sz="2200" kern="1200" dirty="0">
                <a:solidFill>
                  <a:srgbClr val="000000"/>
                </a:solidFill>
                <a:latin typeface="Arial (Body)"/>
              </a:rPr>
              <a:t>A class’s data members and member functions belong to that class’s scope.</a:t>
            </a:r>
          </a:p>
          <a:p>
            <a:pPr marL="255651" indent="-255651" eaLnBrk="1" hangingPunct="1">
              <a:tabLst/>
              <a:defRPr/>
            </a:pPr>
            <a:r>
              <a:rPr lang="en-US" altLang="en-US" sz="2200" kern="1200" dirty="0">
                <a:solidFill>
                  <a:srgbClr val="000000"/>
                </a:solidFill>
                <a:latin typeface="Arial (Body)"/>
              </a:rPr>
              <a:t>Nonmember functions are defined at </a:t>
            </a:r>
            <a:r>
              <a:rPr lang="en-US" altLang="en-US" sz="2200" b="1" kern="1200" dirty="0">
                <a:solidFill>
                  <a:srgbClr val="000000"/>
                </a:solidFill>
                <a:latin typeface="Arial (Body)"/>
              </a:rPr>
              <a:t>global namespace scope</a:t>
            </a:r>
            <a:r>
              <a:rPr lang="en-US" altLang="en-US" sz="2200" kern="1200" dirty="0">
                <a:solidFill>
                  <a:srgbClr val="000000"/>
                </a:solidFill>
                <a:latin typeface="Arial (Body)"/>
              </a:rPr>
              <a:t>, by default.</a:t>
            </a:r>
          </a:p>
          <a:p>
            <a:pPr marL="255651" indent="-255651" eaLnBrk="1" hangingPunct="1">
              <a:tabLst/>
              <a:defRPr/>
            </a:pPr>
            <a:r>
              <a:rPr lang="en-US" altLang="en-US" sz="2200" kern="1200" dirty="0">
                <a:solidFill>
                  <a:srgbClr val="000000"/>
                </a:solidFill>
                <a:latin typeface="Arial (Body)"/>
              </a:rPr>
              <a:t>Within a class’s scope, class members are immediately accessible by all of that class’s member functions and can be referenced by name.</a:t>
            </a:r>
          </a:p>
          <a:p>
            <a:pPr marL="255651" indent="-255651" eaLnBrk="1" hangingPunct="1">
              <a:tabLst/>
              <a:defRPr/>
            </a:pPr>
            <a:r>
              <a:rPr lang="en-US" altLang="en-US" sz="2200" kern="1200" dirty="0">
                <a:solidFill>
                  <a:srgbClr val="000000"/>
                </a:solidFill>
                <a:latin typeface="Arial (Body)"/>
              </a:rPr>
              <a:t>Outside a class’s scope, </a:t>
            </a:r>
            <a:r>
              <a:rPr lang="en-US" altLang="en-US" sz="2200" kern="1200" dirty="0">
                <a:solidFill>
                  <a:srgbClr val="000000"/>
                </a:solidFill>
                <a:latin typeface="Consolas" panose="020B0609020204030204" pitchFamily="49" charset="0"/>
              </a:rPr>
              <a:t>public</a:t>
            </a:r>
            <a:r>
              <a:rPr lang="en-US" altLang="en-US" sz="2200" kern="1200" dirty="0">
                <a:solidFill>
                  <a:srgbClr val="000000"/>
                </a:solidFill>
                <a:latin typeface="Arial (Body)"/>
              </a:rPr>
              <a:t> class members are referenced through one of the </a:t>
            </a:r>
            <a:r>
              <a:rPr lang="en-US" altLang="en-US" sz="2200" b="1" kern="1200" dirty="0">
                <a:solidFill>
                  <a:srgbClr val="000000"/>
                </a:solidFill>
                <a:latin typeface="Arial (Body)"/>
              </a:rPr>
              <a:t>handles</a:t>
            </a:r>
            <a:r>
              <a:rPr lang="en-US" altLang="en-US" sz="2200" kern="1200" dirty="0">
                <a:solidFill>
                  <a:srgbClr val="000000"/>
                </a:solidFill>
                <a:latin typeface="Arial (Body)"/>
              </a:rPr>
              <a:t> on an object—an </a:t>
            </a:r>
            <a:r>
              <a:rPr lang="en-US" altLang="en-US" sz="2200" b="1" kern="1200" dirty="0">
                <a:solidFill>
                  <a:srgbClr val="000000"/>
                </a:solidFill>
                <a:latin typeface="Arial (Body)"/>
              </a:rPr>
              <a:t>object name</a:t>
            </a:r>
            <a:r>
              <a:rPr lang="en-US" altLang="en-US" sz="2200" kern="1200" dirty="0">
                <a:solidFill>
                  <a:srgbClr val="000000"/>
                </a:solidFill>
                <a:latin typeface="Arial (Body)"/>
              </a:rPr>
              <a:t>, a </a:t>
            </a:r>
            <a:r>
              <a:rPr lang="en-US" altLang="en-US" sz="2200" b="1" kern="1200" dirty="0">
                <a:solidFill>
                  <a:srgbClr val="000000"/>
                </a:solidFill>
                <a:latin typeface="Arial (Body)"/>
              </a:rPr>
              <a:t>reference</a:t>
            </a:r>
            <a:r>
              <a:rPr lang="en-US" altLang="en-US" sz="2200" kern="1200" dirty="0">
                <a:solidFill>
                  <a:srgbClr val="000000"/>
                </a:solidFill>
                <a:latin typeface="Arial (Body)"/>
              </a:rPr>
              <a:t> to an object or a </a:t>
            </a:r>
            <a:r>
              <a:rPr lang="en-US" altLang="en-US" sz="2200" b="1" kern="1200" dirty="0">
                <a:solidFill>
                  <a:srgbClr val="000000"/>
                </a:solidFill>
                <a:latin typeface="Arial (Body)"/>
              </a:rPr>
              <a:t>pointer</a:t>
            </a:r>
            <a:r>
              <a:rPr lang="en-US" altLang="en-US" sz="2200" kern="1200" dirty="0">
                <a:solidFill>
                  <a:srgbClr val="000000"/>
                </a:solidFill>
                <a:latin typeface="Arial (Body)"/>
              </a:rPr>
              <a:t> to an object</a:t>
            </a:r>
            <a:r>
              <a:rPr lang="en-US" altLang="en-US" sz="2200" kern="1200" dirty="0" smtClean="0">
                <a:solidFill>
                  <a:srgbClr val="000000"/>
                </a:solidFill>
                <a:latin typeface="Arial (Body)"/>
              </a:rPr>
              <a:t>.</a:t>
            </a:r>
            <a:endParaRPr lang="en-US" altLang="en-US" sz="22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342"/>
            <a:ext cx="7429500" cy="1169521"/>
          </a:xfrm>
        </p:spPr>
        <p:txBody>
          <a:bodyPr wrap="square">
            <a:spAutoFit/>
          </a:bodyPr>
          <a:lstStyle/>
          <a:p>
            <a:pPr eaLnBrk="1" hangingPunct="1">
              <a:spcBef>
                <a:spcPct val="0"/>
              </a:spcBef>
              <a:buClrTx/>
              <a:defRPr/>
            </a:pPr>
            <a:r>
              <a:rPr lang="en-US" altLang="en-US" sz="3200" kern="1200" dirty="0">
                <a:latin typeface="Times New Roman" panose="02020603050405020304" pitchFamily="18" charset="0"/>
              </a:rPr>
              <a:t>17</a:t>
            </a:r>
            <a:r>
              <a:rPr lang="en-US" altLang="en-US" sz="3200" kern="1200" dirty="0" smtClean="0">
                <a:latin typeface="Times New Roman" panose="02020603050405020304" pitchFamily="18" charset="0"/>
                <a:ea typeface="+mj-ea"/>
                <a:cs typeface="+mj-cs"/>
              </a:rPr>
              <a:t>.3 Class Scope and Accessing Class Members </a:t>
            </a:r>
            <a:r>
              <a:rPr lang="en-US" altLang="en-US" sz="2000" b="0" kern="1200" dirty="0" smtClean="0">
                <a:latin typeface="Times New Roman" panose="02020603050405020304" pitchFamily="18" charset="0"/>
                <a:ea typeface="+mj-ea"/>
                <a:cs typeface="+mj-cs"/>
              </a:rPr>
              <a:t>(2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408363"/>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Class Scope and Block Scope</a:t>
            </a:r>
          </a:p>
          <a:p>
            <a:pPr marL="255651" indent="-255651" eaLnBrk="1" hangingPunct="1">
              <a:tabLst/>
              <a:defRPr/>
            </a:pPr>
            <a:r>
              <a:rPr lang="en-US" sz="2400" kern="1200" dirty="0">
                <a:solidFill>
                  <a:srgbClr val="000000"/>
                </a:solidFill>
                <a:latin typeface="Arial (Body)"/>
                <a:ea typeface="+mn-ea"/>
                <a:cs typeface="+mn-cs"/>
              </a:rPr>
              <a:t>If a member function defines a variable with the same name as a variable with class scope, the class-scope variable is </a:t>
            </a:r>
            <a:r>
              <a:rPr lang="en-US" sz="2400" b="1" kern="1200" dirty="0">
                <a:solidFill>
                  <a:srgbClr val="000000"/>
                </a:solidFill>
                <a:latin typeface="Arial (Body)"/>
                <a:ea typeface="+mn-ea"/>
                <a:cs typeface="+mn-cs"/>
              </a:rPr>
              <a:t>hidden</a:t>
            </a:r>
            <a:r>
              <a:rPr lang="en-US" sz="2400" kern="1200" dirty="0">
                <a:solidFill>
                  <a:srgbClr val="000000"/>
                </a:solidFill>
                <a:latin typeface="Arial (Body)"/>
                <a:ea typeface="+mn-ea"/>
                <a:cs typeface="+mn-cs"/>
              </a:rPr>
              <a:t> in the function by the block-scope variable.</a:t>
            </a:r>
          </a:p>
          <a:p>
            <a:pPr marL="741553" lvl="1" indent="-284353" eaLnBrk="1" hangingPunct="1">
              <a:buFont typeface="Arial" panose="020B0604020202020204" pitchFamily="34" charset="0"/>
              <a:buChar char="–"/>
              <a:defRPr/>
            </a:pPr>
            <a:r>
              <a:rPr lang="en-US" sz="2400" kern="1200" dirty="0">
                <a:solidFill>
                  <a:srgbClr val="000000"/>
                </a:solidFill>
                <a:latin typeface="Arial (Body)"/>
                <a:ea typeface="+mn-ea"/>
                <a:cs typeface="+mn-cs"/>
              </a:rPr>
              <a:t>Such a hidden variable can be accessed by preceding the variable name with the class name followed by the scope resolution </a:t>
            </a:r>
            <a:r>
              <a:rPr lang="en-US" sz="2400" kern="1200" dirty="0" smtClean="0">
                <a:solidFill>
                  <a:srgbClr val="000000"/>
                </a:solidFill>
                <a:latin typeface="Arial (Body)"/>
                <a:ea typeface="+mn-ea"/>
                <a:cs typeface="+mn-cs"/>
              </a:rPr>
              <a:t>operator </a:t>
            </a:r>
            <a:r>
              <a:rPr lang="en-US" sz="2400" kern="1200" dirty="0" smtClean="0">
                <a:solidFill>
                  <a:srgbClr val="000000"/>
                </a:solidFill>
                <a:latin typeface="Consolas" panose="020B0609020204030204" pitchFamily="49" charset="0"/>
                <a:ea typeface="+mn-ea"/>
                <a:cs typeface="+mn-cs"/>
              </a:rPr>
              <a:t>(::).</a:t>
            </a:r>
            <a:endParaRPr lang="en-US" sz="2400" kern="1200" dirty="0">
              <a:solidFill>
                <a:srgbClr val="000000"/>
              </a:solidFill>
              <a:latin typeface="Consolas" panose="020B0609020204030204" pitchFamily="49" charset="0"/>
              <a:ea typeface="+mn-ea"/>
              <a:cs typeface="+mn-c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7705725" cy="1169521"/>
          </a:xfrm>
        </p:spPr>
        <p:txBody>
          <a:bodyPr wrap="square">
            <a:spAutoFit/>
          </a:bodyPr>
          <a:lstStyle/>
          <a:p>
            <a:pPr eaLnBrk="1" hangingPunct="1">
              <a:spcBef>
                <a:spcPct val="0"/>
              </a:spcBef>
              <a:buClrTx/>
              <a:defRPr/>
            </a:pPr>
            <a:r>
              <a:rPr lang="en-US" altLang="en-US" sz="3200" kern="1200" dirty="0">
                <a:latin typeface="Times New Roman" panose="02020603050405020304" pitchFamily="18" charset="0"/>
              </a:rPr>
              <a:t>17</a:t>
            </a:r>
            <a:r>
              <a:rPr lang="en-US" altLang="en-US" sz="3200" kern="1200" dirty="0" smtClean="0">
                <a:latin typeface="Times New Roman" panose="02020603050405020304" pitchFamily="18" charset="0"/>
                <a:ea typeface="+mj-ea"/>
                <a:cs typeface="+mj-cs"/>
              </a:rPr>
              <a:t>.3 Class Scope and Accessing Class Members </a:t>
            </a:r>
            <a:r>
              <a:rPr lang="en-US" altLang="en-US" sz="2000" b="0" kern="1200" dirty="0" smtClean="0">
                <a:latin typeface="Times New Roman" panose="02020603050405020304" pitchFamily="18" charset="0"/>
                <a:ea typeface="+mj-ea"/>
                <a:cs typeface="+mj-cs"/>
              </a:rPr>
              <a:t>(3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1"/>
            <a:ext cx="2705100" cy="553968"/>
          </a:xfrm>
        </p:spPr>
        <p:txBody>
          <a:bodyPr wrap="square">
            <a:spAutoFit/>
          </a:bodyPr>
          <a:lstStyle/>
          <a:p>
            <a:pPr marL="0" indent="0" eaLnBrk="1" hangingPunct="1">
              <a:buNone/>
              <a:tabLst/>
              <a:defRPr/>
            </a:pPr>
            <a:r>
              <a:rPr lang="en-US" sz="2400" b="1" kern="1200" dirty="0">
                <a:solidFill>
                  <a:srgbClr val="000000"/>
                </a:solidFill>
                <a:latin typeface="Arial (Body)"/>
                <a:ea typeface="+mn-ea"/>
                <a:cs typeface="+mn-cs"/>
              </a:rPr>
              <a:t>Dot (.) and </a:t>
            </a:r>
            <a:r>
              <a:rPr lang="en-US" sz="2400" b="1" kern="1200" dirty="0" smtClean="0">
                <a:solidFill>
                  <a:srgbClr val="000000"/>
                </a:solidFill>
                <a:latin typeface="Arial (Body)"/>
                <a:ea typeface="+mn-ea"/>
                <a:cs typeface="+mn-cs"/>
              </a:rPr>
              <a:t>Arrow</a:t>
            </a:r>
          </a:p>
        </p:txBody>
      </p:sp>
      <p:graphicFrame>
        <p:nvGraphicFramePr>
          <p:cNvPr id="9" name="Object 8" descr="Left parenthesis hyphen right angle bracket right parenthesis."/>
          <p:cNvGraphicFramePr>
            <a:graphicFrameLocks noChangeAspect="1"/>
          </p:cNvGraphicFramePr>
          <p:nvPr>
            <p:extLst>
              <p:ext uri="{D42A27DB-BD31-4B8C-83A1-F6EECF244321}">
                <p14:modId xmlns:p14="http://schemas.microsoft.com/office/powerpoint/2010/main" val="2657362965"/>
              </p:ext>
            </p:extLst>
          </p:nvPr>
        </p:nvGraphicFramePr>
        <p:xfrm>
          <a:off x="3050575" y="1673152"/>
          <a:ext cx="671089" cy="447394"/>
        </p:xfrm>
        <a:graphic>
          <a:graphicData uri="http://schemas.openxmlformats.org/presentationml/2006/ole">
            <mc:AlternateContent xmlns:mc="http://schemas.openxmlformats.org/markup-compatibility/2006">
              <mc:Choice xmlns:v="urn:schemas-microsoft-com:vml" Requires="v">
                <p:oleObj spid="_x0000_s6514" name="Equation" r:id="rId3" imgW="380880" imgH="253800" progId="Equation.DSMT4">
                  <p:embed/>
                </p:oleObj>
              </mc:Choice>
              <mc:Fallback>
                <p:oleObj name="Equation" r:id="rId3" imgW="380880" imgH="253800" progId="Equation.DSMT4">
                  <p:embed/>
                  <p:pic>
                    <p:nvPicPr>
                      <p:cNvPr id="0" name=""/>
                      <p:cNvPicPr/>
                      <p:nvPr/>
                    </p:nvPicPr>
                    <p:blipFill>
                      <a:blip r:embed="rId4"/>
                      <a:stretch>
                        <a:fillRect/>
                      </a:stretch>
                    </p:blipFill>
                    <p:spPr>
                      <a:xfrm>
                        <a:off x="3050575" y="1673152"/>
                        <a:ext cx="671089" cy="447394"/>
                      </a:xfrm>
                      <a:prstGeom prst="rect">
                        <a:avLst/>
                      </a:prstGeom>
                    </p:spPr>
                  </p:pic>
                </p:oleObj>
              </mc:Fallback>
            </mc:AlternateContent>
          </a:graphicData>
        </a:graphic>
      </p:graphicFrame>
      <p:sp>
        <p:nvSpPr>
          <p:cNvPr id="4" name="Content Placeholder 3"/>
          <p:cNvSpPr>
            <a:spLocks noGrp="1"/>
          </p:cNvSpPr>
          <p:nvPr>
            <p:ph sz="quarter" idx="13"/>
          </p:nvPr>
        </p:nvSpPr>
        <p:spPr>
          <a:xfrm>
            <a:off x="3662777" y="1623110"/>
            <a:ext cx="4352925" cy="506413"/>
          </a:xfrm>
        </p:spPr>
        <p:txBody>
          <a:bodyPr/>
          <a:lstStyle/>
          <a:p>
            <a:r>
              <a:rPr lang="en-US" sz="2400" b="1" kern="1200" dirty="0" smtClean="0">
                <a:latin typeface="Arial (Body)"/>
              </a:rPr>
              <a:t>Member </a:t>
            </a:r>
            <a:r>
              <a:rPr lang="en-US" sz="2400" b="1" kern="1200" dirty="0">
                <a:latin typeface="Arial (Body)"/>
              </a:rPr>
              <a:t>Selection </a:t>
            </a:r>
            <a:r>
              <a:rPr lang="en-US" sz="2400" b="1" kern="1200" dirty="0" smtClean="0">
                <a:latin typeface="Arial (Body)"/>
              </a:rPr>
              <a:t>Operators</a:t>
            </a:r>
            <a:endParaRPr lang="en-US" sz="2400" b="1" kern="1200" dirty="0">
              <a:latin typeface="Arial (Body)"/>
            </a:endParaRPr>
          </a:p>
        </p:txBody>
      </p:sp>
      <p:sp>
        <p:nvSpPr>
          <p:cNvPr id="5" name="Content Placeholder 4"/>
          <p:cNvSpPr>
            <a:spLocks noGrp="1"/>
          </p:cNvSpPr>
          <p:nvPr>
            <p:ph sz="quarter" idx="14"/>
          </p:nvPr>
        </p:nvSpPr>
        <p:spPr>
          <a:xfrm>
            <a:off x="457200" y="2080817"/>
            <a:ext cx="8232775" cy="1693663"/>
          </a:xfrm>
        </p:spPr>
        <p:txBody>
          <a:bodyPr/>
          <a:lstStyle/>
          <a:p>
            <a:pPr marL="342900" indent="-342900" eaLnBrk="1" hangingPunct="1">
              <a:spcBef>
                <a:spcPts val="1500"/>
              </a:spcBef>
              <a:buClr>
                <a:schemeClr val="tx2"/>
              </a:buClr>
              <a:buFont typeface="Arial" panose="020B0604020202020204" pitchFamily="34" charset="0"/>
              <a:buChar char="•"/>
              <a:tabLst/>
              <a:defRPr/>
            </a:pPr>
            <a:r>
              <a:rPr lang="en-US" sz="2400" kern="1200" dirty="0">
                <a:latin typeface="Arial (Body)"/>
              </a:rPr>
              <a:t>The dot member selection operator (.) is preceded by an object’s name or with a reference to an object to access the object’s members.</a:t>
            </a:r>
          </a:p>
          <a:p>
            <a:pPr marL="342900" indent="-342900" eaLnBrk="1" hangingPunct="1">
              <a:spcBef>
                <a:spcPts val="1500"/>
              </a:spcBef>
              <a:buClr>
                <a:schemeClr val="tx2"/>
              </a:buClr>
              <a:buFont typeface="Arial" panose="020B0604020202020204" pitchFamily="34" charset="0"/>
              <a:buChar char="•"/>
              <a:tabLst/>
              <a:defRPr/>
            </a:pPr>
            <a:r>
              <a:rPr lang="en-US" sz="2400" kern="1200" dirty="0">
                <a:latin typeface="Arial (Body)"/>
              </a:rPr>
              <a:t>The </a:t>
            </a:r>
            <a:r>
              <a:rPr lang="en-US" sz="2400" b="1" kern="1200" dirty="0">
                <a:latin typeface="Arial (Body)"/>
              </a:rPr>
              <a:t>arrow member selection operator</a:t>
            </a:r>
            <a:endParaRPr lang="en-US" sz="2400" dirty="0"/>
          </a:p>
        </p:txBody>
      </p:sp>
      <p:graphicFrame>
        <p:nvGraphicFramePr>
          <p:cNvPr id="11" name="Object 10" descr="Left parenthesis hyphen right angle bracket right parenthesis."/>
          <p:cNvGraphicFramePr>
            <a:graphicFrameLocks noChangeAspect="1"/>
          </p:cNvGraphicFramePr>
          <p:nvPr>
            <p:extLst>
              <p:ext uri="{D42A27DB-BD31-4B8C-83A1-F6EECF244321}">
                <p14:modId xmlns:p14="http://schemas.microsoft.com/office/powerpoint/2010/main" val="3499851795"/>
              </p:ext>
            </p:extLst>
          </p:nvPr>
        </p:nvGraphicFramePr>
        <p:xfrm>
          <a:off x="6402006" y="3441937"/>
          <a:ext cx="705321" cy="470217"/>
        </p:xfrm>
        <a:graphic>
          <a:graphicData uri="http://schemas.openxmlformats.org/presentationml/2006/ole">
            <mc:AlternateContent xmlns:mc="http://schemas.openxmlformats.org/markup-compatibility/2006">
              <mc:Choice xmlns:v="urn:schemas-microsoft-com:vml" Requires="v">
                <p:oleObj spid="_x0000_s6515" name="Equation" r:id="rId5" imgW="380880" imgH="253800" progId="Equation.DSMT4">
                  <p:embed/>
                </p:oleObj>
              </mc:Choice>
              <mc:Fallback>
                <p:oleObj name="Equation" r:id="rId5" imgW="380880" imgH="253800" progId="Equation.DSMT4">
                  <p:embed/>
                  <p:pic>
                    <p:nvPicPr>
                      <p:cNvPr id="9" name="Object 8"/>
                      <p:cNvPicPr/>
                      <p:nvPr/>
                    </p:nvPicPr>
                    <p:blipFill>
                      <a:blip r:embed="rId4"/>
                      <a:stretch>
                        <a:fillRect/>
                      </a:stretch>
                    </p:blipFill>
                    <p:spPr>
                      <a:xfrm>
                        <a:off x="6402006" y="3441937"/>
                        <a:ext cx="705321" cy="470217"/>
                      </a:xfrm>
                      <a:prstGeom prst="rect">
                        <a:avLst/>
                      </a:prstGeom>
                    </p:spPr>
                  </p:pic>
                </p:oleObj>
              </mc:Fallback>
            </mc:AlternateContent>
          </a:graphicData>
        </a:graphic>
      </p:graphicFrame>
      <p:sp>
        <p:nvSpPr>
          <p:cNvPr id="6" name="Content Placeholder 5"/>
          <p:cNvSpPr>
            <a:spLocks noGrp="1"/>
          </p:cNvSpPr>
          <p:nvPr>
            <p:ph sz="quarter" idx="15"/>
          </p:nvPr>
        </p:nvSpPr>
        <p:spPr>
          <a:xfrm>
            <a:off x="457200" y="3769178"/>
            <a:ext cx="8232775" cy="885825"/>
          </a:xfrm>
        </p:spPr>
        <p:txBody>
          <a:bodyPr/>
          <a:lstStyle/>
          <a:p>
            <a:pPr marL="280988" indent="0"/>
            <a:r>
              <a:rPr lang="en-US" sz="2400" kern="1200" dirty="0">
                <a:latin typeface="Arial (Body)"/>
              </a:rPr>
              <a:t>is preceded by a pointer to an object to access the object’s members</a:t>
            </a:r>
            <a:r>
              <a:rPr lang="en-US" sz="2400" kern="1200" dirty="0" smtClean="0">
                <a:latin typeface="Arial (Body)"/>
              </a:rPr>
              <a:t>.</a:t>
            </a:r>
            <a:endParaRPr lang="en-US" sz="2400" kern="1200" dirty="0">
              <a:latin typeface="Arial (Body)"/>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342"/>
            <a:ext cx="7820025" cy="1169521"/>
          </a:xfrm>
        </p:spPr>
        <p:txBody>
          <a:bodyPr wrap="square">
            <a:spAutoFit/>
          </a:bodyPr>
          <a:lstStyle/>
          <a:p>
            <a:pPr eaLnBrk="1" hangingPunct="1">
              <a:spcBef>
                <a:spcPct val="0"/>
              </a:spcBef>
              <a:buClrTx/>
              <a:defRPr/>
            </a:pPr>
            <a:r>
              <a:rPr lang="en-US" altLang="en-US" sz="3200" kern="1200" dirty="0">
                <a:latin typeface="Times New Roman" panose="02020603050405020304" pitchFamily="18" charset="0"/>
              </a:rPr>
              <a:t>17</a:t>
            </a:r>
            <a:r>
              <a:rPr lang="en-US" altLang="en-US" sz="3200" kern="1200" dirty="0" smtClean="0">
                <a:latin typeface="Times New Roman" panose="02020603050405020304" pitchFamily="18" charset="0"/>
                <a:ea typeface="+mj-ea"/>
                <a:cs typeface="+mj-cs"/>
              </a:rPr>
              <a:t>.3 Class Scope and Accessing Class Members </a:t>
            </a:r>
            <a:r>
              <a:rPr lang="en-US" altLang="en-US" sz="2000" b="0" kern="1200" dirty="0" smtClean="0">
                <a:latin typeface="Times New Roman" panose="02020603050405020304" pitchFamily="18" charset="0"/>
                <a:ea typeface="+mj-ea"/>
                <a:cs typeface="+mj-cs"/>
              </a:rPr>
              <a:t>(4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731213"/>
          </a:xfrm>
        </p:spPr>
        <p:txBody>
          <a:bodyPr wrap="square">
            <a:spAutoFit/>
          </a:bodyPr>
          <a:lstStyle/>
          <a:p>
            <a:pPr marL="0" indent="0" eaLnBrk="1" hangingPunct="1">
              <a:buNone/>
              <a:tabLst/>
              <a:defRPr/>
            </a:pPr>
            <a:r>
              <a:rPr lang="en-US" sz="2200" b="1" kern="1200" dirty="0">
                <a:solidFill>
                  <a:srgbClr val="000000"/>
                </a:solidFill>
                <a:latin typeface="Arial (Body)"/>
                <a:ea typeface="+mn-ea"/>
                <a:cs typeface="+mn-cs"/>
              </a:rPr>
              <a:t>Accessing public Class Members Through Objects, References and Pointers</a:t>
            </a:r>
          </a:p>
          <a:p>
            <a:pPr marL="255651" indent="-255651" eaLnBrk="1" hangingPunct="1">
              <a:tabLst/>
              <a:defRPr/>
            </a:pPr>
            <a:r>
              <a:rPr lang="en-US" sz="2200" kern="1200" dirty="0">
                <a:solidFill>
                  <a:srgbClr val="000000"/>
                </a:solidFill>
                <a:latin typeface="Arial (Body)"/>
                <a:ea typeface="+mn-ea"/>
                <a:cs typeface="+mn-cs"/>
              </a:rPr>
              <a:t>Consider an Account class that has a public </a:t>
            </a:r>
            <a:r>
              <a:rPr lang="en-US" sz="2200" kern="1200" dirty="0">
                <a:solidFill>
                  <a:srgbClr val="000000"/>
                </a:solidFill>
                <a:latin typeface="Consolas" panose="020B0609020204030204" pitchFamily="49" charset="0"/>
                <a:ea typeface="+mn-ea"/>
                <a:cs typeface="+mn-cs"/>
              </a:rPr>
              <a:t>setBalance</a:t>
            </a:r>
            <a:r>
              <a:rPr lang="en-US" sz="2200" kern="1200" dirty="0">
                <a:solidFill>
                  <a:srgbClr val="000000"/>
                </a:solidFill>
                <a:latin typeface="Arial (Body)"/>
                <a:ea typeface="+mn-ea"/>
                <a:cs typeface="+mn-cs"/>
              </a:rPr>
              <a:t> member function. Given the following declarations</a:t>
            </a:r>
            <a:r>
              <a:rPr lang="en-US" sz="2200" kern="1200" dirty="0" smtClean="0">
                <a:solidFill>
                  <a:srgbClr val="000000"/>
                </a:solidFill>
                <a:latin typeface="Arial (Body)"/>
                <a:ea typeface="+mn-ea"/>
                <a:cs typeface="+mn-cs"/>
              </a:rPr>
              <a:t>:</a:t>
            </a:r>
            <a:endParaRPr lang="en-US" sz="2200" kern="1200" dirty="0">
              <a:solidFill>
                <a:srgbClr val="000000"/>
              </a:solidFill>
              <a:latin typeface="Arial (Body)"/>
              <a:ea typeface="+mn-ea"/>
              <a:cs typeface="+mn-cs"/>
            </a:endParaRPr>
          </a:p>
        </p:txBody>
      </p:sp>
      <p:pic>
        <p:nvPicPr>
          <p:cNvPr id="4" name="Picture 3" descr="The computer code has 5 lines. The lines read as follows. Line 1. Account account semicolon forward slash forward slash an Account object. Line 2. forward slash forward slash account R e f refers to an Account object. Line 3. Account ampersand account R e f equals account semicolon. Line 4. forward slash forward slash account P t r points to an Account object. Line 5. Account asterisk account P t r equals ampersand account semicol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307" y="3631422"/>
            <a:ext cx="5839070" cy="1739636"/>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3129"/>
            <a:ext cx="7591425" cy="1169521"/>
          </a:xfrm>
        </p:spPr>
        <p:txBody>
          <a:bodyPr wrap="square">
            <a:spAutoFit/>
          </a:bodyPr>
          <a:lstStyle/>
          <a:p>
            <a:pPr eaLnBrk="1" hangingPunct="1">
              <a:spcBef>
                <a:spcPct val="0"/>
              </a:spcBef>
              <a:buClrTx/>
              <a:defRPr/>
            </a:pPr>
            <a:r>
              <a:rPr lang="en-US" altLang="en-US" sz="3200" kern="1200" dirty="0">
                <a:latin typeface="Times New Roman" panose="02020603050405020304" pitchFamily="18" charset="0"/>
              </a:rPr>
              <a:t>17</a:t>
            </a:r>
            <a:r>
              <a:rPr lang="en-US" altLang="en-US" sz="3200" kern="1200" dirty="0" smtClean="0">
                <a:latin typeface="Times New Roman" panose="02020603050405020304" pitchFamily="18" charset="0"/>
                <a:ea typeface="+mj-ea"/>
                <a:cs typeface="+mj-cs"/>
              </a:rPr>
              <a:t>.3 Class Scope and Accessing Class Members </a:t>
            </a:r>
            <a:r>
              <a:rPr lang="en-US" altLang="en-US" sz="2000" b="0" kern="1200" dirty="0" smtClean="0">
                <a:latin typeface="Times New Roman" panose="02020603050405020304" pitchFamily="18" charset="0"/>
                <a:ea typeface="+mj-ea"/>
                <a:cs typeface="+mj-cs"/>
              </a:rPr>
              <a:t>(5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wrap="square">
            <a:spAutoFit/>
          </a:bodyPr>
          <a:lstStyle/>
          <a:p>
            <a:pPr marL="0" lvl="1" indent="0" eaLnBrk="1" hangingPunct="1">
              <a:buNone/>
              <a:defRPr/>
            </a:pPr>
            <a:r>
              <a:rPr lang="en-US" sz="2200" kern="1200" dirty="0">
                <a:solidFill>
                  <a:srgbClr val="000000"/>
                </a:solidFill>
                <a:latin typeface="Arial (Body)"/>
                <a:ea typeface="+mn-ea"/>
                <a:cs typeface="Times New Roman" pitchFamily="18" charset="0"/>
              </a:rPr>
              <a:t>You can invoke member function setBalance using the dot </a:t>
            </a:r>
            <a:r>
              <a:rPr lang="en-US" sz="2200" kern="1200" dirty="0" smtClean="0">
                <a:solidFill>
                  <a:srgbClr val="000000"/>
                </a:solidFill>
                <a:latin typeface="Arial (Body)"/>
                <a:ea typeface="+mn-ea"/>
                <a:cs typeface="Times New Roman" pitchFamily="18" charset="0"/>
              </a:rPr>
              <a:t>(.)</a:t>
            </a:r>
            <a:endParaRPr lang="en-US" sz="2200" kern="1200" dirty="0">
              <a:solidFill>
                <a:srgbClr val="000000"/>
              </a:solidFill>
              <a:latin typeface="Arial (Body)"/>
              <a:ea typeface="+mn-ea"/>
              <a:cs typeface="Times New Roman" pitchFamily="18" charset="0"/>
            </a:endParaRPr>
          </a:p>
        </p:txBody>
      </p:sp>
      <p:sp>
        <p:nvSpPr>
          <p:cNvPr id="5" name="Content Placeholder 4"/>
          <p:cNvSpPr>
            <a:spLocks noGrp="1"/>
          </p:cNvSpPr>
          <p:nvPr>
            <p:ph sz="quarter" idx="13"/>
          </p:nvPr>
        </p:nvSpPr>
        <p:spPr>
          <a:xfrm>
            <a:off x="457200" y="2028657"/>
            <a:ext cx="1485900" cy="444416"/>
          </a:xfrm>
        </p:spPr>
        <p:txBody>
          <a:bodyPr/>
          <a:lstStyle/>
          <a:p>
            <a:r>
              <a:rPr lang="en-US" sz="2200" kern="1200" dirty="0">
                <a:latin typeface="Arial (Body)"/>
                <a:cs typeface="Times New Roman" pitchFamily="18" charset="0"/>
              </a:rPr>
              <a:t>and arrow</a:t>
            </a:r>
            <a:endParaRPr lang="en-US" sz="2200" dirty="0"/>
          </a:p>
        </p:txBody>
      </p:sp>
      <p:graphicFrame>
        <p:nvGraphicFramePr>
          <p:cNvPr id="13" name="Object 12" descr="Left parenthesis hyphen right angle bracket right parenthesis."/>
          <p:cNvGraphicFramePr>
            <a:graphicFrameLocks noChangeAspect="1"/>
          </p:cNvGraphicFramePr>
          <p:nvPr>
            <p:extLst>
              <p:ext uri="{D42A27DB-BD31-4B8C-83A1-F6EECF244321}">
                <p14:modId xmlns:p14="http://schemas.microsoft.com/office/powerpoint/2010/main" val="3221072207"/>
              </p:ext>
            </p:extLst>
          </p:nvPr>
        </p:nvGraphicFramePr>
        <p:xfrm>
          <a:off x="1859594" y="2103243"/>
          <a:ext cx="613604" cy="409069"/>
        </p:xfrm>
        <a:graphic>
          <a:graphicData uri="http://schemas.openxmlformats.org/presentationml/2006/ole">
            <mc:AlternateContent xmlns:mc="http://schemas.openxmlformats.org/markup-compatibility/2006">
              <mc:Choice xmlns:v="urn:schemas-microsoft-com:vml" Requires="v">
                <p:oleObj spid="_x0000_s3766" name="Equation" r:id="rId3" imgW="380880" imgH="253800" progId="Equation.DSMT4">
                  <p:embed/>
                </p:oleObj>
              </mc:Choice>
              <mc:Fallback>
                <p:oleObj name="Equation" r:id="rId3" imgW="380880" imgH="253800" progId="Equation.DSMT4">
                  <p:embed/>
                  <p:pic>
                    <p:nvPicPr>
                      <p:cNvPr id="9" name="Object 8"/>
                      <p:cNvPicPr/>
                      <p:nvPr/>
                    </p:nvPicPr>
                    <p:blipFill>
                      <a:blip r:embed="rId4"/>
                      <a:stretch>
                        <a:fillRect/>
                      </a:stretch>
                    </p:blipFill>
                    <p:spPr>
                      <a:xfrm>
                        <a:off x="1859594" y="2103243"/>
                        <a:ext cx="613604" cy="409069"/>
                      </a:xfrm>
                      <a:prstGeom prst="rect">
                        <a:avLst/>
                      </a:prstGeom>
                    </p:spPr>
                  </p:pic>
                </p:oleObj>
              </mc:Fallback>
            </mc:AlternateContent>
          </a:graphicData>
        </a:graphic>
      </p:graphicFrame>
      <p:sp>
        <p:nvSpPr>
          <p:cNvPr id="6" name="Content Placeholder 5"/>
          <p:cNvSpPr>
            <a:spLocks noGrp="1"/>
          </p:cNvSpPr>
          <p:nvPr>
            <p:ph sz="quarter" idx="14"/>
          </p:nvPr>
        </p:nvSpPr>
        <p:spPr>
          <a:xfrm>
            <a:off x="2453102" y="2030870"/>
            <a:ext cx="5057775" cy="439990"/>
          </a:xfrm>
        </p:spPr>
        <p:txBody>
          <a:bodyPr/>
          <a:lstStyle/>
          <a:p>
            <a:r>
              <a:rPr lang="en-US" sz="2200" kern="1200" dirty="0">
                <a:latin typeface="Arial (Body)"/>
                <a:cs typeface="Times New Roman" pitchFamily="18" charset="0"/>
              </a:rPr>
              <a:t>member selection operators as follows</a:t>
            </a:r>
            <a:r>
              <a:rPr lang="en-US" sz="2200" kern="1200" dirty="0" smtClean="0">
                <a:latin typeface="Arial (Body)"/>
                <a:cs typeface="Times New Roman" pitchFamily="18" charset="0"/>
              </a:rPr>
              <a:t>:</a:t>
            </a:r>
            <a:endParaRPr lang="en-US" sz="2200" kern="1200" dirty="0">
              <a:latin typeface="Arial (Body)"/>
              <a:cs typeface="Times New Roman" pitchFamily="18" charset="0"/>
            </a:endParaRPr>
          </a:p>
        </p:txBody>
      </p:sp>
      <p:pic>
        <p:nvPicPr>
          <p:cNvPr id="4" name="Picture 3" descr="The computer code has 6 lines. The lines read as follows. Line 1. forward slash forward slash call set Balance via the Account object. Line 2. account period set Balance left parenthesis 123.45 right parenthesis semicolon. Line 3. forward slash forward slash call set Balance via a reference to the Account object. Line 4. Account R e f period set Balance left parenthesis 123.45 right parenthesis semicolon. Line 5. forward slash forward slash call set Balance via a pointer to the Account object. Line 6. Account P t r dash greater than sign set Balance left parenthesis 123.45 right parenthesis semicolo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044" y="2878035"/>
            <a:ext cx="7489910" cy="2889814"/>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spAutoFit/>
          </a:bodyPr>
          <a:lstStyle/>
          <a:p>
            <a:pPr eaLnBrk="1" hangingPunct="1">
              <a:spcBef>
                <a:spcPct val="0"/>
              </a:spcBef>
              <a:buClrTx/>
              <a:defRPr/>
            </a:pPr>
            <a:r>
              <a:rPr lang="en-US" altLang="en-US" sz="3600" kern="1200" dirty="0">
                <a:latin typeface="Times New Roman" panose="02020603050405020304" pitchFamily="18" charset="0"/>
              </a:rPr>
              <a:t>17</a:t>
            </a:r>
            <a:r>
              <a:rPr lang="en-US" altLang="en-US" kern="1200" dirty="0" smtClean="0">
                <a:latin typeface="Times New Roman" panose="02020603050405020304" pitchFamily="18" charset="0"/>
                <a:ea typeface="+mj-ea"/>
                <a:cs typeface="+mj-cs"/>
              </a:rPr>
              <a:t>.4 Access Functions and Utility Functions</a:t>
            </a:r>
            <a:endParaRPr lang="en-US" alt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16016"/>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Access Functions</a:t>
            </a:r>
          </a:p>
          <a:p>
            <a:pPr marL="255651" indent="-255651" eaLnBrk="1" hangingPunct="1">
              <a:tabLst/>
              <a:defRPr/>
            </a:pPr>
            <a:r>
              <a:rPr lang="en-US" sz="2400" b="1" kern="1200" dirty="0">
                <a:solidFill>
                  <a:srgbClr val="000000"/>
                </a:solidFill>
                <a:latin typeface="Arial (Body)"/>
                <a:ea typeface="+mn-ea"/>
                <a:cs typeface="+mn-cs"/>
              </a:rPr>
              <a:t>Access functions</a:t>
            </a:r>
            <a:r>
              <a:rPr lang="en-US" sz="2400" kern="1200" dirty="0">
                <a:solidFill>
                  <a:srgbClr val="000000"/>
                </a:solidFill>
                <a:latin typeface="Arial (Body)"/>
                <a:ea typeface="+mn-ea"/>
                <a:cs typeface="+mn-cs"/>
              </a:rPr>
              <a:t> can read or display data.</a:t>
            </a:r>
          </a:p>
          <a:p>
            <a:pPr marL="255651" indent="-255651" eaLnBrk="1" hangingPunct="1">
              <a:tabLst/>
              <a:defRPr/>
            </a:pPr>
            <a:r>
              <a:rPr lang="en-US" sz="2400" kern="1200" dirty="0">
                <a:solidFill>
                  <a:srgbClr val="000000"/>
                </a:solidFill>
                <a:latin typeface="Arial (Body)"/>
                <a:ea typeface="+mn-ea"/>
                <a:cs typeface="+mn-cs"/>
              </a:rPr>
              <a:t>A common use for access functions is to test the truth or falsity of conditions—such functions are often called </a:t>
            </a:r>
            <a:r>
              <a:rPr lang="en-US" sz="2400" b="1" kern="1200" dirty="0">
                <a:solidFill>
                  <a:srgbClr val="000000"/>
                </a:solidFill>
                <a:latin typeface="Arial (Body)"/>
                <a:ea typeface="+mn-ea"/>
                <a:cs typeface="+mn-cs"/>
              </a:rPr>
              <a:t>predicate functions</a:t>
            </a:r>
            <a:r>
              <a:rPr lang="en-US" sz="2400" kern="1200" dirty="0" smtClean="0">
                <a:solidFill>
                  <a:srgbClr val="000000"/>
                </a:solidFill>
                <a:latin typeface="Arial (Body)"/>
                <a:ea typeface="+mn-ea"/>
                <a:cs typeface="+mn-cs"/>
              </a:rPr>
              <a:t>.</a:t>
            </a:r>
          </a:p>
        </p:txBody>
      </p:sp>
      <p:sp>
        <p:nvSpPr>
          <p:cNvPr id="4" name="Text Placeholder 3"/>
          <p:cNvSpPr>
            <a:spLocks noGrp="1"/>
          </p:cNvSpPr>
          <p:nvPr>
            <p:ph type="body" idx="2"/>
          </p:nvPr>
        </p:nvSpPr>
        <p:spPr>
          <a:xfrm>
            <a:off x="457200" y="4139921"/>
            <a:ext cx="8229600" cy="1986242"/>
          </a:xfrm>
        </p:spPr>
        <p:txBody>
          <a:bodyPr/>
          <a:lstStyle/>
          <a:p>
            <a:pPr marL="0" indent="0" eaLnBrk="1" hangingPunct="1">
              <a:buNone/>
              <a:tabLst/>
              <a:defRPr/>
            </a:pPr>
            <a:r>
              <a:rPr lang="en-US" sz="2400" b="1" kern="1200" dirty="0">
                <a:solidFill>
                  <a:srgbClr val="000000"/>
                </a:solidFill>
                <a:latin typeface="Arial (Body)"/>
              </a:rPr>
              <a:t>Utility Functions</a:t>
            </a:r>
          </a:p>
          <a:p>
            <a:pPr marL="255651" indent="-255651" eaLnBrk="1" hangingPunct="1">
              <a:tabLst/>
              <a:defRPr/>
            </a:pPr>
            <a:r>
              <a:rPr lang="en-US" sz="2400" kern="1200" dirty="0">
                <a:solidFill>
                  <a:srgbClr val="000000"/>
                </a:solidFill>
                <a:latin typeface="Arial (Body)"/>
              </a:rPr>
              <a:t>A </a:t>
            </a:r>
            <a:r>
              <a:rPr lang="en-US" sz="2400" b="1" kern="1200" dirty="0">
                <a:solidFill>
                  <a:srgbClr val="000000"/>
                </a:solidFill>
                <a:latin typeface="Arial (Body)"/>
              </a:rPr>
              <a:t>utility function</a:t>
            </a:r>
            <a:r>
              <a:rPr lang="en-US" sz="2400" kern="1200" dirty="0">
                <a:solidFill>
                  <a:srgbClr val="000000"/>
                </a:solidFill>
                <a:latin typeface="Arial (Body)"/>
              </a:rPr>
              <a:t> (also called a </a:t>
            </a:r>
            <a:r>
              <a:rPr lang="en-US" sz="2400" b="1" kern="1200" dirty="0">
                <a:solidFill>
                  <a:srgbClr val="000000"/>
                </a:solidFill>
                <a:latin typeface="Arial (Body)"/>
              </a:rPr>
              <a:t>helper function</a:t>
            </a:r>
            <a:r>
              <a:rPr lang="en-US" sz="2400" kern="1200" dirty="0">
                <a:solidFill>
                  <a:srgbClr val="000000"/>
                </a:solidFill>
                <a:latin typeface="Arial (Body)"/>
              </a:rPr>
              <a:t>) is a private member function that supports the operation of the class’s other member functions</a:t>
            </a:r>
            <a:r>
              <a:rPr lang="en-US" sz="2400" kern="1200" dirty="0" smtClean="0">
                <a:solidFill>
                  <a:srgbClr val="000000"/>
                </a:solidFill>
                <a:latin typeface="Arial (Body)"/>
              </a:rPr>
              <a:t>.</a:t>
            </a:r>
            <a:endParaRPr 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17.5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 </a:t>
            </a:r>
            <a:r>
              <a:rPr lang="en-US" altLang="en-US" sz="2000" b="0" kern="1200" dirty="0" smtClean="0">
                <a:latin typeface="Times New Roman" panose="02020603050405020304" pitchFamily="18" charset="0"/>
                <a:ea typeface="+mj-ea"/>
                <a:cs typeface="+mj-cs"/>
              </a:rPr>
              <a:t>(1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011"/>
          </a:xfrm>
        </p:spPr>
        <p:txBody>
          <a:bodyPr wrap="square">
            <a:spAutoFit/>
          </a:bodyPr>
          <a:lstStyle/>
          <a:p>
            <a:pPr marL="255651" indent="-255651" eaLnBrk="1" hangingPunct="1">
              <a:tabLst/>
              <a:defRPr/>
            </a:pPr>
            <a:r>
              <a:rPr lang="en-US" altLang="en-US" sz="2400" kern="1200" dirty="0">
                <a:solidFill>
                  <a:srgbClr val="000000"/>
                </a:solidFill>
                <a:latin typeface="Arial (Body)"/>
                <a:ea typeface="+mn-ea"/>
                <a:cs typeface="+mn-cs"/>
              </a:rPr>
              <a:t>The program of </a:t>
            </a:r>
            <a:r>
              <a:rPr lang="en-US" altLang="en-US" sz="2400" kern="1200" dirty="0" smtClean="0">
                <a:solidFill>
                  <a:srgbClr val="000000"/>
                </a:solidFill>
                <a:latin typeface="Arial (Body)"/>
                <a:ea typeface="+mn-ea"/>
                <a:cs typeface="+mn-cs"/>
              </a:rPr>
              <a:t>Figures 17.4 (</a:t>
            </a:r>
            <a:r>
              <a:rPr lang="en-US" altLang="en-US" sz="2400" kern="1200" dirty="0">
                <a:solidFill>
                  <a:srgbClr val="000000"/>
                </a:solidFill>
                <a:latin typeface="Arial (Body)"/>
              </a:rPr>
              <a:t>see slides </a:t>
            </a:r>
            <a:r>
              <a:rPr lang="en-US" altLang="en-US" sz="2400" kern="1200" dirty="0" smtClean="0">
                <a:solidFill>
                  <a:srgbClr val="000000"/>
                </a:solidFill>
                <a:latin typeface="Arial (Body)"/>
              </a:rPr>
              <a:t>41-42</a:t>
            </a:r>
            <a:r>
              <a:rPr lang="en-US" altLang="en-US" sz="2400" kern="1200" dirty="0" smtClean="0">
                <a:solidFill>
                  <a:srgbClr val="000000"/>
                </a:solidFill>
                <a:latin typeface="Arial (Body)"/>
                <a:ea typeface="+mn-ea"/>
                <a:cs typeface="+mn-cs"/>
              </a:rPr>
              <a:t>)–17.6 (see slides 48-50) enhances </a:t>
            </a:r>
            <a:r>
              <a:rPr lang="en-US" altLang="en-US" sz="2400" kern="1200" dirty="0">
                <a:solidFill>
                  <a:srgbClr val="000000"/>
                </a:solidFill>
                <a:latin typeface="Arial (Body)"/>
                <a:ea typeface="+mn-ea"/>
                <a:cs typeface="+mn-cs"/>
              </a:rPr>
              <a:t>class </a:t>
            </a:r>
            <a:r>
              <a:rPr lang="en-US" altLang="en-US" sz="2400" kern="1200" dirty="0">
                <a:solidFill>
                  <a:srgbClr val="000000"/>
                </a:solidFill>
                <a:latin typeface="Consolas" panose="020B0609020204030204" pitchFamily="49" charset="0"/>
                <a:ea typeface="+mn-ea"/>
                <a:cs typeface="+mn-cs"/>
              </a:rPr>
              <a:t>Time</a:t>
            </a:r>
            <a:r>
              <a:rPr lang="en-US" altLang="en-US" sz="2400" kern="1200" dirty="0">
                <a:solidFill>
                  <a:srgbClr val="000000"/>
                </a:solidFill>
                <a:latin typeface="Arial (Body)"/>
                <a:ea typeface="+mn-ea"/>
                <a:cs typeface="+mn-cs"/>
              </a:rPr>
              <a:t> to demonstrate how arguments are implicitly passed to a </a:t>
            </a:r>
            <a:r>
              <a:rPr lang="en-US" altLang="en-US" sz="2400" kern="1200" dirty="0" smtClean="0">
                <a:solidFill>
                  <a:srgbClr val="000000"/>
                </a:solidFill>
                <a:latin typeface="Arial (Body)"/>
                <a:ea typeface="+mn-ea"/>
                <a:cs typeface="+mn-cs"/>
              </a:rPr>
              <a:t>constructor.</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The constructor defined in </a:t>
            </a:r>
            <a:r>
              <a:rPr lang="en-US" altLang="en-US" sz="2400" kern="1200" dirty="0" smtClean="0">
                <a:solidFill>
                  <a:srgbClr val="000000"/>
                </a:solidFill>
                <a:latin typeface="Arial (Body)"/>
                <a:ea typeface="+mn-ea"/>
                <a:cs typeface="+mn-cs"/>
              </a:rPr>
              <a:t>Figure 17.2 (see slide 16-17) initialized </a:t>
            </a:r>
            <a:r>
              <a:rPr lang="en-US" altLang="en-US" sz="2400" kern="1200" dirty="0">
                <a:solidFill>
                  <a:srgbClr val="000000"/>
                </a:solidFill>
                <a:latin typeface="Consolas" panose="020B0609020204030204" pitchFamily="49" charset="0"/>
                <a:ea typeface="+mn-ea"/>
                <a:cs typeface="+mn-cs"/>
              </a:rPr>
              <a:t>hour, minute</a:t>
            </a:r>
            <a:r>
              <a:rPr lang="en-US" altLang="en-US" sz="2400" kern="1200" dirty="0">
                <a:solidFill>
                  <a:srgbClr val="000000"/>
                </a:solidFill>
                <a:latin typeface="Arial (Body)"/>
                <a:ea typeface="+mn-ea"/>
                <a:cs typeface="+mn-cs"/>
              </a:rPr>
              <a:t> and </a:t>
            </a:r>
            <a:r>
              <a:rPr lang="en-US" altLang="en-US" sz="2400" kern="1200" dirty="0">
                <a:solidFill>
                  <a:srgbClr val="000000"/>
                </a:solidFill>
                <a:latin typeface="Consolas" panose="020B0609020204030204" pitchFamily="49" charset="0"/>
                <a:ea typeface="+mn-ea"/>
                <a:cs typeface="+mn-cs"/>
              </a:rPr>
              <a:t>second</a:t>
            </a:r>
            <a:r>
              <a:rPr lang="en-US" altLang="en-US" sz="2400" kern="1200" dirty="0">
                <a:solidFill>
                  <a:srgbClr val="000000"/>
                </a:solidFill>
                <a:latin typeface="Arial (Body)"/>
                <a:ea typeface="+mn-ea"/>
                <a:cs typeface="+mn-cs"/>
              </a:rPr>
              <a:t> to 0 (i.e., midnight in universal time).</a:t>
            </a:r>
          </a:p>
          <a:p>
            <a:pPr marL="255651" indent="-255651" eaLnBrk="1" hangingPunct="1">
              <a:tabLst/>
              <a:defRPr/>
            </a:pPr>
            <a:r>
              <a:rPr lang="en-US" altLang="en-US" sz="2400" kern="1200" dirty="0">
                <a:solidFill>
                  <a:srgbClr val="000000"/>
                </a:solidFill>
                <a:latin typeface="Arial (Body)"/>
                <a:ea typeface="+mn-ea"/>
                <a:cs typeface="+mn-cs"/>
              </a:rPr>
              <a:t>Like other functions, constructors can specify </a:t>
            </a:r>
            <a:r>
              <a:rPr lang="en-US" altLang="en-US" sz="2400" b="1" kern="1200" dirty="0">
                <a:solidFill>
                  <a:srgbClr val="000000"/>
                </a:solidFill>
                <a:latin typeface="Arial (Body)"/>
                <a:ea typeface="+mn-ea"/>
                <a:cs typeface="+mn-cs"/>
              </a:rPr>
              <a:t>default arguments.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17.4 </a:t>
            </a:r>
            <a:r>
              <a:rPr lang="en-US" dirty="0">
                <a:latin typeface="Consolas" panose="020B0609020204030204" pitchFamily="49" charset="0"/>
              </a:rPr>
              <a:t>Time</a:t>
            </a:r>
            <a:r>
              <a:rPr lang="en-US" dirty="0"/>
              <a:t> Class Containing a Constructor with Default </a:t>
            </a:r>
            <a:r>
              <a:rPr lang="en-US" dirty="0" smtClean="0"/>
              <a:t>Arguments </a:t>
            </a:r>
            <a:r>
              <a:rPr lang="en-US" sz="2000" b="0" dirty="0" smtClean="0"/>
              <a:t>(1 of 2)</a:t>
            </a:r>
            <a:endParaRPr lang="en-US" sz="2000" b="0" dirty="0"/>
          </a:p>
        </p:txBody>
      </p:sp>
      <p:pic>
        <p:nvPicPr>
          <p:cNvPr id="4" name="Picture 3" descr="The computer code has 34 lines. The lines read as follows. Line 1. forward slash forward slash Fig period 17 period 4 colon Time period h. Line 2. forward slash forward slash Time class containing a constructor with default arguments period. Line 3. forward slash forward slash Member functions defined in Time period c p p period. Line 4. Blank. Line 5. forward slash forward slash prevent multiple inclusions of header. Line 6. hash if n d e f TIME underscore H. Line 7. hash define TIME underscore H. Line 8. Blank. Line 9. forward slash forward slash Time class definition. Line 10. class Time. Line 11. left brace. Line 12. public colon. Line 13, indented once. explicit Time left parenthesis i n t equals 0 comma i n t equals 0 comma i n t equals 0 right parenthesis semicolon forward slash forward slash default constructor. Line 13 is highlighted. Line 14. Blank. Line 15, indented once. forward slash forward slash set functions. Line 16, indented once. void set Time left parenthesis i n t comma i n t comma i n t right parenthesis semicolon forward slash forward slash set hour comma minute comma second. Line 17, indented once. void set Hour left parenthesis i n t right parenthesis semicolon forward slash forward slash set hour left parenthesis after validation right parenthesis. Line 18, indented once. void set Minute left parenthesis i n t right parenthesis semicolon forward slash forward slash set minute left parenthesis after validation right parenthesis. Line 19, indented once. void set Second left parenthesis i n t right parenthesis semicolon forward slash forward slash set second left parenthesis after validation right parenthesis. Line 20. Blank."/>
          <p:cNvPicPr>
            <a:picLocks noChangeAspect="1"/>
          </p:cNvPicPr>
          <p:nvPr/>
        </p:nvPicPr>
        <p:blipFill>
          <a:blip r:embed="rId2"/>
          <a:stretch>
            <a:fillRect/>
          </a:stretch>
        </p:blipFill>
        <p:spPr>
          <a:xfrm>
            <a:off x="625959" y="1693849"/>
            <a:ext cx="7892081" cy="440242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17.4 </a:t>
            </a:r>
            <a:r>
              <a:rPr lang="en-US" dirty="0">
                <a:latin typeface="Consolas" panose="020B0609020204030204" pitchFamily="49" charset="0"/>
              </a:rPr>
              <a:t>Time</a:t>
            </a:r>
            <a:r>
              <a:rPr lang="en-US" dirty="0"/>
              <a:t> Class Containing a Constructor with Default Arguments </a:t>
            </a:r>
            <a:r>
              <a:rPr lang="en-US" sz="2000" b="0" dirty="0" smtClean="0"/>
              <a:t>(2 </a:t>
            </a:r>
            <a:r>
              <a:rPr lang="en-US" sz="2000" b="0" dirty="0"/>
              <a:t>of 2)</a:t>
            </a:r>
            <a:endParaRPr lang="en-US" dirty="0"/>
          </a:p>
        </p:txBody>
      </p:sp>
      <p:pic>
        <p:nvPicPr>
          <p:cNvPr id="4" name="Picture 3" descr="The code continues. Line 21, indented once. forward slash forward slash get functions. Line 22, indented once. unsigned i n t get Hour left parenthesis right parenthesis c o n s t semicolon forward slash forward slash return hour. Line 23, indented once. unsigned i n t get Minute left parenthesis right parenthesis c o n s t semicolon forward slash forward slash return minute. Line 24, indented once. unsigned i n t get Second left parenthesis right parenthesis c o n s t semicolon forward slash forward slash return second. Line 25. Blank. Line 26, indented once. void print Universal left parenthesis right parenthesis c o n s t semicolon forward slash forward slash output time in universal dash time format. Line 27, indented once. void print Standard left parenthesis right parenthesis c o n s t semicolon forward slash forward slash output time in standard dash time format. Line 28. private colon. Line 29, indented once. unsigned i n t hour semicolon forward slash forward slash 0 dash 23 left parenthesis 24 dash hour clock format right parenthesis. Line 30, indented once. unsigned i n t minute semicolon forward slash forward slash 0 dash 59. Line 31, indented once. unsigned i n t second semicolon forward slash forward slash 0 dash 59. Line 32, indented once. right brace semicolon forward slash forward slash end class Time. Line 33. Blank. Line 34. hash end if."/>
          <p:cNvPicPr>
            <a:picLocks noChangeAspect="1"/>
          </p:cNvPicPr>
          <p:nvPr/>
        </p:nvPicPr>
        <p:blipFill>
          <a:blip r:embed="rId2"/>
          <a:stretch>
            <a:fillRect/>
          </a:stretch>
        </p:blipFill>
        <p:spPr>
          <a:xfrm>
            <a:off x="467092" y="1852596"/>
            <a:ext cx="8209817" cy="327609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17.5</a:t>
            </a:r>
            <a:endParaRPr lang="en-US" dirty="0"/>
          </a:p>
        </p:txBody>
      </p:sp>
      <p:sp>
        <p:nvSpPr>
          <p:cNvPr id="3" name="Text Placeholder 2"/>
          <p:cNvSpPr>
            <a:spLocks noGrp="1"/>
          </p:cNvSpPr>
          <p:nvPr>
            <p:ph type="body" idx="1"/>
          </p:nvPr>
        </p:nvSpPr>
        <p:spPr>
          <a:xfrm>
            <a:off x="457200" y="1600201"/>
            <a:ext cx="8229600" cy="1238250"/>
          </a:xfrm>
        </p:spPr>
        <p:txBody>
          <a:bodyPr/>
          <a:lstStyle/>
          <a:p>
            <a:pPr marL="0" indent="0">
              <a:buNone/>
            </a:pPr>
            <a:r>
              <a:rPr lang="en-US" sz="2400" dirty="0">
                <a:latin typeface="Arial Body"/>
              </a:rPr>
              <a:t>Any change to the default argument values of a function requires the client code to be recompiled (to ensure that the program still functions correctly</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17.5 </a:t>
            </a:r>
            <a:r>
              <a:rPr lang="en-US" dirty="0"/>
              <a:t>Member-Function Definitions for Class </a:t>
            </a:r>
            <a:r>
              <a:rPr lang="en-US" dirty="0" smtClean="0">
                <a:latin typeface="Consolas" panose="020B0609020204030204" pitchFamily="49" charset="0"/>
              </a:rPr>
              <a:t>Time</a:t>
            </a:r>
            <a:r>
              <a:rPr lang="en-US" dirty="0" smtClean="0"/>
              <a:t> </a:t>
            </a:r>
            <a:r>
              <a:rPr lang="en-US" sz="2000" b="0" dirty="0" smtClean="0"/>
              <a:t>(1 </a:t>
            </a:r>
            <a:r>
              <a:rPr lang="en-US" sz="2000" b="0" dirty="0"/>
              <a:t>of 4)</a:t>
            </a:r>
          </a:p>
        </p:txBody>
      </p:sp>
      <p:pic>
        <p:nvPicPr>
          <p:cNvPr id="4" name="Picture 3" descr="The computer code has 81 lines. The lines read as follows. Line 1. forward slash forward slash Fig period 17 period 5 colon Time period c p p. Line 2. forward slash forward slash Member dash function definitions for class Time period. Line 3. hash include left angle bracket i o stream right angle bracket. Line 4. hash include left angle bracket i o m a n i p right angle bracket. Line 5. hash include left angle bracket s t d except right angle bracket. Line 6. hash include double quote Time period h double quote forward slash forward slash include definition of class Time from Time period h. Line 7. using namespace s t d semicolon. Line 8. Blank. Line 9. forward slash forward slash Time constructor initializes each data member. Line 10. Time colon colon Time left parenthesis i n t hour comma i n t minute comma i n t second right parenthesis. Line 11. left brace. Line 12. set Time left parenthesis hour comma minute comma second right parenthesis semicolon forward slash forward slash validate and set time. Line 13. right brace forward slash forward slash end Time constructor. Lines 9 to 13 are highlighted. Line 14. Blank. Line 15. forward slash forward slash set new Time value using universal time. Line 16. void Time colon colon set Time left parenthesis i n t h comma i n t m comma i n t s right parenthesis. Line 17. left brace. Line 18, indented once. set Hour left parenthesis h right parenthesis semicolon forward slash forward slash set private field hour. Line 19, indented once. set Minute left parenthesis m right parenthesis semicolon forward slash forward slash set private field minute. Line 20, indented once. set Second left parenthesis s right parenthesis semicolon forward slash forward slash set private field second. Line 21. right brace forward slash forward slash end function set Time. Line 22. Blank."/>
          <p:cNvPicPr>
            <a:picLocks noChangeAspect="1"/>
          </p:cNvPicPr>
          <p:nvPr/>
        </p:nvPicPr>
        <p:blipFill>
          <a:blip r:embed="rId2"/>
          <a:stretch>
            <a:fillRect/>
          </a:stretch>
        </p:blipFill>
        <p:spPr>
          <a:xfrm>
            <a:off x="688487" y="1544196"/>
            <a:ext cx="7767025" cy="4653179"/>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17.5 </a:t>
            </a:r>
            <a:r>
              <a:rPr lang="en-US" dirty="0"/>
              <a:t>Member-Function Definitions for Class </a:t>
            </a:r>
            <a:r>
              <a:rPr lang="en-US" dirty="0">
                <a:latin typeface="Consolas" panose="020B0609020204030204" pitchFamily="49" charset="0"/>
              </a:rPr>
              <a:t>Time</a:t>
            </a:r>
            <a:r>
              <a:rPr lang="en-US" dirty="0"/>
              <a:t> </a:t>
            </a:r>
            <a:r>
              <a:rPr lang="en-US" sz="2000" b="0" dirty="0" smtClean="0"/>
              <a:t>(2 </a:t>
            </a:r>
            <a:r>
              <a:rPr lang="en-US" sz="2000" b="0" dirty="0"/>
              <a:t>of 4)</a:t>
            </a:r>
            <a:endParaRPr lang="en-US" b="0" dirty="0"/>
          </a:p>
        </p:txBody>
      </p:sp>
      <p:pic>
        <p:nvPicPr>
          <p:cNvPr id="3" name="Picture 2" descr="The code continues. Line 23. forward slash forward slash set hour value. Line 24. void Time colon colon set Hour left parenthesis i nt h right parenthesis. Line 25. left brace. Line 26, indented once. if left parenthesis h greater than sign equals 0 ampersand ampersand h less than sign 24 right parenthesis. Line 27, indented twice. hour equals h semicolon. Line 28, indented once. else. Line 29, indented twice. throw invalid underscore argument left parenthesis double quote hour must be 0 dash 23 double quote right parenthesis semicolon. Line 30. right brace forward slash forward slash end function set Hour. Line 31. Blank. Line 32. forward slash forward slash set minute value. Line 33. void Time colon colon set Minute left parenthesis i n t, m right parenthesis. Line 34. left brace. Line 35, indented once. if left parenthesis m greater than sign equals 0 ampersand ampersand m less than sign 60 right parenthesis. Line 36, indented twice. minute equals m semicolon. Line 37, indented once. else. Line 38, indented twice. throw invalid underscore argument left parenthesis double quote minute must be 0 dash 59 double quote right parenthesis semicolon. Line 39. right brace forward slash forward slash end function set Minute. Line 40. Blank."/>
          <p:cNvPicPr>
            <a:picLocks noChangeAspect="1"/>
          </p:cNvPicPr>
          <p:nvPr/>
        </p:nvPicPr>
        <p:blipFill>
          <a:blip r:embed="rId2"/>
          <a:stretch>
            <a:fillRect/>
          </a:stretch>
        </p:blipFill>
        <p:spPr>
          <a:xfrm>
            <a:off x="705435" y="1807475"/>
            <a:ext cx="7733131" cy="430817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17.5 </a:t>
            </a:r>
            <a:r>
              <a:rPr lang="en-US" dirty="0"/>
              <a:t>Member-Function Definitions for Class </a:t>
            </a:r>
            <a:r>
              <a:rPr lang="en-US" dirty="0">
                <a:latin typeface="Consolas" panose="020B0609020204030204" pitchFamily="49" charset="0"/>
              </a:rPr>
              <a:t>Time</a:t>
            </a:r>
            <a:r>
              <a:rPr lang="en-US" dirty="0"/>
              <a:t> </a:t>
            </a:r>
            <a:r>
              <a:rPr lang="en-US" sz="2000" b="0" dirty="0" smtClean="0"/>
              <a:t>(3 </a:t>
            </a:r>
            <a:r>
              <a:rPr lang="en-US" sz="2000" b="0" dirty="0"/>
              <a:t>of 4)</a:t>
            </a:r>
            <a:endParaRPr lang="en-US" b="0" dirty="0"/>
          </a:p>
        </p:txBody>
      </p:sp>
      <p:pic>
        <p:nvPicPr>
          <p:cNvPr id="4" name="Picture 3" descr="The code continues. Line 41. forward slash forward slash set second value. Line 42. void Time colon colon set Second left parenthesis i n t s right parenthesis. Line 43. left brace. Line 44, indented once. if left parenthesis s greater than sign equals 0 ampersand ampersand s less than sign 60 right parenthesis. Line 45, indented twice. second equals s semicolon. Line 46, indented once. else. Line 47, indented twice. throw invalid underscore argument left parenthesis double quote second must be 0 dash 59 double quote right parenthesis semicolon. Line 48. right brace forward slash forward slash end function set Second. Line 49. Blank. Line 50. forward slash forward slash return hour value. Line 51. unsigned i n t Time colon colon get Hour left parenthesis right parenthesis c o n s t. Line 52. left brace. Line 53, indented once. return hour semicolon. Line 54. right brace forward slash forward slash end function get Hour. Line 55. Blank. Line 56. forward slash forward slash return minute value. Line 57. unsigned Time colon colon get Minute left parenthesis right parenthesis c o n s t. Line 58. left brace. Line 59, indented once. return minute semicolon. Line 60. right brace forward slash forward slash end function get Minute. Line 61. Blank."/>
          <p:cNvPicPr>
            <a:picLocks noChangeAspect="1"/>
          </p:cNvPicPr>
          <p:nvPr/>
        </p:nvPicPr>
        <p:blipFill>
          <a:blip r:embed="rId2"/>
          <a:stretch>
            <a:fillRect/>
          </a:stretch>
        </p:blipFill>
        <p:spPr>
          <a:xfrm>
            <a:off x="530031" y="1503783"/>
            <a:ext cx="8083938" cy="469448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17.5 </a:t>
            </a:r>
            <a:r>
              <a:rPr lang="en-US" dirty="0"/>
              <a:t>Member-Function Definitions for Class </a:t>
            </a:r>
            <a:r>
              <a:rPr lang="en-US" dirty="0">
                <a:latin typeface="Consolas" panose="020B0609020204030204" pitchFamily="49" charset="0"/>
              </a:rPr>
              <a:t>Time</a:t>
            </a:r>
            <a:r>
              <a:rPr lang="en-US" dirty="0"/>
              <a:t> </a:t>
            </a:r>
            <a:r>
              <a:rPr lang="en-US" sz="2000" b="0" dirty="0" smtClean="0"/>
              <a:t>(4 </a:t>
            </a:r>
            <a:r>
              <a:rPr lang="en-US" sz="2000" b="0" dirty="0"/>
              <a:t>of 4)</a:t>
            </a:r>
            <a:endParaRPr lang="en-US" b="0" dirty="0"/>
          </a:p>
        </p:txBody>
      </p:sp>
      <p:pic>
        <p:nvPicPr>
          <p:cNvPr id="4" name="Picture 3" descr="The code continues. Line 62. forward slash forward slash return second value. Line 63. unsigned Time colon colon get Second left parenthesis right parenthesis c o n s t. Line 64. left brace. Line 65, indented once. return second semicolon. Line 66. right brace forward slash forward slash end function get Second. Line 67. Blank. Line 68. forward slash forward slash print Time in universal dash time format left parenthesis HH colon MM colon SS right parenthesis. Line 69. void Time colon colon print Universal left parenthesis right parenthesis c o n s t. Line 70. left brace. Line 71, indented once. c out left angle bracket left angle bracket set fill left parenthesis single quote 0 single quote right parenthesis left angle bracket left angle bracket set w left parenthesis 2 right parenthesis left angle bracket left angle bracket get Hour left parenthesis right parenthesis left angle bracket left angle bracket double quote colon double quote. Line 72, indented twice. left angle bracket left angle bracket set w left parenthesis 2 right parenthesis left angle bracket left angle bracket get Minute left parenthesis right parenthesis left angle bracket left angle bracket double quote colon double quote left angle bracket left angle bracket set w left parenthesis 2 right parenthesis left angle bracket left angle bracket get Second left parenthesis right parenthesis semicolon. Line 73. right brace forward slash forward slash end function print Universal. Line 74. Blank. Line 75. forward slash forward slash print Time in standard dash time format left parenthesis HH colon MM colon SS AM or PM right parenthesis. Line 76. void Time colon colon print Standard left parenthesis right parenthesis c o n s t. Line 77. left brace. Line 78, indented once. c out left angle bracket left angle bracket left parenthesis left parenthesis get Hour left parenthesis right parenthesis equals equals 0 double pipe get Hour left parenthesis right parenthesis equals equals 12 right parenthesis question mark 12 colon get Hour left parenthesis right parenthesis percent sign 12 right parenthesis. Line 79, indented twice. left angle bracket left angle bracket double quote colon double quote left angle bracket left angle bracket set fill left parenthesis single quote 0 single quote right parenthesis left angle bracket left angle bracket set w left parenthesis 2 right parenthesis left angle bracket left angle bracket get Minute left parenthesis right parenthesis. Line 80, indented twice. left angle bracket left angle bracket double quote colon double quote left angle bracket left angle bracket set w left parenthesis 2 right parenthesis left angle bracket left angle bracket get Second left parenthesis right parenthesis left angle bracket left angle bracket left parenthesis hour left angle bracket 12 question mark double quote AM double quote colon double quote PM double quote right parenthesis semicolon. Line 81. right brace forward slash forward slash end function print Standard."/>
          <p:cNvPicPr>
            <a:picLocks noChangeAspect="1"/>
          </p:cNvPicPr>
          <p:nvPr/>
        </p:nvPicPr>
        <p:blipFill>
          <a:blip r:embed="rId2"/>
          <a:stretch>
            <a:fillRect/>
          </a:stretch>
        </p:blipFill>
        <p:spPr>
          <a:xfrm>
            <a:off x="543625" y="1638154"/>
            <a:ext cx="8056750" cy="4486043"/>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17.6 </a:t>
            </a:r>
            <a:r>
              <a:rPr lang="en-US" dirty="0"/>
              <a:t>Constructor with Default Arguments </a:t>
            </a:r>
            <a:r>
              <a:rPr lang="en-US" sz="2000" b="0" dirty="0" smtClean="0"/>
              <a:t>(1 </a:t>
            </a:r>
            <a:r>
              <a:rPr lang="en-US" sz="2000" b="0" dirty="0"/>
              <a:t>of </a:t>
            </a:r>
            <a:r>
              <a:rPr lang="en-US" sz="2000" b="0" dirty="0" smtClean="0"/>
              <a:t>3)</a:t>
            </a:r>
            <a:endParaRPr lang="en-US" sz="2000" b="0" dirty="0"/>
          </a:p>
        </p:txBody>
      </p:sp>
      <p:pic>
        <p:nvPicPr>
          <p:cNvPr id="4" name="Picture 3" descr="The computer code has 44 lines. The lines read as follows. Line 1. forward slash forward slash F i g period 17 period 6 colon f i g 17 underscore 06 period c p p. Line 2. forward slash forward slash Constructor with default arguments period. Line 3. hash include left angle bracket i o stream right angle bracket. Line 4. hash include left angle bracket s t d except right angle bracket. Line 5. hash include double quote Time period h double quote forward slash forward slash include definition of class Time from Time period h. Line 6. using namespace s t d semicolon. Line 7. Blank. Line 8. i n t main left parenthesis right parenthesis. Line 9. left brace. Line 10, indented once. Time t 1 semicolon forward slash forward slash all arguments defaulted. Line 11, indented once. Time t 2 left parenthesis 2 right parenthesis semicolon forward slash forward slash hour specified semicolon minute and second defaulted. Line 12, indented once. Time t 3 left parenthesis 21 comma 34 right parenthesis semicolon forward slash forward slash hour and minute specified semicolon second defaulted. Lines 10, 11, 12, and 13 are highlighted. Line 13, indented once. Time t 4 left parenthesis 12 comma 25 comma 42 right parenthesis semicolon forward slash forward slash hour comma minute and second specified. Line 14. Blank. Line 15, indented once. c out left angle bracket left angle bracket double quote Constructed with colon back slash n back slash n t 1 colon all arguments defaulted back slash n double quote semicolon. Line 16, indented once. t 1 period print Universal left parenthesis right parenthesis semicolon forward slash forward slash 00 colon 00 colon 00. Line 17, indented once. c out left angle bracket left angle bracket double quote back slash n double quote semicolon. Line 18, indented once. t 1 period print Standard left parenthesis right parenthesis semicolon forward slash forward slash 12 colon 00 colon 00 AM. Line 19. Blank. Line 20, indented once. c out left angle bracket left angle bracket double quote back slash n back slash n t 2 colon hour specified semicolon minute and second defaulted back slash n double quote semicolon. Line 21, indented once. t 2 period print Universal left parenthesis right parenthesis semicolon forward slash forward slash 02 colon 00 colon 00. Line 22, indented once. c out left angle bracket left angle bracket double quote back slash n double quote semicolon. Line 23, indented once. t 2 period print Standard left parenthesis right parenthesis semicolon forward slash forward slash 2 colon 00 colon 00 AM. Line 24. Blank."/>
          <p:cNvPicPr>
            <a:picLocks noChangeAspect="1"/>
          </p:cNvPicPr>
          <p:nvPr/>
        </p:nvPicPr>
        <p:blipFill>
          <a:blip r:embed="rId2"/>
          <a:stretch>
            <a:fillRect/>
          </a:stretch>
        </p:blipFill>
        <p:spPr>
          <a:xfrm>
            <a:off x="847264" y="1490549"/>
            <a:ext cx="7449470" cy="4781251"/>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17.6 </a:t>
            </a:r>
            <a:r>
              <a:rPr lang="en-US" dirty="0"/>
              <a:t>Constructor with Default </a:t>
            </a:r>
            <a:r>
              <a:rPr lang="en-US" dirty="0" smtClean="0"/>
              <a:t>Arguments </a:t>
            </a:r>
            <a:r>
              <a:rPr lang="en-US" sz="2000" b="0" dirty="0" smtClean="0"/>
              <a:t>(2 </a:t>
            </a:r>
            <a:r>
              <a:rPr lang="en-US" sz="2000" b="0" dirty="0"/>
              <a:t>of 3)</a:t>
            </a:r>
            <a:endParaRPr lang="en-US" dirty="0"/>
          </a:p>
        </p:txBody>
      </p:sp>
      <p:pic>
        <p:nvPicPr>
          <p:cNvPr id="4" name="Picture 3" descr="The code continues. Line 25, indented once. c out left angle bracket left angle bracket double quote back slash n back slash n t 3 colon hour and minute specified semicolon second defaulted back slash n double quote semicolon. Line 26, indented once. t 3 period print Universal left parenthesis right parenthesis semicolon forward slash forward slash 21 colon 34 colon 00. Line 27, indented once. c out left angle bracket left angle bracket double quote back slash n double quote semicolon. Line 28, indented once. t 3 period print Standard left parenthesis right parenthesis semicolon forward slash forward slash 9 colon 34 colon 00 PM. Line 29. Blank. Line 30, indented once. c out left angle bracket left angle bracket double quote back slash n back slash n t 4 colon hour comma minute and second specified back slash n double quote semicolon. Line 31, indented once. t 4 period print Universal left parenthesis right parenthesis semicolon forward slash forward slash 12 colon 25 colon 42. Line 32, indented once. c out left angle bracket left angle bracket double quote back slash n double quote semicolon. Line 33, indented once. t 4 period print Standard left parenthesis right parenthesis semicolon forward slash forward slash 12 colon 25 colon 42 PM. Line 34. Blank. Line 35, indented once. forward slash forward slash attempt to initialize t 6 with invalid values. Line 36, indented once. try. Line 37, indented once. left brace. Line 38, indented twice. Time t 5 left parenthesis 27 comma 74 comma 99 right parenthesis semicolon forward slash forward slash all bad values specified. Line 38 is highlighted. Line 39, indented once. right brace forward slash forward slash end try. Line 40, indented once. catch left parenthesis invalid underscore argument ampersand e right parenthesis. Line 41, indented once. left brace. Line 42, indented twice. c e r r left angle bracket left angle bracket double quote back slash n back slash n Exception while initializing t 5 colon double quote left angle bracket left angle bracket e period what left parenthesis right parenthesis left angle bracket left angle bracket end l semicolon. Line 43, indented once. right brace forward slash forward slash end catch. Line 44. right brace forward slash forward slash end main."/>
          <p:cNvPicPr>
            <a:picLocks noChangeAspect="1"/>
          </p:cNvPicPr>
          <p:nvPr/>
        </p:nvPicPr>
        <p:blipFill>
          <a:blip r:embed="rId2"/>
          <a:stretch>
            <a:fillRect/>
          </a:stretch>
        </p:blipFill>
        <p:spPr>
          <a:xfrm>
            <a:off x="574536" y="1559750"/>
            <a:ext cx="7994926" cy="451341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17.6 </a:t>
            </a:r>
            <a:r>
              <a:rPr lang="en-US" dirty="0"/>
              <a:t>Constructor with Default Arguments </a:t>
            </a:r>
            <a:r>
              <a:rPr lang="en-US" sz="2000" b="0" dirty="0" smtClean="0"/>
              <a:t>(3 </a:t>
            </a:r>
            <a:r>
              <a:rPr lang="en-US" sz="2000" b="0" dirty="0"/>
              <a:t>of 3)</a:t>
            </a:r>
            <a:endParaRPr lang="en-US" dirty="0"/>
          </a:p>
        </p:txBody>
      </p:sp>
      <p:pic>
        <p:nvPicPr>
          <p:cNvPr id="4" name="Picture 1" descr="The code output has 14 lines. The lines read as follows. Line 1. Constructed with colon. Line 2. T 1 colon all arguments defaulted. Line 3. 00 colon 00 colon00. Line 4. 12 colon 00 colon 00 A M. Line 5. T 2 colon hour specified semicolon minute and second defaulted. Line 6. 02 colon 00 colon 00. Line 7.2 colon 00 colon 00 A M. Line 8. T 3 colon hour and minute specified semicolon second defaulted. Line 9. 21 colon 34 colon 00. Line 10. 9 colon 34 colon 00 P M. Line 11. T 4 colon hour comma minute and second specified. Line 12. 12 colon 25 colon 42. Line 13. 12 colon 25 colon 42 P M. Line 14. Exception while initializing t 5 colon hour must be 0 dash 23. "/>
          <p:cNvPicPr>
            <a:picLocks noGrp="1" noChangeAspect="1"/>
          </p:cNvPicPr>
          <p:nvPr isPhoto="1"/>
        </p:nvPicPr>
        <p:blipFill rotWithShape="1">
          <a:blip r:embed="rId2">
            <a:extLst>
              <a:ext uri="{28A0092B-C50C-407E-A947-70E740481C1C}">
                <a14:useLocalDpi xmlns:a14="http://schemas.microsoft.com/office/drawing/2010/main" val="0"/>
              </a:ext>
            </a:extLst>
          </a:blip>
          <a:srcRect l="10521" t="4289" r="9896" b="33428"/>
          <a:stretch/>
        </p:blipFill>
        <p:spPr bwMode="auto">
          <a:xfrm>
            <a:off x="569595" y="1913096"/>
            <a:ext cx="8004810" cy="3803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17.5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 </a:t>
            </a:r>
            <a:r>
              <a:rPr lang="en-US" altLang="en-US" sz="2000" b="0" kern="1200" dirty="0" smtClean="0">
                <a:latin typeface="Times New Roman" panose="02020603050405020304" pitchFamily="18" charset="0"/>
                <a:ea typeface="+mj-ea"/>
                <a:cs typeface="+mj-cs"/>
              </a:rPr>
              <a:t>(2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078009"/>
          </a:xfrm>
        </p:spPr>
        <p:txBody>
          <a:bodyPr>
            <a:spAutoFit/>
          </a:bodyPr>
          <a:lstStyle/>
          <a:p>
            <a:pPr marL="0" indent="0" eaLnBrk="1" hangingPunct="1">
              <a:buNone/>
              <a:tabLst/>
              <a:defRPr/>
            </a:pPr>
            <a:r>
              <a:rPr lang="en-US" sz="1800" b="1" kern="1200" dirty="0" smtClean="0">
                <a:solidFill>
                  <a:srgbClr val="000000"/>
                </a:solidFill>
                <a:latin typeface="Arial (Body)"/>
                <a:ea typeface="+mn-ea"/>
                <a:cs typeface="Times New Roman" pitchFamily="18" charset="0"/>
              </a:rPr>
              <a:t>Notes Regarding Class Time’s Set and Get Functions and Constructor</a:t>
            </a:r>
          </a:p>
          <a:p>
            <a:pPr marL="255651" indent="-255651" eaLnBrk="1" hangingPunct="1">
              <a:tabLst/>
              <a:defRPr/>
            </a:pPr>
            <a:r>
              <a:rPr lang="en-US" sz="1800" kern="1200" dirty="0" smtClean="0">
                <a:solidFill>
                  <a:srgbClr val="000000"/>
                </a:solidFill>
                <a:latin typeface="Consolas" panose="020B0609020204030204" pitchFamily="49" charset="0"/>
                <a:ea typeface="+mn-ea"/>
                <a:cs typeface="+mn-cs"/>
              </a:rPr>
              <a:t>Time’s</a:t>
            </a:r>
            <a:r>
              <a:rPr lang="en-US" sz="1800" kern="1200" dirty="0" smtClean="0">
                <a:solidFill>
                  <a:srgbClr val="000000"/>
                </a:solidFill>
                <a:latin typeface="Arial (Body)"/>
                <a:ea typeface="+mn-ea"/>
                <a:cs typeface="+mn-cs"/>
              </a:rPr>
              <a:t> </a:t>
            </a:r>
            <a:r>
              <a:rPr lang="en-US" sz="1800" b="1" kern="1200" dirty="0" smtClean="0">
                <a:solidFill>
                  <a:srgbClr val="000000"/>
                </a:solidFill>
                <a:latin typeface="Arial (Body)"/>
                <a:ea typeface="+mn-ea"/>
                <a:cs typeface="+mn-cs"/>
              </a:rPr>
              <a:t>set </a:t>
            </a:r>
            <a:r>
              <a:rPr lang="en-US" sz="1800" kern="1200" dirty="0" smtClean="0">
                <a:solidFill>
                  <a:srgbClr val="000000"/>
                </a:solidFill>
                <a:latin typeface="Arial (Body)"/>
                <a:ea typeface="+mn-ea"/>
                <a:cs typeface="+mn-cs"/>
              </a:rPr>
              <a:t>and</a:t>
            </a:r>
            <a:r>
              <a:rPr lang="en-US" sz="1800" i="1" kern="1200" dirty="0" smtClean="0">
                <a:solidFill>
                  <a:srgbClr val="000000"/>
                </a:solidFill>
                <a:latin typeface="Arial (Body)"/>
                <a:ea typeface="+mn-ea"/>
                <a:cs typeface="+mn-cs"/>
              </a:rPr>
              <a:t> </a:t>
            </a:r>
            <a:r>
              <a:rPr lang="en-US" sz="1800" b="1" kern="1200" dirty="0" smtClean="0">
                <a:solidFill>
                  <a:srgbClr val="000000"/>
                </a:solidFill>
                <a:latin typeface="Arial (Body)"/>
                <a:ea typeface="+mn-ea"/>
                <a:cs typeface="+mn-cs"/>
              </a:rPr>
              <a:t>get </a:t>
            </a:r>
            <a:r>
              <a:rPr lang="en-US" sz="1800" kern="1200" dirty="0" smtClean="0">
                <a:solidFill>
                  <a:srgbClr val="000000"/>
                </a:solidFill>
                <a:latin typeface="Arial (Body)"/>
                <a:ea typeface="+mn-ea"/>
                <a:cs typeface="+mn-cs"/>
              </a:rPr>
              <a:t>functions are called throughout the class’s body.</a:t>
            </a:r>
          </a:p>
          <a:p>
            <a:pPr marL="255651" indent="-255651" eaLnBrk="1" hangingPunct="1">
              <a:tabLst/>
              <a:defRPr/>
            </a:pPr>
            <a:r>
              <a:rPr lang="en-US" sz="1800" kern="1200" dirty="0" smtClean="0">
                <a:solidFill>
                  <a:srgbClr val="000000"/>
                </a:solidFill>
                <a:latin typeface="Arial (Body)"/>
                <a:ea typeface="+mn-ea"/>
                <a:cs typeface="+mn-cs"/>
              </a:rPr>
              <a:t>In each case, these functions could have accessed the class’s </a:t>
            </a:r>
            <a:r>
              <a:rPr lang="en-US" sz="1800" kern="1200" dirty="0" smtClean="0">
                <a:solidFill>
                  <a:srgbClr val="000000"/>
                </a:solidFill>
                <a:latin typeface="Consolas" panose="020B0609020204030204" pitchFamily="49" charset="0"/>
                <a:ea typeface="+mn-ea"/>
                <a:cs typeface="+mn-cs"/>
              </a:rPr>
              <a:t>private</a:t>
            </a:r>
            <a:r>
              <a:rPr lang="en-US" sz="1800" kern="1200" dirty="0" smtClean="0">
                <a:solidFill>
                  <a:srgbClr val="000000"/>
                </a:solidFill>
                <a:latin typeface="Arial (Body)"/>
                <a:ea typeface="+mn-ea"/>
                <a:cs typeface="+mn-cs"/>
              </a:rPr>
              <a:t> data directly.</a:t>
            </a:r>
          </a:p>
          <a:p>
            <a:pPr marL="255651" indent="-255651" eaLnBrk="1" hangingPunct="1">
              <a:tabLst/>
              <a:defRPr/>
            </a:pPr>
            <a:r>
              <a:rPr lang="en-US" sz="1800" kern="1200" dirty="0" smtClean="0">
                <a:solidFill>
                  <a:srgbClr val="000000"/>
                </a:solidFill>
                <a:latin typeface="Arial (Body)"/>
                <a:ea typeface="+mn-ea"/>
                <a:cs typeface="+mn-cs"/>
              </a:rPr>
              <a:t>Consider changing the representation of the time from three </a:t>
            </a:r>
            <a:r>
              <a:rPr lang="en-US" sz="1800" kern="1200" dirty="0" smtClean="0">
                <a:solidFill>
                  <a:srgbClr val="000000"/>
                </a:solidFill>
                <a:latin typeface="Consolas" panose="020B0609020204030204" pitchFamily="49" charset="0"/>
                <a:ea typeface="+mn-ea"/>
                <a:cs typeface="+mn-cs"/>
              </a:rPr>
              <a:t>int</a:t>
            </a:r>
            <a:r>
              <a:rPr lang="en-US" sz="1800" kern="1200" dirty="0" smtClean="0">
                <a:solidFill>
                  <a:srgbClr val="000000"/>
                </a:solidFill>
                <a:latin typeface="Arial (Body)"/>
                <a:ea typeface="+mn-ea"/>
                <a:cs typeface="+mn-cs"/>
              </a:rPr>
              <a:t> values (requiring 12 bytes of memory on systems with four-byte </a:t>
            </a:r>
            <a:r>
              <a:rPr lang="en-US" sz="1800" kern="1200" dirty="0" smtClean="0">
                <a:solidFill>
                  <a:srgbClr val="000000"/>
                </a:solidFill>
                <a:latin typeface="Consolas" panose="020B0609020204030204" pitchFamily="49" charset="0"/>
                <a:ea typeface="+mn-ea"/>
                <a:cs typeface="+mn-cs"/>
              </a:rPr>
              <a:t>ints</a:t>
            </a:r>
            <a:r>
              <a:rPr lang="en-US" sz="1800" kern="1200" dirty="0" smtClean="0">
                <a:solidFill>
                  <a:srgbClr val="000000"/>
                </a:solidFill>
                <a:latin typeface="Arial (Body)"/>
                <a:ea typeface="+mn-ea"/>
                <a:cs typeface="+mn-cs"/>
              </a:rPr>
              <a:t>) to a single </a:t>
            </a:r>
            <a:r>
              <a:rPr lang="en-US" sz="1800" kern="1200" dirty="0" smtClean="0">
                <a:solidFill>
                  <a:srgbClr val="000000"/>
                </a:solidFill>
                <a:latin typeface="Consolas" panose="020B0609020204030204" pitchFamily="49" charset="0"/>
                <a:ea typeface="+mn-ea"/>
                <a:cs typeface="+mn-cs"/>
              </a:rPr>
              <a:t>int</a:t>
            </a:r>
            <a:r>
              <a:rPr lang="en-US" sz="1800" kern="1200" dirty="0" smtClean="0">
                <a:solidFill>
                  <a:srgbClr val="000000"/>
                </a:solidFill>
                <a:latin typeface="Arial (Body)"/>
                <a:ea typeface="+mn-ea"/>
                <a:cs typeface="+mn-cs"/>
              </a:rPr>
              <a:t> value representing the total number of seconds that have elapsed since midnight (requiring only four bytes of memory).</a:t>
            </a:r>
          </a:p>
          <a:p>
            <a:pPr marL="255651" indent="-255651" eaLnBrk="1" hangingPunct="1">
              <a:tabLst/>
              <a:defRPr/>
            </a:pPr>
            <a:r>
              <a:rPr lang="en-US" sz="1800" kern="1200" dirty="0" smtClean="0">
                <a:solidFill>
                  <a:srgbClr val="000000"/>
                </a:solidFill>
                <a:latin typeface="Arial (Body)"/>
                <a:ea typeface="+mn-ea"/>
                <a:cs typeface="+mn-cs"/>
              </a:rPr>
              <a:t>If we made such a change, only the bodies of the functions that access the </a:t>
            </a:r>
            <a:r>
              <a:rPr lang="en-US" sz="1800" kern="1200" dirty="0" smtClean="0">
                <a:solidFill>
                  <a:srgbClr val="000000"/>
                </a:solidFill>
                <a:latin typeface="Consolas" panose="020B0609020204030204" pitchFamily="49" charset="0"/>
                <a:ea typeface="+mn-ea"/>
                <a:cs typeface="+mn-cs"/>
              </a:rPr>
              <a:t>private</a:t>
            </a:r>
            <a:r>
              <a:rPr lang="en-US" sz="1800" kern="1200" dirty="0" smtClean="0">
                <a:solidFill>
                  <a:srgbClr val="000000"/>
                </a:solidFill>
                <a:latin typeface="Arial (Body)"/>
                <a:ea typeface="+mn-ea"/>
                <a:cs typeface="+mn-cs"/>
              </a:rPr>
              <a:t> data directly would need to change.</a:t>
            </a:r>
          </a:p>
          <a:p>
            <a:pPr marL="741553" lvl="1" indent="-284353" eaLnBrk="1" hangingPunct="1">
              <a:buFont typeface="Arial" panose="020B0604020202020204" pitchFamily="34" charset="0"/>
              <a:buChar char="–"/>
              <a:defRPr/>
            </a:pPr>
            <a:r>
              <a:rPr lang="en-US" sz="1800" kern="1200" dirty="0" smtClean="0">
                <a:solidFill>
                  <a:srgbClr val="000000"/>
                </a:solidFill>
                <a:latin typeface="Arial (Body)"/>
                <a:ea typeface="+mn-ea"/>
                <a:cs typeface="+mn-cs"/>
              </a:rPr>
              <a:t>No need to modify the bodies of the other functions.</a:t>
            </a:r>
            <a:endParaRPr lang="en-US" sz="18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17.5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 </a:t>
            </a:r>
            <a:r>
              <a:rPr lang="en-US" altLang="en-US" sz="2000" b="0" kern="1200" dirty="0" smtClean="0">
                <a:latin typeface="Times New Roman" panose="02020603050405020304" pitchFamily="18" charset="0"/>
                <a:ea typeface="+mj-ea"/>
                <a:cs typeface="+mj-cs"/>
              </a:rPr>
              <a:t>(3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92388"/>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Designing the class in this manner reduces the likelihood of programming errors when altering the class’s implementation.</a:t>
            </a:r>
          </a:p>
          <a:p>
            <a:pPr marL="255651" indent="-255651" eaLnBrk="1" hangingPunct="1">
              <a:tabLst/>
              <a:defRPr/>
            </a:pPr>
            <a:r>
              <a:rPr lang="en-US" altLang="en-US" sz="2400" kern="1200" dirty="0">
                <a:solidFill>
                  <a:srgbClr val="000000"/>
                </a:solidFill>
                <a:latin typeface="Arial (Body)"/>
                <a:ea typeface="+mn-ea"/>
                <a:cs typeface="+mn-cs"/>
              </a:rPr>
              <a:t>Duplicating statements in multiple functions or constructors makes changing the class’s internal data representation more difficult.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Software Engineering Observation </a:t>
            </a:r>
            <a:r>
              <a:rPr lang="en-US" dirty="0" smtClean="0"/>
              <a:t>17.6</a:t>
            </a:r>
            <a:endParaRPr lang="en-US" dirty="0"/>
          </a:p>
        </p:txBody>
      </p:sp>
      <p:sp>
        <p:nvSpPr>
          <p:cNvPr id="5" name="Text Placeholder 4"/>
          <p:cNvSpPr>
            <a:spLocks noGrp="1"/>
          </p:cNvSpPr>
          <p:nvPr>
            <p:ph type="body" idx="1"/>
          </p:nvPr>
        </p:nvSpPr>
        <p:spPr>
          <a:xfrm>
            <a:off x="457200" y="1600201"/>
            <a:ext cx="8229600" cy="2647950"/>
          </a:xfrm>
        </p:spPr>
        <p:txBody>
          <a:bodyPr/>
          <a:lstStyle/>
          <a:p>
            <a:pPr marL="0" indent="0">
              <a:buNone/>
            </a:pPr>
            <a:r>
              <a:rPr lang="en-US" sz="2400" dirty="0">
                <a:latin typeface="Arial Body"/>
              </a:rPr>
              <a:t>If a member function of a class already provides all or part of the functionality required by a constructor (or other member function) of the class, call that member function from the constructor (or other member function). This simplifies the maintenance of the code and reduces the likelihood of an error if the implementation of the code is modified. As a general rule: Avoid repeating code.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17.1</a:t>
            </a:r>
            <a:endParaRPr lang="en-US" dirty="0"/>
          </a:p>
        </p:txBody>
      </p:sp>
      <p:sp>
        <p:nvSpPr>
          <p:cNvPr id="3" name="Text Placeholder 2"/>
          <p:cNvSpPr>
            <a:spLocks noGrp="1"/>
          </p:cNvSpPr>
          <p:nvPr>
            <p:ph type="body" idx="1"/>
          </p:nvPr>
        </p:nvSpPr>
        <p:spPr>
          <a:xfrm>
            <a:off x="457200" y="1600201"/>
            <a:ext cx="8229600" cy="1981200"/>
          </a:xfrm>
        </p:spPr>
        <p:txBody>
          <a:bodyPr/>
          <a:lstStyle/>
          <a:p>
            <a:pPr marL="0" indent="0">
              <a:buNone/>
            </a:pPr>
            <a:r>
              <a:rPr lang="en-US" sz="2400" dirty="0">
                <a:latin typeface="Arial Body"/>
              </a:rPr>
              <a:t>A constructor can call other member functions of the class, such as set or get functions, but because the constructor is initializing the object, the data members may not yet be initialized. Using data members before they have been properly initialized can cause logic errors.</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ltLang="en-US" sz="3400" b="1" kern="1200" dirty="0">
                <a:solidFill>
                  <a:schemeClr val="tx2"/>
                </a:solidFill>
                <a:latin typeface="Times New Roman" panose="02020603050405020304" pitchFamily="18" charset="0"/>
                <a:cs typeface="Times New Roman" panose="02020603050405020304" pitchFamily="18" charset="0"/>
              </a:rPr>
              <a:t>17.5 Time Class Case Study: Constructors with Default Arguments </a:t>
            </a:r>
            <a:r>
              <a:rPr lang="en-US" altLang="en-US" sz="2000" kern="1200" dirty="0" smtClean="0">
                <a:solidFill>
                  <a:schemeClr val="tx2"/>
                </a:solidFill>
                <a:latin typeface="Times New Roman" panose="02020603050405020304" pitchFamily="18" charset="0"/>
                <a:cs typeface="Times New Roman" panose="02020603050405020304" pitchFamily="18" charset="0"/>
              </a:rPr>
              <a:t>(4 </a:t>
            </a:r>
            <a:r>
              <a:rPr lang="en-US" altLang="en-US" sz="2000" kern="1200" dirty="0">
                <a:solidFill>
                  <a:schemeClr val="tx2"/>
                </a:solidFill>
                <a:latin typeface="Times New Roman" panose="02020603050405020304" pitchFamily="18" charset="0"/>
                <a:cs typeface="Times New Roman" panose="02020603050405020304" pitchFamily="18" charset="0"/>
              </a:rPr>
              <a:t>of 6)</a:t>
            </a:r>
            <a:endParaRPr lang="en-US" sz="2000" dirty="0">
              <a:solidFill>
                <a:schemeClr val="tx2"/>
              </a:solidFill>
              <a:latin typeface="Times New Roman" panose="02020603050405020304" pitchFamily="18" charset="0"/>
              <a:cs typeface="Times New Roman" panose="02020603050405020304" pitchFamily="18" charset="0"/>
            </a:endParaRPr>
          </a:p>
        </p:txBody>
      </p:sp>
      <p:sp>
        <p:nvSpPr>
          <p:cNvPr id="10" name="Content Placeholder 9"/>
          <p:cNvSpPr>
            <a:spLocks noGrp="1"/>
          </p:cNvSpPr>
          <p:nvPr>
            <p:ph idx="1"/>
          </p:nvPr>
        </p:nvSpPr>
        <p:spPr>
          <a:xfrm>
            <a:off x="457200" y="1600199"/>
            <a:ext cx="8229600" cy="1454500"/>
          </a:xfrm>
        </p:spPr>
        <p:txBody>
          <a:bodyPr/>
          <a:lstStyle/>
          <a:p>
            <a:pPr marL="0" indent="0" eaLnBrk="1" hangingPunct="1">
              <a:buNone/>
              <a:tabLst/>
              <a:defRPr/>
            </a:pPr>
            <a:r>
              <a:rPr lang="en-US" sz="1800" b="1" kern="1200" dirty="0">
                <a:latin typeface="Arial (Body)"/>
              </a:rPr>
              <a:t>C++11: Using List Initializers to Call Constructors</a:t>
            </a:r>
          </a:p>
          <a:p>
            <a:pPr marL="256032" indent="-256032" eaLnBrk="1" hangingPunct="1">
              <a:spcBef>
                <a:spcPts val="1500"/>
              </a:spcBef>
              <a:buClr>
                <a:schemeClr val="tx2"/>
              </a:buClr>
              <a:buFont typeface="Arial" panose="020B0604020202020204" pitchFamily="34" charset="0"/>
              <a:buChar char="•"/>
              <a:tabLst/>
              <a:defRPr/>
            </a:pPr>
            <a:r>
              <a:rPr lang="en-US" sz="1800" kern="1200" dirty="0">
                <a:latin typeface="Arial (Body)"/>
              </a:rPr>
              <a:t>C++11 now provides a uniform initialization syntax called list initializers that can be used to initialize any variable. Lines 11–13 of </a:t>
            </a:r>
            <a:r>
              <a:rPr lang="en-US" sz="1800" kern="1200" dirty="0" smtClean="0">
                <a:latin typeface="Arial (Body)"/>
              </a:rPr>
              <a:t>Figure 17.6 </a:t>
            </a:r>
            <a:r>
              <a:rPr lang="en-US" sz="1800" kern="1200" dirty="0">
                <a:latin typeface="Arial (Body)"/>
              </a:rPr>
              <a:t>(see </a:t>
            </a:r>
            <a:r>
              <a:rPr lang="en-US" sz="1800" kern="1200" dirty="0" smtClean="0">
                <a:latin typeface="Arial (Body)"/>
              </a:rPr>
              <a:t>slides 48-50) </a:t>
            </a:r>
            <a:r>
              <a:rPr lang="en-US" sz="1800" kern="1200" dirty="0">
                <a:latin typeface="Arial (Body)"/>
              </a:rPr>
              <a:t>can be written using list initializers as follows</a:t>
            </a:r>
            <a:r>
              <a:rPr lang="en-US" sz="1800" kern="1200" dirty="0" smtClean="0">
                <a:latin typeface="Arial (Body)"/>
              </a:rPr>
              <a:t>:</a:t>
            </a:r>
            <a:endParaRPr lang="en-US" sz="1800" kern="1200" dirty="0">
              <a:latin typeface="Arial (Body)"/>
            </a:endParaRPr>
          </a:p>
        </p:txBody>
      </p:sp>
      <p:pic>
        <p:nvPicPr>
          <p:cNvPr id="16" name="Picture 15" descr="The computer code has 3 lines. The lines read as follows. Line 1. Time t 2 equals left brace 2 right brace semicolon forward slash forward slash hour specified semicolon minute and second defaulted. Line 2. Time t 3 equals left brace 21 comma 34 right brace semicolon forward slash forward slash hour and minute specified semicolon second defaulted. Line 3. Time t 4 equals left brace 12 comma 25 comma 42 right brace semicolon forward slash forward slash hour comma minute and second specified.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869" y="3128814"/>
            <a:ext cx="7725931" cy="1038037"/>
          </a:xfrm>
          <a:prstGeom prst="rect">
            <a:avLst/>
          </a:prstGeom>
        </p:spPr>
      </p:pic>
      <p:sp>
        <p:nvSpPr>
          <p:cNvPr id="4" name="Content Placeholder 3"/>
          <p:cNvSpPr>
            <a:spLocks noGrp="1"/>
          </p:cNvSpPr>
          <p:nvPr>
            <p:ph idx="13"/>
          </p:nvPr>
        </p:nvSpPr>
        <p:spPr>
          <a:xfrm>
            <a:off x="473720" y="4116611"/>
            <a:ext cx="420583" cy="364953"/>
          </a:xfrm>
        </p:spPr>
        <p:txBody>
          <a:bodyPr/>
          <a:lstStyle/>
          <a:p>
            <a:r>
              <a:rPr lang="en-US" sz="1800" kern="1200" dirty="0" smtClean="0">
                <a:latin typeface="Arial (Body)"/>
                <a:cs typeface="Times New Roman" pitchFamily="18" charset="0"/>
              </a:rPr>
              <a:t>or</a:t>
            </a:r>
            <a:endParaRPr lang="en-US" sz="1800" kern="1200" dirty="0">
              <a:latin typeface="Arial (Body)"/>
              <a:cs typeface="Times New Roman" pitchFamily="18" charset="0"/>
            </a:endParaRPr>
          </a:p>
        </p:txBody>
      </p:sp>
      <p:pic>
        <p:nvPicPr>
          <p:cNvPr id="15" name="Picture 14" descr="The computer code has 3 lines. The lines read as follows. Line 1. Time t2 left brace 2 right brace semicolon forward slash forward slash hour specified semicolon minute and second defaulted. Line 2. Time t3 left brace 21 comma 34 right brace semicolon forward slash forward slash hour and minute specified semicolon second defaulted. Line 3. Time t 4 left brace 12 comma 25 comma 42 right brace semicolon forward slash forward slash hour comma minute and second specified.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869" y="4572651"/>
            <a:ext cx="7608653" cy="1069490"/>
          </a:xfrm>
          <a:prstGeom prst="rect">
            <a:avLst/>
          </a:prstGeom>
        </p:spPr>
      </p:pic>
      <p:sp>
        <p:nvSpPr>
          <p:cNvPr id="5" name="Content Placeholder 4"/>
          <p:cNvSpPr>
            <a:spLocks noGrp="1"/>
          </p:cNvSpPr>
          <p:nvPr>
            <p:ph idx="14"/>
          </p:nvPr>
        </p:nvSpPr>
        <p:spPr>
          <a:xfrm>
            <a:off x="473720" y="5776828"/>
            <a:ext cx="3766684" cy="437452"/>
          </a:xfrm>
        </p:spPr>
        <p:txBody>
          <a:bodyPr/>
          <a:lstStyle/>
          <a:p>
            <a:r>
              <a:rPr lang="en-US" sz="1800" kern="1200" dirty="0">
                <a:latin typeface="Arial (Body)"/>
                <a:cs typeface="Times New Roman" pitchFamily="18" charset="0"/>
              </a:rPr>
              <a:t>The form without the = is preferred</a:t>
            </a:r>
            <a:r>
              <a:rPr lang="en-US" sz="1800" kern="1200" dirty="0" smtClean="0">
                <a:latin typeface="Arial (Body)"/>
                <a:cs typeface="Times New Roman" pitchFamily="18" charset="0"/>
              </a:rPr>
              <a:t>.</a:t>
            </a:r>
            <a:endParaRPr lang="en-US" sz="1800" kern="1200" dirty="0">
              <a:latin typeface="Arial (Body)"/>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17.5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 </a:t>
            </a:r>
            <a:r>
              <a:rPr lang="en-US" altLang="en-US" sz="2000" b="0" kern="1200" dirty="0" smtClean="0">
                <a:latin typeface="Times New Roman" panose="02020603050405020304" pitchFamily="18" charset="0"/>
                <a:ea typeface="+mj-ea"/>
                <a:cs typeface="+mj-cs"/>
              </a:rPr>
              <a:t>(5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224338"/>
          </a:xfrm>
        </p:spPr>
        <p:txBody>
          <a:bodyPr>
            <a:spAutoFit/>
          </a:bodyPr>
          <a:lstStyle/>
          <a:p>
            <a:pPr marL="0" indent="0" eaLnBrk="1" hangingPunct="1">
              <a:buNone/>
              <a:tabLst/>
              <a:defRPr/>
            </a:pPr>
            <a:r>
              <a:rPr lang="en-US" sz="2200" b="1" kern="1200" dirty="0">
                <a:solidFill>
                  <a:srgbClr val="000000"/>
                </a:solidFill>
                <a:latin typeface="Arial (Body)"/>
                <a:ea typeface="+mn-ea"/>
                <a:cs typeface="Times New Roman" pitchFamily="18" charset="0"/>
              </a:rPr>
              <a:t>C++11: Overloaded Constructors and </a:t>
            </a:r>
            <a:r>
              <a:rPr lang="en-US" sz="2200" b="1" kern="1200" dirty="0" smtClean="0">
                <a:solidFill>
                  <a:srgbClr val="000000"/>
                </a:solidFill>
                <a:latin typeface="Arial (Body)"/>
                <a:ea typeface="+mn-ea"/>
                <a:cs typeface="Times New Roman" pitchFamily="18" charset="0"/>
              </a:rPr>
              <a:t>Delegating Constructors</a:t>
            </a:r>
            <a:endParaRPr lang="en-US" sz="2200" b="1" kern="1200" dirty="0">
              <a:solidFill>
                <a:srgbClr val="000000"/>
              </a:solidFill>
              <a:latin typeface="Arial (Body)"/>
              <a:ea typeface="+mn-ea"/>
              <a:cs typeface="Times New Roman" pitchFamily="18" charset="0"/>
            </a:endParaRPr>
          </a:p>
          <a:p>
            <a:pPr marL="255651" indent="-255651" eaLnBrk="1" hangingPunct="1">
              <a:tabLst/>
              <a:defRPr/>
            </a:pPr>
            <a:r>
              <a:rPr lang="en-US" sz="2200" kern="1200" dirty="0">
                <a:solidFill>
                  <a:srgbClr val="000000"/>
                </a:solidFill>
                <a:latin typeface="Arial (Body)"/>
                <a:ea typeface="+mn-ea"/>
                <a:cs typeface="Times New Roman" pitchFamily="18" charset="0"/>
              </a:rPr>
              <a:t>A class’s constructors and member functions can also be </a:t>
            </a:r>
            <a:r>
              <a:rPr lang="en-US" sz="2200" kern="1200" dirty="0" smtClean="0">
                <a:solidFill>
                  <a:srgbClr val="000000"/>
                </a:solidFill>
                <a:latin typeface="Arial (Body)"/>
                <a:ea typeface="+mn-ea"/>
                <a:cs typeface="Times New Roman" pitchFamily="18" charset="0"/>
              </a:rPr>
              <a:t>overloaded.</a:t>
            </a:r>
            <a:endParaRPr lang="en-US" sz="2200" kern="1200" dirty="0">
              <a:solidFill>
                <a:srgbClr val="000000"/>
              </a:solidFill>
              <a:latin typeface="Arial (Body)"/>
              <a:ea typeface="+mn-ea"/>
              <a:cs typeface="Times New Roman" pitchFamily="18" charset="0"/>
            </a:endParaRPr>
          </a:p>
          <a:p>
            <a:pPr marL="255651" indent="-255651" eaLnBrk="1" hangingPunct="1">
              <a:tabLst/>
              <a:defRPr/>
            </a:pPr>
            <a:r>
              <a:rPr lang="en-US" sz="2200" kern="1200" dirty="0">
                <a:solidFill>
                  <a:srgbClr val="000000"/>
                </a:solidFill>
                <a:latin typeface="Arial (Body)"/>
                <a:ea typeface="+mn-ea"/>
                <a:cs typeface="Times New Roman" pitchFamily="18" charset="0"/>
              </a:rPr>
              <a:t>Overloaded constructors typically allow objects to be initialized with different types and/or numbers of </a:t>
            </a:r>
            <a:r>
              <a:rPr lang="en-US" sz="2200" kern="1200" dirty="0" smtClean="0">
                <a:solidFill>
                  <a:srgbClr val="000000"/>
                </a:solidFill>
                <a:latin typeface="Arial (Body)"/>
                <a:ea typeface="+mn-ea"/>
                <a:cs typeface="Times New Roman" pitchFamily="18" charset="0"/>
              </a:rPr>
              <a:t>arguments.</a:t>
            </a:r>
            <a:endParaRPr lang="en-US" sz="2200" kern="1200" dirty="0">
              <a:solidFill>
                <a:srgbClr val="000000"/>
              </a:solidFill>
              <a:latin typeface="Arial (Body)"/>
              <a:ea typeface="+mn-ea"/>
              <a:cs typeface="Times New Roman" pitchFamily="18" charset="0"/>
            </a:endParaRPr>
          </a:p>
          <a:p>
            <a:pPr marL="255651" indent="-255651" eaLnBrk="1" hangingPunct="1">
              <a:tabLst/>
              <a:defRPr/>
            </a:pPr>
            <a:r>
              <a:rPr lang="en-US" sz="2200" kern="1200" dirty="0">
                <a:solidFill>
                  <a:srgbClr val="000000"/>
                </a:solidFill>
                <a:latin typeface="Arial (Body)"/>
                <a:ea typeface="+mn-ea"/>
                <a:cs typeface="Times New Roman" pitchFamily="18" charset="0"/>
              </a:rPr>
              <a:t>To overload a constructor, provide in the class definition a prototype for each version of the constructor, and provide a separate constructor definition for each overloaded </a:t>
            </a:r>
            <a:r>
              <a:rPr lang="en-US" sz="2200" kern="1200" dirty="0" smtClean="0">
                <a:solidFill>
                  <a:srgbClr val="000000"/>
                </a:solidFill>
                <a:latin typeface="Arial (Body)"/>
                <a:ea typeface="+mn-ea"/>
                <a:cs typeface="Times New Roman" pitchFamily="18" charset="0"/>
              </a:rPr>
              <a:t>version.</a:t>
            </a:r>
            <a:endParaRPr lang="en-US" sz="2200" kern="1200" dirty="0">
              <a:solidFill>
                <a:srgbClr val="000000"/>
              </a:solidFill>
              <a:latin typeface="Arial (Body)"/>
              <a:ea typeface="+mn-ea"/>
              <a:cs typeface="Times New Roman" pitchFamily="18" charset="0"/>
            </a:endParaRPr>
          </a:p>
          <a:p>
            <a:pPr marL="741553" lvl="1" indent="-284353" eaLnBrk="1" hangingPunct="1">
              <a:buFont typeface="Arial" panose="020B0604020202020204" pitchFamily="34" charset="0"/>
              <a:buChar char="–"/>
              <a:defRPr/>
            </a:pPr>
            <a:r>
              <a:rPr lang="en-US" sz="2200" kern="1200" dirty="0">
                <a:solidFill>
                  <a:srgbClr val="000000"/>
                </a:solidFill>
                <a:latin typeface="Arial (Body)"/>
                <a:ea typeface="+mn-ea"/>
                <a:cs typeface="Times New Roman" pitchFamily="18" charset="0"/>
              </a:rPr>
              <a:t>This also applies to the class’s member </a:t>
            </a:r>
            <a:r>
              <a:rPr lang="en-US" sz="2200" kern="1200" dirty="0" smtClean="0">
                <a:solidFill>
                  <a:srgbClr val="000000"/>
                </a:solidFill>
                <a:latin typeface="Arial (Body)"/>
                <a:ea typeface="+mn-ea"/>
                <a:cs typeface="Times New Roman" pitchFamily="18" charset="0"/>
              </a:rPr>
              <a:t>functions.</a:t>
            </a:r>
            <a:endParaRPr lang="en-US" sz="2200" kern="1200" dirty="0">
              <a:solidFill>
                <a:srgbClr val="000000"/>
              </a:solidFill>
              <a:latin typeface="Arial (Body)"/>
              <a:ea typeface="+mn-ea"/>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17.6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a:t>
            </a:r>
            <a:endParaRPr lang="en-US" alt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292631"/>
          </a:xfrm>
        </p:spPr>
        <p:txBody>
          <a:bodyPr wrap="square">
            <a:spAutoFit/>
          </a:bodyPr>
          <a:lstStyle/>
          <a:p>
            <a:pPr marL="255651" indent="-255651" eaLnBrk="1" hangingPunct="1">
              <a:tabLst/>
              <a:defRPr/>
            </a:pPr>
            <a:r>
              <a:rPr lang="en-US" sz="1800" kern="1200" dirty="0">
                <a:solidFill>
                  <a:srgbClr val="000000"/>
                </a:solidFill>
                <a:latin typeface="Arial (Body)"/>
                <a:ea typeface="+mn-ea"/>
                <a:cs typeface="Times New Roman" pitchFamily="18" charset="0"/>
              </a:rPr>
              <a:t>In </a:t>
            </a:r>
            <a:r>
              <a:rPr lang="en-US" sz="1800" kern="1200" dirty="0" smtClean="0">
                <a:solidFill>
                  <a:srgbClr val="000000"/>
                </a:solidFill>
                <a:latin typeface="Arial (Body)"/>
                <a:ea typeface="+mn-ea"/>
                <a:cs typeface="Times New Roman" pitchFamily="18" charset="0"/>
              </a:rPr>
              <a:t>Figures. 17.4 (see slides 41-42)–17.6 </a:t>
            </a:r>
            <a:r>
              <a:rPr lang="en-US" altLang="en-US" sz="1800" kern="1200" dirty="0">
                <a:solidFill>
                  <a:srgbClr val="000000"/>
                </a:solidFill>
                <a:latin typeface="Arial (Body)"/>
              </a:rPr>
              <a:t>(see </a:t>
            </a:r>
            <a:r>
              <a:rPr lang="en-US" altLang="en-US" sz="1800" kern="1200" dirty="0" smtClean="0">
                <a:solidFill>
                  <a:srgbClr val="000000"/>
                </a:solidFill>
                <a:latin typeface="Arial (Body)"/>
              </a:rPr>
              <a:t>slides 48-50)</a:t>
            </a:r>
            <a:r>
              <a:rPr lang="en-US" sz="1800" kern="1200" dirty="0" smtClean="0">
                <a:solidFill>
                  <a:srgbClr val="000000"/>
                </a:solidFill>
                <a:latin typeface="Arial (Body)"/>
                <a:ea typeface="+mn-ea"/>
                <a:cs typeface="Times New Roman" pitchFamily="18" charset="0"/>
              </a:rPr>
              <a:t>, </a:t>
            </a:r>
            <a:r>
              <a:rPr lang="en-US" sz="1800" kern="1200" dirty="0">
                <a:solidFill>
                  <a:srgbClr val="000000"/>
                </a:solidFill>
                <a:latin typeface="Arial (Body)"/>
                <a:ea typeface="+mn-ea"/>
                <a:cs typeface="Times New Roman" pitchFamily="18" charset="0"/>
              </a:rPr>
              <a:t>the Time constructor with three parameters had a default argument for each parameter. We could have defined that constructor instead as four overloaded constructors with the following prototypes</a:t>
            </a:r>
            <a:r>
              <a:rPr lang="en-US" sz="1800" kern="1200" dirty="0" smtClean="0">
                <a:solidFill>
                  <a:srgbClr val="000000"/>
                </a:solidFill>
                <a:latin typeface="Arial (Body)"/>
                <a:ea typeface="+mn-ea"/>
                <a:cs typeface="Times New Roman" pitchFamily="18" charset="0"/>
              </a:rPr>
              <a:t>:</a:t>
            </a:r>
            <a:endParaRPr lang="en-US" sz="1800" kern="1200" dirty="0">
              <a:solidFill>
                <a:srgbClr val="000000"/>
              </a:solidFill>
              <a:latin typeface="Arial (Body)"/>
              <a:ea typeface="+mn-ea"/>
              <a:cs typeface="Times New Roman" pitchFamily="18" charset="0"/>
            </a:endParaRPr>
          </a:p>
        </p:txBody>
      </p:sp>
      <p:pic>
        <p:nvPicPr>
          <p:cNvPr id="5" name="Picture 4" descr="The computer code has 4 lines. The lines read as follows. Line 1. Time left parenthesis right parenthesis semicolon forward slash forward slash default hour comma minute and second to 0. Line 2. Time left parenthesis i n t right parenthesis semicolon forward slash forward slash initialize hour semicolon default minute and second to 0. Line 3. Time left parenthesis i n t comma i n t right parenthesis semicolon forward slash forward slash initialize hour and minute semicolon default second to 0. Line 4. Time left parenthesis i n t comma i n t comma i n t right parenthesis semicolon forward slash forward slash initialize hour comma minute and second.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170" y="2983106"/>
            <a:ext cx="7931630" cy="1512273"/>
          </a:xfrm>
          <a:prstGeom prst="rect">
            <a:avLst/>
          </a:prstGeom>
        </p:spPr>
      </p:pic>
      <p:sp>
        <p:nvSpPr>
          <p:cNvPr id="4" name="Text Placeholder 3"/>
          <p:cNvSpPr>
            <a:spLocks noGrp="1"/>
          </p:cNvSpPr>
          <p:nvPr>
            <p:ph type="body" idx="2"/>
          </p:nvPr>
        </p:nvSpPr>
        <p:spPr>
          <a:xfrm>
            <a:off x="457200" y="4669969"/>
            <a:ext cx="8229600" cy="1211263"/>
          </a:xfrm>
        </p:spPr>
        <p:txBody>
          <a:bodyPr/>
          <a:lstStyle/>
          <a:p>
            <a:pPr marL="255651" indent="-255651" eaLnBrk="1" hangingPunct="1">
              <a:tabLst/>
              <a:defRPr/>
            </a:pPr>
            <a:r>
              <a:rPr lang="en-US" sz="1800" kern="1200" dirty="0" smtClean="0">
                <a:solidFill>
                  <a:srgbClr val="000000"/>
                </a:solidFill>
                <a:latin typeface="Arial (Body)"/>
                <a:cs typeface="Times New Roman" pitchFamily="18" charset="0"/>
              </a:rPr>
              <a:t>C</a:t>
            </a:r>
            <a:r>
              <a:rPr lang="en-US" sz="1800" kern="1200" dirty="0">
                <a:solidFill>
                  <a:srgbClr val="000000"/>
                </a:solidFill>
                <a:latin typeface="Arial (Body)"/>
                <a:cs typeface="Times New Roman" pitchFamily="18" charset="0"/>
              </a:rPr>
              <a:t>++11 now allows constructors to call other constructors in the same class.</a:t>
            </a:r>
          </a:p>
          <a:p>
            <a:pPr marL="255651" indent="-255651" eaLnBrk="1" hangingPunct="1">
              <a:tabLst/>
              <a:defRPr/>
            </a:pPr>
            <a:r>
              <a:rPr lang="en-US" sz="1800" kern="1200" dirty="0">
                <a:solidFill>
                  <a:srgbClr val="000000"/>
                </a:solidFill>
                <a:latin typeface="Arial (Body)"/>
                <a:cs typeface="Times New Roman" pitchFamily="18" charset="0"/>
              </a:rPr>
              <a:t>The calling constructor is known as a </a:t>
            </a:r>
            <a:r>
              <a:rPr lang="en-US" sz="1800" b="1" kern="1200" dirty="0">
                <a:solidFill>
                  <a:srgbClr val="000000"/>
                </a:solidFill>
                <a:latin typeface="Arial (Body)"/>
                <a:cs typeface="Times New Roman" pitchFamily="18" charset="0"/>
              </a:rPr>
              <a:t>delegating</a:t>
            </a:r>
            <a:r>
              <a:rPr lang="en-US" sz="1800" kern="1200" dirty="0">
                <a:solidFill>
                  <a:srgbClr val="000000"/>
                </a:solidFill>
                <a:latin typeface="Arial (Body)"/>
                <a:cs typeface="Times New Roman" pitchFamily="18" charset="0"/>
              </a:rPr>
              <a:t> </a:t>
            </a:r>
            <a:r>
              <a:rPr lang="en-US" sz="1800" b="1" kern="1200" dirty="0">
                <a:solidFill>
                  <a:srgbClr val="000000"/>
                </a:solidFill>
                <a:latin typeface="Arial (Body)"/>
                <a:cs typeface="Times New Roman" pitchFamily="18" charset="0"/>
              </a:rPr>
              <a:t>constructor</a:t>
            </a:r>
            <a:r>
              <a:rPr lang="en-US" sz="1800" kern="1200" dirty="0">
                <a:solidFill>
                  <a:srgbClr val="000000"/>
                </a:solidFill>
                <a:latin typeface="Arial (Body)"/>
                <a:cs typeface="Times New Roman" pitchFamily="18" charset="0"/>
              </a:rPr>
              <a:t>—it </a:t>
            </a:r>
            <a:r>
              <a:rPr lang="en-US" sz="1800" b="1" kern="1200" dirty="0">
                <a:solidFill>
                  <a:srgbClr val="000000"/>
                </a:solidFill>
                <a:latin typeface="Arial (Body)"/>
                <a:cs typeface="Times New Roman" pitchFamily="18" charset="0"/>
              </a:rPr>
              <a:t>delegates</a:t>
            </a:r>
            <a:r>
              <a:rPr lang="en-US" sz="1800" kern="1200" dirty="0">
                <a:solidFill>
                  <a:srgbClr val="000000"/>
                </a:solidFill>
                <a:latin typeface="Arial (Body)"/>
                <a:cs typeface="Times New Roman" pitchFamily="18" charset="0"/>
              </a:rPr>
              <a:t> its work to another constructor</a:t>
            </a:r>
            <a:r>
              <a:rPr lang="en-US" sz="1800" kern="1200" dirty="0" smtClean="0">
                <a:solidFill>
                  <a:srgbClr val="000000"/>
                </a:solidFill>
                <a:latin typeface="Arial (Body)"/>
                <a:cs typeface="Times New Roman" pitchFamily="18" charset="0"/>
              </a:rPr>
              <a:t>.</a:t>
            </a:r>
            <a:endParaRPr lang="en-US" sz="1800" kern="1200" dirty="0">
              <a:solidFill>
                <a:srgbClr val="000000"/>
              </a:solidFill>
              <a:latin typeface="Arial (Body)"/>
              <a:cs typeface="Times New Roman"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17.5 </a:t>
            </a:r>
            <a:r>
              <a:rPr lang="en-US" altLang="en-US" kern="1200" dirty="0" smtClean="0">
                <a:latin typeface="Consolas" panose="020B0609020204030204" pitchFamily="49" charset="0"/>
                <a:ea typeface="+mj-ea"/>
                <a:cs typeface="+mj-cs"/>
              </a:rPr>
              <a:t>Time</a:t>
            </a:r>
            <a:r>
              <a:rPr lang="en-US" altLang="en-US" kern="1200" dirty="0" smtClean="0">
                <a:latin typeface="Times New Roman" panose="02020603050405020304" pitchFamily="18" charset="0"/>
                <a:ea typeface="+mj-ea"/>
                <a:cs typeface="+mj-cs"/>
              </a:rPr>
              <a:t> Class Case Study: Constructors with Default Arguments </a:t>
            </a:r>
            <a:r>
              <a:rPr lang="en-US" altLang="en-US" sz="2000" b="0" kern="1200" dirty="0" smtClean="0">
                <a:latin typeface="Times New Roman" panose="02020603050405020304" pitchFamily="18" charset="0"/>
                <a:ea typeface="+mj-ea"/>
                <a:cs typeface="+mj-cs"/>
              </a:rPr>
              <a:t>(6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484992"/>
          </a:xfrm>
        </p:spPr>
        <p:txBody>
          <a:bodyPr wrap="square">
            <a:spAutoFit/>
          </a:bodyPr>
          <a:lstStyle/>
          <a:p>
            <a:pPr marL="255651" indent="-255651" eaLnBrk="1" hangingPunct="1">
              <a:tabLst/>
              <a:defRPr/>
            </a:pPr>
            <a:r>
              <a:rPr lang="en-US" sz="1800" kern="1200" dirty="0">
                <a:solidFill>
                  <a:srgbClr val="000000"/>
                </a:solidFill>
                <a:latin typeface="Arial (Body)"/>
                <a:ea typeface="+mn-ea"/>
                <a:cs typeface="Times New Roman" pitchFamily="18" charset="0"/>
              </a:rPr>
              <a:t>The first three of the four Time constructors declared on the previous slide can delegate work to one with three int arguments, passing 0 as the default value for the extra </a:t>
            </a:r>
            <a:r>
              <a:rPr lang="en-US" sz="1800" kern="1200" dirty="0" smtClean="0">
                <a:solidFill>
                  <a:srgbClr val="000000"/>
                </a:solidFill>
                <a:latin typeface="Arial (Body)"/>
                <a:ea typeface="+mn-ea"/>
                <a:cs typeface="Times New Roman" pitchFamily="18" charset="0"/>
              </a:rPr>
              <a:t>parameters.</a:t>
            </a:r>
            <a:endParaRPr lang="en-US" sz="1800" kern="1200" dirty="0">
              <a:solidFill>
                <a:srgbClr val="000000"/>
              </a:solidFill>
              <a:latin typeface="Arial (Body)"/>
              <a:ea typeface="+mn-ea"/>
              <a:cs typeface="Times New Roman" pitchFamily="18" charset="0"/>
            </a:endParaRPr>
          </a:p>
          <a:p>
            <a:pPr marL="255651" indent="-255651" eaLnBrk="1" hangingPunct="1">
              <a:tabLst/>
              <a:defRPr/>
            </a:pPr>
            <a:r>
              <a:rPr lang="en-US" sz="1800" kern="1200" dirty="0">
                <a:solidFill>
                  <a:srgbClr val="000000"/>
                </a:solidFill>
                <a:latin typeface="Arial (Body)"/>
                <a:ea typeface="+mn-ea"/>
                <a:cs typeface="Times New Roman" pitchFamily="18" charset="0"/>
              </a:rPr>
              <a:t>Use a member initializer with the name of the class as follows</a:t>
            </a:r>
            <a:r>
              <a:rPr lang="en-US" sz="1800" kern="1200" dirty="0" smtClean="0">
                <a:solidFill>
                  <a:srgbClr val="000000"/>
                </a:solidFill>
                <a:latin typeface="Arial (Body)"/>
                <a:ea typeface="+mn-ea"/>
                <a:cs typeface="Times New Roman" pitchFamily="18" charset="0"/>
              </a:rPr>
              <a:t>:</a:t>
            </a:r>
            <a:endParaRPr lang="en-US" sz="1800" kern="1200" dirty="0">
              <a:solidFill>
                <a:srgbClr val="000000"/>
              </a:solidFill>
              <a:latin typeface="Arial (Body)"/>
              <a:ea typeface="+mn-ea"/>
              <a:cs typeface="Times New Roman" pitchFamily="18" charset="0"/>
            </a:endParaRPr>
          </a:p>
        </p:txBody>
      </p:sp>
      <p:pic>
        <p:nvPicPr>
          <p:cNvPr id="4" name="Picture 3" descr="The computer code has 12 lines. The lines read as follows. Line 1. Time colon colon Time left parenthesis right parenthesis. Line 2, indented once. colon Time left parenthesis 0 comma 0 comma 0 right parenthesis forward slash forward slash delegate to Time left parenthesis i n t comma i n t comma i n t right parenthesis. Line 3. left brace. Line 4. right brace forward slash forward slash end constructor with no arguments. Line 5. Time colon colon Time left parenthesis i n t hour right parenthesis. Line 6, indented once. colon Time left parenthesis hour comma 0 comma 0 right parenthesis forward slash forward slash delegate to Time left parenthesis i n t comma i n t comma i n t right parenthesis. Line 7. left brace. Line 8. right brace forward slash forward slash end constructor with one argument. Line 9. Time colon colon Time left parenthesis i n t hour comma i n t minute right parenthesis. Line 10, indented once. colon Time left parenthesis hour comma minute comma 0 right parenthesis forward slash forward slash delegate to Time left parenthesis i n t comma i n t comma i n t right parenthesis. Line 11. left brace. Line 12. right brace forward slash forward slash end constructor with two argument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6916" y="3164563"/>
            <a:ext cx="5650167" cy="3150828"/>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17.6 Destructors</a:t>
            </a:r>
            <a:endParaRPr lang="en-US" altLang="en-US"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6543675" cy="461635"/>
          </a:xfrm>
        </p:spPr>
        <p:txBody>
          <a:bodyPr wrap="square">
            <a:spAutoFit/>
          </a:bodyPr>
          <a:lstStyle/>
          <a:p>
            <a:pPr marL="255651" indent="-255651" eaLnBrk="1" hangingPunct="1">
              <a:spcBef>
                <a:spcPts val="1000"/>
              </a:spcBef>
              <a:tabLst/>
              <a:defRPr/>
            </a:pPr>
            <a:r>
              <a:rPr lang="en-US" altLang="en-US" sz="1800" kern="1200" dirty="0">
                <a:solidFill>
                  <a:srgbClr val="000000"/>
                </a:solidFill>
                <a:latin typeface="Arial (Body)"/>
                <a:ea typeface="+mn-ea"/>
                <a:cs typeface="+mn-cs"/>
              </a:rPr>
              <a:t>The name of the destructor for a class is the </a:t>
            </a:r>
            <a:r>
              <a:rPr lang="en-US" altLang="en-US" sz="1800" b="1" kern="1200" dirty="0">
                <a:solidFill>
                  <a:srgbClr val="000000"/>
                </a:solidFill>
                <a:latin typeface="Arial (Body)"/>
                <a:ea typeface="+mn-ea"/>
                <a:cs typeface="+mn-cs"/>
              </a:rPr>
              <a:t>tilde </a:t>
            </a:r>
            <a:r>
              <a:rPr lang="en-US" altLang="en-US" sz="1800" b="1" kern="1200" dirty="0" smtClean="0">
                <a:solidFill>
                  <a:srgbClr val="000000"/>
                </a:solidFill>
                <a:latin typeface="Arial (Body)"/>
                <a:ea typeface="+mn-ea"/>
                <a:cs typeface="+mn-cs"/>
              </a:rPr>
              <a:t>character</a:t>
            </a:r>
            <a:endParaRPr lang="en-US" altLang="en-US" sz="1800" kern="1200" dirty="0">
              <a:solidFill>
                <a:srgbClr val="000000"/>
              </a:solidFill>
              <a:latin typeface="Arial (Body)"/>
              <a:ea typeface="+mn-ea"/>
              <a:cs typeface="+mn-cs"/>
            </a:endParaRPr>
          </a:p>
        </p:txBody>
      </p:sp>
      <p:graphicFrame>
        <p:nvGraphicFramePr>
          <p:cNvPr id="5" name="Object 4" descr="Left parenthesis tilde right parenthesis."/>
          <p:cNvGraphicFramePr>
            <a:graphicFrameLocks noChangeAspect="1"/>
          </p:cNvGraphicFramePr>
          <p:nvPr>
            <p:extLst>
              <p:ext uri="{D42A27DB-BD31-4B8C-83A1-F6EECF244321}">
                <p14:modId xmlns:p14="http://schemas.microsoft.com/office/powerpoint/2010/main" val="4068517391"/>
              </p:ext>
            </p:extLst>
          </p:nvPr>
        </p:nvGraphicFramePr>
        <p:xfrm>
          <a:off x="6944957" y="1686172"/>
          <a:ext cx="371881" cy="371881"/>
        </p:xfrm>
        <a:graphic>
          <a:graphicData uri="http://schemas.openxmlformats.org/presentationml/2006/ole">
            <mc:AlternateContent xmlns:mc="http://schemas.openxmlformats.org/markup-compatibility/2006">
              <mc:Choice xmlns:v="urn:schemas-microsoft-com:vml" Requires="v">
                <p:oleObj spid="_x0000_s4757" name="Equation" r:id="rId3" imgW="253800" imgH="253800" progId="Equation.DSMT4">
                  <p:embed/>
                </p:oleObj>
              </mc:Choice>
              <mc:Fallback>
                <p:oleObj name="Equation" r:id="rId3" imgW="253800" imgH="253800" progId="Equation.DSMT4">
                  <p:embed/>
                  <p:pic>
                    <p:nvPicPr>
                      <p:cNvPr id="0" name=""/>
                      <p:cNvPicPr/>
                      <p:nvPr/>
                    </p:nvPicPr>
                    <p:blipFill>
                      <a:blip r:embed="rId4"/>
                      <a:stretch>
                        <a:fillRect/>
                      </a:stretch>
                    </p:blipFill>
                    <p:spPr>
                      <a:xfrm>
                        <a:off x="6944957" y="1686172"/>
                        <a:ext cx="371881" cy="371881"/>
                      </a:xfrm>
                      <a:prstGeom prst="rect">
                        <a:avLst/>
                      </a:prstGeom>
                    </p:spPr>
                  </p:pic>
                </p:oleObj>
              </mc:Fallback>
            </mc:AlternateContent>
          </a:graphicData>
        </a:graphic>
      </p:graphicFrame>
      <p:sp>
        <p:nvSpPr>
          <p:cNvPr id="4" name="Text Placeholder 3"/>
          <p:cNvSpPr>
            <a:spLocks noGrp="1"/>
          </p:cNvSpPr>
          <p:nvPr>
            <p:ph type="body" idx="2"/>
          </p:nvPr>
        </p:nvSpPr>
        <p:spPr>
          <a:xfrm>
            <a:off x="457200" y="2004685"/>
            <a:ext cx="8229600" cy="4067342"/>
          </a:xfrm>
        </p:spPr>
        <p:txBody>
          <a:bodyPr/>
          <a:lstStyle/>
          <a:p>
            <a:pPr marL="228600" indent="0" eaLnBrk="1" hangingPunct="1">
              <a:buNone/>
              <a:tabLst/>
              <a:defRPr/>
            </a:pPr>
            <a:r>
              <a:rPr lang="en-US" altLang="en-US" sz="1800" kern="1200" dirty="0">
                <a:solidFill>
                  <a:srgbClr val="000000"/>
                </a:solidFill>
                <a:latin typeface="Arial (Body)"/>
              </a:rPr>
              <a:t>followed by the class name.</a:t>
            </a:r>
          </a:p>
          <a:p>
            <a:pPr marL="255651" indent="-255651" eaLnBrk="1" hangingPunct="1">
              <a:spcBef>
                <a:spcPts val="1000"/>
              </a:spcBef>
              <a:tabLst/>
              <a:defRPr/>
            </a:pPr>
            <a:r>
              <a:rPr lang="en-US" altLang="en-US" sz="1800" kern="1200" dirty="0">
                <a:solidFill>
                  <a:srgbClr val="000000"/>
                </a:solidFill>
                <a:latin typeface="Arial (Body)"/>
              </a:rPr>
              <a:t>Called </a:t>
            </a:r>
            <a:r>
              <a:rPr lang="en-US" altLang="en-US" sz="1800" b="1" kern="1200" dirty="0">
                <a:solidFill>
                  <a:srgbClr val="000000"/>
                </a:solidFill>
                <a:latin typeface="Arial (Body)"/>
              </a:rPr>
              <a:t>implicitly</a:t>
            </a:r>
            <a:r>
              <a:rPr lang="en-US" altLang="en-US" sz="1800" kern="1200" dirty="0">
                <a:solidFill>
                  <a:srgbClr val="000000"/>
                </a:solidFill>
                <a:latin typeface="Arial (Body)"/>
              </a:rPr>
              <a:t> when an object is destroyed.</a:t>
            </a:r>
          </a:p>
          <a:p>
            <a:pPr marL="255651" indent="-255651" eaLnBrk="1" hangingPunct="1">
              <a:spcBef>
                <a:spcPts val="1000"/>
              </a:spcBef>
              <a:tabLst/>
              <a:defRPr/>
            </a:pPr>
            <a:r>
              <a:rPr lang="en-US" altLang="en-US" sz="1800" b="1" kern="1200" dirty="0">
                <a:solidFill>
                  <a:srgbClr val="000000"/>
                </a:solidFill>
                <a:latin typeface="Arial (Body)"/>
              </a:rPr>
              <a:t>The destructor itself does not actually release the object’s memory</a:t>
            </a:r>
            <a:r>
              <a:rPr lang="en-US" altLang="en-US" sz="1800" i="1" kern="1200" dirty="0">
                <a:solidFill>
                  <a:srgbClr val="000000"/>
                </a:solidFill>
                <a:latin typeface="Arial (Body)"/>
              </a:rPr>
              <a:t>—</a:t>
            </a:r>
            <a:r>
              <a:rPr lang="en-US" altLang="en-US" sz="1800" kern="1200" dirty="0">
                <a:solidFill>
                  <a:srgbClr val="000000"/>
                </a:solidFill>
                <a:latin typeface="Arial (Body)"/>
              </a:rPr>
              <a:t>it performs </a:t>
            </a:r>
            <a:r>
              <a:rPr lang="en-US" altLang="en-US" sz="1800" b="1" kern="1200" dirty="0">
                <a:solidFill>
                  <a:srgbClr val="000000"/>
                </a:solidFill>
                <a:latin typeface="Arial (Body)"/>
              </a:rPr>
              <a:t>termination housekeeping</a:t>
            </a:r>
            <a:r>
              <a:rPr lang="en-US" altLang="en-US" sz="1800" kern="1200" dirty="0">
                <a:solidFill>
                  <a:srgbClr val="000000"/>
                </a:solidFill>
                <a:latin typeface="Arial (Body)"/>
              </a:rPr>
              <a:t> before the object’s memory is reclaimed, so the memory may be reused to hold new objects.</a:t>
            </a:r>
          </a:p>
          <a:p>
            <a:pPr marL="255651" indent="-255651" eaLnBrk="1" hangingPunct="1">
              <a:spcBef>
                <a:spcPts val="1000"/>
              </a:spcBef>
              <a:tabLst/>
              <a:defRPr/>
            </a:pPr>
            <a:r>
              <a:rPr lang="en-US" altLang="en-US" sz="1800" kern="1200" dirty="0">
                <a:solidFill>
                  <a:srgbClr val="000000"/>
                </a:solidFill>
                <a:latin typeface="Arial (Body)"/>
              </a:rPr>
              <a:t>Receives no parameters and returns no value.</a:t>
            </a:r>
          </a:p>
          <a:p>
            <a:pPr marL="255651" indent="-255651" eaLnBrk="1" hangingPunct="1">
              <a:spcBef>
                <a:spcPts val="1000"/>
              </a:spcBef>
              <a:tabLst/>
              <a:defRPr/>
            </a:pPr>
            <a:r>
              <a:rPr lang="en-US" altLang="en-US" sz="1800" kern="1200" dirty="0">
                <a:solidFill>
                  <a:srgbClr val="000000"/>
                </a:solidFill>
                <a:latin typeface="Arial (Body)"/>
              </a:rPr>
              <a:t>May not specify a return type—not even </a:t>
            </a:r>
            <a:r>
              <a:rPr lang="en-US" altLang="en-US" sz="1800" kern="1200" dirty="0">
                <a:solidFill>
                  <a:srgbClr val="000000"/>
                </a:solidFill>
                <a:latin typeface="Consolas" panose="020B0609020204030204" pitchFamily="49" charset="0"/>
              </a:rPr>
              <a:t>void</a:t>
            </a:r>
            <a:r>
              <a:rPr lang="en-US" altLang="en-US" sz="1800" kern="1200" dirty="0">
                <a:solidFill>
                  <a:srgbClr val="000000"/>
                </a:solidFill>
                <a:latin typeface="Arial (Body)"/>
              </a:rPr>
              <a:t>.</a:t>
            </a:r>
          </a:p>
          <a:p>
            <a:pPr marL="255651" indent="-255651" eaLnBrk="1" hangingPunct="1">
              <a:spcBef>
                <a:spcPts val="1000"/>
              </a:spcBef>
              <a:tabLst/>
              <a:defRPr/>
            </a:pPr>
            <a:r>
              <a:rPr lang="en-US" altLang="en-US" sz="1800" kern="1200" dirty="0">
                <a:solidFill>
                  <a:srgbClr val="000000"/>
                </a:solidFill>
                <a:latin typeface="Arial (Body)"/>
              </a:rPr>
              <a:t>A class has </a:t>
            </a:r>
            <a:r>
              <a:rPr lang="en-US" altLang="en-US" sz="1800" b="1" kern="1200" dirty="0">
                <a:solidFill>
                  <a:srgbClr val="000000"/>
                </a:solidFill>
                <a:latin typeface="Arial (Body)"/>
              </a:rPr>
              <a:t>one destructor</a:t>
            </a:r>
            <a:r>
              <a:rPr lang="en-US" altLang="en-US" sz="1800" kern="1200" dirty="0">
                <a:solidFill>
                  <a:srgbClr val="000000"/>
                </a:solidFill>
                <a:latin typeface="Arial (Body)"/>
              </a:rPr>
              <a:t>.</a:t>
            </a:r>
          </a:p>
          <a:p>
            <a:pPr marL="255651" indent="-255651" eaLnBrk="1" hangingPunct="1">
              <a:spcBef>
                <a:spcPts val="1000"/>
              </a:spcBef>
              <a:tabLst/>
              <a:defRPr/>
            </a:pPr>
            <a:r>
              <a:rPr lang="en-US" altLang="en-US" sz="1800" kern="1200" dirty="0">
                <a:solidFill>
                  <a:srgbClr val="000000"/>
                </a:solidFill>
                <a:latin typeface="Arial (Body)"/>
              </a:rPr>
              <a:t>A destructor must be </a:t>
            </a:r>
            <a:r>
              <a:rPr lang="en-US" altLang="en-US" sz="1800" kern="1200" dirty="0">
                <a:solidFill>
                  <a:srgbClr val="000000"/>
                </a:solidFill>
                <a:latin typeface="Consolas" panose="020B0609020204030204" pitchFamily="49" charset="0"/>
              </a:rPr>
              <a:t>public</a:t>
            </a:r>
            <a:r>
              <a:rPr lang="en-US" altLang="en-US" sz="1800" kern="1200" dirty="0">
                <a:solidFill>
                  <a:srgbClr val="000000"/>
                </a:solidFill>
                <a:latin typeface="Arial (Body)"/>
              </a:rPr>
              <a:t>.</a:t>
            </a:r>
          </a:p>
          <a:p>
            <a:pPr marL="255651" indent="-255651" eaLnBrk="1" hangingPunct="1">
              <a:spcBef>
                <a:spcPts val="1000"/>
              </a:spcBef>
              <a:tabLst/>
              <a:defRPr/>
            </a:pPr>
            <a:r>
              <a:rPr lang="en-US" altLang="en-US" sz="1800" kern="1200" dirty="0">
                <a:solidFill>
                  <a:srgbClr val="000000"/>
                </a:solidFill>
                <a:latin typeface="Arial (Body)"/>
              </a:rPr>
              <a:t>If you do not </a:t>
            </a:r>
            <a:r>
              <a:rPr lang="en-US" altLang="en-US" sz="1800" b="1" kern="1200" dirty="0">
                <a:solidFill>
                  <a:srgbClr val="000000"/>
                </a:solidFill>
                <a:latin typeface="Arial (Body)"/>
              </a:rPr>
              <a:t>explicitly</a:t>
            </a:r>
            <a:r>
              <a:rPr lang="en-US" altLang="en-US" sz="1800" kern="1200" dirty="0">
                <a:solidFill>
                  <a:srgbClr val="000000"/>
                </a:solidFill>
                <a:latin typeface="Arial (Body)"/>
              </a:rPr>
              <a:t> define a destructor, the compiler defines an “empty” destructor</a:t>
            </a:r>
            <a:r>
              <a:rPr lang="en-US" altLang="en-US" sz="1800" kern="1200" dirty="0" smtClean="0">
                <a:solidFill>
                  <a:srgbClr val="000000"/>
                </a:solidFill>
                <a:latin typeface="Arial (Body)"/>
              </a:rPr>
              <a:t>.</a:t>
            </a:r>
            <a:endParaRPr lang="en-US" altLang="en-US" sz="18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17.7 When Constructors and Destructors Are Called </a:t>
            </a:r>
            <a:r>
              <a:rPr lang="en-US" altLang="en-US" sz="2000" b="0" kern="1200" dirty="0" smtClean="0">
                <a:latin typeface="Times New Roman" panose="02020603050405020304" pitchFamily="18" charset="0"/>
                <a:ea typeface="+mj-ea"/>
                <a:cs typeface="+mj-cs"/>
              </a:rPr>
              <a:t>(1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600450"/>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Constructors and destructors are called implicitly.</a:t>
            </a:r>
          </a:p>
          <a:p>
            <a:pPr marL="255651" indent="-255651" eaLnBrk="1" hangingPunct="1">
              <a:tabLst/>
              <a:defRPr/>
            </a:pPr>
            <a:r>
              <a:rPr lang="en-US" altLang="en-US" sz="2400" kern="1200" dirty="0">
                <a:solidFill>
                  <a:srgbClr val="000000"/>
                </a:solidFill>
                <a:latin typeface="Arial (Body)"/>
                <a:ea typeface="+mn-ea"/>
                <a:cs typeface="+mn-cs"/>
              </a:rPr>
              <a:t>The order in which these function calls occur depends on the order in which execution enters and leaves the scopes where the objects are instantiated.</a:t>
            </a:r>
          </a:p>
          <a:p>
            <a:pPr marL="255651" indent="-255651" eaLnBrk="1" hangingPunct="1">
              <a:tabLst/>
              <a:defRPr/>
            </a:pPr>
            <a:r>
              <a:rPr lang="en-US" altLang="en-US" sz="2400" kern="1200" dirty="0">
                <a:solidFill>
                  <a:srgbClr val="000000"/>
                </a:solidFill>
                <a:latin typeface="Arial (Body)"/>
                <a:ea typeface="+mn-ea"/>
                <a:cs typeface="+mn-cs"/>
              </a:rPr>
              <a:t>Generally, destructor calls are made in the reverse order of the corresponding constructor calls</a:t>
            </a:r>
          </a:p>
          <a:p>
            <a:pPr marL="741553" lvl="1" indent="-284353" eaLnBrk="1" hangingPunct="1">
              <a:buFont typeface="Arial" panose="020B0604020202020204" pitchFamily="34" charset="0"/>
              <a:buChar char="–"/>
              <a:defRPr/>
            </a:pPr>
            <a:r>
              <a:rPr lang="en-US" altLang="en-US" sz="2400" kern="1200" dirty="0">
                <a:solidFill>
                  <a:srgbClr val="000000"/>
                </a:solidFill>
                <a:latin typeface="Arial (Body)"/>
                <a:ea typeface="+mn-ea"/>
                <a:cs typeface="+mn-cs"/>
              </a:rPr>
              <a:t>The storage classes of objects can alter the order in which destructors are called.</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17.7 When Constructors and Destructors Are Called </a:t>
            </a:r>
            <a:r>
              <a:rPr lang="en-US" altLang="en-US" sz="2000" b="0" kern="1200" dirty="0" smtClean="0">
                <a:latin typeface="Times New Roman" panose="02020603050405020304" pitchFamily="18" charset="0"/>
                <a:ea typeface="+mj-ea"/>
                <a:cs typeface="+mj-cs"/>
              </a:rPr>
              <a:t>(2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531980"/>
          </a:xfrm>
        </p:spPr>
        <p:txBody>
          <a:bodyPr>
            <a:spAutoFit/>
          </a:bodyPr>
          <a:lstStyle/>
          <a:p>
            <a:pPr marL="0" indent="0" eaLnBrk="1" hangingPunct="1">
              <a:buNone/>
              <a:tabLst/>
              <a:defRPr/>
            </a:pPr>
            <a:r>
              <a:rPr lang="en-US" sz="2000" b="1" kern="1200" dirty="0">
                <a:solidFill>
                  <a:srgbClr val="000000"/>
                </a:solidFill>
                <a:latin typeface="Arial (Body)"/>
                <a:ea typeface="+mn-ea"/>
                <a:cs typeface="+mn-cs"/>
              </a:rPr>
              <a:t>Constructors and Destructors for Objects in Global Scope</a:t>
            </a:r>
          </a:p>
          <a:p>
            <a:pPr marL="255651" indent="-255651" eaLnBrk="1" hangingPunct="1">
              <a:tabLst/>
              <a:defRPr/>
            </a:pPr>
            <a:r>
              <a:rPr lang="en-US" sz="2000" kern="1200" dirty="0">
                <a:solidFill>
                  <a:srgbClr val="000000"/>
                </a:solidFill>
                <a:latin typeface="Arial (Body)"/>
                <a:ea typeface="+mn-ea"/>
                <a:cs typeface="+mn-cs"/>
              </a:rPr>
              <a:t>Constructors are called for objects defined in global scope  (also called global namespace scope) </a:t>
            </a:r>
            <a:r>
              <a:rPr lang="en-US" sz="2000" b="1" kern="1200" dirty="0">
                <a:solidFill>
                  <a:srgbClr val="000000"/>
                </a:solidFill>
                <a:latin typeface="Arial (Body)"/>
                <a:ea typeface="+mn-ea"/>
                <a:cs typeface="+mn-cs"/>
              </a:rPr>
              <a:t>before</a:t>
            </a:r>
            <a:r>
              <a:rPr lang="en-US" sz="2000" kern="1200" dirty="0">
                <a:solidFill>
                  <a:srgbClr val="000000"/>
                </a:solidFill>
                <a:latin typeface="Arial (Body)"/>
                <a:ea typeface="+mn-ea"/>
                <a:cs typeface="+mn-cs"/>
              </a:rPr>
              <a:t> any other function (including </a:t>
            </a:r>
            <a:r>
              <a:rPr lang="en-US" sz="2000" kern="1200" dirty="0">
                <a:solidFill>
                  <a:srgbClr val="000000"/>
                </a:solidFill>
                <a:latin typeface="Consolas" panose="020B0609020204030204" pitchFamily="49" charset="0"/>
                <a:ea typeface="+mn-ea"/>
                <a:cs typeface="+mn-cs"/>
              </a:rPr>
              <a:t>main</a:t>
            </a:r>
            <a:r>
              <a:rPr lang="en-US" sz="2000" kern="1200" dirty="0">
                <a:solidFill>
                  <a:srgbClr val="000000"/>
                </a:solidFill>
                <a:latin typeface="Arial (Body)"/>
                <a:ea typeface="+mn-ea"/>
                <a:cs typeface="+mn-cs"/>
              </a:rPr>
              <a:t>) in that program begins execution (although the order of execution of global object constructors between files is </a:t>
            </a:r>
            <a:r>
              <a:rPr lang="en-US" sz="2000" b="1" kern="1200" dirty="0">
                <a:solidFill>
                  <a:srgbClr val="000000"/>
                </a:solidFill>
                <a:latin typeface="Arial (Body)"/>
                <a:ea typeface="+mn-ea"/>
                <a:cs typeface="+mn-cs"/>
              </a:rPr>
              <a:t>not</a:t>
            </a:r>
            <a:r>
              <a:rPr lang="en-US" sz="2000" kern="1200" dirty="0">
                <a:solidFill>
                  <a:srgbClr val="000000"/>
                </a:solidFill>
                <a:latin typeface="Arial (Body)"/>
                <a:ea typeface="+mn-ea"/>
                <a:cs typeface="+mn-cs"/>
              </a:rPr>
              <a:t> guaranteed).</a:t>
            </a:r>
          </a:p>
          <a:p>
            <a:pPr marL="741553" lvl="1" indent="-284353" eaLnBrk="1" hangingPunct="1">
              <a:buFont typeface="Arial" panose="020B0604020202020204" pitchFamily="34" charset="0"/>
              <a:buChar char="–"/>
              <a:defRPr/>
            </a:pPr>
            <a:r>
              <a:rPr lang="en-US" sz="2000" kern="1200" dirty="0">
                <a:solidFill>
                  <a:srgbClr val="000000"/>
                </a:solidFill>
                <a:latin typeface="Arial (Body)"/>
                <a:ea typeface="+mn-ea"/>
                <a:cs typeface="+mn-cs"/>
              </a:rPr>
              <a:t>The corresponding destructors are called when </a:t>
            </a:r>
            <a:r>
              <a:rPr lang="en-US" sz="2000" kern="1200" dirty="0">
                <a:solidFill>
                  <a:srgbClr val="000000"/>
                </a:solidFill>
                <a:latin typeface="Consolas" panose="020B0609020204030204" pitchFamily="49" charset="0"/>
                <a:ea typeface="+mn-ea"/>
                <a:cs typeface="+mn-cs"/>
              </a:rPr>
              <a:t>main</a:t>
            </a:r>
            <a:r>
              <a:rPr lang="en-US" sz="2000" kern="1200" dirty="0">
                <a:solidFill>
                  <a:srgbClr val="000000"/>
                </a:solidFill>
                <a:latin typeface="Arial (Body)"/>
                <a:ea typeface="+mn-ea"/>
                <a:cs typeface="+mn-cs"/>
              </a:rPr>
              <a:t> terminates.</a:t>
            </a:r>
          </a:p>
          <a:p>
            <a:pPr marL="255651" indent="-255651" eaLnBrk="1" hangingPunct="1">
              <a:tabLst/>
              <a:defRPr/>
            </a:pPr>
            <a:r>
              <a:rPr lang="en-US" sz="2000" kern="1200" dirty="0">
                <a:solidFill>
                  <a:srgbClr val="000000"/>
                </a:solidFill>
                <a:latin typeface="Arial (Body)"/>
                <a:ea typeface="+mn-ea"/>
                <a:cs typeface="+mn-cs"/>
              </a:rPr>
              <a:t>Function </a:t>
            </a:r>
            <a:r>
              <a:rPr lang="en-US" sz="2000" b="1" kern="1200" dirty="0">
                <a:solidFill>
                  <a:srgbClr val="000000"/>
                </a:solidFill>
                <a:latin typeface="Consolas" panose="020B0609020204030204" pitchFamily="49" charset="0"/>
                <a:ea typeface="+mn-ea"/>
                <a:cs typeface="+mn-cs"/>
              </a:rPr>
              <a:t>exit</a:t>
            </a:r>
            <a:r>
              <a:rPr lang="en-US" sz="2000" kern="1200" dirty="0">
                <a:solidFill>
                  <a:srgbClr val="000000"/>
                </a:solidFill>
                <a:latin typeface="Arial (Body)"/>
                <a:ea typeface="+mn-ea"/>
                <a:cs typeface="+mn-cs"/>
              </a:rPr>
              <a:t> forces a program to terminate immediately and does </a:t>
            </a:r>
            <a:r>
              <a:rPr lang="en-US" sz="2000" b="1" kern="1200" dirty="0">
                <a:solidFill>
                  <a:srgbClr val="000000"/>
                </a:solidFill>
                <a:latin typeface="Arial (Body)"/>
                <a:ea typeface="+mn-ea"/>
                <a:cs typeface="+mn-cs"/>
              </a:rPr>
              <a:t>not</a:t>
            </a:r>
            <a:r>
              <a:rPr lang="en-US" sz="2000" kern="1200" dirty="0">
                <a:solidFill>
                  <a:srgbClr val="000000"/>
                </a:solidFill>
                <a:latin typeface="Arial (Body)"/>
                <a:ea typeface="+mn-ea"/>
                <a:cs typeface="+mn-cs"/>
              </a:rPr>
              <a:t> execute the destructors of local objects.</a:t>
            </a:r>
          </a:p>
          <a:p>
            <a:pPr marL="255651" indent="-255651" eaLnBrk="1" hangingPunct="1">
              <a:tabLst/>
              <a:defRPr/>
            </a:pPr>
            <a:r>
              <a:rPr lang="en-US" sz="2000" kern="1200" dirty="0">
                <a:solidFill>
                  <a:srgbClr val="000000"/>
                </a:solidFill>
                <a:latin typeface="Arial (Body)"/>
                <a:ea typeface="+mn-ea"/>
                <a:cs typeface="+mn-cs"/>
              </a:rPr>
              <a:t>Function </a:t>
            </a:r>
            <a:r>
              <a:rPr lang="en-US" sz="2000" b="1" kern="1200" dirty="0">
                <a:solidFill>
                  <a:srgbClr val="000000"/>
                </a:solidFill>
                <a:latin typeface="Consolas" panose="020B0609020204030204" pitchFamily="49" charset="0"/>
                <a:ea typeface="+mn-ea"/>
                <a:cs typeface="+mn-cs"/>
              </a:rPr>
              <a:t>abort</a:t>
            </a:r>
            <a:r>
              <a:rPr lang="en-US" sz="2000" kern="1200" dirty="0">
                <a:solidFill>
                  <a:srgbClr val="000000"/>
                </a:solidFill>
                <a:latin typeface="Arial (Body)"/>
                <a:ea typeface="+mn-ea"/>
                <a:cs typeface="+mn-cs"/>
              </a:rPr>
              <a:t> performs similarly to function</a:t>
            </a:r>
            <a:r>
              <a:rPr lang="en-US" sz="2000" kern="1200" dirty="0">
                <a:solidFill>
                  <a:srgbClr val="000000"/>
                </a:solidFill>
                <a:latin typeface="Consolas" panose="020B0609020204030204" pitchFamily="49" charset="0"/>
                <a:ea typeface="+mn-ea"/>
                <a:cs typeface="+mn-cs"/>
              </a:rPr>
              <a:t> exit</a:t>
            </a:r>
            <a:r>
              <a:rPr lang="en-US" sz="2000" kern="1200" dirty="0">
                <a:solidFill>
                  <a:srgbClr val="000000"/>
                </a:solidFill>
                <a:latin typeface="Arial (Body)"/>
                <a:ea typeface="+mn-ea"/>
                <a:cs typeface="+mn-cs"/>
              </a:rPr>
              <a:t> but forces the program to terminate </a:t>
            </a:r>
            <a:r>
              <a:rPr lang="en-US" sz="2000" b="1" kern="1200" dirty="0">
                <a:solidFill>
                  <a:srgbClr val="000000"/>
                </a:solidFill>
                <a:latin typeface="Arial (Body)"/>
                <a:ea typeface="+mn-ea"/>
                <a:cs typeface="+mn-cs"/>
              </a:rPr>
              <a:t>immediately</a:t>
            </a:r>
            <a:r>
              <a:rPr lang="en-US" sz="2000" kern="1200" dirty="0">
                <a:solidFill>
                  <a:srgbClr val="000000"/>
                </a:solidFill>
                <a:latin typeface="Arial (Body)"/>
                <a:ea typeface="+mn-ea"/>
                <a:cs typeface="+mn-cs"/>
              </a:rPr>
              <a:t>, without allowing the destructors of any objects to be called</a:t>
            </a:r>
            <a:r>
              <a:rPr lang="en-US" sz="2000" kern="1200" dirty="0" smtClean="0">
                <a:solidFill>
                  <a:srgbClr val="000000"/>
                </a:solidFill>
                <a:latin typeface="Arial (Body)"/>
                <a:ea typeface="+mn-ea"/>
                <a:cs typeface="+mn-cs"/>
              </a:rPr>
              <a:t>.</a:t>
            </a:r>
            <a:endParaRPr lang="en-US" sz="20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17.7 When Constructors and Destructors Are Called </a:t>
            </a:r>
            <a:r>
              <a:rPr lang="en-US" altLang="en-US" sz="2000" b="0" kern="1200" dirty="0" smtClean="0">
                <a:latin typeface="Times New Roman" panose="02020603050405020304" pitchFamily="18" charset="0"/>
                <a:ea typeface="+mj-ea"/>
                <a:cs typeface="+mj-cs"/>
              </a:rPr>
              <a:t>(3 of 5)</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p:txBody>
          <a:bodyPr/>
          <a:lstStyle/>
          <a:p>
            <a:pPr marL="0" indent="0" eaLnBrk="1" hangingPunct="1">
              <a:buNone/>
              <a:tabLst/>
              <a:defRPr/>
            </a:pPr>
            <a:r>
              <a:rPr lang="en-US" sz="2400" b="1" kern="1200" dirty="0">
                <a:solidFill>
                  <a:srgbClr val="000000"/>
                </a:solidFill>
                <a:latin typeface="Arial (Body)"/>
              </a:rPr>
              <a:t>Constructors and Destructors for Local Objects</a:t>
            </a:r>
          </a:p>
          <a:p>
            <a:pPr marL="255651" indent="-255651" eaLnBrk="1" hangingPunct="1">
              <a:tabLst/>
              <a:defRPr/>
            </a:pPr>
            <a:r>
              <a:rPr lang="en-US" sz="2400" kern="1200" dirty="0">
                <a:solidFill>
                  <a:srgbClr val="000000"/>
                </a:solidFill>
                <a:latin typeface="Arial (Body)"/>
              </a:rPr>
              <a:t>Constructors and destructors for local objects are called each time execution enters and leaves the scope of the object.</a:t>
            </a:r>
          </a:p>
          <a:p>
            <a:pPr marL="255651" indent="-255651" eaLnBrk="1" hangingPunct="1">
              <a:tabLst/>
              <a:defRPr/>
            </a:pPr>
            <a:r>
              <a:rPr lang="en-US" sz="2400" kern="1200" dirty="0">
                <a:solidFill>
                  <a:srgbClr val="000000"/>
                </a:solidFill>
                <a:latin typeface="Arial (Body)"/>
              </a:rPr>
              <a:t>Destructors are not called for local objects if the program terminates with a call to function </a:t>
            </a:r>
            <a:r>
              <a:rPr lang="en-US" sz="2400" kern="1200" dirty="0">
                <a:solidFill>
                  <a:srgbClr val="000000"/>
                </a:solidFill>
                <a:latin typeface="Consolas" panose="020B0609020204030204" pitchFamily="49" charset="0"/>
              </a:rPr>
              <a:t>exit</a:t>
            </a:r>
            <a:r>
              <a:rPr lang="en-US" sz="2400" kern="1200" dirty="0">
                <a:solidFill>
                  <a:srgbClr val="000000"/>
                </a:solidFill>
                <a:latin typeface="Arial (Body)"/>
              </a:rPr>
              <a:t> or function </a:t>
            </a:r>
            <a:r>
              <a:rPr lang="en-US" sz="2400" kern="1200" dirty="0">
                <a:solidFill>
                  <a:srgbClr val="000000"/>
                </a:solidFill>
                <a:latin typeface="Consolas" panose="020B0609020204030204" pitchFamily="49" charset="0"/>
              </a:rPr>
              <a:t>abort</a:t>
            </a:r>
            <a:r>
              <a:rPr lang="en-US" sz="2400" kern="1200" dirty="0" smtClean="0">
                <a:solidFill>
                  <a:srgbClr val="000000"/>
                </a:solidFill>
                <a:latin typeface="Arial (Body)"/>
              </a:rPr>
              <a:t>.</a:t>
            </a:r>
            <a:endParaRPr 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17.7 When Constructors and Destructors Are Called </a:t>
            </a:r>
            <a:r>
              <a:rPr lang="en-US" altLang="en-US" sz="2000" b="0" kern="1200" dirty="0" smtClean="0">
                <a:latin typeface="Times New Roman" panose="02020603050405020304" pitchFamily="18" charset="0"/>
                <a:ea typeface="+mj-ea"/>
                <a:cs typeface="+mj-cs"/>
              </a:rPr>
              <a:t>(4 of 5)</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10474"/>
            <a:ext cx="8229600" cy="4525963"/>
          </a:xfrm>
        </p:spPr>
        <p:txBody>
          <a:bodyPr/>
          <a:lstStyle/>
          <a:p>
            <a:pPr marL="0" indent="0" eaLnBrk="1" hangingPunct="1">
              <a:buNone/>
              <a:tabLst/>
              <a:defRPr/>
            </a:pPr>
            <a:r>
              <a:rPr lang="en-US" sz="2400" b="1" kern="1200" dirty="0">
                <a:solidFill>
                  <a:srgbClr val="000000"/>
                </a:solidFill>
                <a:latin typeface="Arial (Body)"/>
              </a:rPr>
              <a:t>Constructors and Destructors for </a:t>
            </a:r>
            <a:r>
              <a:rPr lang="en-US" sz="2400" b="1" kern="1200" dirty="0">
                <a:solidFill>
                  <a:srgbClr val="000000"/>
                </a:solidFill>
                <a:latin typeface="Consolas" panose="020B0609020204030204" pitchFamily="49" charset="0"/>
              </a:rPr>
              <a:t>static</a:t>
            </a:r>
            <a:r>
              <a:rPr lang="en-US" sz="2400" b="1" kern="1200" dirty="0">
                <a:solidFill>
                  <a:srgbClr val="000000"/>
                </a:solidFill>
                <a:latin typeface="Arial (Body)"/>
              </a:rPr>
              <a:t> Local Objects</a:t>
            </a:r>
          </a:p>
          <a:p>
            <a:pPr marL="255651" indent="-255651" eaLnBrk="1" hangingPunct="1">
              <a:tabLst/>
              <a:defRPr/>
            </a:pPr>
            <a:r>
              <a:rPr lang="en-US" sz="2400" kern="1200" dirty="0">
                <a:solidFill>
                  <a:srgbClr val="000000"/>
                </a:solidFill>
                <a:latin typeface="Arial (Body)"/>
              </a:rPr>
              <a:t>The constructor for a </a:t>
            </a:r>
            <a:r>
              <a:rPr lang="en-US" sz="2400" kern="1200" dirty="0">
                <a:solidFill>
                  <a:srgbClr val="000000"/>
                </a:solidFill>
                <a:latin typeface="Consolas" panose="020B0609020204030204" pitchFamily="49" charset="0"/>
              </a:rPr>
              <a:t>static</a:t>
            </a:r>
            <a:r>
              <a:rPr lang="en-US" sz="2400" kern="1200" dirty="0">
                <a:solidFill>
                  <a:srgbClr val="000000"/>
                </a:solidFill>
                <a:latin typeface="Arial (Body)"/>
              </a:rPr>
              <a:t> local object is called only </a:t>
            </a:r>
            <a:r>
              <a:rPr lang="en-US" sz="2400" b="1" kern="1200" dirty="0">
                <a:solidFill>
                  <a:srgbClr val="000000"/>
                </a:solidFill>
                <a:latin typeface="Arial (Body)"/>
              </a:rPr>
              <a:t>once</a:t>
            </a:r>
            <a:r>
              <a:rPr lang="en-US" sz="2400" kern="1200" dirty="0">
                <a:solidFill>
                  <a:srgbClr val="000000"/>
                </a:solidFill>
                <a:latin typeface="Arial (Body)"/>
              </a:rPr>
              <a:t>, when execution first reaches the point where the object is defined—the corresponding destructor is called when </a:t>
            </a:r>
            <a:r>
              <a:rPr lang="en-US" sz="2400" kern="1200" dirty="0">
                <a:solidFill>
                  <a:srgbClr val="000000"/>
                </a:solidFill>
                <a:latin typeface="Consolas" panose="020B0609020204030204" pitchFamily="49" charset="0"/>
              </a:rPr>
              <a:t>main</a:t>
            </a:r>
            <a:r>
              <a:rPr lang="en-US" sz="2400" kern="1200" dirty="0">
                <a:solidFill>
                  <a:srgbClr val="000000"/>
                </a:solidFill>
                <a:latin typeface="Arial (Body)"/>
              </a:rPr>
              <a:t> terminates or the program calls function </a:t>
            </a:r>
            <a:r>
              <a:rPr lang="en-US" sz="2400" kern="1200" dirty="0">
                <a:solidFill>
                  <a:srgbClr val="000000"/>
                </a:solidFill>
                <a:latin typeface="Consolas" panose="020B0609020204030204" pitchFamily="49" charset="0"/>
              </a:rPr>
              <a:t>exit</a:t>
            </a:r>
            <a:r>
              <a:rPr lang="en-US" sz="2400" kern="1200" dirty="0">
                <a:solidFill>
                  <a:srgbClr val="000000"/>
                </a:solidFill>
                <a:latin typeface="Arial (Body)"/>
              </a:rPr>
              <a:t>.</a:t>
            </a:r>
          </a:p>
          <a:p>
            <a:pPr marL="255651" indent="-255651" eaLnBrk="1" hangingPunct="1">
              <a:tabLst/>
              <a:defRPr/>
            </a:pPr>
            <a:r>
              <a:rPr lang="en-US" sz="2400" kern="1200" dirty="0">
                <a:solidFill>
                  <a:srgbClr val="000000"/>
                </a:solidFill>
                <a:latin typeface="Arial (Body)"/>
              </a:rPr>
              <a:t>Global and </a:t>
            </a:r>
            <a:r>
              <a:rPr lang="en-US" sz="2400" kern="1200" dirty="0">
                <a:solidFill>
                  <a:srgbClr val="000000"/>
                </a:solidFill>
                <a:latin typeface="Consolas" panose="020B0609020204030204" pitchFamily="49" charset="0"/>
              </a:rPr>
              <a:t>static</a:t>
            </a:r>
            <a:r>
              <a:rPr lang="en-US" sz="2400" kern="1200" dirty="0">
                <a:solidFill>
                  <a:srgbClr val="000000"/>
                </a:solidFill>
                <a:latin typeface="Arial (Body)"/>
              </a:rPr>
              <a:t> objects are destroyed in the reverse order of their creation.</a:t>
            </a:r>
          </a:p>
          <a:p>
            <a:pPr marL="255651" indent="-255651" eaLnBrk="1" hangingPunct="1">
              <a:tabLst/>
              <a:defRPr/>
            </a:pPr>
            <a:r>
              <a:rPr lang="en-US" sz="2400" kern="1200" dirty="0">
                <a:solidFill>
                  <a:srgbClr val="000000"/>
                </a:solidFill>
                <a:latin typeface="Arial (Body)"/>
              </a:rPr>
              <a:t>Destructors are not called for </a:t>
            </a:r>
            <a:r>
              <a:rPr lang="en-US" sz="2400" kern="1200" dirty="0">
                <a:solidFill>
                  <a:srgbClr val="000000"/>
                </a:solidFill>
                <a:latin typeface="Consolas" panose="020B0609020204030204" pitchFamily="49" charset="0"/>
              </a:rPr>
              <a:t>static</a:t>
            </a:r>
            <a:r>
              <a:rPr lang="en-US" sz="2400" kern="1200" dirty="0">
                <a:solidFill>
                  <a:srgbClr val="000000"/>
                </a:solidFill>
                <a:latin typeface="Arial (Body)"/>
              </a:rPr>
              <a:t> objects if the program terminates with a call to function </a:t>
            </a:r>
            <a:r>
              <a:rPr lang="en-US" sz="2400" kern="1200" dirty="0">
                <a:solidFill>
                  <a:srgbClr val="000000"/>
                </a:solidFill>
                <a:latin typeface="Consolas" panose="020B0609020204030204" pitchFamily="49" charset="0"/>
              </a:rPr>
              <a:t>abort</a:t>
            </a:r>
            <a:r>
              <a:rPr lang="en-US" sz="2400" kern="1200" dirty="0" smtClean="0">
                <a:solidFill>
                  <a:srgbClr val="000000"/>
                </a:solidFill>
                <a:latin typeface="Arial (Body)"/>
              </a:rPr>
              <a:t>.</a:t>
            </a:r>
            <a:endParaRPr 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17.7 When Constructors and Destructors Are Called </a:t>
            </a:r>
            <a:r>
              <a:rPr lang="en-US" altLang="en-US" sz="2000" b="0" kern="1200" dirty="0" smtClean="0">
                <a:latin typeface="Times New Roman" panose="02020603050405020304" pitchFamily="18" charset="0"/>
                <a:ea typeface="+mj-ea"/>
                <a:cs typeface="+mj-cs"/>
              </a:rPr>
              <a:t>(5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331651"/>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Demonstrating When Constructors and Destructors Are Called</a:t>
            </a:r>
          </a:p>
          <a:p>
            <a:pPr marL="255651" indent="-255651" eaLnBrk="1" hangingPunct="1">
              <a:tabLst/>
              <a:defRPr/>
            </a:pPr>
            <a:r>
              <a:rPr lang="en-US" sz="2400" kern="1200" dirty="0">
                <a:solidFill>
                  <a:srgbClr val="000000"/>
                </a:solidFill>
                <a:latin typeface="Arial (Body)"/>
                <a:ea typeface="+mn-ea"/>
                <a:cs typeface="+mn-cs"/>
              </a:rPr>
              <a:t>The program of </a:t>
            </a:r>
            <a:r>
              <a:rPr lang="en-US" sz="2400" kern="1200" dirty="0" smtClean="0">
                <a:solidFill>
                  <a:srgbClr val="000000"/>
                </a:solidFill>
                <a:latin typeface="Arial (Body)"/>
                <a:ea typeface="+mn-ea"/>
                <a:cs typeface="+mn-cs"/>
              </a:rPr>
              <a:t>Figures 17.7 (see slide 65)–17.9 </a:t>
            </a:r>
            <a:r>
              <a:rPr lang="en-US" sz="2400" kern="1200" dirty="0">
                <a:solidFill>
                  <a:srgbClr val="000000"/>
                </a:solidFill>
                <a:latin typeface="Arial (Body)"/>
              </a:rPr>
              <a:t>(see </a:t>
            </a:r>
            <a:r>
              <a:rPr lang="en-US" sz="2400" kern="1200" dirty="0" smtClean="0">
                <a:solidFill>
                  <a:srgbClr val="000000"/>
                </a:solidFill>
                <a:latin typeface="Arial (Body)"/>
              </a:rPr>
              <a:t>slides 67-69)</a:t>
            </a:r>
            <a:r>
              <a:rPr lang="en-US" sz="2400" kern="1200" dirty="0" smtClean="0">
                <a:solidFill>
                  <a:srgbClr val="000000"/>
                </a:solidFill>
                <a:latin typeface="Arial (Body)"/>
                <a:ea typeface="+mn-ea"/>
                <a:cs typeface="+mn-cs"/>
              </a:rPr>
              <a:t> demonstrates </a:t>
            </a:r>
            <a:r>
              <a:rPr lang="en-US" sz="2400" kern="1200" dirty="0">
                <a:solidFill>
                  <a:srgbClr val="000000"/>
                </a:solidFill>
                <a:latin typeface="Arial (Body)"/>
                <a:ea typeface="+mn-ea"/>
                <a:cs typeface="+mn-cs"/>
              </a:rPr>
              <a:t>the order in which constructors and destructors are called for objects of class </a:t>
            </a:r>
            <a:r>
              <a:rPr lang="en-US" sz="2400" kern="1200" dirty="0">
                <a:solidFill>
                  <a:srgbClr val="000000"/>
                </a:solidFill>
                <a:latin typeface="Consolas" panose="020B0609020204030204" pitchFamily="49" charset="0"/>
                <a:ea typeface="+mn-ea"/>
                <a:cs typeface="+mn-cs"/>
              </a:rPr>
              <a:t>CreateAndDestroy</a:t>
            </a:r>
            <a:r>
              <a:rPr lang="en-US" sz="2400" kern="1200" dirty="0">
                <a:solidFill>
                  <a:srgbClr val="000000"/>
                </a:solidFill>
                <a:latin typeface="Arial (Body)"/>
                <a:ea typeface="+mn-ea"/>
                <a:cs typeface="+mn-cs"/>
              </a:rPr>
              <a:t> (</a:t>
            </a:r>
            <a:r>
              <a:rPr lang="en-US" sz="2400" kern="1200" dirty="0" smtClean="0">
                <a:solidFill>
                  <a:srgbClr val="000000"/>
                </a:solidFill>
                <a:latin typeface="Arial (Body)"/>
                <a:ea typeface="+mn-ea"/>
                <a:cs typeface="+mn-cs"/>
              </a:rPr>
              <a:t>Figure 17.7 </a:t>
            </a:r>
            <a:r>
              <a:rPr lang="en-US" sz="2400" kern="1200" dirty="0">
                <a:solidFill>
                  <a:srgbClr val="000000"/>
                </a:solidFill>
                <a:latin typeface="Arial (Body)"/>
                <a:ea typeface="+mn-ea"/>
                <a:cs typeface="+mn-cs"/>
              </a:rPr>
              <a:t>and </a:t>
            </a:r>
            <a:r>
              <a:rPr lang="en-US" sz="2400" kern="1200" dirty="0" smtClean="0">
                <a:solidFill>
                  <a:srgbClr val="000000"/>
                </a:solidFill>
                <a:latin typeface="Arial (Body)"/>
                <a:ea typeface="+mn-ea"/>
                <a:cs typeface="+mn-cs"/>
              </a:rPr>
              <a:t>Figure 17.8 </a:t>
            </a:r>
            <a:r>
              <a:rPr lang="en-US" sz="2400" kern="1200" dirty="0">
                <a:solidFill>
                  <a:srgbClr val="000000"/>
                </a:solidFill>
                <a:latin typeface="Arial (Body)"/>
              </a:rPr>
              <a:t>(see slides </a:t>
            </a:r>
            <a:r>
              <a:rPr lang="en-US" sz="2400" kern="1200" dirty="0" smtClean="0">
                <a:solidFill>
                  <a:srgbClr val="000000"/>
                </a:solidFill>
                <a:latin typeface="Arial (Body)"/>
              </a:rPr>
              <a:t>66)</a:t>
            </a:r>
            <a:r>
              <a:rPr lang="en-US" sz="2400" kern="1200" dirty="0" smtClean="0">
                <a:solidFill>
                  <a:srgbClr val="000000"/>
                </a:solidFill>
                <a:latin typeface="Arial (Body)"/>
                <a:ea typeface="+mn-ea"/>
                <a:cs typeface="+mn-cs"/>
              </a:rPr>
              <a:t>) of </a:t>
            </a:r>
            <a:r>
              <a:rPr lang="en-US" sz="2400" kern="1200" dirty="0">
                <a:solidFill>
                  <a:srgbClr val="000000"/>
                </a:solidFill>
                <a:latin typeface="Arial (Body)"/>
                <a:ea typeface="+mn-ea"/>
                <a:cs typeface="+mn-cs"/>
              </a:rPr>
              <a:t>various storage classes in several </a:t>
            </a:r>
            <a:r>
              <a:rPr lang="en-US" sz="2400" kern="1200" dirty="0" smtClean="0">
                <a:solidFill>
                  <a:srgbClr val="000000"/>
                </a:solidFill>
                <a:latin typeface="Arial (Body)"/>
                <a:ea typeface="+mn-ea"/>
                <a:cs typeface="+mn-cs"/>
              </a:rPr>
              <a:t>scopes.</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17.7 CreateAndDestroy Class Definition</a:t>
            </a:r>
            <a:endParaRPr lang="en-US" dirty="0"/>
          </a:p>
        </p:txBody>
      </p:sp>
      <p:pic>
        <p:nvPicPr>
          <p:cNvPr id="3" name="Picture 2" descr="The code has 20 lines. The lines read as follows. Line 1. forward slash forward slash Fig period 17 period 7 colon Create And Destroy period h. Line 2. forward slash forward slash Create And Destroy class definition period. Line 3. forward slash forward slash Member functions defined in Create And Destroy period c p p period. Line 4. hash include left angle bracket string right angle bracket. Line 5. using namespace s t d semicolon. Line 6. Blank. Line 7. hash if n d e f CREATE underscore H. Line 8. hash define CREATE underscore H. Line 9. Blank. Line 10. class Create And Destroy. Line 11. left brace. Line 12. public colon. Line 13, indented once. Create And Destroy left parenthesis i n t comma string right parenthesis semicolon forward slash forward slash constructor. Line 14, indented once. tilde Create And Destroy left parenthesis right parenthesis semicolon forward slash forward slash destructor. Lines 13 and 14 are highlighted. Line 15. private colon. Line 16, indented once. i n t object I D semicolon forward slash forward slash I D number for object. Line 17, indented once. string message semicolon forward slash forward slash message describing object. Line 18. right brace semicolon forward slash forward slash end class Create And Destroy. Line 19. Blank. Line 20. hash end if."/>
          <p:cNvPicPr>
            <a:picLocks noChangeAspect="1"/>
          </p:cNvPicPr>
          <p:nvPr/>
        </p:nvPicPr>
        <p:blipFill>
          <a:blip r:embed="rId2"/>
          <a:stretch>
            <a:fillRect/>
          </a:stretch>
        </p:blipFill>
        <p:spPr>
          <a:xfrm>
            <a:off x="607305" y="1707080"/>
            <a:ext cx="7929389" cy="4409612"/>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17.8 CreateAndDestroy Class Member-Function Definitions</a:t>
            </a:r>
            <a:endParaRPr lang="en-US" dirty="0"/>
          </a:p>
        </p:txBody>
      </p:sp>
      <p:pic>
        <p:nvPicPr>
          <p:cNvPr id="3" name="Picture 2" descr="The computer code has 23 lines. The lines read as follows. Line 1. forward slash forward slash F i g period 17 period 8 colon Create And Destroy period c p p. Line 2. forward slash forward slash Create And Destroy class member dash function definitions period. Line 3. hash include left angle bracket i o stream right angle bracket. Line 4. hash include double quote Create And Destroy period h double quote forward slash forward slash include Create And Destroy class definition. Line 5. using namespace s t d semicolon. Line 6. Blank. Line 7. forward slash forward slash constructor sets object's ID number and descriptive message. Line 8. Create And Destroy colon colon Create And Destroy left parenthesis i n t ID comma string message String right parenthesis. Line 9, indented once. colon object ID left parenthesis ID right parenthesis comma message left parenthesis message String right parenthesis. Line 10. left brace. Line 11, indented once. c out left angle bracket left angle bracket double quote Object double quote left angle bracket left angle bracket object ID left angle bracket left angle bracket double quote constructor runs double quote. Line 12, indented twice. left angle bracket left angle bracket message left angle bracket left angle bracket end l semicolon. Line 13. right brace forward slash forward slash end Create And Destroy constructor. Line 14. Blank. Line 15. forward slash forward slash destructor. Line 16. Create And Destroy colon colon tilde Create And Destroy left parenthesis right parenthesis. Line 17. left brace. Line 18, indented once. forward slash forward slash output new line for certain objects semicolon helps readability. Line 19, indented once. c out left angle bracket left angle bracket left parenthesis object ID equals equals 1 double pipe object ID equals equals 6 question mark double quote back slash n double quote colon double quote double quote right parenthesis semicolon. Line 20. Blank. Line 21, indented once. c out left angle bracket left angle bracket double quote Object double quote left angle bracket left angle bracket object ID left angle bracket left angle bracket double quote destructor runs double quote. Line 22, indented twice. left angle bracket left angle bracket message left angle bracket left angle bracket end l semicolon. Line 23. right brace forward slash forward slash end tilde Create And Destroy destructor. Lines 7 to 13 and lines 15 to 23 are highlighted."/>
          <p:cNvPicPr>
            <a:picLocks noChangeAspect="1"/>
          </p:cNvPicPr>
          <p:nvPr/>
        </p:nvPicPr>
        <p:blipFill>
          <a:blip r:embed="rId2"/>
          <a:stretch>
            <a:fillRect/>
          </a:stretch>
        </p:blipFill>
        <p:spPr>
          <a:xfrm>
            <a:off x="780914" y="1550148"/>
            <a:ext cx="7582173" cy="4785111"/>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17.9 Order </a:t>
            </a:r>
            <a:r>
              <a:rPr lang="en-US" dirty="0"/>
              <a:t>in Which Constructors and Destructors Are </a:t>
            </a:r>
            <a:r>
              <a:rPr lang="en-US" dirty="0" smtClean="0"/>
              <a:t>Called </a:t>
            </a:r>
            <a:r>
              <a:rPr lang="en-US" sz="2000" b="0" dirty="0" smtClean="0"/>
              <a:t>(1 </a:t>
            </a:r>
            <a:r>
              <a:rPr lang="en-US" sz="2000" b="0" dirty="0"/>
              <a:t>of </a:t>
            </a:r>
            <a:r>
              <a:rPr lang="en-US" sz="2000" b="0" dirty="0" smtClean="0"/>
              <a:t>3)</a:t>
            </a:r>
            <a:endParaRPr lang="en-US" sz="2000" b="0" dirty="0"/>
          </a:p>
        </p:txBody>
      </p:sp>
      <p:pic>
        <p:nvPicPr>
          <p:cNvPr id="3" name="Picture 2" descr="The computer code has 33 lines. The lines read as follows. Line 1. forward slash forward slash F i g period 17 period 9 colon f i g 17 underscore 09 period c p p. Line 2. forward slash forward slash Order in which constructors and. Line 3. forward slash forward slash destructors are called period. Line 4. hash include left angle bracket i o stream right angle bracket. Line 5. hash include double quote Create And Destroy period h double quote forward slash forward slash include Create And Destroy class definition. Line 6. using namespace s t d semicolon. Line 7. Blank. Line 8. void create left parenthesis void right parenthesis semicolon forward slash forward slash prototype. Line 9. Blank. Line 10. Create And Destroy first left parenthesis 1 comma double quote left parenthesis global before main right parenthesis double quote right parenthesis semicolon forward slash forward slash global object. Line 10 is highlighted. Line 11. Blank. Line 12. i n t main left parenthesis right parenthesis. Line 13. left brace. Line 14, indented once. c out left angle bracket left angle bracket double quote back slash n MAIN FUNCTION colon EXECUTION BEGINS double quote left angle bracket left angle bracket end l semicolon. Line 15, indented once. Create And Destroy second left parenthesis 2 comma double quote left parenthesis local automatic in main right parenthesis double quote right parenthesis semicolon. Line 16, indented once. static Create And Destroy third left parenthesis 3 comma double quote left parenthesis local static in main right parenthesis double quote right parenthesis semicolon. Line 17. Blank. Line 18, indented once. create left parenthesis right parenthesis semicolon forward slash forward slash call function to create objects. Lines 15, 16, and 18 are highlighted. Line 19. Blank. Line 20, indented once. c out left angle bracket left angle bracket double quote back slash n MAIN FUNCTION colon EXECUTION RESUMES double quote left angle bracket left angle bracket end l semicolon. Line 21, indented once. Create And Destroy fourth left parenthesis 4 comma double quote left parenthesis local automatic in main right parenthesis double quote right parenthesis semicolon. Line 21 is highlighted. Line 22, indented once. c out left angle bracket left angle bracket double quote back slash n MAIN FUNCTION colon EXECUTION ENDS double quote left angle bracket left angle bracket end l semicolon. Line 23. right brace forward slash forward slash end main. Line 24. Blank. "/>
          <p:cNvPicPr>
            <a:picLocks noChangeAspect="1"/>
          </p:cNvPicPr>
          <p:nvPr/>
        </p:nvPicPr>
        <p:blipFill>
          <a:blip r:embed="rId2"/>
          <a:stretch>
            <a:fillRect/>
          </a:stretch>
        </p:blipFill>
        <p:spPr>
          <a:xfrm>
            <a:off x="934867" y="1518035"/>
            <a:ext cx="7274264" cy="4767144"/>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17.9 </a:t>
            </a:r>
            <a:r>
              <a:rPr lang="en-US" dirty="0"/>
              <a:t>Order in Which Constructors and Destructors Are Called </a:t>
            </a:r>
            <a:r>
              <a:rPr lang="en-US" sz="2000" b="0" dirty="0" smtClean="0"/>
              <a:t>(2 </a:t>
            </a:r>
            <a:r>
              <a:rPr lang="en-US" sz="2000" b="0" dirty="0"/>
              <a:t>of </a:t>
            </a:r>
            <a:r>
              <a:rPr lang="en-US" sz="2000" b="0" dirty="0" smtClean="0"/>
              <a:t>3)</a:t>
            </a:r>
            <a:endParaRPr lang="en-US" dirty="0"/>
          </a:p>
        </p:txBody>
      </p:sp>
      <p:pic>
        <p:nvPicPr>
          <p:cNvPr id="3" name="Picture 2" descr="The code continues. Line 25. forward slash forward slash function to create objects. Line 26. void create left parenthesis void right parenthesis. Line 27. left brace. Line 28, indented once. c out left angle bracket left angle bracket double quote back slash n CREATE FUNCTION colon EXECUTION BEGINS double quote left angle bracket left angle bracket end l semicolon. Line 29, indented once. Create And Destroy fifth left parenthesis 5 comma double quote left parenthesis local automatic in create right parenthesis double quote right parenthesis semicolon. Line 30, indented once. static Create And Destroy sixth left parenthesis 6 comma double quote left parenthesis local static in create right parenthesis double quote right parenthesis semicolon. Line 31, indented once. Create And Destroy seventh left parenthesis 7 comma double quote left parenthesis local automatic in create right parenthesis double quote right parenthesis semicolon. Lines 29, 30, and 31 are highlighted. Line 32, indented once. c out left angle bracket left angle bracket double quote back slash n CREATE FUNCTION colon EXECUTION ENDS double quote left angle bracket left angle bracket end l semicolon. Line 33. right brace forward slash forward slash end function create."/>
          <p:cNvPicPr>
            <a:picLocks noChangeAspect="1"/>
          </p:cNvPicPr>
          <p:nvPr/>
        </p:nvPicPr>
        <p:blipFill>
          <a:blip r:embed="rId2"/>
          <a:stretch>
            <a:fillRect/>
          </a:stretch>
        </p:blipFill>
        <p:spPr>
          <a:xfrm>
            <a:off x="568664" y="2306910"/>
            <a:ext cx="8006673" cy="2383664"/>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17.9 Order </a:t>
            </a:r>
            <a:r>
              <a:rPr lang="en-US" dirty="0"/>
              <a:t>in Which Constructors and Destructors Are </a:t>
            </a:r>
            <a:r>
              <a:rPr lang="en-US" dirty="0" smtClean="0"/>
              <a:t>Called </a:t>
            </a:r>
            <a:r>
              <a:rPr lang="en-US" sz="2000" b="0" dirty="0" smtClean="0"/>
              <a:t>(3 </a:t>
            </a:r>
            <a:r>
              <a:rPr lang="en-US" sz="2000" b="0" dirty="0"/>
              <a:t>of </a:t>
            </a:r>
            <a:r>
              <a:rPr lang="en-US" sz="2000" b="0" dirty="0" smtClean="0"/>
              <a:t>3)</a:t>
            </a:r>
            <a:endParaRPr lang="en-US" sz="2000" b="0" dirty="0"/>
          </a:p>
        </p:txBody>
      </p:sp>
      <p:pic>
        <p:nvPicPr>
          <p:cNvPr id="3" name="Picture 2" descr="The code output has 19 lines. The lines read as follows. Line 1. Object 1 constructor runs left parenthesis global before main right parenthesis. Line 2. MAIN FUNCTION colon EXECUTION BEGINS. Line 3. Object 2 constructor runs left parenthesis local automatic in main right parenthesis. Line 4. Object 3 constructor runs left parenthesis local static in main right parenthesis. Line 5. CREATE FUNCTION colon EXECUTION BEGINS. Line 6. Object 5 constructor runs left parenthesis local automatic in create right parenthesis. Line 7. Object 6 constructor runs left parenthesis local static in create right parenthesis. Line 8. Object 7 constructor runs left parenthesis local automatic in create right parenthesis. Line 9. CREATE FUNCTION colon EXECUTION ENDS. Line 10. Object 7 destructor runs left parenthesis local automatic in create right parenthesis. Line 11. Object 5 destructor runs left parenthesis local automatic in create right parenthesis. Line 12. MAIN FUNCTION colon EXECUTION RESUMES. Line 13. Object 4 constructor runs left parenthesis local automatic in main right parenthesis. Line 14. MAIN FUNCTION colon EXECUTION ENDS. Line 15. Object 4 destructor runs left parenthesis local automatic in main right parenthesis. Line 16. Object 2 destructor runs left parenthesis local automatic in main right parenthesis. Line 17. Object 6 destructor runs left parenthesis local static in create right parenthesis. Line 18. Object 3 destructor runs left parenthesis local static in main right parenthesis. Line 19. Object 1 destructor runs left parenthesis global before main right parenthesi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418" y="1543953"/>
            <a:ext cx="6867164" cy="4729940"/>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15371"/>
            <a:ext cx="8429946" cy="1097279"/>
          </a:xfrm>
        </p:spPr>
        <p:txBody>
          <a:bodyPr/>
          <a:lstStyle/>
          <a:p>
            <a:r>
              <a:rPr lang="en-US" altLang="en-US" sz="2600" kern="1200" dirty="0">
                <a:latin typeface="Times New Roman" panose="02020603050405020304" pitchFamily="18" charset="0"/>
              </a:rPr>
              <a:t>17.8 </a:t>
            </a:r>
            <a:r>
              <a:rPr lang="en-US" altLang="en-US" sz="2600" kern="1200" dirty="0">
                <a:latin typeface="Consolas" panose="020B0609020204030204" pitchFamily="49" charset="0"/>
              </a:rPr>
              <a:t>Time</a:t>
            </a:r>
            <a:r>
              <a:rPr lang="en-US" altLang="en-US" sz="2600" kern="1200" dirty="0">
                <a:latin typeface="Times New Roman" panose="02020603050405020304" pitchFamily="18" charset="0"/>
              </a:rPr>
              <a:t> Class Case Study: A Subtle Trap—Returning a Reference or a Pointer to a </a:t>
            </a:r>
            <a:r>
              <a:rPr lang="en-US" altLang="en-US" sz="2600" kern="1200" dirty="0">
                <a:latin typeface="Consolas" panose="020B0609020204030204" pitchFamily="49" charset="0"/>
              </a:rPr>
              <a:t>Private</a:t>
            </a:r>
            <a:r>
              <a:rPr lang="en-US" altLang="en-US" sz="2600" kern="1200" dirty="0">
                <a:latin typeface="Times New Roman" panose="02020603050405020304" pitchFamily="18" charset="0"/>
              </a:rPr>
              <a:t> Data Member </a:t>
            </a:r>
            <a:r>
              <a:rPr lang="en-US" altLang="en-US" sz="2000" b="0" kern="1200" dirty="0">
                <a:latin typeface="Times New Roman" panose="02020603050405020304" pitchFamily="18" charset="0"/>
              </a:rPr>
              <a:t>(1 of 2)</a:t>
            </a:r>
            <a:endParaRPr lang="en-US" sz="2000" dirty="0"/>
          </a:p>
        </p:txBody>
      </p:sp>
      <p:sp>
        <p:nvSpPr>
          <p:cNvPr id="4" name="Text Placeholder 3"/>
          <p:cNvSpPr>
            <a:spLocks noGrp="1"/>
          </p:cNvSpPr>
          <p:nvPr>
            <p:ph type="body" idx="1"/>
          </p:nvPr>
        </p:nvSpPr>
        <p:spPr/>
        <p:txBody>
          <a:bodyPr/>
          <a:lstStyle/>
          <a:p>
            <a:pPr marL="255651" indent="-255651" eaLnBrk="1" hangingPunct="1">
              <a:tabLst/>
              <a:defRPr/>
            </a:pPr>
            <a:r>
              <a:rPr lang="en-US" altLang="en-US" sz="1800" kern="1200" dirty="0">
                <a:solidFill>
                  <a:srgbClr val="000000"/>
                </a:solidFill>
                <a:latin typeface="Arial (Body)"/>
              </a:rPr>
              <a:t>A reference to an object is an alias for the name of the object and, hence, may be used on the left side of an assignment statement.</a:t>
            </a:r>
          </a:p>
          <a:p>
            <a:pPr marL="255651" indent="-255651" eaLnBrk="1" hangingPunct="1">
              <a:tabLst/>
              <a:defRPr/>
            </a:pPr>
            <a:r>
              <a:rPr lang="en-US" altLang="en-US" sz="1800" kern="1200" dirty="0">
                <a:solidFill>
                  <a:srgbClr val="000000"/>
                </a:solidFill>
                <a:latin typeface="Arial (Body)"/>
              </a:rPr>
              <a:t>In this context, the reference makes a perfectly acceptable </a:t>
            </a:r>
            <a:r>
              <a:rPr lang="en-US" altLang="en-US" sz="1800" b="1" kern="1200" dirty="0">
                <a:solidFill>
                  <a:srgbClr val="000000"/>
                </a:solidFill>
                <a:latin typeface="Arial (Body)"/>
              </a:rPr>
              <a:t>lvalue </a:t>
            </a:r>
            <a:r>
              <a:rPr lang="en-US" altLang="en-US" sz="1800" kern="1200" dirty="0">
                <a:solidFill>
                  <a:srgbClr val="000000"/>
                </a:solidFill>
                <a:latin typeface="Arial (Body)"/>
              </a:rPr>
              <a:t>that can receive a value.</a:t>
            </a:r>
          </a:p>
          <a:p>
            <a:pPr marL="255651" indent="-255651" eaLnBrk="1" hangingPunct="1">
              <a:tabLst/>
              <a:defRPr/>
            </a:pPr>
            <a:r>
              <a:rPr lang="en-US" altLang="en-US" sz="1800" kern="1200" dirty="0">
                <a:solidFill>
                  <a:srgbClr val="000000"/>
                </a:solidFill>
                <a:latin typeface="Arial (Body)"/>
              </a:rPr>
              <a:t>Unfortunately a </a:t>
            </a:r>
            <a:r>
              <a:rPr lang="en-US" altLang="en-US" sz="1800" kern="1200" dirty="0">
                <a:solidFill>
                  <a:srgbClr val="000000"/>
                </a:solidFill>
                <a:latin typeface="Consolas" panose="020B0609020204030204" pitchFamily="49" charset="0"/>
              </a:rPr>
              <a:t>public</a:t>
            </a:r>
            <a:r>
              <a:rPr lang="en-US" altLang="en-US" sz="1800" kern="1200" dirty="0">
                <a:solidFill>
                  <a:srgbClr val="000000"/>
                </a:solidFill>
                <a:latin typeface="Arial (Body)"/>
              </a:rPr>
              <a:t> member function of a class can return a reference to a </a:t>
            </a:r>
            <a:r>
              <a:rPr lang="en-US" altLang="en-US" sz="1800" kern="1200" dirty="0">
                <a:solidFill>
                  <a:srgbClr val="000000"/>
                </a:solidFill>
                <a:latin typeface="Consolas" panose="020B0609020204030204" pitchFamily="49" charset="0"/>
              </a:rPr>
              <a:t>private</a:t>
            </a:r>
            <a:r>
              <a:rPr lang="en-US" altLang="en-US" sz="1800" kern="1200" dirty="0">
                <a:solidFill>
                  <a:srgbClr val="000000"/>
                </a:solidFill>
                <a:latin typeface="Arial (Body)"/>
              </a:rPr>
              <a:t> data member of that class.</a:t>
            </a:r>
          </a:p>
          <a:p>
            <a:pPr marL="255651" indent="-255651" eaLnBrk="1" hangingPunct="1">
              <a:tabLst/>
              <a:defRPr/>
            </a:pPr>
            <a:r>
              <a:rPr lang="en-US" altLang="en-US" sz="1800" kern="1200" dirty="0">
                <a:solidFill>
                  <a:srgbClr val="000000"/>
                </a:solidFill>
                <a:latin typeface="Arial (Body)"/>
              </a:rPr>
              <a:t>Such a reference return actually makes a call to that member function an alias for the </a:t>
            </a:r>
            <a:r>
              <a:rPr lang="en-US" altLang="en-US" sz="1800" kern="1200" dirty="0">
                <a:solidFill>
                  <a:srgbClr val="000000"/>
                </a:solidFill>
                <a:latin typeface="Consolas" panose="020B0609020204030204" pitchFamily="49" charset="0"/>
              </a:rPr>
              <a:t>private</a:t>
            </a:r>
            <a:r>
              <a:rPr lang="en-US" altLang="en-US" sz="1800" kern="1200" dirty="0">
                <a:solidFill>
                  <a:srgbClr val="000000"/>
                </a:solidFill>
                <a:latin typeface="Arial (Body)"/>
              </a:rPr>
              <a:t> data member!</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 function call can be used in any way that the </a:t>
            </a:r>
            <a:r>
              <a:rPr lang="en-US" altLang="en-US" sz="1800" kern="1200" dirty="0">
                <a:solidFill>
                  <a:srgbClr val="000000"/>
                </a:solidFill>
                <a:latin typeface="Consolas" panose="020B0609020204030204" pitchFamily="49" charset="0"/>
              </a:rPr>
              <a:t>private</a:t>
            </a:r>
            <a:r>
              <a:rPr lang="en-US" altLang="en-US" sz="1800" kern="1200" dirty="0">
                <a:solidFill>
                  <a:srgbClr val="000000"/>
                </a:solidFill>
                <a:latin typeface="Arial (Body)"/>
              </a:rPr>
              <a:t> data member can be used, including as an </a:t>
            </a:r>
            <a:r>
              <a:rPr lang="en-US" altLang="en-US" sz="1800" b="1" kern="1200" dirty="0">
                <a:solidFill>
                  <a:srgbClr val="000000"/>
                </a:solidFill>
                <a:latin typeface="Arial (Body)"/>
              </a:rPr>
              <a:t>lvalue </a:t>
            </a:r>
            <a:r>
              <a:rPr lang="en-US" altLang="en-US" sz="1800" kern="1200" dirty="0">
                <a:solidFill>
                  <a:srgbClr val="000000"/>
                </a:solidFill>
                <a:latin typeface="Arial (Body)"/>
              </a:rPr>
              <a:t>in an assignment statement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rPr>
              <a:t>The same problem would occur if a pointer to the </a:t>
            </a:r>
            <a:r>
              <a:rPr lang="en-US" altLang="en-US" sz="1800" kern="1200" dirty="0">
                <a:solidFill>
                  <a:srgbClr val="000000"/>
                </a:solidFill>
                <a:latin typeface="Consolas" panose="020B0609020204030204" pitchFamily="49" charset="0"/>
              </a:rPr>
              <a:t>private</a:t>
            </a:r>
            <a:r>
              <a:rPr lang="en-US" altLang="en-US" sz="1800" kern="1200" dirty="0">
                <a:solidFill>
                  <a:srgbClr val="000000"/>
                </a:solidFill>
                <a:latin typeface="Arial (Body)"/>
              </a:rPr>
              <a:t> data were to be returned by the function</a:t>
            </a:r>
            <a:r>
              <a:rPr lang="en-US" altLang="en-US" sz="1800" kern="1200" dirty="0" smtClean="0">
                <a:solidFill>
                  <a:srgbClr val="000000"/>
                </a:solidFill>
                <a:latin typeface="Arial (Body)"/>
              </a:rPr>
              <a:t>.</a:t>
            </a:r>
            <a:endParaRPr lang="en-US" altLang="en-US" sz="18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199" y="215371"/>
            <a:ext cx="8378575" cy="1097279"/>
          </a:xfrm>
        </p:spPr>
        <p:txBody>
          <a:bodyPr/>
          <a:lstStyle/>
          <a:p>
            <a:r>
              <a:rPr lang="en-US" altLang="en-US" sz="2600" kern="1200" dirty="0">
                <a:latin typeface="Times New Roman" panose="02020603050405020304" pitchFamily="18" charset="0"/>
              </a:rPr>
              <a:t>17.8 </a:t>
            </a:r>
            <a:r>
              <a:rPr lang="en-US" altLang="en-US" sz="2600" kern="1200" dirty="0">
                <a:latin typeface="Consolas" panose="020B0609020204030204" pitchFamily="49" charset="0"/>
              </a:rPr>
              <a:t>Time</a:t>
            </a:r>
            <a:r>
              <a:rPr lang="en-US" altLang="en-US" sz="2600" kern="1200" dirty="0">
                <a:latin typeface="Times New Roman" panose="02020603050405020304" pitchFamily="18" charset="0"/>
              </a:rPr>
              <a:t> Class Case Study: A Subtle Trap—Returning a Reference or a Pointer to a </a:t>
            </a:r>
            <a:r>
              <a:rPr lang="en-US" altLang="en-US" sz="2600" kern="1200" dirty="0">
                <a:latin typeface="Consolas" panose="020B0609020204030204" pitchFamily="49" charset="0"/>
              </a:rPr>
              <a:t>Private</a:t>
            </a:r>
            <a:r>
              <a:rPr lang="en-US" altLang="en-US" sz="2600" kern="1200" dirty="0">
                <a:latin typeface="Times New Roman" panose="02020603050405020304" pitchFamily="18" charset="0"/>
              </a:rPr>
              <a:t> Data Member </a:t>
            </a:r>
            <a:r>
              <a:rPr lang="en-US" altLang="en-US" sz="2000" b="0" kern="1200" dirty="0" smtClean="0">
                <a:latin typeface="Times New Roman" panose="02020603050405020304" pitchFamily="18" charset="0"/>
              </a:rPr>
              <a:t>(2 </a:t>
            </a:r>
            <a:r>
              <a:rPr lang="en-US" altLang="en-US" sz="2000" b="0" kern="1200" dirty="0">
                <a:latin typeface="Times New Roman" panose="02020603050405020304" pitchFamily="18" charset="0"/>
              </a:rPr>
              <a:t>of 2)</a:t>
            </a:r>
            <a:endParaRPr lang="en-US" sz="2000" dirty="0"/>
          </a:p>
        </p:txBody>
      </p:sp>
      <p:sp>
        <p:nvSpPr>
          <p:cNvPr id="3" name="Text Placeholder 2"/>
          <p:cNvSpPr>
            <a:spLocks noGrp="1"/>
          </p:cNvSpPr>
          <p:nvPr>
            <p:ph type="body" idx="1"/>
          </p:nvPr>
        </p:nvSpPr>
        <p:spPr>
          <a:xfrm>
            <a:off x="457200" y="1600200"/>
            <a:ext cx="8229600" cy="3331651"/>
          </a:xfrm>
        </p:spPr>
        <p:txBody>
          <a:bodyPr>
            <a:spAutoFit/>
          </a:bodyPr>
          <a:lstStyle/>
          <a:p>
            <a:pPr marL="255651" indent="-255651" eaLnBrk="1" hangingPunct="1">
              <a:tabLst/>
              <a:defRPr/>
            </a:pPr>
            <a:r>
              <a:rPr lang="en-US" altLang="en-US" sz="2400" kern="1200" dirty="0">
                <a:solidFill>
                  <a:srgbClr val="000000"/>
                </a:solidFill>
                <a:latin typeface="Arial (Body)"/>
              </a:rPr>
              <a:t>If a function returns a reference that’s declared </a:t>
            </a:r>
            <a:r>
              <a:rPr lang="en-US" altLang="en-US" sz="2400" kern="1200" dirty="0">
                <a:solidFill>
                  <a:srgbClr val="000000"/>
                </a:solidFill>
                <a:latin typeface="Consolas" panose="020B0609020204030204" pitchFamily="49" charset="0"/>
              </a:rPr>
              <a:t>const</a:t>
            </a:r>
            <a:r>
              <a:rPr lang="en-US" altLang="en-US" sz="2400" kern="1200" dirty="0">
                <a:solidFill>
                  <a:srgbClr val="000000"/>
                </a:solidFill>
                <a:latin typeface="Arial (Body)"/>
              </a:rPr>
              <a:t>, the reference is a non-modifiable </a:t>
            </a:r>
            <a:r>
              <a:rPr lang="en-US" altLang="en-US" sz="2400" b="1" kern="1200" dirty="0">
                <a:solidFill>
                  <a:srgbClr val="000000"/>
                </a:solidFill>
                <a:latin typeface="Arial (Body)"/>
              </a:rPr>
              <a:t>lvalue</a:t>
            </a:r>
            <a:r>
              <a:rPr lang="en-US" altLang="en-US" sz="2400" kern="1200" dirty="0">
                <a:solidFill>
                  <a:srgbClr val="000000"/>
                </a:solidFill>
                <a:latin typeface="Arial (Body)"/>
              </a:rPr>
              <a:t> and cannot be used to modify the data</a:t>
            </a:r>
            <a:r>
              <a:rPr lang="en-US" altLang="en-US" sz="2400" b="1" kern="1200" dirty="0" smtClean="0">
                <a:solidFill>
                  <a:srgbClr val="000000"/>
                </a:solidFill>
                <a:latin typeface="Arial (Body)"/>
              </a:rPr>
              <a:t>.</a:t>
            </a:r>
            <a:endParaRPr lang="en-US" altLang="en-US" sz="2400" kern="1200" dirty="0" smtClean="0">
              <a:solidFill>
                <a:srgbClr val="000000"/>
              </a:solidFill>
              <a:latin typeface="Arial (Body)"/>
              <a:ea typeface="+mn-ea"/>
              <a:cs typeface="+mn-cs"/>
            </a:endParaRPr>
          </a:p>
          <a:p>
            <a:pPr marL="255651" indent="-255651" eaLnBrk="1" hangingPunct="1">
              <a:tabLst/>
              <a:defRPr/>
            </a:pPr>
            <a:r>
              <a:rPr lang="en-US" altLang="en-US" sz="2400" kern="1200" dirty="0" smtClean="0">
                <a:solidFill>
                  <a:srgbClr val="000000"/>
                </a:solidFill>
                <a:latin typeface="Arial (Body)"/>
                <a:ea typeface="+mn-ea"/>
                <a:cs typeface="+mn-cs"/>
              </a:rPr>
              <a:t>The </a:t>
            </a:r>
            <a:r>
              <a:rPr lang="en-US" altLang="en-US" sz="2400" kern="1200" dirty="0">
                <a:solidFill>
                  <a:srgbClr val="000000"/>
                </a:solidFill>
                <a:latin typeface="Arial (Body)"/>
                <a:ea typeface="+mn-ea"/>
                <a:cs typeface="+mn-cs"/>
              </a:rPr>
              <a:t>program of </a:t>
            </a:r>
            <a:r>
              <a:rPr lang="en-US" altLang="en-US" sz="2400" kern="1200" dirty="0" smtClean="0">
                <a:solidFill>
                  <a:srgbClr val="000000"/>
                </a:solidFill>
                <a:latin typeface="Arial (Body)"/>
                <a:ea typeface="+mn-ea"/>
                <a:cs typeface="+mn-cs"/>
              </a:rPr>
              <a:t>Figures. 17.10 (see slide 72)–17.12 (see slides 76-77) uses </a:t>
            </a:r>
            <a:r>
              <a:rPr lang="en-US" altLang="en-US" sz="2400" kern="1200" dirty="0">
                <a:solidFill>
                  <a:srgbClr val="000000"/>
                </a:solidFill>
                <a:latin typeface="Arial (Body)"/>
                <a:ea typeface="+mn-ea"/>
                <a:cs typeface="+mn-cs"/>
              </a:rPr>
              <a:t>a simplified </a:t>
            </a:r>
            <a:r>
              <a:rPr lang="en-US" altLang="en-US" sz="2400" kern="1200" dirty="0">
                <a:solidFill>
                  <a:srgbClr val="000000"/>
                </a:solidFill>
                <a:latin typeface="Consolas" panose="020B0609020204030204" pitchFamily="49" charset="0"/>
                <a:ea typeface="+mn-ea"/>
                <a:cs typeface="+mn-cs"/>
              </a:rPr>
              <a:t>Time</a:t>
            </a:r>
            <a:r>
              <a:rPr lang="en-US" altLang="en-US" sz="2400" kern="1200" dirty="0">
                <a:solidFill>
                  <a:srgbClr val="000000"/>
                </a:solidFill>
                <a:latin typeface="Arial (Body)"/>
                <a:ea typeface="+mn-ea"/>
                <a:cs typeface="+mn-cs"/>
              </a:rPr>
              <a:t> class (</a:t>
            </a:r>
            <a:r>
              <a:rPr lang="en-US" altLang="en-US" sz="2400" kern="1200" dirty="0" smtClean="0">
                <a:solidFill>
                  <a:srgbClr val="000000"/>
                </a:solidFill>
                <a:latin typeface="Arial (Body)"/>
                <a:ea typeface="+mn-ea"/>
                <a:cs typeface="+mn-cs"/>
              </a:rPr>
              <a:t>Figure 17.10 </a:t>
            </a:r>
            <a:r>
              <a:rPr lang="en-US" altLang="en-US" sz="2400" kern="1200" dirty="0">
                <a:solidFill>
                  <a:srgbClr val="000000"/>
                </a:solidFill>
                <a:latin typeface="Arial (Body)"/>
                <a:ea typeface="+mn-ea"/>
                <a:cs typeface="+mn-cs"/>
              </a:rPr>
              <a:t>and </a:t>
            </a:r>
            <a:r>
              <a:rPr lang="en-US" altLang="en-US" sz="2400" kern="1200" dirty="0" smtClean="0">
                <a:solidFill>
                  <a:srgbClr val="000000"/>
                </a:solidFill>
                <a:latin typeface="Arial (Body)"/>
                <a:ea typeface="+mn-ea"/>
                <a:cs typeface="+mn-cs"/>
              </a:rPr>
              <a:t>Figure 17.11(see slides 73-74) to </a:t>
            </a:r>
            <a:r>
              <a:rPr lang="en-US" altLang="en-US" sz="2400" kern="1200" dirty="0">
                <a:solidFill>
                  <a:srgbClr val="000000"/>
                </a:solidFill>
                <a:latin typeface="Arial (Body)"/>
                <a:ea typeface="+mn-ea"/>
                <a:cs typeface="+mn-cs"/>
              </a:rPr>
              <a:t>demonstrate returning a reference to a private data member with member function </a:t>
            </a:r>
            <a:r>
              <a:rPr lang="en-US" altLang="en-US" sz="2400" kern="1200" dirty="0" smtClean="0">
                <a:solidFill>
                  <a:srgbClr val="000000"/>
                </a:solidFill>
                <a:latin typeface="Consolas" panose="020B0609020204030204" pitchFamily="49" charset="0"/>
                <a:ea typeface="+mn-ea"/>
                <a:cs typeface="+mn-cs"/>
              </a:rPr>
              <a:t>badSetHour</a:t>
            </a:r>
            <a:r>
              <a:rPr lang="en-US" altLang="en-US" sz="2400" kern="1200" dirty="0" smtClean="0">
                <a:solidFill>
                  <a:srgbClr val="000000"/>
                </a:solidFill>
                <a:latin typeface="Arial (Body)"/>
                <a:ea typeface="+mn-ea"/>
                <a:cs typeface="+mn-cs"/>
              </a:rPr>
              <a:t>.</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smtClean="0"/>
              <a:t>Figure 17.10 Time </a:t>
            </a:r>
            <a:r>
              <a:rPr lang="en-US" dirty="0"/>
              <a:t>Class </a:t>
            </a:r>
            <a:r>
              <a:rPr lang="en-US" dirty="0" smtClean="0"/>
              <a:t>Declaration</a:t>
            </a:r>
            <a:endParaRPr lang="en-US" dirty="0"/>
          </a:p>
        </p:txBody>
      </p:sp>
      <p:pic>
        <p:nvPicPr>
          <p:cNvPr id="3" name="Picture 2" descr="The computer code has 22 lines. The lines read as follows. Line 1. forward slash forward slash F i g period 9 period 10 colon Time period h. Line 2. forward slash forward slash Time class declaration period. Line 3. forward slash forward slash Member functions defined in Time period c p p. Line 4. blank. Line 5. forward slash forward slash prevent multiple inclusions of header. Line 6. hash if n d e f TIME underscore H. Line 7. hash define TIME underscore H. Line 8. Blank. Line 17. class Time. Line 10. left brace. Line 11. public colon. Line 12, indented once. explicit Time left parenthesis i n t equals 0 comma i n t equals 0 comma i n t equals 0 right parenthesis semicolon. Line 13, indented once. void set Time left parenthesis i n t comma i n t comma i n t right parenthesis semicolon. Line 14, indented once. unsigned i n t get Hour left parenthesis right parenthesis c o n s t semicolon. Line 15, indented once. unsigned i n t ampersand bad Set Hour left parenthesis i n t right parenthesis semicolon forward slash forward slash dangerous reference return. Line 15 is highlighted. Line 16. private colon. Line 17, indented once. unsigned i n t hour semicolon. Line 18, indented once. unsigned i n t minute semicolon. Line 19, indented once. unsigned i n t second semicolon. Line 20. right brace semicolon forward slash forward slash end class Time. Line 21. Blank. Line 22. hash end if."/>
          <p:cNvPicPr>
            <a:picLocks noChangeAspect="1"/>
          </p:cNvPicPr>
          <p:nvPr/>
        </p:nvPicPr>
        <p:blipFill>
          <a:blip r:embed="rId2"/>
          <a:stretch>
            <a:fillRect/>
          </a:stretch>
        </p:blipFill>
        <p:spPr>
          <a:xfrm>
            <a:off x="659610" y="1494806"/>
            <a:ext cx="7824778" cy="473141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17.11 </a:t>
            </a:r>
            <a:r>
              <a:rPr lang="en-US" dirty="0">
                <a:latin typeface="Consolas" panose="020B0609020204030204" pitchFamily="49" charset="0"/>
              </a:rPr>
              <a:t>Time</a:t>
            </a:r>
            <a:r>
              <a:rPr lang="en-US" dirty="0"/>
              <a:t> Class Member-Function </a:t>
            </a:r>
            <a:r>
              <a:rPr lang="en-US" dirty="0" smtClean="0"/>
              <a:t>Definitions </a:t>
            </a:r>
            <a:r>
              <a:rPr lang="en-US" sz="2000" b="0" dirty="0" smtClean="0"/>
              <a:t>(1 of 2)</a:t>
            </a:r>
            <a:endParaRPr lang="en-US" sz="2000" b="0" dirty="0"/>
          </a:p>
        </p:txBody>
      </p:sp>
      <p:pic>
        <p:nvPicPr>
          <p:cNvPr id="3" name="Picture 2" descr="The computer code has 45 lines. The lines read as follows. Line 1. forward slash forward slash Fig period 17 period 11 colon Time period c p p. Line 2. forward slash forward slash Time class member dash function definitions period. Line 3. hash include left angle bracket s t d except right angle bracket. Line 4. hash include double quote Time period h double quote forward slash forward slash include definition of class Time. Line 5. using namespace s t d semicolon. Line 6. Blank. Line 7. forward slash forward slash constructor function to initialize private data semicolon calls member function. Line 8. forward slash forward slash set Time to set variables semicolon default values are 0 left parenthesis see class definition right parenthesis. Line 9. Time colon colon Time left parenthesis i n t, h r comma i n t min comma i n t sec right parenthesis. Line 10. left brace. Line 11, indented once. set Time left parenthesis hr comma min comma sec right parenthesis semicolon. Line 12. right brace forward slash forward slash end Time constructor. Line 13. Blank. Line 14. forward slash forward slash set values of hour comma minute and second. Line 15. void Time colon colon set Time left parenthesis i n t, h comma I n t, m comma I n t, s right parenthesis. Line 16. left brace. Line 17, indented once. forward slash forward slash validate hour comma minute and second. Line 18, indented once. if left parenthesis left parenthesis h greater than sign equals 0 ampersand ampersand h less than sign 24 right parenthesis ampersand ampersand left parenthesis m greater than sign equals 0 ampersand ampersand m less than sign 60 right parenthesis ampersand ampersand. Line 19, indented twice. left parenthesis s greater than sign equals 0 ampersand ampersand s less than sign 60 right parenthesis right parenthesis. Line 20, indented once. left brace. Line 21, indented twice. hour equals h semicolon. Line 22, indented twice. minute equals m semicolon. Line 23, indented twice. second equals s semicolon. Line 24, indented once. right brace forward slash forward slash end if. "/>
          <p:cNvPicPr>
            <a:picLocks noChangeAspect="1"/>
          </p:cNvPicPr>
          <p:nvPr/>
        </p:nvPicPr>
        <p:blipFill>
          <a:blip r:embed="rId2"/>
          <a:stretch>
            <a:fillRect/>
          </a:stretch>
        </p:blipFill>
        <p:spPr>
          <a:xfrm>
            <a:off x="924008" y="1472794"/>
            <a:ext cx="7295982" cy="4837079"/>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17.11 </a:t>
            </a:r>
            <a:r>
              <a:rPr lang="en-US" dirty="0">
                <a:latin typeface="Consolas" panose="020B0609020204030204" pitchFamily="49" charset="0"/>
              </a:rPr>
              <a:t>Time</a:t>
            </a:r>
            <a:r>
              <a:rPr lang="en-US" dirty="0"/>
              <a:t> Class Member-Function Definitions </a:t>
            </a:r>
            <a:r>
              <a:rPr lang="en-US" sz="2000" b="0" dirty="0" smtClean="0"/>
              <a:t>(2 </a:t>
            </a:r>
            <a:r>
              <a:rPr lang="en-US" sz="2000" b="0" dirty="0"/>
              <a:t>of 2)</a:t>
            </a:r>
            <a:endParaRPr lang="en-US" dirty="0"/>
          </a:p>
        </p:txBody>
      </p:sp>
      <p:pic>
        <p:nvPicPr>
          <p:cNvPr id="3" name="Picture 2" descr="The code continues. Line 25, indented once. else. Line 26, indented twice. throw invalid underscore argument left parenthesis. Line 27, indented 3 times. double quote hour comma minute and forward slash or second was out of range double quote right parenthesis semicolon. Line 28. right brace forward slash forward slash end function set Time. Line 29. Blank. Line 30. forward slash forward slash return hour value. Line 31. unsigned i n t Time colon colon get Hour left parenthesis right parenthesis. Line 32. left brace. Line 33. return hour semicolon. Line 34. right brace forward slash forward slash end function get Hour. Line 35. Blank. Line 36. forward slash forward slash poor practice colon returning a reference to a private data member period. Line 37. unsigned i n t ampersand Time colon colon bad Set Hour left parenthesis I n t, h h right parenthesis. Lines 36 and 37 are highlighted. Line 38. left brace. Line 39, indented once. if left parenthesis h h greater than sign equals 0 ampersand ampersand h h less than sign 24 right parenthesis. Line 40, indented twice. hour equals hh semicolon. Line 41, indented once. else. Line 42, indented twice. throw invalid underscore argument left parenthesis double quote hour must be 0 dash 23 double quote right parenthesis semicolon. Line 43. Blank. Line 44, indented once. return hour semicolon forward slash forward slash dangerous reference return. Line 45. right brace forward slash forward slash end function bad Set Hour."/>
          <p:cNvPicPr>
            <a:picLocks noChangeAspect="1"/>
          </p:cNvPicPr>
          <p:nvPr/>
        </p:nvPicPr>
        <p:blipFill>
          <a:blip r:embed="rId2"/>
          <a:stretch>
            <a:fillRect/>
          </a:stretch>
        </p:blipFill>
        <p:spPr>
          <a:xfrm>
            <a:off x="682262" y="1529535"/>
            <a:ext cx="7779475" cy="4659614"/>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dirty="0"/>
              <a:t>Software Engineering Observation </a:t>
            </a:r>
            <a:r>
              <a:rPr lang="en-US" dirty="0" smtClean="0"/>
              <a:t>17.7</a:t>
            </a:r>
            <a:endParaRPr lang="en-US" dirty="0"/>
          </a:p>
        </p:txBody>
      </p:sp>
      <p:sp>
        <p:nvSpPr>
          <p:cNvPr id="5" name="Text Placeholder 4"/>
          <p:cNvSpPr>
            <a:spLocks noGrp="1"/>
          </p:cNvSpPr>
          <p:nvPr>
            <p:ph type="body" idx="1"/>
          </p:nvPr>
        </p:nvSpPr>
        <p:spPr>
          <a:xfrm>
            <a:off x="457200" y="1600201"/>
            <a:ext cx="8229600" cy="2438400"/>
          </a:xfrm>
        </p:spPr>
        <p:txBody>
          <a:bodyPr/>
          <a:lstStyle/>
          <a:p>
            <a:pPr marL="0" indent="0">
              <a:buNone/>
            </a:pPr>
            <a:r>
              <a:rPr lang="en-US" sz="2400" dirty="0">
                <a:latin typeface="Arial Body"/>
              </a:rPr>
              <a:t>Returning a reference or a pointer to a </a:t>
            </a:r>
            <a:r>
              <a:rPr lang="en-US" sz="2400" dirty="0">
                <a:latin typeface="Consolas" panose="020B0609020204030204" pitchFamily="49" charset="0"/>
              </a:rPr>
              <a:t>private</a:t>
            </a:r>
            <a:r>
              <a:rPr lang="en-US" sz="2400" dirty="0">
                <a:latin typeface="Arial Body"/>
              </a:rPr>
              <a:t> data member breaks the encapsulation of the class and makes the client code dependent on the representation of the class’s data. There are cases where doing this is appropriate—we’ll show an example of this when we build our custom </a:t>
            </a:r>
            <a:r>
              <a:rPr lang="en-US" sz="2400" dirty="0">
                <a:latin typeface="Consolas" panose="020B0609020204030204" pitchFamily="49" charset="0"/>
              </a:rPr>
              <a:t>Array</a:t>
            </a:r>
            <a:r>
              <a:rPr lang="en-US" sz="2400" dirty="0">
                <a:latin typeface="Arial Body"/>
              </a:rPr>
              <a:t> class in Section </a:t>
            </a:r>
            <a:r>
              <a:rPr lang="en-US" sz="2400" dirty="0" smtClean="0">
                <a:latin typeface="Arial Body"/>
              </a:rPr>
              <a:t>10.10.</a:t>
            </a:r>
            <a:endParaRPr lang="en-US" sz="2400" dirty="0">
              <a:latin typeface="Arial Body"/>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928166" cy="1466849"/>
          </a:xfrm>
        </p:spPr>
        <p:txBody>
          <a:bodyPr anchor="t"/>
          <a:lstStyle/>
          <a:p>
            <a:r>
              <a:rPr lang="en-US" sz="3000" dirty="0"/>
              <a:t>Figure </a:t>
            </a:r>
            <a:r>
              <a:rPr lang="en-US" sz="3000" dirty="0" smtClean="0"/>
              <a:t>17.12 </a:t>
            </a:r>
            <a:r>
              <a:rPr lang="en-US" sz="3000" dirty="0">
                <a:latin typeface="Consolas" panose="020B0609020204030204" pitchFamily="49" charset="0"/>
              </a:rPr>
              <a:t>Public</a:t>
            </a:r>
            <a:r>
              <a:rPr lang="en-US" sz="3000" dirty="0"/>
              <a:t> Member Function That Returns a Reference to a </a:t>
            </a:r>
            <a:r>
              <a:rPr lang="en-US" sz="3000" dirty="0">
                <a:latin typeface="Consolas" panose="020B0609020204030204" pitchFamily="49" charset="0"/>
              </a:rPr>
              <a:t>Private</a:t>
            </a:r>
            <a:r>
              <a:rPr lang="en-US" sz="3000" dirty="0"/>
              <a:t> Data </a:t>
            </a:r>
            <a:r>
              <a:rPr lang="en-US" sz="3000" dirty="0" smtClean="0"/>
              <a:t>Member</a:t>
            </a:r>
            <a:r>
              <a:rPr lang="en-US" sz="3200" dirty="0" smtClean="0"/>
              <a:t> </a:t>
            </a:r>
            <a:r>
              <a:rPr lang="en-US" sz="2000" b="0" dirty="0" smtClean="0"/>
              <a:t>(1 of 2)</a:t>
            </a:r>
            <a:endParaRPr lang="en-US" sz="2000" b="0" dirty="0"/>
          </a:p>
        </p:txBody>
      </p:sp>
      <p:pic>
        <p:nvPicPr>
          <p:cNvPr id="3" name="Picture 2" descr="The computer code has 28 lines. The lines read as follows. Line 1. forward slash forward slash Fig period 17 period 12 colon fig 17 underscore 12 period c p p. Line 2. forward slash forward slash Demonstrating a public member function that. Line 3. forward slash forward slash returns a reference to a private data member period. Line 4. hash include left angle bracket i o stream right angle bracket. Line 5. hash include double quote Time period h double quote forward slash forward slash include definition of class Time. Line 6. using namespace s t d semicolon. Line 7. Blank. Line 8. i n t main left parenthesis right parenthesis. Line 9. left brace. Line 10, indented once. Time t semicolon forward slash forward slash create Time object. Line 11. blank. Line 12, indented once. forward slash forward slash initialize hour R e f with the reference returned by bad Set Hour. Line 13, indented once. i n t ampersand hour R e f equals t period bad Set Hour left parenthesis 20 right parenthesis semicolon forward slash forward slash 20 is a valid hour. Lines 12 and 13 are highlighted. Line 14. Blank. Line 15, indented once. c out left angle bracket left angle bracket double quote Valid hour before modification colon double quote left angle bracket left angle bracket hour R e f semicolon. Line 16, indented once. hour R e f equals 30 semicolon forward slash forward slash use hour R e f to set invalid value in Time object t. Lines 15 and 16 are highlighted. Line 17, indented once. c out left angle bracket left angle bracket double quote back slash n Invalid hour after modification colon double quote left angle bracket left angle bracket t period get Hour left parenthesis right parenthesis semicolon. Line 18. Blank. Line 19, indented once. forward slash forward slash Dangerous colon Function call that returns. Line 20, indented once. forward slash forward slash a reference can be used as an l value exclamation point. Line 21, indented once. t period bad Set Hour left parenthesis 12 right parenthesis equals 74 semicolon forward slash forward slash assign another invalid value to hour. Lines 19, 20, and 21 are highlighted. Line 22. Blank."/>
          <p:cNvPicPr>
            <a:picLocks noChangeAspect="1"/>
          </p:cNvPicPr>
          <p:nvPr/>
        </p:nvPicPr>
        <p:blipFill>
          <a:blip r:embed="rId2"/>
          <a:stretch>
            <a:fillRect/>
          </a:stretch>
        </p:blipFill>
        <p:spPr>
          <a:xfrm>
            <a:off x="699183" y="1863321"/>
            <a:ext cx="7444198" cy="4446449"/>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686675" cy="1504950"/>
          </a:xfrm>
        </p:spPr>
        <p:txBody>
          <a:bodyPr anchor="t"/>
          <a:lstStyle/>
          <a:p>
            <a:r>
              <a:rPr lang="en-US" sz="3000" dirty="0"/>
              <a:t>Figure </a:t>
            </a:r>
            <a:r>
              <a:rPr lang="en-US" sz="3000" dirty="0" smtClean="0"/>
              <a:t>17.12 </a:t>
            </a:r>
            <a:r>
              <a:rPr lang="en-US" sz="3000" dirty="0">
                <a:latin typeface="Consolas" panose="020B0609020204030204" pitchFamily="49" charset="0"/>
              </a:rPr>
              <a:t>Public</a:t>
            </a:r>
            <a:r>
              <a:rPr lang="en-US" sz="3000" dirty="0"/>
              <a:t> Member Function That Returns a Reference to a </a:t>
            </a:r>
            <a:r>
              <a:rPr lang="en-US" sz="3000" dirty="0">
                <a:latin typeface="Consolas" panose="020B0609020204030204" pitchFamily="49" charset="0"/>
              </a:rPr>
              <a:t>Private</a:t>
            </a:r>
            <a:r>
              <a:rPr lang="en-US" sz="3000" dirty="0"/>
              <a:t> Data Member</a:t>
            </a:r>
            <a:r>
              <a:rPr lang="en-US" sz="3200" dirty="0"/>
              <a:t> </a:t>
            </a:r>
            <a:r>
              <a:rPr lang="en-US" sz="2000" b="0" dirty="0" smtClean="0"/>
              <a:t>(2 </a:t>
            </a:r>
            <a:r>
              <a:rPr lang="en-US" sz="2000" b="0" dirty="0"/>
              <a:t>of 2)</a:t>
            </a:r>
            <a:endParaRPr lang="en-US" dirty="0"/>
          </a:p>
        </p:txBody>
      </p:sp>
      <p:pic>
        <p:nvPicPr>
          <p:cNvPr id="3" name="Picture 2" descr="The code continues. Line 23, indented once. c out left angle bracket left angle bracket double quote back slash n back slash n series of asterisk back slash n double quote. Line 24, indented twice. left angle bracket left angle bracket double quote POOR PROGRAMMING PRACTICE exclamation point exclamation point exclamation point exclamation point exclamation point exclamation point exclamation point exclamation point back slash n double quote. Line 25, indented twice. left angle bracket left angle bracket double quote t period bad Set Hour left parenthesis 12 right parenthesis as an l value comma invalid hour colon double quote. Line 26, indented twice. left angle bracket left angle bracket t period get Hour left parenthesis right parenthesis. Line 27, indented twice. left angle bracket left angle bracket double quote back slash n series of asterisk double quote left angle bracket left angle bracket end l semicolon. Line 28. right brace forward slash forward slash end main. The code output has 6 lines. The lines read as follows. Line 1. Valid hour before modification colon 20. Line 2. Invalid hour after modification colon 30. Line 3. series of asterisk. Line 4. POOR PROGRAMMING PRACTICE exclamation point exclamation point exclamation point exclamation point exclamation point exclamation point exclamation point exclamation point. Line 5. t period bad Set Hour left parenthesis 12 right parenthesis as an l value comma invalid hour colon 74. Line 6. series of asterisk."/>
          <p:cNvPicPr>
            <a:picLocks noChangeAspect="1"/>
          </p:cNvPicPr>
          <p:nvPr/>
        </p:nvPicPr>
        <p:blipFill>
          <a:blip r:embed="rId2"/>
          <a:stretch>
            <a:fillRect/>
          </a:stretch>
        </p:blipFill>
        <p:spPr>
          <a:xfrm>
            <a:off x="574315" y="2208072"/>
            <a:ext cx="7995368" cy="3202139"/>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17.9 Default Memberwise Assignment </a:t>
            </a:r>
            <a:r>
              <a:rPr lang="en-US" altLang="en-US" sz="2000" b="0" kern="1200" dirty="0" smtClean="0">
                <a:latin typeface="Times New Roman" panose="02020603050405020304" pitchFamily="18" charset="0"/>
                <a:ea typeface="+mj-ea"/>
                <a:cs typeface="+mj-cs"/>
              </a:rPr>
              <a:t>(1 of 2)</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032250"/>
          </a:xfrm>
        </p:spPr>
        <p:txBody>
          <a:bodyPr>
            <a:spAutoFit/>
          </a:bodyPr>
          <a:lstStyle/>
          <a:p>
            <a:pPr marL="255651" indent="-255651" eaLnBrk="1" hangingPunct="1">
              <a:tabLst/>
              <a:defRPr/>
            </a:pPr>
            <a:r>
              <a:rPr lang="en-US" altLang="en-US" sz="2000" kern="1200" dirty="0">
                <a:solidFill>
                  <a:srgbClr val="000000"/>
                </a:solidFill>
                <a:latin typeface="Arial (Body)"/>
                <a:ea typeface="+mn-ea"/>
                <a:cs typeface="+mn-cs"/>
              </a:rPr>
              <a:t>The assignment operator (=) can be used to assign an object to another object of the same type.</a:t>
            </a:r>
          </a:p>
          <a:p>
            <a:pPr marL="255651" indent="-255651" eaLnBrk="1" hangingPunct="1">
              <a:tabLst/>
              <a:defRPr/>
            </a:pPr>
            <a:r>
              <a:rPr lang="en-US" altLang="en-US" sz="2000" kern="1200" dirty="0">
                <a:solidFill>
                  <a:srgbClr val="000000"/>
                </a:solidFill>
                <a:latin typeface="Arial (Body)"/>
                <a:ea typeface="+mn-ea"/>
                <a:cs typeface="+mn-cs"/>
              </a:rPr>
              <a:t>By default, such assignment is performed by</a:t>
            </a:r>
            <a:r>
              <a:rPr lang="en-US" altLang="en-US" sz="2000" b="1" kern="1200" dirty="0">
                <a:solidFill>
                  <a:srgbClr val="000000"/>
                </a:solidFill>
                <a:latin typeface="Arial (Body)"/>
                <a:ea typeface="+mn-ea"/>
                <a:cs typeface="+mn-cs"/>
              </a:rPr>
              <a:t> memberwise assignment</a:t>
            </a:r>
            <a:r>
              <a:rPr lang="en-US" altLang="en-US" sz="2000" kern="1200" dirty="0">
                <a:solidFill>
                  <a:srgbClr val="000000"/>
                </a:solidFill>
                <a:latin typeface="Arial (Body)"/>
                <a:ea typeface="+mn-ea"/>
                <a:cs typeface="+mn-cs"/>
              </a:rPr>
              <a:t> (also called </a:t>
            </a:r>
            <a:r>
              <a:rPr lang="en-US" altLang="en-US" sz="2000" b="1" kern="1200" dirty="0">
                <a:solidFill>
                  <a:srgbClr val="000000"/>
                </a:solidFill>
                <a:latin typeface="Arial (Body)"/>
                <a:ea typeface="+mn-ea"/>
                <a:cs typeface="+mn-cs"/>
              </a:rPr>
              <a:t>copy assignment</a:t>
            </a:r>
            <a:r>
              <a:rPr lang="en-US" altLang="en-US" sz="2000" kern="1200" dirty="0">
                <a:solidFill>
                  <a:srgbClr val="000000"/>
                </a:solidFill>
                <a:latin typeface="Arial (Body)"/>
                <a:ea typeface="+mn-ea"/>
                <a:cs typeface="+mn-cs"/>
              </a:rPr>
              <a:t>).</a:t>
            </a:r>
          </a:p>
          <a:p>
            <a:pPr marL="741553" lvl="1" indent="-284353" eaLnBrk="1" hangingPunct="1">
              <a:buFont typeface="Arial" panose="020B0604020202020204" pitchFamily="34" charset="0"/>
              <a:buChar char="–"/>
              <a:defRPr/>
            </a:pPr>
            <a:r>
              <a:rPr lang="en-US" altLang="en-US" sz="2000" kern="1200" dirty="0">
                <a:solidFill>
                  <a:srgbClr val="000000"/>
                </a:solidFill>
                <a:latin typeface="Arial (Body)"/>
                <a:ea typeface="+mn-ea"/>
                <a:cs typeface="+mn-cs"/>
              </a:rPr>
              <a:t>Each data member of the object on the right of the assignment operator is assigned individually to the </a:t>
            </a:r>
            <a:r>
              <a:rPr lang="en-US" altLang="en-US" sz="2000" b="1" kern="1200" dirty="0">
                <a:solidFill>
                  <a:srgbClr val="000000"/>
                </a:solidFill>
                <a:latin typeface="Arial (Body)"/>
                <a:ea typeface="+mn-ea"/>
                <a:cs typeface="+mn-cs"/>
              </a:rPr>
              <a:t>same</a:t>
            </a:r>
            <a:r>
              <a:rPr lang="en-US" altLang="en-US" sz="2000" kern="1200" dirty="0">
                <a:solidFill>
                  <a:srgbClr val="000000"/>
                </a:solidFill>
                <a:latin typeface="Arial (Body)"/>
                <a:ea typeface="+mn-ea"/>
                <a:cs typeface="+mn-cs"/>
              </a:rPr>
              <a:t> data member in the object on the </a:t>
            </a:r>
            <a:r>
              <a:rPr lang="en-US" altLang="en-US" sz="2000" b="1" kern="1200" dirty="0">
                <a:solidFill>
                  <a:srgbClr val="000000"/>
                </a:solidFill>
                <a:latin typeface="Arial (Body)"/>
                <a:ea typeface="+mn-ea"/>
                <a:cs typeface="+mn-cs"/>
              </a:rPr>
              <a:t>left</a:t>
            </a:r>
            <a:r>
              <a:rPr lang="en-US" altLang="en-US" sz="2000" kern="1200" dirty="0">
                <a:solidFill>
                  <a:srgbClr val="000000"/>
                </a:solidFill>
                <a:latin typeface="Arial (Body)"/>
                <a:ea typeface="+mn-ea"/>
                <a:cs typeface="+mn-cs"/>
              </a:rPr>
              <a:t> of the assignment operator.</a:t>
            </a:r>
          </a:p>
          <a:p>
            <a:pPr marL="255651" indent="-255651" eaLnBrk="1" hangingPunct="1">
              <a:tabLst/>
              <a:defRPr/>
            </a:pPr>
            <a:r>
              <a:rPr lang="en-US" altLang="en-US" sz="2000" kern="1200" dirty="0">
                <a:solidFill>
                  <a:srgbClr val="000000"/>
                </a:solidFill>
                <a:latin typeface="Arial (Body)"/>
                <a:ea typeface="+mn-ea"/>
                <a:cs typeface="+mn-cs"/>
              </a:rPr>
              <a:t>[</a:t>
            </a:r>
            <a:r>
              <a:rPr lang="en-US" altLang="en-US" sz="2000" b="1" kern="1200" dirty="0">
                <a:solidFill>
                  <a:srgbClr val="000000"/>
                </a:solidFill>
                <a:latin typeface="Arial (Body)"/>
                <a:ea typeface="+mn-ea"/>
                <a:cs typeface="+mn-cs"/>
              </a:rPr>
              <a:t>Caution</a:t>
            </a:r>
            <a:r>
              <a:rPr lang="en-US" altLang="en-US" sz="2000" i="1" kern="1200" dirty="0">
                <a:solidFill>
                  <a:srgbClr val="000000"/>
                </a:solidFill>
                <a:latin typeface="Arial (Body)"/>
                <a:ea typeface="+mn-ea"/>
                <a:cs typeface="+mn-cs"/>
              </a:rPr>
              <a:t>:</a:t>
            </a:r>
            <a:r>
              <a:rPr lang="en-US" altLang="en-US" sz="2000" kern="1200" dirty="0">
                <a:solidFill>
                  <a:srgbClr val="000000"/>
                </a:solidFill>
                <a:latin typeface="Arial (Body)"/>
                <a:ea typeface="+mn-ea"/>
                <a:cs typeface="+mn-cs"/>
              </a:rPr>
              <a:t> Memberwise assignment can cause serious problems when used with a class whose data members contain pointers to dynamically allocated memory; we discuss these problems in Chapter 10 and show how to deal with </a:t>
            </a:r>
            <a:r>
              <a:rPr lang="en-US" altLang="en-US" sz="2000" kern="1200" dirty="0" smtClean="0">
                <a:solidFill>
                  <a:srgbClr val="000000"/>
                </a:solidFill>
                <a:latin typeface="Arial (Body)"/>
                <a:ea typeface="+mn-ea"/>
                <a:cs typeface="+mn-cs"/>
              </a:rPr>
              <a:t>them.]</a:t>
            </a:r>
            <a:endParaRPr lang="en-US" altLang="en-US" sz="20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17.13 </a:t>
            </a:r>
            <a:r>
              <a:rPr lang="en-US" dirty="0">
                <a:latin typeface="Consolas" panose="020B0609020204030204" pitchFamily="49" charset="0"/>
              </a:rPr>
              <a:t>Date</a:t>
            </a:r>
            <a:r>
              <a:rPr lang="en-US" dirty="0"/>
              <a:t> Class Declaration</a:t>
            </a:r>
          </a:p>
        </p:txBody>
      </p:sp>
      <p:pic>
        <p:nvPicPr>
          <p:cNvPr id="3" name="Picture 2" descr="The computer code has 20 lines. The lines read as follows. Line 1. forward slash forward slash Fig period 17 period 13 colon Date period h. Line 2. forward slash forward slash Date class declaration period Member functions are defined in Date period c p p period. Line 3. Blank. Line 4. forward slash forward slash prevent multiple inclusions of header. Line 5. hash if n d e f DATE underscore H. Line 6. hash define DATE underscore H. Line 7. Blank. Line 8. forward slash forward slash class Date definition. Line 9. class Date. Line 10. left brace. Line 11. public colon. Line 12, indented once. explicit Date left parenthesis i n t equals 1 comma i n t equals 1 comma i n t equals 2000 right parenthesis semicolon forward slash forward slash default constructor. Line 13, indented once. void print left parenthesis right parenthesis semicolon. Line 14. private colon. Line 15, indented once. unsigned i n t month semicolon. Line 16, indented once. unsigned i n t day semicolon. Line 17, indented once. unsigned i n t year semicolon. Line 18. right brace semicolon forward slash forward slash end class Date. Line 19. blank. Line 20. hash end if."/>
          <p:cNvPicPr>
            <a:picLocks noChangeAspect="1"/>
          </p:cNvPicPr>
          <p:nvPr/>
        </p:nvPicPr>
        <p:blipFill>
          <a:blip r:embed="rId2"/>
          <a:stretch>
            <a:fillRect/>
          </a:stretch>
        </p:blipFill>
        <p:spPr>
          <a:xfrm>
            <a:off x="574315" y="1674755"/>
            <a:ext cx="7995368" cy="4453708"/>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17.14 </a:t>
            </a:r>
            <a:r>
              <a:rPr lang="en-US" dirty="0">
                <a:latin typeface="Consolas" panose="020B0609020204030204" pitchFamily="49" charset="0"/>
              </a:rPr>
              <a:t>Date</a:t>
            </a:r>
            <a:r>
              <a:rPr lang="en-US" dirty="0"/>
              <a:t> Class Member-Function Definitions</a:t>
            </a:r>
          </a:p>
        </p:txBody>
      </p:sp>
      <p:pic>
        <p:nvPicPr>
          <p:cNvPr id="3" name="Picture 2" descr="The computer code has 17 lines. The lines read as follows. Line 1. forward slash forward slash Fig period 17 period 14 colon Date period c p p. Line 2. forward slash forward slash Date class member dash function definitions period. Line 3. hash include left angle bracket i o stream right angle bracket. Line 4. hash include double quote Date period h double quote forward slash forward slash include definition of class Date from Date period h. Line 5. using namespace s t d semicolon. Line 6. Blank. Line 7. forward slash forward slash Date constructor left parenthesis should do range checking right parenthesis. Line 8. Date colon colon Date left parenthesis I n t, m comma I n t, d comma I n t, y right parenthesis. Line 9, indented once. colon month left parenthesis m right parenthesis comma day left parenthesis d right parenthesis comma year left parenthesis y right parenthesis. Line 10. left brace. Line 11. right brace forward slash forward slash end constructor Date. Line 12. Blank. Line 13. forward slash forward slash print Date in the format mm forward slash d d forward slash y y y y. Line 14. void Date colon colon print left parenthesis right parenthesis. Line 15. left brace. Line 16, indented once. c out left angle bracket left angle bracket month left angle bracket left angle bracket single quote forward slash single quote left angle bracket left angle bracket day left angle bracket left angle bracket single quote forward slash single quote left angle bracket left angle bracket year semicolon. Line 17. right brace forward slash forward slash end function print."/>
          <p:cNvPicPr>
            <a:picLocks noChangeAspect="1"/>
          </p:cNvPicPr>
          <p:nvPr/>
        </p:nvPicPr>
        <p:blipFill>
          <a:blip r:embed="rId2"/>
          <a:stretch>
            <a:fillRect/>
          </a:stretch>
        </p:blipFill>
        <p:spPr>
          <a:xfrm>
            <a:off x="640261" y="1826122"/>
            <a:ext cx="7863477" cy="3842751"/>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495425"/>
          </a:xfrm>
        </p:spPr>
        <p:txBody>
          <a:bodyPr anchor="b"/>
          <a:lstStyle/>
          <a:p>
            <a:r>
              <a:rPr lang="en-US" sz="3000" dirty="0"/>
              <a:t>Figure </a:t>
            </a:r>
            <a:r>
              <a:rPr lang="en-US" sz="3000" dirty="0" smtClean="0"/>
              <a:t>17.15 </a:t>
            </a:r>
            <a:r>
              <a:rPr lang="en-US" sz="3000" dirty="0"/>
              <a:t>Class Objects Can Be Assigned to Each Other Using Default Memberwise Assignment </a:t>
            </a:r>
            <a:r>
              <a:rPr lang="en-US" sz="2000" b="0" dirty="0"/>
              <a:t>(1 of 2)</a:t>
            </a:r>
          </a:p>
        </p:txBody>
      </p:sp>
      <p:pic>
        <p:nvPicPr>
          <p:cNvPr id="3" name="Picture 2" descr="The computer code has 23 lines. The lines read as follows. Line 1. forward slash forward slash Fig period 17 period 15 colon fig 17 underscore 15 period c p p. Line 2. forward slash forward slash Demonstrating that class objects can be assigned. Line 3. forward slash forward slash to each other using default member wise assignment period. Line 4. hash include left angle bracket i o stream right angle bracket. Line 5. hash include double quote Date period h double quote forward slash forward slash include definition of class Date from Date period h. Line 6. using namespace s t d semicolon. Line 7. Blank. Line 8. i n t main left parenthesis right parenthesis. Line 9. left brace. Line 10, indented once. Date date 1 left parenthesis 7 comma 4 comma 2004 right parenthesis semicolon. Line 11, indented once. Date date 2 semicolon forward slash forward slash date 2 defaults to 1 forward slash 1 forward slash 2000. Line 12. Blank. Line 13, indented once. c out left angle bracket left angle bracket double quote date 1 equals double quote semicolon. Line 14, indented once. date 1 period print left parenthesis right parenthesis semicolon. Line 15, indented once. c out left angle bracket left angle bracket double quote back slash n date 2 equals double quote semicolon. Line 16, indented once. date 2 period print left parenthesis right parenthesis semicolon. Line 17. Blank. Line 18, indented once. date 2 equals date 1 semicolon forward slash forward slash default member wise assignment. Line 18 is highlighted. Line 19. Blank. Line 20, indented once. c out left angle bracket left angle bracket double quote back slash n back slash n After default member wise assignment comma date 2 equals double quote semicolon. Line 21, indented once. date 2 period print left parenthesis right parenthesis semicolon. Line 22, indented once. c out left angle bracket left angle bracket end l semicolon. Line 23. right brace forward slash forward slash end main."/>
          <p:cNvPicPr>
            <a:picLocks noChangeAspect="1"/>
          </p:cNvPicPr>
          <p:nvPr/>
        </p:nvPicPr>
        <p:blipFill>
          <a:blip r:embed="rId2"/>
          <a:stretch>
            <a:fillRect/>
          </a:stretch>
        </p:blipFill>
        <p:spPr>
          <a:xfrm>
            <a:off x="899170" y="1827298"/>
            <a:ext cx="7345658" cy="453903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609725"/>
          </a:xfrm>
        </p:spPr>
        <p:txBody>
          <a:bodyPr anchor="b"/>
          <a:lstStyle/>
          <a:p>
            <a:r>
              <a:rPr lang="en-US" sz="3000" dirty="0"/>
              <a:t>Figure </a:t>
            </a:r>
            <a:r>
              <a:rPr lang="en-US" sz="3000" dirty="0" smtClean="0"/>
              <a:t>17.15 </a:t>
            </a:r>
            <a:r>
              <a:rPr lang="en-US" sz="3000" dirty="0"/>
              <a:t>Class Objects Can Be Assigned to Each Other Using Default Memberwise Assignment </a:t>
            </a:r>
            <a:r>
              <a:rPr lang="en-US" sz="2000" b="0" dirty="0" smtClean="0"/>
              <a:t>(2 </a:t>
            </a:r>
            <a:r>
              <a:rPr lang="en-US" sz="2000" b="0" dirty="0"/>
              <a:t>of 2)</a:t>
            </a:r>
            <a:endParaRPr lang="en-US" dirty="0"/>
          </a:p>
        </p:txBody>
      </p:sp>
      <p:pic>
        <p:nvPicPr>
          <p:cNvPr id="3" name="Picture 2" descr="The code output has 3 lines. The lines read as follows. Line 1. Date 1 equals 7 forward slash 4 forward slash 2004. Line 2. Date 2 equals 1 forward slash 1 forward slash 2000. Line 3. After default member wise assignment comma date2 equals 7 forward slash 4 forward slash 2004."/>
          <p:cNvPicPr>
            <a:picLocks noChangeAspect="1"/>
          </p:cNvPicPr>
          <p:nvPr/>
        </p:nvPicPr>
        <p:blipFill>
          <a:blip r:embed="rId2"/>
          <a:stretch>
            <a:fillRect/>
          </a:stretch>
        </p:blipFill>
        <p:spPr>
          <a:xfrm>
            <a:off x="591492" y="2841417"/>
            <a:ext cx="7961017" cy="125735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17.9 Default Memberwise Assignment </a:t>
            </a:r>
            <a:r>
              <a:rPr lang="en-US" altLang="en-US" sz="2000" b="0" kern="1200" dirty="0" smtClean="0">
                <a:latin typeface="Times New Roman" panose="02020603050405020304" pitchFamily="18" charset="0"/>
                <a:ea typeface="+mj-ea"/>
                <a:cs typeface="+mj-cs"/>
              </a:rPr>
              <a:t>(2 of 2)</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239592"/>
          </a:xfrm>
        </p:spPr>
        <p:txBody>
          <a:bodyPr>
            <a:spAutoFit/>
          </a:bodyPr>
          <a:lstStyle/>
          <a:p>
            <a:pPr marL="255651" indent="-255651" eaLnBrk="1" hangingPunct="1">
              <a:tabLst/>
              <a:defRPr/>
            </a:pPr>
            <a:r>
              <a:rPr lang="en-US" altLang="en-US" sz="1800" kern="1200" dirty="0">
                <a:solidFill>
                  <a:srgbClr val="000000"/>
                </a:solidFill>
                <a:latin typeface="Arial (Body)"/>
                <a:ea typeface="+mn-ea"/>
                <a:cs typeface="+mn-cs"/>
              </a:rPr>
              <a:t>Objects may be passed as function arguments and may be returned from functions.</a:t>
            </a:r>
          </a:p>
          <a:p>
            <a:pPr marL="255651" indent="-255651" eaLnBrk="1" hangingPunct="1">
              <a:tabLst/>
              <a:defRPr/>
            </a:pPr>
            <a:r>
              <a:rPr lang="en-US" altLang="en-US" sz="1800" kern="1200" dirty="0">
                <a:solidFill>
                  <a:srgbClr val="000000"/>
                </a:solidFill>
                <a:latin typeface="Arial (Body)"/>
                <a:ea typeface="+mn-ea"/>
                <a:cs typeface="+mn-cs"/>
              </a:rPr>
              <a:t>Such passing and returning is performed using pass-by-value by default—</a:t>
            </a:r>
            <a:r>
              <a:rPr lang="en-US" altLang="en-US" sz="1800" b="1" kern="1200" dirty="0">
                <a:solidFill>
                  <a:srgbClr val="000000"/>
                </a:solidFill>
                <a:latin typeface="Arial (Body)"/>
                <a:ea typeface="+mn-ea"/>
                <a:cs typeface="+mn-cs"/>
              </a:rPr>
              <a:t>a copy</a:t>
            </a:r>
            <a:r>
              <a:rPr lang="en-US" altLang="en-US" sz="1800" kern="1200" dirty="0">
                <a:solidFill>
                  <a:srgbClr val="000000"/>
                </a:solidFill>
                <a:latin typeface="Arial (Body)"/>
                <a:ea typeface="+mn-ea"/>
                <a:cs typeface="+mn-cs"/>
              </a:rPr>
              <a:t> of the object is passed or returned.</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C++ creates a new object and uses a </a:t>
            </a:r>
            <a:r>
              <a:rPr lang="en-US" altLang="en-US" sz="1800" b="1" kern="1200" dirty="0">
                <a:solidFill>
                  <a:srgbClr val="000000"/>
                </a:solidFill>
                <a:latin typeface="Arial (Body)"/>
                <a:ea typeface="+mn-ea"/>
                <a:cs typeface="+mn-cs"/>
              </a:rPr>
              <a:t>copy constructor</a:t>
            </a:r>
            <a:r>
              <a:rPr lang="en-US" altLang="en-US" sz="1800" kern="1200" dirty="0">
                <a:solidFill>
                  <a:srgbClr val="000000"/>
                </a:solidFill>
                <a:latin typeface="Arial (Body)"/>
                <a:ea typeface="+mn-ea"/>
                <a:cs typeface="+mn-cs"/>
              </a:rPr>
              <a:t> to copy the original object’s values into the new object.</a:t>
            </a:r>
          </a:p>
          <a:p>
            <a:pPr marL="255651" indent="-255651" eaLnBrk="1" hangingPunct="1">
              <a:tabLst/>
              <a:defRPr/>
            </a:pPr>
            <a:r>
              <a:rPr lang="en-US" altLang="en-US" sz="1800" kern="1200" dirty="0">
                <a:solidFill>
                  <a:srgbClr val="000000"/>
                </a:solidFill>
                <a:latin typeface="Arial (Body)"/>
                <a:ea typeface="+mn-ea"/>
                <a:cs typeface="+mn-cs"/>
              </a:rPr>
              <a:t>For each class, the compiler provides a default copy constructor that copies each member of the original object into the corresponding member of the new object.</a:t>
            </a:r>
          </a:p>
          <a:p>
            <a:pPr marL="741553" lvl="1" indent="-284353" eaLnBrk="1" hangingPunct="1">
              <a:buFont typeface="Arial" panose="020B0604020202020204" pitchFamily="34" charset="0"/>
              <a:buChar char="–"/>
              <a:defRPr/>
            </a:pPr>
            <a:r>
              <a:rPr lang="en-US" altLang="en-US" sz="1800" kern="1200" dirty="0">
                <a:solidFill>
                  <a:srgbClr val="000000"/>
                </a:solidFill>
                <a:latin typeface="Arial (Body)"/>
                <a:ea typeface="+mn-ea"/>
                <a:cs typeface="+mn-cs"/>
              </a:rPr>
              <a:t>Copy constructors can cause serious problems when used with a class whose data members contain pointers to dynamically allocated memory.</a:t>
            </a:r>
          </a:p>
          <a:p>
            <a:pPr marL="255651" indent="-255651" eaLnBrk="1" hangingPunct="1">
              <a:tabLst/>
              <a:defRPr/>
            </a:pPr>
            <a:r>
              <a:rPr lang="en-US" altLang="en-US" sz="1800" kern="1200" dirty="0">
                <a:solidFill>
                  <a:srgbClr val="000000"/>
                </a:solidFill>
                <a:latin typeface="Arial (Body)"/>
                <a:ea typeface="+mn-ea"/>
                <a:cs typeface="+mn-cs"/>
              </a:rPr>
              <a:t>Chapter 10 discusses customized copy constructors.</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17.10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Objects and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Member Functions </a:t>
            </a:r>
            <a:r>
              <a:rPr lang="en-US" altLang="en-US" sz="2000" b="0" kern="1200" dirty="0" smtClean="0">
                <a:latin typeface="Times New Roman" panose="02020603050405020304" pitchFamily="18" charset="0"/>
                <a:ea typeface="+mj-ea"/>
                <a:cs typeface="+mj-cs"/>
              </a:rPr>
              <a:t>(1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16016"/>
          </a:xfrm>
        </p:spPr>
        <p:txBody>
          <a:bodyPr>
            <a:spAutoFit/>
          </a:bodyPr>
          <a:lstStyle/>
          <a:p>
            <a:pPr marL="255651" indent="-255651" eaLnBrk="1" hangingPunct="1">
              <a:tabLst/>
              <a:defRPr/>
            </a:pPr>
            <a:r>
              <a:rPr lang="en-US" sz="2400" kern="1200" dirty="0">
                <a:solidFill>
                  <a:srgbClr val="000000"/>
                </a:solidFill>
                <a:latin typeface="Arial (Body)"/>
                <a:ea typeface="+mn-ea"/>
                <a:cs typeface="+mn-cs"/>
              </a:rPr>
              <a:t>Some objects need to be modifiable and some do </a:t>
            </a:r>
            <a:r>
              <a:rPr lang="en-US" sz="2400" kern="1200" dirty="0" smtClean="0">
                <a:solidFill>
                  <a:srgbClr val="000000"/>
                </a:solidFill>
                <a:latin typeface="Arial (Body)"/>
                <a:ea typeface="+mn-ea"/>
                <a:cs typeface="+mn-cs"/>
              </a:rPr>
              <a:t>not.</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You may use keyword </a:t>
            </a:r>
            <a:r>
              <a:rPr lang="en-US" sz="2400" kern="1200" dirty="0">
                <a:solidFill>
                  <a:srgbClr val="000000"/>
                </a:solidFill>
                <a:latin typeface="Consolas" panose="020B0609020204030204" pitchFamily="49" charset="0"/>
                <a:ea typeface="+mn-ea"/>
                <a:cs typeface="+mn-cs"/>
              </a:rPr>
              <a:t>const</a:t>
            </a:r>
            <a:r>
              <a:rPr lang="en-US" sz="2400" kern="1200" dirty="0">
                <a:solidFill>
                  <a:srgbClr val="000000"/>
                </a:solidFill>
                <a:latin typeface="Arial (Body)"/>
                <a:ea typeface="+mn-ea"/>
                <a:cs typeface="+mn-cs"/>
              </a:rPr>
              <a:t> to specify that an object </a:t>
            </a:r>
            <a:r>
              <a:rPr lang="en-US" sz="2400" b="1" kern="1200" dirty="0">
                <a:solidFill>
                  <a:srgbClr val="000000"/>
                </a:solidFill>
                <a:latin typeface="Arial (Body)"/>
                <a:ea typeface="+mn-ea"/>
                <a:cs typeface="+mn-cs"/>
              </a:rPr>
              <a:t>is not</a:t>
            </a:r>
            <a:r>
              <a:rPr lang="en-US" sz="2400" kern="1200" dirty="0">
                <a:solidFill>
                  <a:srgbClr val="000000"/>
                </a:solidFill>
                <a:latin typeface="Arial (Body)"/>
                <a:ea typeface="+mn-ea"/>
                <a:cs typeface="+mn-cs"/>
              </a:rPr>
              <a:t> modifiable and that any attempt to modify the object should result in a compilation </a:t>
            </a:r>
            <a:r>
              <a:rPr lang="en-US" sz="2400" kern="1200" dirty="0" smtClean="0">
                <a:solidFill>
                  <a:srgbClr val="000000"/>
                </a:solidFill>
                <a:latin typeface="Arial (Body)"/>
                <a:ea typeface="+mn-ea"/>
                <a:cs typeface="+mn-cs"/>
              </a:rPr>
              <a:t>error.</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The </a:t>
            </a:r>
            <a:r>
              <a:rPr lang="en-US" sz="2400" kern="1200" dirty="0" smtClean="0">
                <a:solidFill>
                  <a:srgbClr val="000000"/>
                </a:solidFill>
                <a:latin typeface="Arial (Body)"/>
                <a:ea typeface="+mn-ea"/>
                <a:cs typeface="+mn-cs"/>
              </a:rPr>
              <a:t>statement</a:t>
            </a:r>
            <a:endParaRPr lang="en-US" sz="2400" kern="1200" dirty="0">
              <a:solidFill>
                <a:srgbClr val="000000"/>
              </a:solidFill>
              <a:latin typeface="Arial (Body)"/>
              <a:ea typeface="+mn-ea"/>
              <a:cs typeface="+mn-cs"/>
            </a:endParaRPr>
          </a:p>
        </p:txBody>
      </p:sp>
      <p:pic>
        <p:nvPicPr>
          <p:cNvPr id="5" name="Picture 4" descr="Computer code reads, c o n s t Time noon left parenthesis 12, 0, 0 right parenthesis semicol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732" y="4087431"/>
            <a:ext cx="4470534" cy="283344"/>
          </a:xfrm>
          <a:prstGeom prst="rect">
            <a:avLst/>
          </a:prstGeom>
        </p:spPr>
      </p:pic>
      <p:sp>
        <p:nvSpPr>
          <p:cNvPr id="4" name="Text Placeholder 3"/>
          <p:cNvSpPr>
            <a:spLocks noGrp="1"/>
          </p:cNvSpPr>
          <p:nvPr>
            <p:ph type="body" idx="2"/>
          </p:nvPr>
        </p:nvSpPr>
        <p:spPr>
          <a:xfrm>
            <a:off x="457200" y="4441990"/>
            <a:ext cx="8229600" cy="1191367"/>
          </a:xfrm>
        </p:spPr>
        <p:txBody>
          <a:bodyPr/>
          <a:lstStyle/>
          <a:p>
            <a:pPr marL="0" indent="0" eaLnBrk="1" hangingPunct="1">
              <a:buNone/>
              <a:tabLst/>
              <a:defRPr/>
            </a:pPr>
            <a:r>
              <a:rPr lang="en-US" sz="2400" kern="1200" dirty="0" smtClean="0">
                <a:solidFill>
                  <a:srgbClr val="000000"/>
                </a:solidFill>
                <a:latin typeface="Arial (Body)"/>
              </a:rPr>
              <a:t>declares </a:t>
            </a:r>
            <a:r>
              <a:rPr lang="en-US" sz="2400" kern="1200" dirty="0">
                <a:solidFill>
                  <a:srgbClr val="000000"/>
                </a:solidFill>
                <a:latin typeface="Arial (Body)"/>
              </a:rPr>
              <a:t>a </a:t>
            </a:r>
            <a:r>
              <a:rPr lang="en-US" sz="2400" kern="1200" dirty="0">
                <a:solidFill>
                  <a:srgbClr val="000000"/>
                </a:solidFill>
                <a:latin typeface="Consolas" panose="020B0609020204030204" pitchFamily="49" charset="0"/>
              </a:rPr>
              <a:t>const</a:t>
            </a:r>
            <a:r>
              <a:rPr lang="en-US" sz="2400" kern="1200" dirty="0">
                <a:solidFill>
                  <a:srgbClr val="000000"/>
                </a:solidFill>
                <a:latin typeface="Arial (Body)"/>
              </a:rPr>
              <a:t> object </a:t>
            </a:r>
            <a:r>
              <a:rPr lang="en-US" sz="2400" kern="1200" dirty="0">
                <a:solidFill>
                  <a:srgbClr val="000000"/>
                </a:solidFill>
                <a:latin typeface="Consolas" panose="020B0609020204030204" pitchFamily="49" charset="0"/>
              </a:rPr>
              <a:t>noon</a:t>
            </a:r>
            <a:r>
              <a:rPr lang="en-US" sz="2400" kern="1200" dirty="0">
                <a:solidFill>
                  <a:srgbClr val="000000"/>
                </a:solidFill>
                <a:latin typeface="Arial (Body)"/>
              </a:rPr>
              <a:t> of class </a:t>
            </a:r>
            <a:r>
              <a:rPr lang="en-US" sz="2400" kern="1200" dirty="0">
                <a:solidFill>
                  <a:srgbClr val="000000"/>
                </a:solidFill>
                <a:latin typeface="Consolas" panose="020B0609020204030204" pitchFamily="49" charset="0"/>
              </a:rPr>
              <a:t>Time</a:t>
            </a:r>
            <a:r>
              <a:rPr lang="en-US" sz="2400" kern="1200" dirty="0">
                <a:solidFill>
                  <a:srgbClr val="000000"/>
                </a:solidFill>
                <a:latin typeface="Arial (Body)"/>
              </a:rPr>
              <a:t> and initializes it to 12 noon. It’s possible to instantiate </a:t>
            </a:r>
            <a:r>
              <a:rPr lang="en-US" sz="2400" kern="1200" dirty="0">
                <a:solidFill>
                  <a:srgbClr val="000000"/>
                </a:solidFill>
                <a:latin typeface="Consolas" panose="020B0609020204030204" pitchFamily="49" charset="0"/>
              </a:rPr>
              <a:t>const</a:t>
            </a:r>
            <a:r>
              <a:rPr lang="en-US" sz="2400" kern="1200" dirty="0">
                <a:solidFill>
                  <a:srgbClr val="000000"/>
                </a:solidFill>
                <a:latin typeface="Arial (Body)"/>
              </a:rPr>
              <a:t> and non- </a:t>
            </a:r>
            <a:r>
              <a:rPr lang="en-US" sz="2400" kern="1200" dirty="0">
                <a:solidFill>
                  <a:srgbClr val="000000"/>
                </a:solidFill>
                <a:latin typeface="Consolas" panose="020B0609020204030204" pitchFamily="49" charset="0"/>
              </a:rPr>
              <a:t>const</a:t>
            </a:r>
            <a:r>
              <a:rPr lang="en-US" sz="2400" kern="1200" dirty="0">
                <a:solidFill>
                  <a:srgbClr val="000000"/>
                </a:solidFill>
                <a:latin typeface="Arial (Body)"/>
              </a:rPr>
              <a:t> objects of the same class</a:t>
            </a:r>
            <a:r>
              <a:rPr lang="en-US" sz="2400" kern="1200" dirty="0" smtClean="0">
                <a:solidFill>
                  <a:srgbClr val="000000"/>
                </a:solidFill>
                <a:latin typeface="Arial (Body)"/>
              </a:rPr>
              <a:t>.</a:t>
            </a:r>
            <a:endParaRPr lang="en-US" sz="2400" kern="1200" dirty="0">
              <a:solidFill>
                <a:srgbClr val="000000"/>
              </a:solidFill>
              <a:latin typeface="Arial (Body)"/>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17.8</a:t>
            </a:r>
            <a:endParaRPr lang="en-US" dirty="0"/>
          </a:p>
        </p:txBody>
      </p:sp>
      <p:sp>
        <p:nvSpPr>
          <p:cNvPr id="3" name="Text Placeholder 2"/>
          <p:cNvSpPr>
            <a:spLocks noGrp="1"/>
          </p:cNvSpPr>
          <p:nvPr>
            <p:ph type="body" idx="1"/>
          </p:nvPr>
        </p:nvSpPr>
        <p:spPr>
          <a:xfrm>
            <a:off x="457200" y="1600200"/>
            <a:ext cx="8229600" cy="981075"/>
          </a:xfrm>
        </p:spPr>
        <p:txBody>
          <a:bodyPr/>
          <a:lstStyle/>
          <a:p>
            <a:pPr marL="0" indent="0">
              <a:buNone/>
            </a:pPr>
            <a:r>
              <a:rPr lang="en-US" sz="2400" dirty="0">
                <a:latin typeface="Arial Body"/>
              </a:rPr>
              <a:t>Attempts to modify a </a:t>
            </a:r>
            <a:r>
              <a:rPr lang="en-US" sz="2400" dirty="0">
                <a:latin typeface="Consolas" panose="020B0609020204030204" pitchFamily="49" charset="0"/>
              </a:rPr>
              <a:t>const</a:t>
            </a:r>
            <a:r>
              <a:rPr lang="en-US" sz="2400" dirty="0">
                <a:latin typeface="Arial Body"/>
              </a:rPr>
              <a:t> object are caught at compile time rather than causing execution-time errors.</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Performance Tip </a:t>
            </a:r>
            <a:r>
              <a:rPr lang="en-US" dirty="0" smtClean="0"/>
              <a:t>17.3</a:t>
            </a:r>
            <a:endParaRPr lang="en-US" dirty="0"/>
          </a:p>
        </p:txBody>
      </p:sp>
      <p:sp>
        <p:nvSpPr>
          <p:cNvPr id="3" name="Text Placeholder 2"/>
          <p:cNvSpPr>
            <a:spLocks noGrp="1"/>
          </p:cNvSpPr>
          <p:nvPr>
            <p:ph type="body" idx="1"/>
          </p:nvPr>
        </p:nvSpPr>
        <p:spPr>
          <a:xfrm>
            <a:off x="457200" y="1600201"/>
            <a:ext cx="8229600" cy="1619250"/>
          </a:xfrm>
        </p:spPr>
        <p:txBody>
          <a:bodyPr/>
          <a:lstStyle/>
          <a:p>
            <a:pPr marL="0" indent="0">
              <a:buNone/>
            </a:pPr>
            <a:r>
              <a:rPr lang="en-US" sz="2400" dirty="0">
                <a:latin typeface="Arial Body"/>
              </a:rPr>
              <a:t>Declaring variables and objects </a:t>
            </a:r>
            <a:r>
              <a:rPr lang="en-US" sz="2400" dirty="0">
                <a:latin typeface="Consolas" panose="020B0609020204030204" pitchFamily="49" charset="0"/>
              </a:rPr>
              <a:t>const</a:t>
            </a:r>
            <a:r>
              <a:rPr lang="en-US" sz="2400" dirty="0">
                <a:latin typeface="Arial Body"/>
              </a:rPr>
              <a:t> when appropriate can improve performance— compilers can perform optimizations on constants that cannot be performed on non</a:t>
            </a:r>
            <a:r>
              <a:rPr lang="en-US" sz="2400" dirty="0">
                <a:latin typeface="Consolas" panose="020B0609020204030204" pitchFamily="49" charset="0"/>
              </a:rPr>
              <a:t>-const</a:t>
            </a:r>
            <a:r>
              <a:rPr lang="en-US" sz="2400" dirty="0">
                <a:latin typeface="Arial Body"/>
              </a:rPr>
              <a:t> variables.</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17.10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Objects and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Member Functions</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p:txBody>
          <a:bodyPr/>
          <a:lstStyle/>
          <a:p>
            <a:pPr marL="255651" indent="-255651" eaLnBrk="1" hangingPunct="1">
              <a:tabLst/>
              <a:defRPr/>
            </a:pPr>
            <a:r>
              <a:rPr lang="en-US" altLang="en-US" sz="2000" kern="1200" dirty="0">
                <a:solidFill>
                  <a:srgbClr val="000000"/>
                </a:solidFill>
                <a:latin typeface="+mn-lt"/>
              </a:rPr>
              <a:t>C++ </a:t>
            </a:r>
            <a:r>
              <a:rPr lang="en-US" altLang="en-US" sz="2000" b="1" kern="1200" dirty="0">
                <a:solidFill>
                  <a:srgbClr val="000000"/>
                </a:solidFill>
                <a:latin typeface="+mn-lt"/>
              </a:rPr>
              <a:t>disallows member function calls for </a:t>
            </a:r>
            <a:r>
              <a:rPr lang="en-US" altLang="en-US" sz="2000" kern="1200" dirty="0">
                <a:solidFill>
                  <a:srgbClr val="000000"/>
                </a:solidFill>
                <a:latin typeface="Consolas" panose="020B0609020204030204" pitchFamily="49" charset="0"/>
              </a:rPr>
              <a:t>const</a:t>
            </a:r>
            <a:r>
              <a:rPr lang="en-US" altLang="en-US" sz="2000" b="1" kern="1200" dirty="0">
                <a:solidFill>
                  <a:srgbClr val="000000"/>
                </a:solidFill>
                <a:latin typeface="+mn-lt"/>
              </a:rPr>
              <a:t> objects unless the member functions themselves are also declared </a:t>
            </a:r>
            <a:r>
              <a:rPr lang="en-US" altLang="en-US" sz="2000" kern="1200" dirty="0">
                <a:solidFill>
                  <a:srgbClr val="000000"/>
                </a:solidFill>
                <a:latin typeface="Consolas" panose="020B0609020204030204" pitchFamily="49" charset="0"/>
              </a:rPr>
              <a:t>const</a:t>
            </a:r>
            <a:r>
              <a:rPr lang="en-US" altLang="en-US" sz="2000" kern="1200" dirty="0">
                <a:solidFill>
                  <a:srgbClr val="000000"/>
                </a:solidFill>
                <a:latin typeface="+mn-lt"/>
              </a:rPr>
              <a:t>.</a:t>
            </a:r>
          </a:p>
          <a:p>
            <a:pPr marL="255651" indent="-255651" eaLnBrk="1" hangingPunct="1">
              <a:tabLst/>
              <a:defRPr/>
            </a:pPr>
            <a:r>
              <a:rPr lang="en-US" altLang="en-US" sz="2000" kern="1200" dirty="0">
                <a:solidFill>
                  <a:srgbClr val="000000"/>
                </a:solidFill>
                <a:latin typeface="+mn-lt"/>
              </a:rPr>
              <a:t>This is true even for </a:t>
            </a:r>
            <a:r>
              <a:rPr lang="en-US" altLang="en-US" sz="2000" b="1" kern="1200" dirty="0">
                <a:solidFill>
                  <a:srgbClr val="000000"/>
                </a:solidFill>
                <a:latin typeface="+mn-lt"/>
              </a:rPr>
              <a:t>get</a:t>
            </a:r>
            <a:r>
              <a:rPr lang="en-US" altLang="en-US" sz="2000" kern="1200" dirty="0">
                <a:solidFill>
                  <a:srgbClr val="000000"/>
                </a:solidFill>
                <a:latin typeface="+mn-lt"/>
              </a:rPr>
              <a:t> member functions that do </a:t>
            </a:r>
            <a:r>
              <a:rPr lang="en-US" altLang="en-US" sz="2000" b="1" kern="1200" dirty="0">
                <a:solidFill>
                  <a:srgbClr val="000000"/>
                </a:solidFill>
                <a:latin typeface="+mn-lt"/>
              </a:rPr>
              <a:t>not</a:t>
            </a:r>
            <a:r>
              <a:rPr lang="en-US" altLang="en-US" sz="2000" kern="1200" dirty="0">
                <a:solidFill>
                  <a:srgbClr val="000000"/>
                </a:solidFill>
                <a:latin typeface="+mn-lt"/>
              </a:rPr>
              <a:t> modify the object.</a:t>
            </a:r>
          </a:p>
          <a:p>
            <a:pPr marL="255651" indent="-255651" eaLnBrk="1" hangingPunct="1">
              <a:tabLst/>
              <a:defRPr/>
            </a:pPr>
            <a:r>
              <a:rPr lang="en-US" altLang="en-US" sz="2000" b="1" kern="1200" dirty="0">
                <a:solidFill>
                  <a:srgbClr val="000000"/>
                </a:solidFill>
                <a:latin typeface="+mn-lt"/>
              </a:rPr>
              <a:t>This is also a key reason that we’ve declared as </a:t>
            </a:r>
            <a:r>
              <a:rPr lang="en-US" altLang="en-US" sz="2000" kern="1200" dirty="0">
                <a:solidFill>
                  <a:srgbClr val="000000"/>
                </a:solidFill>
                <a:latin typeface="Consolas" panose="020B0609020204030204" pitchFamily="49" charset="0"/>
              </a:rPr>
              <a:t>const</a:t>
            </a:r>
            <a:r>
              <a:rPr lang="en-US" altLang="en-US" sz="2000" b="1" kern="1200" dirty="0">
                <a:solidFill>
                  <a:srgbClr val="000000"/>
                </a:solidFill>
                <a:latin typeface="+mn-lt"/>
              </a:rPr>
              <a:t> all member-functions that do not modify the objects on which they’re called.</a:t>
            </a:r>
          </a:p>
          <a:p>
            <a:pPr marL="255651" indent="-255651" eaLnBrk="1" hangingPunct="1">
              <a:tabLst/>
              <a:defRPr/>
            </a:pPr>
            <a:r>
              <a:rPr lang="en-US" altLang="en-US" sz="2000" kern="1200" dirty="0">
                <a:solidFill>
                  <a:srgbClr val="000000"/>
                </a:solidFill>
                <a:latin typeface="+mn-lt"/>
              </a:rPr>
              <a:t>A member function is specified as </a:t>
            </a:r>
            <a:r>
              <a:rPr lang="en-US" altLang="en-US" sz="2000" kern="1200" dirty="0">
                <a:solidFill>
                  <a:srgbClr val="000000"/>
                </a:solidFill>
                <a:latin typeface="Consolas" panose="020B0609020204030204" pitchFamily="49" charset="0"/>
              </a:rPr>
              <a:t>const</a:t>
            </a:r>
            <a:r>
              <a:rPr lang="en-US" altLang="en-US" sz="2000" kern="1200" dirty="0">
                <a:solidFill>
                  <a:srgbClr val="000000"/>
                </a:solidFill>
                <a:latin typeface="+mn-lt"/>
              </a:rPr>
              <a:t> both in its prototype by inserting the keyword </a:t>
            </a:r>
            <a:r>
              <a:rPr lang="en-US" altLang="en-US" sz="2000" kern="1200" dirty="0">
                <a:solidFill>
                  <a:srgbClr val="000000"/>
                </a:solidFill>
                <a:latin typeface="Consolas" panose="020B0609020204030204" pitchFamily="49" charset="0"/>
              </a:rPr>
              <a:t>const</a:t>
            </a:r>
            <a:r>
              <a:rPr lang="en-US" altLang="en-US" sz="2000" kern="1200" dirty="0">
                <a:solidFill>
                  <a:srgbClr val="000000"/>
                </a:solidFill>
                <a:latin typeface="+mn-lt"/>
                <a:cs typeface="Times New Roman" panose="02020603050405020304" pitchFamily="18" charset="0"/>
              </a:rPr>
              <a:t> </a:t>
            </a:r>
            <a:r>
              <a:rPr lang="en-US" altLang="en-US" sz="2000" b="1" kern="1200" dirty="0">
                <a:solidFill>
                  <a:srgbClr val="000000"/>
                </a:solidFill>
                <a:latin typeface="+mn-lt"/>
              </a:rPr>
              <a:t>after</a:t>
            </a:r>
            <a:r>
              <a:rPr lang="en-US" altLang="en-US" sz="2000" kern="1200" dirty="0">
                <a:solidFill>
                  <a:srgbClr val="000000"/>
                </a:solidFill>
                <a:latin typeface="+mn-lt"/>
              </a:rPr>
              <a:t> the function’s parameter list and, in the case of the function definition, before the left brace that begins the function </a:t>
            </a:r>
            <a:r>
              <a:rPr lang="en-US" altLang="en-US" sz="2000" b="1" kern="1200" dirty="0">
                <a:solidFill>
                  <a:srgbClr val="000000"/>
                </a:solidFill>
                <a:latin typeface="+mn-lt"/>
              </a:rPr>
              <a:t>body</a:t>
            </a:r>
            <a:r>
              <a:rPr lang="en-US" altLang="en-US" sz="2000" kern="1200" dirty="0" smtClean="0">
                <a:solidFill>
                  <a:srgbClr val="000000"/>
                </a:solidFill>
                <a:latin typeface="+mn-lt"/>
              </a:rPr>
              <a:t>.</a:t>
            </a:r>
            <a:endParaRPr lang="en-US" altLang="en-US" sz="2000" kern="1200" dirty="0">
              <a:solidFill>
                <a:srgbClr val="000000"/>
              </a:solidFill>
              <a:latin typeface="+mn-lt"/>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17.2</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Defining as </a:t>
            </a:r>
            <a:r>
              <a:rPr lang="en-US" sz="2400" dirty="0">
                <a:latin typeface="Consolas" panose="020B0609020204030204" pitchFamily="49" charset="0"/>
              </a:rPr>
              <a:t>const</a:t>
            </a:r>
            <a:r>
              <a:rPr lang="en-US" sz="2400" dirty="0">
                <a:latin typeface="Arial Body"/>
              </a:rPr>
              <a:t> a member function that modifies a data member of the object is a compilation error.</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Defining as </a:t>
            </a:r>
            <a:r>
              <a:rPr lang="en-US" sz="2400" dirty="0">
                <a:latin typeface="Consolas" panose="020B0609020204030204" pitchFamily="49" charset="0"/>
              </a:rPr>
              <a:t>const</a:t>
            </a:r>
            <a:r>
              <a:rPr lang="en-US" sz="2400" dirty="0">
                <a:latin typeface="Arial Body"/>
              </a:rPr>
              <a:t> a member function that calls a non-</a:t>
            </a:r>
            <a:r>
              <a:rPr lang="en-US" sz="2400" dirty="0">
                <a:latin typeface="Consolas" panose="020B0609020204030204" pitchFamily="49" charset="0"/>
              </a:rPr>
              <a:t>const</a:t>
            </a:r>
            <a:r>
              <a:rPr lang="en-US" sz="2400" dirty="0">
                <a:latin typeface="Arial Body"/>
              </a:rPr>
              <a:t> member function of the class on the same object is a compilation error.</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17.4</a:t>
            </a:r>
            <a:endParaRPr lang="en-US" dirty="0"/>
          </a:p>
        </p:txBody>
      </p:sp>
      <p:sp>
        <p:nvSpPr>
          <p:cNvPr id="3" name="Text Placeholder 2"/>
          <p:cNvSpPr>
            <a:spLocks noGrp="1"/>
          </p:cNvSpPr>
          <p:nvPr>
            <p:ph type="body" idx="1"/>
          </p:nvPr>
        </p:nvSpPr>
        <p:spPr>
          <a:xfrm>
            <a:off x="457200" y="1600200"/>
            <a:ext cx="8229600" cy="828675"/>
          </a:xfrm>
        </p:spPr>
        <p:txBody>
          <a:bodyPr/>
          <a:lstStyle/>
          <a:p>
            <a:pPr marL="0" indent="0">
              <a:buNone/>
            </a:pPr>
            <a:r>
              <a:rPr lang="en-US" sz="2400" dirty="0">
                <a:latin typeface="Arial Body"/>
              </a:rPr>
              <a:t>Invoking a non-</a:t>
            </a:r>
            <a:r>
              <a:rPr lang="en-US" sz="2400" dirty="0">
                <a:latin typeface="Consolas" panose="020B0609020204030204" pitchFamily="49" charset="0"/>
              </a:rPr>
              <a:t>const</a:t>
            </a:r>
            <a:r>
              <a:rPr lang="en-US" sz="2400" dirty="0">
                <a:latin typeface="Arial Body"/>
              </a:rPr>
              <a:t> member function on a </a:t>
            </a:r>
            <a:r>
              <a:rPr lang="en-US" sz="2400" dirty="0">
                <a:latin typeface="Consolas" panose="020B0609020204030204" pitchFamily="49" charset="0"/>
              </a:rPr>
              <a:t>const</a:t>
            </a:r>
            <a:r>
              <a:rPr lang="en-US" sz="2400" dirty="0">
                <a:latin typeface="Arial Body"/>
              </a:rPr>
              <a:t> object is a compilation error.</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17.10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Objects and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Member Functions </a:t>
            </a:r>
            <a:r>
              <a:rPr lang="en-US" altLang="en-US" sz="2000" b="0" kern="1200" dirty="0" smtClean="0">
                <a:latin typeface="Times New Roman" panose="02020603050405020304" pitchFamily="18" charset="0"/>
                <a:ea typeface="+mj-ea"/>
                <a:cs typeface="+mj-cs"/>
              </a:rPr>
              <a:t>(3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45452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A constructor </a:t>
            </a:r>
            <a:r>
              <a:rPr lang="en-US" altLang="en-US" sz="2400" b="1" kern="1200" dirty="0">
                <a:solidFill>
                  <a:srgbClr val="000000"/>
                </a:solidFill>
                <a:latin typeface="Arial (Body)"/>
                <a:ea typeface="+mn-ea"/>
                <a:cs typeface="+mn-cs"/>
              </a:rPr>
              <a:t>must</a:t>
            </a:r>
            <a:r>
              <a:rPr lang="en-US" altLang="en-US" sz="2400" kern="1200" dirty="0">
                <a:solidFill>
                  <a:srgbClr val="000000"/>
                </a:solidFill>
                <a:latin typeface="Arial (Body)"/>
                <a:ea typeface="+mn-ea"/>
                <a:cs typeface="+mn-cs"/>
              </a:rPr>
              <a:t> be allowed to modify an object so that the object can be initialized </a:t>
            </a:r>
            <a:r>
              <a:rPr lang="en-US" altLang="en-US" sz="2400" kern="1200" dirty="0" smtClean="0">
                <a:solidFill>
                  <a:srgbClr val="000000"/>
                </a:solidFill>
                <a:latin typeface="Arial (Body)"/>
                <a:ea typeface="+mn-ea"/>
                <a:cs typeface="+mn-cs"/>
              </a:rPr>
              <a:t>properly.</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A destructor must be able to perform its termination housekeeping chores before an object’s memory is reclaimed by the </a:t>
            </a:r>
            <a:r>
              <a:rPr lang="en-US" altLang="en-US" sz="2400" kern="1200" dirty="0" smtClean="0">
                <a:solidFill>
                  <a:srgbClr val="000000"/>
                </a:solidFill>
                <a:latin typeface="Arial (Body)"/>
                <a:ea typeface="+mn-ea"/>
                <a:cs typeface="+mn-cs"/>
              </a:rPr>
              <a:t>system.</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Attempting to declare a constructor or destructor </a:t>
            </a:r>
            <a:r>
              <a:rPr lang="en-US" altLang="en-US" sz="2400" kern="1200" dirty="0">
                <a:solidFill>
                  <a:srgbClr val="000000"/>
                </a:solidFill>
                <a:latin typeface="Consolas" panose="020B0609020204030204" pitchFamily="49" charset="0"/>
                <a:ea typeface="+mn-ea"/>
                <a:cs typeface="+mn-cs"/>
              </a:rPr>
              <a:t>const</a:t>
            </a:r>
            <a:r>
              <a:rPr lang="en-US" altLang="en-US" sz="2400" kern="1200" dirty="0">
                <a:solidFill>
                  <a:srgbClr val="000000"/>
                </a:solidFill>
                <a:latin typeface="Arial (Body)"/>
                <a:ea typeface="+mn-ea"/>
                <a:cs typeface="+mn-cs"/>
              </a:rPr>
              <a:t> is a compilation </a:t>
            </a:r>
            <a:r>
              <a:rPr lang="en-US" altLang="en-US" sz="2400" kern="1200" dirty="0" smtClean="0">
                <a:solidFill>
                  <a:srgbClr val="000000"/>
                </a:solidFill>
                <a:latin typeface="Arial (Body)"/>
                <a:ea typeface="+mn-ea"/>
                <a:cs typeface="+mn-cs"/>
              </a:rPr>
              <a:t>error.</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The “</a:t>
            </a:r>
            <a:r>
              <a:rPr lang="en-US" altLang="en-US" sz="2400" kern="1200" dirty="0">
                <a:solidFill>
                  <a:srgbClr val="000000"/>
                </a:solidFill>
                <a:latin typeface="Consolas" panose="020B0609020204030204" pitchFamily="49" charset="0"/>
                <a:ea typeface="+mn-ea"/>
                <a:cs typeface="+mn-cs"/>
              </a:rPr>
              <a:t>const</a:t>
            </a:r>
            <a:r>
              <a:rPr lang="en-US" altLang="en-US" sz="2400" kern="1200" dirty="0">
                <a:solidFill>
                  <a:srgbClr val="000000"/>
                </a:solidFill>
                <a:latin typeface="Arial (Body)"/>
                <a:ea typeface="+mn-ea"/>
                <a:cs typeface="+mn-cs"/>
              </a:rPr>
              <a:t>ness” of a </a:t>
            </a:r>
            <a:r>
              <a:rPr lang="en-US" altLang="en-US" sz="2400" kern="1200" dirty="0">
                <a:solidFill>
                  <a:srgbClr val="000000"/>
                </a:solidFill>
                <a:latin typeface="Consolas" panose="020B0609020204030204" pitchFamily="49" charset="0"/>
                <a:ea typeface="+mn-ea"/>
                <a:cs typeface="+mn-cs"/>
              </a:rPr>
              <a:t>const</a:t>
            </a:r>
            <a:r>
              <a:rPr lang="en-US" altLang="en-US" sz="2400" kern="1200" dirty="0">
                <a:solidFill>
                  <a:srgbClr val="000000"/>
                </a:solidFill>
                <a:latin typeface="Arial (Body)"/>
                <a:ea typeface="+mn-ea"/>
                <a:cs typeface="+mn-cs"/>
              </a:rPr>
              <a:t> object is enforced from the time the constructor </a:t>
            </a:r>
            <a:r>
              <a:rPr lang="en-US" altLang="en-US" sz="2400" b="1" kern="1200" dirty="0">
                <a:solidFill>
                  <a:srgbClr val="000000"/>
                </a:solidFill>
                <a:latin typeface="Arial (Body)"/>
                <a:ea typeface="+mn-ea"/>
                <a:cs typeface="+mn-cs"/>
              </a:rPr>
              <a:t>completes</a:t>
            </a:r>
            <a:r>
              <a:rPr lang="en-US" altLang="en-US" sz="2400" kern="1200" dirty="0">
                <a:solidFill>
                  <a:srgbClr val="000000"/>
                </a:solidFill>
                <a:latin typeface="Arial (Body)"/>
                <a:ea typeface="+mn-ea"/>
                <a:cs typeface="+mn-cs"/>
              </a:rPr>
              <a:t> initialization of the object until that object’s destructor is called.</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17.10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Objects and </a:t>
            </a:r>
            <a:r>
              <a:rPr lang="en-US" altLang="en-US" kern="1200" dirty="0" smtClean="0">
                <a:latin typeface="Consolas" panose="020B0609020204030204" pitchFamily="49" charset="0"/>
                <a:ea typeface="+mj-ea"/>
                <a:cs typeface="+mj-cs"/>
              </a:rPr>
              <a:t>Const</a:t>
            </a:r>
            <a:r>
              <a:rPr lang="en-US" altLang="en-US" kern="1200" dirty="0" smtClean="0">
                <a:latin typeface="Times New Roman" panose="02020603050405020304" pitchFamily="18" charset="0"/>
                <a:ea typeface="+mj-ea"/>
                <a:cs typeface="+mj-cs"/>
              </a:rPr>
              <a:t> Member Functions </a:t>
            </a:r>
            <a:r>
              <a:rPr lang="en-US" altLang="en-US" sz="2000" b="0" kern="1200" dirty="0" smtClean="0">
                <a:latin typeface="Times New Roman" panose="02020603050405020304" pitchFamily="18" charset="0"/>
                <a:ea typeface="+mj-ea"/>
                <a:cs typeface="+mj-cs"/>
              </a:rPr>
              <a:t>(4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92987"/>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Using </a:t>
            </a:r>
            <a:r>
              <a:rPr lang="en-US" sz="2400" b="1" kern="1200" dirty="0">
                <a:solidFill>
                  <a:srgbClr val="000000"/>
                </a:solidFill>
                <a:latin typeface="Consolas" panose="020B0609020204030204" pitchFamily="49" charset="0"/>
                <a:ea typeface="+mn-ea"/>
                <a:cs typeface="+mn-cs"/>
              </a:rPr>
              <a:t>const</a:t>
            </a:r>
            <a:r>
              <a:rPr lang="en-US" sz="2400" b="1" kern="1200" dirty="0">
                <a:solidFill>
                  <a:srgbClr val="000000"/>
                </a:solidFill>
                <a:latin typeface="Arial (Body)"/>
                <a:ea typeface="+mn-ea"/>
                <a:cs typeface="+mn-cs"/>
              </a:rPr>
              <a:t> and Non-</a:t>
            </a:r>
            <a:r>
              <a:rPr lang="en-US" sz="2400" b="1" kern="1200" dirty="0">
                <a:solidFill>
                  <a:srgbClr val="000000"/>
                </a:solidFill>
                <a:latin typeface="Consolas" panose="020B0609020204030204" pitchFamily="49" charset="0"/>
                <a:ea typeface="+mn-ea"/>
                <a:cs typeface="+mn-cs"/>
              </a:rPr>
              <a:t>const</a:t>
            </a:r>
            <a:r>
              <a:rPr lang="en-US" sz="2400" b="1" kern="1200" dirty="0">
                <a:solidFill>
                  <a:srgbClr val="000000"/>
                </a:solidFill>
                <a:latin typeface="Arial (Body)"/>
                <a:ea typeface="+mn-ea"/>
                <a:cs typeface="+mn-cs"/>
              </a:rPr>
              <a:t> Member Functions</a:t>
            </a:r>
          </a:p>
          <a:p>
            <a:pPr marL="255651" indent="-255651" eaLnBrk="1" hangingPunct="1">
              <a:tabLst/>
              <a:defRPr/>
            </a:pPr>
            <a:r>
              <a:rPr lang="en-US" sz="2400" kern="1200" dirty="0">
                <a:solidFill>
                  <a:srgbClr val="000000"/>
                </a:solidFill>
                <a:latin typeface="Arial (Body)"/>
                <a:ea typeface="+mn-ea"/>
                <a:cs typeface="+mn-cs"/>
              </a:rPr>
              <a:t>The program of </a:t>
            </a:r>
            <a:r>
              <a:rPr lang="en-US" sz="2400" kern="1200" dirty="0" smtClean="0">
                <a:solidFill>
                  <a:srgbClr val="000000"/>
                </a:solidFill>
                <a:latin typeface="Arial (Body)"/>
                <a:ea typeface="+mn-ea"/>
                <a:cs typeface="+mn-cs"/>
              </a:rPr>
              <a:t>Figure 17.16 uses </a:t>
            </a:r>
            <a:r>
              <a:rPr lang="en-US" sz="2400" kern="1200" dirty="0">
                <a:solidFill>
                  <a:srgbClr val="000000"/>
                </a:solidFill>
                <a:latin typeface="Arial (Body)"/>
                <a:ea typeface="+mn-ea"/>
                <a:cs typeface="+mn-cs"/>
              </a:rPr>
              <a:t>class Time from </a:t>
            </a:r>
            <a:r>
              <a:rPr lang="en-US" sz="2400" kern="1200" dirty="0" smtClean="0">
                <a:solidFill>
                  <a:srgbClr val="000000"/>
                </a:solidFill>
                <a:latin typeface="Arial (Body)"/>
                <a:ea typeface="+mn-ea"/>
                <a:cs typeface="+mn-cs"/>
              </a:rPr>
              <a:t>Figures 17.4</a:t>
            </a:r>
            <a:r>
              <a:rPr lang="en-US" sz="2400" kern="1200" dirty="0">
                <a:solidFill>
                  <a:srgbClr val="000000"/>
                </a:solidFill>
                <a:latin typeface="Arial (Body)"/>
              </a:rPr>
              <a:t> (see </a:t>
            </a:r>
            <a:r>
              <a:rPr lang="en-US" sz="2400" kern="1200" dirty="0" smtClean="0">
                <a:solidFill>
                  <a:srgbClr val="000000"/>
                </a:solidFill>
                <a:latin typeface="Arial (Body)"/>
              </a:rPr>
              <a:t>slides 41-42)</a:t>
            </a:r>
            <a:r>
              <a:rPr lang="en-US" sz="2400" kern="1200" dirty="0" smtClean="0">
                <a:solidFill>
                  <a:srgbClr val="000000"/>
                </a:solidFill>
                <a:latin typeface="Arial (Body)"/>
                <a:ea typeface="+mn-ea"/>
                <a:cs typeface="+mn-cs"/>
              </a:rPr>
              <a:t>–17.5 (see slides 44-47), </a:t>
            </a:r>
            <a:r>
              <a:rPr lang="en-US" sz="2400" kern="1200" dirty="0">
                <a:solidFill>
                  <a:srgbClr val="000000"/>
                </a:solidFill>
                <a:latin typeface="Arial (Body)"/>
                <a:ea typeface="+mn-ea"/>
                <a:cs typeface="+mn-cs"/>
              </a:rPr>
              <a:t>but removes const from function </a:t>
            </a:r>
            <a:r>
              <a:rPr lang="en-US" sz="2400" kern="1200" dirty="0">
                <a:solidFill>
                  <a:srgbClr val="000000"/>
                </a:solidFill>
                <a:latin typeface="Consolas" panose="020B0609020204030204" pitchFamily="49" charset="0"/>
                <a:ea typeface="+mn-ea"/>
                <a:cs typeface="+mn-cs"/>
              </a:rPr>
              <a:t>printStandard’s</a:t>
            </a:r>
            <a:r>
              <a:rPr lang="en-US" sz="2400" kern="1200" dirty="0">
                <a:solidFill>
                  <a:srgbClr val="000000"/>
                </a:solidFill>
                <a:latin typeface="Arial (Body)"/>
                <a:ea typeface="+mn-ea"/>
                <a:cs typeface="+mn-cs"/>
              </a:rPr>
              <a:t> prototype and definition so that we can show a compilation </a:t>
            </a:r>
            <a:r>
              <a:rPr lang="en-US" sz="2400" kern="1200" dirty="0" smtClean="0">
                <a:solidFill>
                  <a:srgbClr val="000000"/>
                </a:solidFill>
                <a:latin typeface="Arial (Body)"/>
                <a:ea typeface="+mn-ea"/>
                <a:cs typeface="+mn-cs"/>
              </a:rPr>
              <a:t>error.</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17.16 </a:t>
            </a:r>
            <a:r>
              <a:rPr lang="en-US" dirty="0">
                <a:latin typeface="Consolas" panose="020B0609020204030204" pitchFamily="49" charset="0"/>
              </a:rPr>
              <a:t>Const</a:t>
            </a:r>
            <a:r>
              <a:rPr lang="en-US" dirty="0"/>
              <a:t> Objects and </a:t>
            </a:r>
            <a:r>
              <a:rPr lang="en-US" dirty="0">
                <a:latin typeface="Consolas" panose="020B0609020204030204" pitchFamily="49" charset="0"/>
              </a:rPr>
              <a:t>Const </a:t>
            </a:r>
            <a:r>
              <a:rPr lang="en-US" dirty="0"/>
              <a:t>Member </a:t>
            </a:r>
            <a:r>
              <a:rPr lang="en-US" dirty="0" smtClean="0"/>
              <a:t>Functions </a:t>
            </a:r>
            <a:r>
              <a:rPr lang="en-US" sz="2000" b="0" dirty="0" smtClean="0"/>
              <a:t>(1 of 2)</a:t>
            </a:r>
            <a:endParaRPr lang="en-US" sz="2000" b="0" dirty="0"/>
          </a:p>
        </p:txBody>
      </p:sp>
      <p:pic>
        <p:nvPicPr>
          <p:cNvPr id="3" name="Picture 2" descr="Computer code. The code has 21 lines. The lines read as follows. Line 1. forward slash forward slash F i g period 17 period 16 colon f i g 17 underscore 16 period c p p. Line 2. forward slash forward slash c o n s t objects and c o n s t member functions period. Line 3. hash include double quote Time period h double quote forward slash forward slash include Time class definition. Line 4. Blank. Line 5. i n t main left parenthesis right parenthesis. Line 6. left brace. Line 7, indented once. Time wake Up left parenthesis 6 comma 45 comma 0 right parenthesis semicolon forward slash forward slash non dash constant object. Line 8, indented once. const Time noon left parenthesis 12 comma 0 comma 0 right parenthesis semicolon forward slash forward slash constant object. Line 9. Blank. Line 10, indented 3 times. forward slash forward slash OBJECT MEMBER FUNCTION. Line 11, indented once. wake Up period set Hour left parenthesis 18 right parenthesis semicolon forward slash forward slash non dash c o n s t non dash c o n s t. Line 12. Blank. Line 13, indented once. noon period setHour left parenthesis 12 right parenthesis semicolon forward slash forward slash c o n s t non dash c o n s t. Line 13 is highlighted. Line 14. Blank. Line 15, indented once. wake Up period get Hour left parenthesis right parenthesis semicolon forward slash forward slash non dash const c o n s t. Line 16. Blank. Line 17, indented once. noon period get Minute left parenthesis right parenthesis semicolon forward slash forward slash const c o n s t. Line 18, indented once. noon period print Universal left parenthesis right parenthesis semicolon forward slash forward slash c o n s t const. Line 19. Blank. Line 20, indented once. noon period print Standard left parenthesis right parenthesis semicolon forward slash forward slash c o n s t non dash c o n s t. Line 20 is highlighted. Line 21. right brace forward slash forward slash end main."/>
          <p:cNvPicPr>
            <a:picLocks noChangeAspect="1"/>
          </p:cNvPicPr>
          <p:nvPr/>
        </p:nvPicPr>
        <p:blipFill>
          <a:blip r:embed="rId2"/>
          <a:stretch>
            <a:fillRect/>
          </a:stretch>
        </p:blipFill>
        <p:spPr>
          <a:xfrm>
            <a:off x="1234505" y="1505627"/>
            <a:ext cx="6674991" cy="4750857"/>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17.16 </a:t>
            </a:r>
            <a:r>
              <a:rPr lang="en-US" dirty="0">
                <a:latin typeface="Consolas" panose="020B0609020204030204" pitchFamily="49" charset="0"/>
              </a:rPr>
              <a:t>Const</a:t>
            </a:r>
            <a:r>
              <a:rPr lang="en-US" dirty="0"/>
              <a:t> Objects and </a:t>
            </a:r>
            <a:r>
              <a:rPr lang="en-US" dirty="0">
                <a:latin typeface="Consolas" panose="020B0609020204030204" pitchFamily="49" charset="0"/>
              </a:rPr>
              <a:t>Const </a:t>
            </a:r>
            <a:r>
              <a:rPr lang="en-US" dirty="0"/>
              <a:t>Member Functions </a:t>
            </a:r>
            <a:r>
              <a:rPr lang="en-US" sz="2000" b="0" dirty="0" smtClean="0"/>
              <a:t>(2 </a:t>
            </a:r>
            <a:r>
              <a:rPr lang="en-US" sz="2000" b="0" dirty="0"/>
              <a:t>of 2)</a:t>
            </a:r>
            <a:endParaRPr lang="en-US" dirty="0"/>
          </a:p>
        </p:txBody>
      </p:sp>
      <p:pic>
        <p:nvPicPr>
          <p:cNvPr id="3" name="Picture 2" descr="The code output has 8 lines. The lines read as follows. Line 1. C colon back slash examples back slash ch 0 9 back slash Fig 09 underscore 16 underscore 18 back slash fig 09 underscore 18 period c p p left parenthesis 13 right parenthesis colon error C 2 6 6 2 colon. Line 2. single quote Time colon colon set Hour single quote colon cannot convert single quote this single quote pointer from single quote c o n s t Time single quote to. Line 3. single quote Time ampersand single quote. Line 4. Conversion loses qualifiers. Line 5. C colon back slash examples back slash ch 09 back slash Fig 09 underscore 16 underscore 18 back slash fig 09 underscore 18 period c p p left parenthesis 20 right parenthesis colon error C 2 6 6 2 colon. Line 6. single quote Time colon colon print Standard single quote colon cannot convert single quote this single quote pointer from single quote c o n s t Time single quote to. Line 7. single quote Time ampersand single quote. Line 8. Conversion loses qualifiers."/>
          <p:cNvPicPr>
            <a:picLocks noChangeAspect="1"/>
          </p:cNvPicPr>
          <p:nvPr/>
        </p:nvPicPr>
        <p:blipFill>
          <a:blip r:embed="rId2"/>
          <a:stretch>
            <a:fillRect/>
          </a:stretch>
        </p:blipFill>
        <p:spPr>
          <a:xfrm>
            <a:off x="594121" y="2195069"/>
            <a:ext cx="7955756" cy="2221285"/>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(1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26267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mn-cs"/>
              </a:rPr>
              <a:t>An </a:t>
            </a:r>
            <a:r>
              <a:rPr lang="en-US" altLang="en-US" sz="2400" kern="1200" dirty="0">
                <a:solidFill>
                  <a:srgbClr val="000000"/>
                </a:solidFill>
                <a:latin typeface="Consolas" panose="020B0609020204030204" pitchFamily="49" charset="0"/>
                <a:ea typeface="+mn-ea"/>
                <a:cs typeface="+mn-cs"/>
              </a:rPr>
              <a:t>AlarmClock</a:t>
            </a:r>
            <a:r>
              <a:rPr lang="en-US" altLang="en-US" sz="2400" kern="1200" dirty="0">
                <a:solidFill>
                  <a:srgbClr val="000000"/>
                </a:solidFill>
                <a:latin typeface="Arial (Body)"/>
                <a:ea typeface="+mn-ea"/>
                <a:cs typeface="+mn-cs"/>
              </a:rPr>
              <a:t> object needs to know when it’s supposed to sound its alarm, so why not include a Time object as a member of the </a:t>
            </a:r>
            <a:r>
              <a:rPr lang="en-US" altLang="en-US" sz="2400" kern="1200" dirty="0">
                <a:solidFill>
                  <a:srgbClr val="000000"/>
                </a:solidFill>
                <a:latin typeface="Consolas" panose="020B0609020204030204" pitchFamily="49" charset="0"/>
                <a:ea typeface="+mn-ea"/>
                <a:cs typeface="+mn-cs"/>
              </a:rPr>
              <a:t>AlarmClock</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class?</a:t>
            </a:r>
            <a:endParaRPr lang="en-US" altLang="en-US" sz="2400" kern="1200" dirty="0">
              <a:solidFill>
                <a:srgbClr val="000000"/>
              </a:solidFill>
              <a:latin typeface="Arial (Body)"/>
              <a:ea typeface="+mn-ea"/>
              <a:cs typeface="+mn-cs"/>
            </a:endParaRPr>
          </a:p>
          <a:p>
            <a:pPr marL="255651" indent="-255651" eaLnBrk="1" hangingPunct="1">
              <a:tabLst/>
              <a:defRPr/>
            </a:pPr>
            <a:r>
              <a:rPr lang="en-US" altLang="en-US" sz="2400" kern="1200" dirty="0">
                <a:solidFill>
                  <a:srgbClr val="000000"/>
                </a:solidFill>
                <a:latin typeface="Arial (Body)"/>
                <a:ea typeface="+mn-ea"/>
                <a:cs typeface="+mn-cs"/>
              </a:rPr>
              <a:t>Such a capability is called </a:t>
            </a:r>
            <a:r>
              <a:rPr lang="en-US" altLang="en-US" sz="2400" b="1" kern="1200" dirty="0">
                <a:solidFill>
                  <a:srgbClr val="000000"/>
                </a:solidFill>
                <a:latin typeface="Arial (Body)"/>
                <a:ea typeface="+mn-ea"/>
                <a:cs typeface="+mn-cs"/>
              </a:rPr>
              <a:t>composition</a:t>
            </a:r>
            <a:r>
              <a:rPr lang="en-US" altLang="en-US" sz="2400" kern="1200" dirty="0">
                <a:solidFill>
                  <a:srgbClr val="000000"/>
                </a:solidFill>
                <a:latin typeface="Arial (Body)"/>
                <a:ea typeface="+mn-ea"/>
                <a:cs typeface="+mn-cs"/>
              </a:rPr>
              <a:t> and is sometimes referred to as a </a:t>
            </a:r>
            <a:r>
              <a:rPr lang="en-US" altLang="en-US" sz="2400" b="1" kern="1200" dirty="0">
                <a:solidFill>
                  <a:srgbClr val="000000"/>
                </a:solidFill>
                <a:latin typeface="Arial (Body)"/>
                <a:ea typeface="+mn-ea"/>
                <a:cs typeface="+mn-cs"/>
              </a:rPr>
              <a:t>has-a</a:t>
            </a:r>
            <a:r>
              <a:rPr lang="en-US" altLang="en-US" sz="2400" kern="1200" dirty="0">
                <a:solidFill>
                  <a:srgbClr val="000000"/>
                </a:solidFill>
                <a:latin typeface="Arial (Body)"/>
                <a:ea typeface="+mn-ea"/>
                <a:cs typeface="+mn-cs"/>
              </a:rPr>
              <a:t> </a:t>
            </a:r>
            <a:r>
              <a:rPr lang="en-US" altLang="en-US" sz="2400" b="1" kern="1200" dirty="0">
                <a:solidFill>
                  <a:srgbClr val="000000"/>
                </a:solidFill>
                <a:latin typeface="Arial (Body)"/>
                <a:ea typeface="+mn-ea"/>
                <a:cs typeface="+mn-cs"/>
              </a:rPr>
              <a:t>relationship</a:t>
            </a:r>
            <a:r>
              <a:rPr lang="en-US" altLang="en-US" sz="2400" kern="1200" dirty="0">
                <a:solidFill>
                  <a:srgbClr val="000000"/>
                </a:solidFill>
                <a:latin typeface="Arial (Body)"/>
                <a:ea typeface="+mn-ea"/>
                <a:cs typeface="+mn-cs"/>
              </a:rPr>
              <a:t>—</a:t>
            </a:r>
            <a:r>
              <a:rPr lang="en-US" altLang="en-US" sz="2400" b="1" kern="1200" dirty="0">
                <a:solidFill>
                  <a:srgbClr val="000000"/>
                </a:solidFill>
                <a:latin typeface="Arial (Body)"/>
                <a:ea typeface="+mn-ea"/>
                <a:cs typeface="+mn-cs"/>
              </a:rPr>
              <a:t>a</a:t>
            </a:r>
            <a:r>
              <a:rPr lang="en-US" altLang="en-US" sz="2400" i="1" kern="1200" dirty="0">
                <a:solidFill>
                  <a:srgbClr val="000000"/>
                </a:solidFill>
                <a:latin typeface="Arial (Body)"/>
                <a:ea typeface="+mn-ea"/>
                <a:cs typeface="+mn-cs"/>
              </a:rPr>
              <a:t> </a:t>
            </a:r>
            <a:r>
              <a:rPr lang="en-US" altLang="en-US" sz="2400" b="1" kern="1200" dirty="0">
                <a:solidFill>
                  <a:srgbClr val="000000"/>
                </a:solidFill>
                <a:latin typeface="Arial (Body)"/>
                <a:ea typeface="+mn-ea"/>
                <a:cs typeface="+mn-cs"/>
              </a:rPr>
              <a:t>class can have objects of other classes as members</a:t>
            </a:r>
            <a:r>
              <a:rPr lang="en-US" altLang="en-US" sz="2400" kern="1200" dirty="0">
                <a:solidFill>
                  <a:srgbClr val="000000"/>
                </a:solidFill>
                <a:latin typeface="Arial (Body)"/>
                <a:ea typeface="+mn-ea"/>
                <a:cs typeface="+mn-cs"/>
              </a:rPr>
              <a:t>.</a:t>
            </a:r>
          </a:p>
          <a:p>
            <a:pPr marL="255651" indent="-255651" eaLnBrk="1" hangingPunct="1">
              <a:tabLst/>
              <a:defRPr/>
            </a:pPr>
            <a:r>
              <a:rPr lang="en-US" altLang="en-US" sz="2400" kern="1200" dirty="0">
                <a:solidFill>
                  <a:srgbClr val="000000"/>
                </a:solidFill>
                <a:latin typeface="Arial (Body)"/>
                <a:ea typeface="+mn-ea"/>
                <a:cs typeface="+mn-cs"/>
              </a:rPr>
              <a:t>The next program uses classes </a:t>
            </a:r>
            <a:r>
              <a:rPr lang="en-US" altLang="en-US" sz="2400" kern="1200" dirty="0">
                <a:solidFill>
                  <a:srgbClr val="000000"/>
                </a:solidFill>
                <a:latin typeface="Consolas" panose="020B0609020204030204" pitchFamily="49" charset="0"/>
                <a:ea typeface="+mn-ea"/>
                <a:cs typeface="+mn-cs"/>
              </a:rPr>
              <a:t>Date</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Figures 17.17 (see slide 98)–17.18 (see slide 99)) and </a:t>
            </a:r>
            <a:r>
              <a:rPr lang="en-US" altLang="en-US" sz="2400" kern="1200" dirty="0">
                <a:solidFill>
                  <a:srgbClr val="000000"/>
                </a:solidFill>
                <a:latin typeface="Consolas" panose="020B0609020204030204" pitchFamily="49" charset="0"/>
                <a:ea typeface="+mn-ea"/>
                <a:cs typeface="+mn-cs"/>
              </a:rPr>
              <a:t>Employee</a:t>
            </a:r>
            <a:r>
              <a:rPr lang="en-US" altLang="en-US" sz="2400" kern="1200" dirty="0">
                <a:solidFill>
                  <a:srgbClr val="000000"/>
                </a:solidFill>
                <a:latin typeface="Arial (Body)"/>
                <a:ea typeface="+mn-ea"/>
                <a:cs typeface="+mn-cs"/>
              </a:rPr>
              <a:t> (</a:t>
            </a:r>
            <a:r>
              <a:rPr lang="en-US" altLang="en-US" sz="2400" kern="1200" dirty="0" smtClean="0">
                <a:solidFill>
                  <a:srgbClr val="000000"/>
                </a:solidFill>
                <a:latin typeface="Arial (Body)"/>
                <a:ea typeface="+mn-ea"/>
                <a:cs typeface="+mn-cs"/>
              </a:rPr>
              <a:t>Figures 17.19 (see slide 102)–17.20 (see slide 103)) </a:t>
            </a:r>
            <a:r>
              <a:rPr lang="en-US" altLang="en-US" sz="2400" kern="1200" dirty="0">
                <a:solidFill>
                  <a:srgbClr val="000000"/>
                </a:solidFill>
                <a:latin typeface="Arial (Body)"/>
                <a:ea typeface="+mn-ea"/>
                <a:cs typeface="+mn-cs"/>
              </a:rPr>
              <a:t>to demonstrate </a:t>
            </a:r>
            <a:r>
              <a:rPr lang="en-US" altLang="en-US" sz="2400" kern="1200" dirty="0" smtClean="0">
                <a:solidFill>
                  <a:srgbClr val="000000"/>
                </a:solidFill>
                <a:latin typeface="Arial (Body)"/>
                <a:ea typeface="+mn-ea"/>
                <a:cs typeface="+mn-cs"/>
              </a:rPr>
              <a:t>composition.</a:t>
            </a:r>
            <a:endParaRPr lang="en-US" alt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17.9</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A common form of software reusability is composition, in which a class has objects of other types as members.</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17.10</a:t>
            </a:r>
            <a:endParaRPr lang="en-US" dirty="0"/>
          </a:p>
        </p:txBody>
      </p:sp>
      <p:sp>
        <p:nvSpPr>
          <p:cNvPr id="3" name="Text Placeholder 2"/>
          <p:cNvSpPr>
            <a:spLocks noGrp="1"/>
          </p:cNvSpPr>
          <p:nvPr>
            <p:ph type="body" idx="1"/>
          </p:nvPr>
        </p:nvSpPr>
        <p:spPr>
          <a:xfrm>
            <a:off x="457200" y="1600200"/>
            <a:ext cx="8229600" cy="1933575"/>
          </a:xfrm>
        </p:spPr>
        <p:txBody>
          <a:bodyPr/>
          <a:lstStyle/>
          <a:p>
            <a:pPr marL="0" indent="0">
              <a:buNone/>
            </a:pPr>
            <a:r>
              <a:rPr lang="en-US" sz="2400" dirty="0">
                <a:latin typeface="Arial Body"/>
              </a:rPr>
              <a:t>Data members are constructed in the order in which they’re declared in the class definition (not in the order they’re listed in the constructor’s member initializer list) and before their enclosing class objects (sometimes called </a:t>
            </a:r>
            <a:r>
              <a:rPr lang="en-US" sz="2400" b="1" dirty="0">
                <a:latin typeface="Arial Body"/>
              </a:rPr>
              <a:t>host objects</a:t>
            </a:r>
            <a:r>
              <a:rPr lang="en-US" sz="2400" dirty="0">
                <a:latin typeface="Arial Body"/>
              </a:rPr>
              <a:t>) are constructed</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17.17 </a:t>
            </a:r>
            <a:r>
              <a:rPr lang="en-US" dirty="0">
                <a:latin typeface="Consolas" panose="020B0609020204030204" pitchFamily="49" charset="0"/>
              </a:rPr>
              <a:t>Date</a:t>
            </a:r>
            <a:r>
              <a:rPr lang="en-US" dirty="0"/>
              <a:t> Class Definition</a:t>
            </a:r>
          </a:p>
        </p:txBody>
      </p:sp>
      <p:pic>
        <p:nvPicPr>
          <p:cNvPr id="3" name="Picture 2" descr="The computer code has 22 lines. The lines read as follows. Line 1. forward slash forward slash Fig period 17 period 17 colon Date period h. Line 2. forward slash forward slash Date class definition semicolon Member functions defined in Date period c p p. Line 3. hash if n d e f DATE underscore H. Line 4. hash define DATE underscore H. Line 5. Blank. Line 6. class Date. Line 7. left brace. Line 8. public colon. Line 9, indented once. static c o n s t unsigned i n t months Per Year equals 12 semicolon forward slash forward slash months in a year. Line 10, indented once. explicit Date left parenthesis i n t equals 1 comma i n t equals 1 comma i n t equals 1900 right parenthesis semicolon forward slash forward slash default constructor. Line 10 is highlighted. Line 11, indented once. void print left parenthesis right parenthesis c o n s t semicolon forward slash forward slash print date in month forward slash day forward slash year format. Line 12, indented once. tilde Date left parenthesis right parenthesis semicolon forward slash forward slash provided to confirm destruction order. Line 12 is highlighted. Line 13. private colon. Line 14, indented once. unsigned i n t month semicolon forward slash forward slash 1 dash 12 left parenthesis January dash December right parenthesis. Line 15, indented once. unsigned i n t day semicolon forward slash forward slash 1 dash 31 based on month. Line 16, indented once. unsigned i n t year semicolon forward slash forward slash any year. Line 17. Blank. Line 18, indented once. forward slash forward slash utility function to check if day is proper for month and year. Line 19, indented once. unsigned i n t check Day left parenthesis i n t right parenthesis c o n s t semicolon. Line 20. right brace semicolon forward slash forward slash end class Date. Line 21. Blank. Line 22. hash end if."/>
          <p:cNvPicPr>
            <a:picLocks noChangeAspect="1"/>
          </p:cNvPicPr>
          <p:nvPr/>
        </p:nvPicPr>
        <p:blipFill>
          <a:blip r:embed="rId2"/>
          <a:stretch>
            <a:fillRect/>
          </a:stretch>
        </p:blipFill>
        <p:spPr>
          <a:xfrm>
            <a:off x="720774" y="1470556"/>
            <a:ext cx="7702450" cy="4779914"/>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17.18 </a:t>
            </a:r>
            <a:r>
              <a:rPr lang="en-US" dirty="0">
                <a:latin typeface="Consolas" panose="020B0609020204030204" pitchFamily="49" charset="0"/>
              </a:rPr>
              <a:t>Date</a:t>
            </a:r>
            <a:r>
              <a:rPr lang="en-US" dirty="0"/>
              <a:t> Class Member-Function Definitions </a:t>
            </a:r>
            <a:r>
              <a:rPr lang="en-US" sz="2000" b="0" dirty="0" smtClean="0"/>
              <a:t>(1 </a:t>
            </a:r>
            <a:r>
              <a:rPr lang="en-US" sz="2000" b="0" dirty="0"/>
              <a:t>of 3)</a:t>
            </a:r>
          </a:p>
        </p:txBody>
      </p:sp>
      <p:pic>
        <p:nvPicPr>
          <p:cNvPr id="3" name="Picture 2" descr="The computer code has 58 lines. The lines read as follows. Line 1. forward slash forward slash Fig period 17 period 18 colon Date period c p p. Line 2. forward slash forward slash Date class member dash function definitions period. Line 3. hash include left angle bracket array right angle bracket. Line 4. hash include left angle bracket i o stream right angle bracket. Line 5. hash include left angle bracket s t d except right angle bracket. Line 6. hash include double quote Date period h double quote forward slash forward slash include Date class definition. Line 7. using namespace s t d semicolon. Line 8. Blank. Line 9. forward slash forward slash constructor confirms proper value for month semicolon calls. Line 10. forward slash forward slash utility function check Day to confirm proper value for day. Line 11. Date colon colon Date left parenthesis i n t, m n comma i n t, d y comma i n t, y r right parenthesis. Line 12. left brace. Line 13, indented once. if left parenthesis m n greater than sign 0 ampersand ampersand m n less than sign equals months Per Year right parenthesis forward slash forward slash validate the month. Line 14, indented twice. month equals m n semicolon. Line 15, indented once. else. Line 16, indented twice. throw invalid underscore argument left parenthesis double quote month must be 1 dash 12 double quote right parenthesis semicolon. Line 17. Blank. Line 18, indented once. year equals y r semicolon forward slash forward slash could validate yr. Line 19, indented once. day equals check Day left parenthesis d y right parenthesis semicolon forward slash forward slash validate the day. Line 20. Blank. Line 21, indented once. forward slash forward slash output Date object to show when its constructor is called. Line 22, indented once. c out left angle bracket left angle bracket double quote Date object constructor for date double quote semicolon. Line 23, indented once. print left parenthesis right parenthesis semicolon. Line 24, indented once. c out left angle bracket left angle bracket end l semicolon. Line 25. right brace forward slash forward slash end Date constructor."/>
          <p:cNvPicPr>
            <a:picLocks noChangeAspect="1"/>
          </p:cNvPicPr>
          <p:nvPr/>
        </p:nvPicPr>
        <p:blipFill>
          <a:blip r:embed="rId2"/>
          <a:stretch>
            <a:fillRect/>
          </a:stretch>
        </p:blipFill>
        <p:spPr>
          <a:xfrm>
            <a:off x="1036074" y="1441189"/>
            <a:ext cx="7071851" cy="4838636"/>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17.18 </a:t>
            </a:r>
            <a:r>
              <a:rPr lang="en-US" dirty="0">
                <a:latin typeface="Consolas" panose="020B0609020204030204" pitchFamily="49" charset="0"/>
              </a:rPr>
              <a:t>Date</a:t>
            </a:r>
            <a:r>
              <a:rPr lang="en-US" dirty="0"/>
              <a:t> Class Member-Function Definitions </a:t>
            </a:r>
            <a:r>
              <a:rPr lang="en-US" sz="2000" b="0" dirty="0" smtClean="0"/>
              <a:t>(2 </a:t>
            </a:r>
            <a:r>
              <a:rPr lang="en-US" sz="2000" b="0" dirty="0"/>
              <a:t>of 3)</a:t>
            </a:r>
            <a:endParaRPr lang="en-US" dirty="0"/>
          </a:p>
        </p:txBody>
      </p:sp>
      <p:pic>
        <p:nvPicPr>
          <p:cNvPr id="5" name="Picture 4" descr="The code continues. Line 26. Blank. Line 27. forward slash forward slash print Date object in form month forward slash day forward slash year. Line 28. void Date colon colon print left parenthesis right parenthesis c o n s t. Line 29. left brace. Line 30, indented once. c out left angle bracket left angle bracket month left angle bracket left angle bracket single quote forward slash single quote left angle bracket left angle bracket day left angle bracket left angle bracket single quote forward slash single quote left angle bracket left angle bracket year semicolon. Line 31. right brace forward slash forward slash end function print. Line 32. Blank. Line 33. forward slash forward slash output Date object to show when its destructor is called. Line 34. Date colon colon tilde Date left parenthesis right parenthesis. Line 35. left brace. Line 36, indented once. c out left angle bracket left angle bracket double quote Date object destructor for date double quote semicolon. Line 37, indented once. print left parenthesis right parenthesis semicolon. Line 38, indented once. c out left angle bracket left angle bracket end l semicolon. Line 39. right brace forward slash forward slash end tilde Date destructor. Line 40. Blank."/>
          <p:cNvPicPr>
            <a:picLocks noChangeAspect="1"/>
          </p:cNvPicPr>
          <p:nvPr/>
        </p:nvPicPr>
        <p:blipFill>
          <a:blip r:embed="rId2"/>
          <a:stretch>
            <a:fillRect/>
          </a:stretch>
        </p:blipFill>
        <p:spPr>
          <a:xfrm>
            <a:off x="529800" y="1972217"/>
            <a:ext cx="8084401" cy="3694402"/>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17.18 </a:t>
            </a:r>
            <a:r>
              <a:rPr lang="en-US" dirty="0">
                <a:latin typeface="Consolas" panose="020B0609020204030204" pitchFamily="49" charset="0"/>
              </a:rPr>
              <a:t>Date</a:t>
            </a:r>
            <a:r>
              <a:rPr lang="en-US" dirty="0"/>
              <a:t> Class Member-Function Definitions </a:t>
            </a:r>
            <a:r>
              <a:rPr lang="en-US" sz="2000" b="0" dirty="0" smtClean="0"/>
              <a:t>(3 </a:t>
            </a:r>
            <a:r>
              <a:rPr lang="en-US" sz="2000" b="0" dirty="0"/>
              <a:t>of 3)</a:t>
            </a:r>
            <a:endParaRPr lang="en-US" dirty="0"/>
          </a:p>
        </p:txBody>
      </p:sp>
      <p:pic>
        <p:nvPicPr>
          <p:cNvPr id="3" name="Picture 2" descr="The code continues. Line 41. forward slash forward slash utility function to confirm proper day value based on. Line 42. forward slash forward slash month and year semicolon handles leap years comma too. Line 43. unsigned i n t Date colon colon check Day left parenthesis i n t test Day right parenthesis c o n s t. Line 44. left brace. Line 45, indented once. static c o n s t array left angle bracket I n t comma months Per Year plus 1 right angle bracket days Per Month equals. Line 46, indented twice. left brace 0 comma 31 comma 28 comma 31 comma 30 comma 31 comma 30 comma 31 comma 31 comma 30 comma 31 comma 30 comma 31 right brace semicolon. Line 47. Blank. Line 48, indented once. forward slash forward slash determine whether test Day is valid for specified month. Line 49, indented once. if left parenthesis test Day greater than sign 0 ampersand ampersand test Day less than sign equals days Per Month left bracket month right bracket right parenthesis. Line 50, indented twice. return test Day semicolon. Line 51. Blank. Line 52, indented once. forward slash forward slash February 29 check for leap year. Line 53, indented once. if left parenthesis month equals equals 2 ampersand ampersand test Day equals equals 29 ampersand ampersand left parenthesis year percent sign 400 equals equals 0 double pipe. Line 54, indented twice. left parenthesis year percent sign 4 equals equals 0 ampersand ampersand year percent sign 100 exclamation point equals 0 right parenthesis right parenthesis right parenthesis. Line 55, indented twice. return test Day semicolon. Line 56. Blank. Line 57, indented once. throw invalid underscore argument left parenthesis double quote Invalid day for current month and year double quote right parenthesis semicolon. Line 58. right brace forward slash forward slash end function check Day."/>
          <p:cNvPicPr>
            <a:picLocks noChangeAspect="1"/>
          </p:cNvPicPr>
          <p:nvPr/>
        </p:nvPicPr>
        <p:blipFill>
          <a:blip r:embed="rId2"/>
          <a:stretch>
            <a:fillRect/>
          </a:stretch>
        </p:blipFill>
        <p:spPr>
          <a:xfrm>
            <a:off x="510772" y="1800674"/>
            <a:ext cx="8122454" cy="4218253"/>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17.19 </a:t>
            </a:r>
            <a:r>
              <a:rPr lang="en-US" dirty="0">
                <a:latin typeface="Consolas" panose="020B0609020204030204" pitchFamily="49" charset="0"/>
              </a:rPr>
              <a:t>Employee</a:t>
            </a:r>
            <a:r>
              <a:rPr lang="en-US" dirty="0"/>
              <a:t> Class Definition Showing Composition</a:t>
            </a:r>
          </a:p>
        </p:txBody>
      </p:sp>
      <p:pic>
        <p:nvPicPr>
          <p:cNvPr id="3" name="Picture 2" descr="The computer code has 24 lines. The lines read as follows. Line 1. forward slash forward slash F i g period 17 period 19 colon Employee period h. Line 2. forward slash forward slash Employee class definition showing composition period. Line 3. forward slash forward slash Member functions defined in Employee period c p p period. Line 4. hash if n d e f EMPLOYEE underscore H. Line 5. hash define EMPLOYEE underscore H. Line 6. Blank. Line 7. hash include left angle bracket string right angle bracket. Line 8. hash include double quote Date period h double quote forward slash forward slash include Date class definition. Line 9. Blank. Line 10. class Employee. Line 11. left brace. Line 12. public colon. Line 13, indented once. Employee left parenthesis c o n s t, s t d colon colon string ampersand comma c o n s t, s t d colon colon string ampersand comma. Line 14, indented twice. c o n s t Date ampersand comma c o n s t Date ampersand right parenthesis semicolon. Line 15, indented once. void print left parenthesis right parenthesis c o n s t semicolon. Line 16, indented once. tilde Employee left parenthesis right parenthesis semicolon forward slash forward slash provided to confirm destruction order. Line 17. private colon. Line 18, indented once. s t d colon colon string first Name semicolon forward slash forward slash composition colon member object. Line 19, indented once. s t d colon colon string last Name semicolon forward slash forward slash composition colon member object. Line 20, indented once. c o n s t Date birth Date semicolon forward slash forward slash composition colon member object. Line 21, indented once. c o n s t Date hire Date semicolon forward slash forward slash composition colon member object. Line 22. right brace semicolon forward slash forward slash end class Employee. Line 23. Blank. Line 24. hash end if."/>
          <p:cNvPicPr>
            <a:picLocks noChangeAspect="1"/>
          </p:cNvPicPr>
          <p:nvPr/>
        </p:nvPicPr>
        <p:blipFill>
          <a:blip r:embed="rId2"/>
          <a:stretch>
            <a:fillRect/>
          </a:stretch>
        </p:blipFill>
        <p:spPr>
          <a:xfrm>
            <a:off x="861974" y="1505379"/>
            <a:ext cx="7420050" cy="4826991"/>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17.20 </a:t>
            </a:r>
            <a:r>
              <a:rPr lang="en-US" dirty="0">
                <a:latin typeface="Consolas" panose="020B0609020204030204" pitchFamily="49" charset="0"/>
              </a:rPr>
              <a:t>Employee</a:t>
            </a:r>
            <a:r>
              <a:rPr lang="en-US" dirty="0"/>
              <a:t> Class Member-Function </a:t>
            </a:r>
            <a:r>
              <a:rPr lang="en-US" dirty="0" smtClean="0"/>
              <a:t>Definitions </a:t>
            </a:r>
            <a:r>
              <a:rPr lang="en-US" sz="2000" b="0" dirty="0" smtClean="0"/>
              <a:t>(1 </a:t>
            </a:r>
            <a:r>
              <a:rPr lang="en-US" sz="2000" b="0" dirty="0"/>
              <a:t>of 2)</a:t>
            </a:r>
            <a:endParaRPr lang="en-US" sz="2000" dirty="0"/>
          </a:p>
        </p:txBody>
      </p:sp>
      <p:pic>
        <p:nvPicPr>
          <p:cNvPr id="3" name="Picture 2" descr="The computer code has 37 lines. The lines read as follows. Line 1. forward slash forward slash Fig period 17 period 20 colon Employee period c p p. Line 2. forward slash forward slash Employee class member dash function definitions period. Line 3. hash include left angle bracket i o stream right angle bracket. Line 4. hash include double quote Employee period h double quote forward slash forward slash Employee class definition. Line 5. hash include double quote Date period h double quote forward slash forward slash Date class definition. Line 6. using namespace s t d semicolon. Line 7. Blank. Line 8. forward slash forward slash constructor uses member initializer list to pass initializer. Line 9. forward slash forward slash values to constructors of member objects. Line 10. Employee colon colon Employee left parenthesis c o n s t string ampersand first comma c o n s t string ampersand last comma. Line 11, indented once. c o n s t Date ampersand date Of Birth comma c o n s t Date ampersand date Of Hire right parenthesis. Line 12, indented once. colon first Name left parenthesis first right parenthesis comma forward slash forward slash initialize first Name. Line 13, indented once. last Name left parenthesis last right parenthesis comma forward slash forward slash initialize last Name. Line 14, indented once. birth Date left parenthesis date Of Birth right parenthesis comma forward slash forward slash initialize birth Date. Line 15, indented once. hire Date left parenthesis date Of Hire right parenthesis forward slash forward slash initialize hire Date. Lines 12 to 15 are highlighted. Line 16. left brace. Line 17, indented once. forward slash forward slash output Employee object to show when constructor is called. Line 18, indented once. c out left angle bracket left angle bracket double quote Employee object constructor colon double quote. Line 19, indented twice. left angle bracket left angle bracket first Name left angle bracket left angle bracket single quote single quote left angle bracket left angle bracket last Name left angle bracket left angle bracket end l semicolon. Line 20. right brace forward slash forward slash end Employee constructor. Line 21. Blank. "/>
          <p:cNvPicPr>
            <a:picLocks noChangeAspect="1"/>
          </p:cNvPicPr>
          <p:nvPr/>
        </p:nvPicPr>
        <p:blipFill>
          <a:blip r:embed="rId2"/>
          <a:stretch>
            <a:fillRect/>
          </a:stretch>
        </p:blipFill>
        <p:spPr>
          <a:xfrm>
            <a:off x="799936" y="1456997"/>
            <a:ext cx="7544127" cy="4745386"/>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17.20 </a:t>
            </a:r>
            <a:r>
              <a:rPr lang="en-US" dirty="0">
                <a:latin typeface="Consolas" panose="020B0609020204030204" pitchFamily="49" charset="0"/>
              </a:rPr>
              <a:t>Employee</a:t>
            </a:r>
            <a:r>
              <a:rPr lang="en-US" dirty="0"/>
              <a:t> Class Member-Function </a:t>
            </a:r>
            <a:r>
              <a:rPr lang="en-US" dirty="0" smtClean="0"/>
              <a:t>Definitions </a:t>
            </a:r>
            <a:r>
              <a:rPr lang="en-US" sz="2000" b="0" dirty="0" smtClean="0"/>
              <a:t>(2 of 2)</a:t>
            </a:r>
            <a:endParaRPr lang="en-US" sz="2000" b="0" dirty="0"/>
          </a:p>
        </p:txBody>
      </p:sp>
      <p:pic>
        <p:nvPicPr>
          <p:cNvPr id="3" name="Picture 2" descr="The code continues. Line 22. forward slash forward slash print Employee object. Line 23. void Employee colon colon print left parenthesis right parenthesis const. Line 24. left brace. Line 25, indented once. c out left angle bracket left angle bracket last Name left angle bracket left angle bracket double quote comma double quote left angle bracket left angle bracket first Name left angle bracket left angle bracket double quote Hired colon double quote semicolon. Line 26, indented once. hire Date period print left parenthesis right parenthesis semicolon. Line 27, indented once. c out left angle bracket left angle bracket double quote Birthday colon double quote semicolon. Line 28, indented once. birth Date period print left parenthesis right parenthesis semicolon. Line 29, indented once. c out left angle bracket left angle bracket end l semicolon. Line 30. right brace forward slash forward slash end function print. Line 31. Blank. Line 32. forward slash forward slash output Employee object to show when its destructor is called. Line 33. Employee colon colon tilde Employee left parenthesis right parenthesis. Line 34. left brace. Line 35, indented once. c out left angle bracket left angle bracket double quote Employee object destructor colon double quote. Line 36, indented twice. left angle bracket left angle bracket last Name left angle bracket left angle bracket double quote comma double quote left angle bracket left angle bracket first Name left angle bracket left angle bracket end l semicolon. Line 37. right brace forward slash forward slash end tilde Employee destructor."/>
          <p:cNvPicPr>
            <a:picLocks noChangeAspect="1"/>
          </p:cNvPicPr>
          <p:nvPr/>
        </p:nvPicPr>
        <p:blipFill>
          <a:blip r:embed="rId2"/>
          <a:stretch>
            <a:fillRect/>
          </a:stretch>
        </p:blipFill>
        <p:spPr>
          <a:xfrm>
            <a:off x="647545" y="2070578"/>
            <a:ext cx="7848910" cy="3641521"/>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(2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p:txBody>
          <a:bodyPr wrap="square">
            <a:spAutoFit/>
          </a:bodyPr>
          <a:lstStyle/>
          <a:p>
            <a:pPr marL="0" indent="0" eaLnBrk="1" hangingPunct="1">
              <a:buNone/>
              <a:tabLst/>
              <a:defRPr/>
            </a:pPr>
            <a:r>
              <a:rPr lang="en-US" sz="2200" b="1" kern="1200" dirty="0">
                <a:solidFill>
                  <a:srgbClr val="000000"/>
                </a:solidFill>
                <a:latin typeface="Arial (Body)"/>
                <a:ea typeface="+mn-ea"/>
                <a:cs typeface="+mn-cs"/>
              </a:rPr>
              <a:t>Employee Constructor’s Member Initializer List</a:t>
            </a:r>
          </a:p>
          <a:p>
            <a:pPr marL="255651" indent="-255651" eaLnBrk="1" hangingPunct="1">
              <a:tabLst/>
              <a:defRPr/>
            </a:pPr>
            <a:r>
              <a:rPr lang="en-US" sz="2200" kern="1200" dirty="0">
                <a:solidFill>
                  <a:srgbClr val="000000"/>
                </a:solidFill>
                <a:latin typeface="Arial (Body)"/>
                <a:ea typeface="+mn-ea"/>
                <a:cs typeface="+mn-cs"/>
              </a:rPr>
              <a:t>The </a:t>
            </a:r>
            <a:r>
              <a:rPr lang="en-US" sz="2200" b="1" kern="1200" dirty="0">
                <a:solidFill>
                  <a:srgbClr val="000000"/>
                </a:solidFill>
                <a:latin typeface="Arial (Body)"/>
                <a:ea typeface="+mn-ea"/>
                <a:cs typeface="+mn-cs"/>
              </a:rPr>
              <a:t>colon (</a:t>
            </a:r>
            <a:r>
              <a:rPr lang="en-US" sz="2200" b="1" kern="1200" dirty="0">
                <a:solidFill>
                  <a:srgbClr val="000000"/>
                </a:solidFill>
                <a:latin typeface="Consolas" panose="020B0609020204030204" pitchFamily="49" charset="0"/>
                <a:ea typeface="+mn-ea"/>
                <a:cs typeface="+mn-cs"/>
              </a:rPr>
              <a:t>:</a:t>
            </a:r>
            <a:r>
              <a:rPr lang="en-US" sz="2200" b="1" kern="1200" dirty="0">
                <a:solidFill>
                  <a:srgbClr val="000000"/>
                </a:solidFill>
                <a:latin typeface="Arial (Body)"/>
                <a:ea typeface="+mn-ea"/>
                <a:cs typeface="+mn-cs"/>
              </a:rPr>
              <a:t>)</a:t>
            </a:r>
            <a:r>
              <a:rPr lang="en-US" sz="2200" kern="1200" dirty="0">
                <a:solidFill>
                  <a:srgbClr val="000000"/>
                </a:solidFill>
                <a:latin typeface="Arial (Body)"/>
                <a:ea typeface="+mn-ea"/>
                <a:cs typeface="+mn-cs"/>
              </a:rPr>
              <a:t> following the constructor’s header (</a:t>
            </a:r>
            <a:r>
              <a:rPr lang="en-US" sz="2200" kern="1200" dirty="0" smtClean="0">
                <a:solidFill>
                  <a:srgbClr val="000000"/>
                </a:solidFill>
                <a:latin typeface="Arial (Body)"/>
                <a:ea typeface="+mn-ea"/>
                <a:cs typeface="+mn-cs"/>
              </a:rPr>
              <a:t>Figure 17.20 (see slide 103), line </a:t>
            </a:r>
            <a:r>
              <a:rPr lang="en-US" sz="2200" kern="1200" dirty="0">
                <a:solidFill>
                  <a:srgbClr val="000000"/>
                </a:solidFill>
                <a:latin typeface="Arial (Body)"/>
                <a:ea typeface="+mn-ea"/>
                <a:cs typeface="+mn-cs"/>
              </a:rPr>
              <a:t>12) </a:t>
            </a:r>
            <a:r>
              <a:rPr lang="en-US" sz="2200" kern="1200" dirty="0" smtClean="0">
                <a:solidFill>
                  <a:srgbClr val="000000"/>
                </a:solidFill>
                <a:latin typeface="Arial (Body)"/>
              </a:rPr>
              <a:t>(</a:t>
            </a:r>
            <a:r>
              <a:rPr lang="en-US" sz="2200" kern="1200" dirty="0" smtClean="0">
                <a:solidFill>
                  <a:srgbClr val="000000"/>
                </a:solidFill>
                <a:latin typeface="Arial (Body)"/>
                <a:ea typeface="+mn-ea"/>
                <a:cs typeface="+mn-cs"/>
              </a:rPr>
              <a:t>begins </a:t>
            </a:r>
            <a:r>
              <a:rPr lang="en-US" sz="2200" kern="1200" dirty="0">
                <a:solidFill>
                  <a:srgbClr val="000000"/>
                </a:solidFill>
                <a:latin typeface="Arial (Body)"/>
                <a:ea typeface="+mn-ea"/>
                <a:cs typeface="+mn-cs"/>
              </a:rPr>
              <a:t>the </a:t>
            </a:r>
            <a:r>
              <a:rPr lang="en-US" sz="2200" b="1" kern="1200" dirty="0">
                <a:solidFill>
                  <a:srgbClr val="000000"/>
                </a:solidFill>
                <a:latin typeface="Arial (Body)"/>
                <a:ea typeface="+mn-ea"/>
                <a:cs typeface="+mn-cs"/>
              </a:rPr>
              <a:t>member initializer </a:t>
            </a:r>
            <a:r>
              <a:rPr lang="en-US" sz="2200" b="1" kern="1200" dirty="0" smtClean="0">
                <a:solidFill>
                  <a:srgbClr val="000000"/>
                </a:solidFill>
                <a:latin typeface="Arial (Body)"/>
                <a:ea typeface="+mn-ea"/>
                <a:cs typeface="+mn-cs"/>
              </a:rPr>
              <a:t>list</a:t>
            </a:r>
            <a:r>
              <a:rPr lang="en-US" sz="2200" kern="1200" dirty="0" smtClean="0">
                <a:solidFill>
                  <a:srgbClr val="000000"/>
                </a:solidFill>
                <a:latin typeface="Arial (Body)"/>
                <a:ea typeface="+mn-ea"/>
                <a:cs typeface="+mn-cs"/>
              </a:rPr>
              <a:t>.</a:t>
            </a:r>
            <a:endParaRPr lang="en-US" sz="2200" kern="1200" dirty="0">
              <a:solidFill>
                <a:srgbClr val="000000"/>
              </a:solidFill>
              <a:latin typeface="Arial (Body)"/>
              <a:ea typeface="+mn-ea"/>
              <a:cs typeface="+mn-cs"/>
            </a:endParaRPr>
          </a:p>
          <a:p>
            <a:pPr marL="255651" indent="-255651" eaLnBrk="1" hangingPunct="1">
              <a:tabLst/>
              <a:defRPr/>
            </a:pPr>
            <a:r>
              <a:rPr lang="en-US" sz="2200" kern="1200" dirty="0">
                <a:solidFill>
                  <a:srgbClr val="000000"/>
                </a:solidFill>
                <a:latin typeface="Arial (Body)"/>
                <a:ea typeface="+mn-ea"/>
                <a:cs typeface="+mn-cs"/>
              </a:rPr>
              <a:t>The member initializers specify the </a:t>
            </a:r>
            <a:r>
              <a:rPr lang="en-US" sz="2200" kern="1200" dirty="0">
                <a:solidFill>
                  <a:srgbClr val="000000"/>
                </a:solidFill>
                <a:latin typeface="Consolas" panose="020B0609020204030204" pitchFamily="49" charset="0"/>
                <a:ea typeface="+mn-ea"/>
                <a:cs typeface="+mn-cs"/>
              </a:rPr>
              <a:t>Employee</a:t>
            </a:r>
            <a:r>
              <a:rPr lang="en-US" sz="2200" kern="1200" dirty="0">
                <a:solidFill>
                  <a:srgbClr val="000000"/>
                </a:solidFill>
                <a:latin typeface="Arial (Body)"/>
                <a:ea typeface="+mn-ea"/>
                <a:cs typeface="+mn-cs"/>
              </a:rPr>
              <a:t> constructor parameters being passed to the constructors of the </a:t>
            </a:r>
            <a:r>
              <a:rPr lang="en-US" sz="2200" kern="1200" dirty="0">
                <a:solidFill>
                  <a:srgbClr val="000000"/>
                </a:solidFill>
                <a:latin typeface="Consolas" panose="020B0609020204030204" pitchFamily="49" charset="0"/>
                <a:ea typeface="+mn-ea"/>
                <a:cs typeface="+mn-cs"/>
              </a:rPr>
              <a:t>string</a:t>
            </a:r>
            <a:r>
              <a:rPr lang="en-US" sz="2200" kern="1200" dirty="0">
                <a:solidFill>
                  <a:srgbClr val="000000"/>
                </a:solidFill>
                <a:latin typeface="Arial (Body)"/>
                <a:ea typeface="+mn-ea"/>
                <a:cs typeface="+mn-cs"/>
              </a:rPr>
              <a:t> and </a:t>
            </a:r>
            <a:r>
              <a:rPr lang="en-US" sz="2200" kern="1200" dirty="0">
                <a:solidFill>
                  <a:srgbClr val="000000"/>
                </a:solidFill>
                <a:latin typeface="Consolas" panose="020B0609020204030204" pitchFamily="49" charset="0"/>
                <a:ea typeface="+mn-ea"/>
                <a:cs typeface="+mn-cs"/>
              </a:rPr>
              <a:t>Date</a:t>
            </a:r>
            <a:r>
              <a:rPr lang="en-US" sz="2200" kern="1200" dirty="0">
                <a:solidFill>
                  <a:srgbClr val="000000"/>
                </a:solidFill>
                <a:latin typeface="Arial (Body)"/>
                <a:ea typeface="+mn-ea"/>
                <a:cs typeface="+mn-cs"/>
              </a:rPr>
              <a:t> data </a:t>
            </a:r>
            <a:r>
              <a:rPr lang="en-US" sz="2200" kern="1200" dirty="0" smtClean="0">
                <a:solidFill>
                  <a:srgbClr val="000000"/>
                </a:solidFill>
                <a:latin typeface="Arial (Body)"/>
                <a:ea typeface="+mn-ea"/>
                <a:cs typeface="+mn-cs"/>
              </a:rPr>
              <a:t>members.</a:t>
            </a:r>
            <a:endParaRPr lang="en-US" sz="2200" kern="1200" dirty="0">
              <a:solidFill>
                <a:srgbClr val="000000"/>
              </a:solidFill>
              <a:latin typeface="Arial (Body)"/>
              <a:ea typeface="+mn-ea"/>
              <a:cs typeface="+mn-cs"/>
            </a:endParaRPr>
          </a:p>
          <a:p>
            <a:pPr marL="255651" indent="-255651" eaLnBrk="1" hangingPunct="1">
              <a:tabLst/>
              <a:defRPr/>
            </a:pPr>
            <a:r>
              <a:rPr lang="en-US" sz="2200" kern="1200" dirty="0">
                <a:solidFill>
                  <a:srgbClr val="000000"/>
                </a:solidFill>
                <a:latin typeface="Arial (Body)"/>
                <a:ea typeface="+mn-ea"/>
                <a:cs typeface="+mn-cs"/>
              </a:rPr>
              <a:t>Again, member initializers are separated by </a:t>
            </a:r>
            <a:r>
              <a:rPr lang="en-US" sz="2200" kern="1200" dirty="0" smtClean="0">
                <a:solidFill>
                  <a:srgbClr val="000000"/>
                </a:solidFill>
                <a:latin typeface="Arial (Body)"/>
                <a:ea typeface="+mn-ea"/>
                <a:cs typeface="+mn-cs"/>
              </a:rPr>
              <a:t>commas.</a:t>
            </a:r>
            <a:endParaRPr lang="en-US" sz="2200" kern="1200" dirty="0">
              <a:solidFill>
                <a:srgbClr val="000000"/>
              </a:solidFill>
              <a:latin typeface="Arial (Body)"/>
              <a:ea typeface="+mn-ea"/>
              <a:cs typeface="+mn-cs"/>
            </a:endParaRPr>
          </a:p>
          <a:p>
            <a:pPr marL="255651" indent="-255651" eaLnBrk="1" hangingPunct="1">
              <a:tabLst/>
              <a:defRPr/>
            </a:pPr>
            <a:r>
              <a:rPr lang="en-US" sz="2200" kern="1200" dirty="0">
                <a:solidFill>
                  <a:srgbClr val="000000"/>
                </a:solidFill>
                <a:latin typeface="Arial (Body)"/>
                <a:ea typeface="+mn-ea"/>
                <a:cs typeface="+mn-cs"/>
              </a:rPr>
              <a:t>The order of the member initializers does not </a:t>
            </a:r>
            <a:r>
              <a:rPr lang="en-US" sz="2200" kern="1200" dirty="0" smtClean="0">
                <a:solidFill>
                  <a:srgbClr val="000000"/>
                </a:solidFill>
                <a:latin typeface="Arial (Body)"/>
                <a:ea typeface="+mn-ea"/>
                <a:cs typeface="+mn-cs"/>
              </a:rPr>
              <a:t>matter.</a:t>
            </a:r>
            <a:endParaRPr lang="en-US" sz="2200" kern="1200" dirty="0">
              <a:solidFill>
                <a:srgbClr val="000000"/>
              </a:solidFill>
              <a:latin typeface="Arial (Body)"/>
              <a:ea typeface="+mn-ea"/>
              <a:cs typeface="+mn-cs"/>
            </a:endParaRPr>
          </a:p>
          <a:p>
            <a:pPr marL="255651" indent="-255651" eaLnBrk="1" hangingPunct="1">
              <a:tabLst/>
              <a:defRPr/>
            </a:pPr>
            <a:r>
              <a:rPr lang="en-US" sz="2200" kern="1200" dirty="0">
                <a:solidFill>
                  <a:srgbClr val="000000"/>
                </a:solidFill>
                <a:latin typeface="Arial (Body)"/>
                <a:ea typeface="+mn-ea"/>
                <a:cs typeface="+mn-cs"/>
              </a:rPr>
              <a:t>They’re executed in the order that the member objects are declared in class Employee.</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Good Programming Practice </a:t>
            </a:r>
            <a:r>
              <a:rPr lang="en-US" dirty="0" smtClean="0"/>
              <a:t>17.3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For clarity, list member initializers in the order that the class’s data members are declared</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(3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250"/>
          </a:xfrm>
        </p:spPr>
        <p:txBody>
          <a:bodyPr>
            <a:spAutoFit/>
          </a:bodyPr>
          <a:lstStyle/>
          <a:p>
            <a:pPr marL="0" indent="0" eaLnBrk="1" hangingPunct="1">
              <a:buNone/>
              <a:tabLst/>
              <a:defRPr/>
            </a:pPr>
            <a:r>
              <a:rPr lang="en-US" sz="2400" b="1" kern="1200" dirty="0">
                <a:solidFill>
                  <a:srgbClr val="000000"/>
                </a:solidFill>
                <a:latin typeface="Arial (Body)"/>
                <a:ea typeface="+mn-ea"/>
                <a:cs typeface="+mn-cs"/>
              </a:rPr>
              <a:t>Date Class’s Default Copy Constructor</a:t>
            </a:r>
          </a:p>
          <a:p>
            <a:pPr marL="255651" indent="-255651" eaLnBrk="1" hangingPunct="1">
              <a:tabLst/>
              <a:defRPr/>
            </a:pPr>
            <a:r>
              <a:rPr lang="en-US" sz="2400" kern="1200" dirty="0">
                <a:solidFill>
                  <a:srgbClr val="000000"/>
                </a:solidFill>
                <a:latin typeface="Arial (Body)"/>
                <a:ea typeface="+mn-ea"/>
                <a:cs typeface="+mn-cs"/>
              </a:rPr>
              <a:t>As we mentioned in Section </a:t>
            </a:r>
            <a:r>
              <a:rPr lang="en-US" sz="2400" kern="1200" dirty="0" smtClean="0">
                <a:solidFill>
                  <a:srgbClr val="000000"/>
                </a:solidFill>
                <a:latin typeface="Arial (Body)"/>
                <a:ea typeface="+mn-ea"/>
                <a:cs typeface="+mn-cs"/>
              </a:rPr>
              <a:t>17.9</a:t>
            </a:r>
            <a:r>
              <a:rPr lang="en-US" sz="2400" kern="1200" dirty="0">
                <a:solidFill>
                  <a:srgbClr val="000000"/>
                </a:solidFill>
                <a:latin typeface="Arial (Body)"/>
                <a:ea typeface="+mn-ea"/>
                <a:cs typeface="+mn-cs"/>
              </a:rPr>
              <a:t>, the compiler provides each class with a </a:t>
            </a:r>
            <a:r>
              <a:rPr lang="en-US" sz="2400" b="1" kern="1200" dirty="0">
                <a:solidFill>
                  <a:srgbClr val="000000"/>
                </a:solidFill>
                <a:latin typeface="Arial (Body)"/>
                <a:ea typeface="+mn-ea"/>
                <a:cs typeface="+mn-cs"/>
              </a:rPr>
              <a:t>default copy constructor </a:t>
            </a:r>
            <a:r>
              <a:rPr lang="en-US" sz="2400" kern="1200" dirty="0">
                <a:solidFill>
                  <a:srgbClr val="000000"/>
                </a:solidFill>
                <a:latin typeface="Arial (Body)"/>
                <a:ea typeface="+mn-ea"/>
                <a:cs typeface="+mn-cs"/>
              </a:rPr>
              <a:t>that copies each data member of the constructor’s argument object into the corresponding member of the object being </a:t>
            </a:r>
            <a:r>
              <a:rPr lang="en-US" sz="2400" kern="1200" dirty="0" smtClean="0">
                <a:solidFill>
                  <a:srgbClr val="000000"/>
                </a:solidFill>
                <a:latin typeface="Arial (Body)"/>
                <a:ea typeface="+mn-ea"/>
                <a:cs typeface="+mn-cs"/>
              </a:rPr>
              <a:t>initialized.</a:t>
            </a:r>
            <a:endParaRPr lang="en-US" sz="2400" kern="1200" dirty="0">
              <a:solidFill>
                <a:srgbClr val="000000"/>
              </a:solidFill>
              <a:latin typeface="Arial (Body)"/>
              <a:ea typeface="+mn-ea"/>
              <a:cs typeface="+mn-cs"/>
            </a:endParaRPr>
          </a:p>
          <a:p>
            <a:pPr marL="255651" indent="-255651" eaLnBrk="1" hangingPunct="1">
              <a:tabLst/>
              <a:defRPr/>
            </a:pPr>
            <a:r>
              <a:rPr lang="en-US" sz="2400" kern="1200" dirty="0">
                <a:solidFill>
                  <a:srgbClr val="000000"/>
                </a:solidFill>
                <a:latin typeface="Arial (Body)"/>
                <a:ea typeface="+mn-ea"/>
                <a:cs typeface="+mn-cs"/>
              </a:rPr>
              <a:t>Chapter 10 discusses how you can define customized copy </a:t>
            </a:r>
            <a:r>
              <a:rPr lang="en-US" sz="2400" kern="1200" dirty="0" smtClean="0">
                <a:solidFill>
                  <a:srgbClr val="000000"/>
                </a:solidFill>
                <a:latin typeface="Arial (Body)"/>
                <a:ea typeface="+mn-ea"/>
                <a:cs typeface="+mn-cs"/>
              </a:rPr>
              <a:t>constructors.</a:t>
            </a:r>
            <a:endParaRPr lang="en-US" sz="2400" kern="1200" dirty="0">
              <a:solidFill>
                <a:srgbClr val="000000"/>
              </a:solidFill>
              <a:latin typeface="Arial (Body)"/>
              <a:ea typeface="+mn-ea"/>
              <a:cs typeface="+mn-cs"/>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(4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455035"/>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Testing Classes </a:t>
            </a:r>
            <a:r>
              <a:rPr lang="en-US" sz="2400" b="1" kern="1200" dirty="0">
                <a:solidFill>
                  <a:srgbClr val="000000"/>
                </a:solidFill>
                <a:latin typeface="Consolas" panose="020B0609020204030204" pitchFamily="49" charset="0"/>
                <a:ea typeface="+mn-ea"/>
                <a:cs typeface="+mn-cs"/>
              </a:rPr>
              <a:t>Date</a:t>
            </a:r>
            <a:r>
              <a:rPr lang="en-US" sz="2400" b="1" kern="1200" dirty="0">
                <a:solidFill>
                  <a:srgbClr val="000000"/>
                </a:solidFill>
                <a:latin typeface="Arial (Body)"/>
                <a:ea typeface="+mn-ea"/>
                <a:cs typeface="+mn-cs"/>
              </a:rPr>
              <a:t> </a:t>
            </a:r>
            <a:r>
              <a:rPr lang="en-US" sz="2400" b="1" kern="1200" dirty="0">
                <a:solidFill>
                  <a:srgbClr val="000000"/>
                </a:solidFill>
                <a:latin typeface="Arial (Body)"/>
                <a:ea typeface="+mn-ea"/>
                <a:cs typeface="Times New Roman" pitchFamily="18" charset="0"/>
              </a:rPr>
              <a:t>and</a:t>
            </a:r>
            <a:r>
              <a:rPr lang="en-US" sz="2400" b="1" kern="1200" dirty="0">
                <a:solidFill>
                  <a:srgbClr val="000000"/>
                </a:solidFill>
                <a:latin typeface="Arial (Body)"/>
                <a:ea typeface="+mn-ea"/>
                <a:cs typeface="+mn-cs"/>
              </a:rPr>
              <a:t> </a:t>
            </a:r>
            <a:r>
              <a:rPr lang="en-US" sz="2400" b="1" kern="1200" dirty="0">
                <a:solidFill>
                  <a:srgbClr val="000000"/>
                </a:solidFill>
                <a:latin typeface="Consolas" panose="020B0609020204030204" pitchFamily="49" charset="0"/>
                <a:ea typeface="+mn-ea"/>
                <a:cs typeface="+mn-cs"/>
              </a:rPr>
              <a:t>Employee</a:t>
            </a:r>
          </a:p>
          <a:p>
            <a:pPr marL="255651" indent="-255651" eaLnBrk="1" hangingPunct="1">
              <a:tabLst/>
              <a:defRPr/>
            </a:pPr>
            <a:r>
              <a:rPr lang="en-US" sz="2400" kern="1200" dirty="0">
                <a:solidFill>
                  <a:srgbClr val="000000"/>
                </a:solidFill>
                <a:latin typeface="Arial (Body)"/>
                <a:ea typeface="+mn-ea"/>
                <a:cs typeface="Times New Roman" pitchFamily="18" charset="0"/>
              </a:rPr>
              <a:t>Figure </a:t>
            </a:r>
            <a:r>
              <a:rPr lang="en-US" sz="2400" kern="1200" dirty="0" smtClean="0">
                <a:solidFill>
                  <a:srgbClr val="000000"/>
                </a:solidFill>
                <a:latin typeface="Arial (Body)"/>
                <a:ea typeface="+mn-ea"/>
                <a:cs typeface="Times New Roman" pitchFamily="18" charset="0"/>
              </a:rPr>
              <a:t>17.21 (see slide 110-111) creates </a:t>
            </a:r>
            <a:r>
              <a:rPr lang="en-US" sz="2400" kern="1200" dirty="0">
                <a:solidFill>
                  <a:srgbClr val="000000"/>
                </a:solidFill>
                <a:latin typeface="Arial (Body)"/>
                <a:ea typeface="+mn-ea"/>
                <a:cs typeface="Times New Roman" pitchFamily="18" charset="0"/>
              </a:rPr>
              <a:t>two Date objects (lines 10–11) and passes them as arguments to the constructor of the </a:t>
            </a:r>
            <a:r>
              <a:rPr lang="en-US" sz="2400" kern="1200" dirty="0">
                <a:solidFill>
                  <a:srgbClr val="000000"/>
                </a:solidFill>
                <a:latin typeface="Consolas" panose="020B0609020204030204" pitchFamily="49" charset="0"/>
                <a:ea typeface="+mn-ea"/>
                <a:cs typeface="Times New Roman" pitchFamily="18" charset="0"/>
              </a:rPr>
              <a:t>Employee</a:t>
            </a:r>
            <a:r>
              <a:rPr lang="en-US" sz="2400" kern="1200" dirty="0">
                <a:solidFill>
                  <a:srgbClr val="000000"/>
                </a:solidFill>
                <a:latin typeface="Arial (Body)"/>
                <a:ea typeface="+mn-ea"/>
                <a:cs typeface="Times New Roman" pitchFamily="18" charset="0"/>
              </a:rPr>
              <a:t> object created in line </a:t>
            </a:r>
            <a:r>
              <a:rPr lang="en-US" sz="2400" kern="1200" dirty="0" smtClean="0">
                <a:solidFill>
                  <a:srgbClr val="000000"/>
                </a:solidFill>
                <a:latin typeface="Arial (Body)"/>
                <a:ea typeface="+mn-ea"/>
                <a:cs typeface="Times New Roman" pitchFamily="18" charset="0"/>
              </a:rPr>
              <a:t>12.</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Line 15 outputs the </a:t>
            </a:r>
            <a:r>
              <a:rPr lang="en-US" sz="2400" kern="1200" dirty="0">
                <a:solidFill>
                  <a:srgbClr val="000000"/>
                </a:solidFill>
                <a:latin typeface="Consolas" panose="020B0609020204030204" pitchFamily="49" charset="0"/>
                <a:ea typeface="+mn-ea"/>
                <a:cs typeface="Times New Roman" pitchFamily="18" charset="0"/>
              </a:rPr>
              <a:t>Employee</a:t>
            </a:r>
            <a:r>
              <a:rPr lang="en-US" sz="2400" kern="1200" dirty="0">
                <a:solidFill>
                  <a:srgbClr val="000000"/>
                </a:solidFill>
                <a:latin typeface="Arial (Body)"/>
                <a:ea typeface="+mn-ea"/>
                <a:cs typeface="Times New Roman" pitchFamily="18" charset="0"/>
              </a:rPr>
              <a:t> object’s </a:t>
            </a:r>
            <a:r>
              <a:rPr lang="en-US" sz="2400" kern="1200" dirty="0" smtClean="0">
                <a:solidFill>
                  <a:srgbClr val="000000"/>
                </a:solidFill>
                <a:latin typeface="Arial (Body)"/>
                <a:ea typeface="+mn-ea"/>
                <a:cs typeface="Times New Roman" pitchFamily="18" charset="0"/>
              </a:rPr>
              <a:t>data.</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When each </a:t>
            </a:r>
            <a:r>
              <a:rPr lang="en-US" sz="2400" kern="1200" dirty="0">
                <a:solidFill>
                  <a:srgbClr val="000000"/>
                </a:solidFill>
                <a:latin typeface="Consolas" panose="020B0609020204030204" pitchFamily="49" charset="0"/>
                <a:ea typeface="+mn-ea"/>
                <a:cs typeface="Times New Roman" pitchFamily="18" charset="0"/>
              </a:rPr>
              <a:t>Date</a:t>
            </a:r>
            <a:r>
              <a:rPr lang="en-US" sz="2400" kern="1200" dirty="0">
                <a:solidFill>
                  <a:srgbClr val="000000"/>
                </a:solidFill>
                <a:latin typeface="Arial (Body)"/>
                <a:ea typeface="+mn-ea"/>
                <a:cs typeface="Times New Roman" pitchFamily="18" charset="0"/>
              </a:rPr>
              <a:t> object is created in lines 10–11, the </a:t>
            </a:r>
            <a:r>
              <a:rPr lang="en-US" sz="2400" kern="1200" dirty="0">
                <a:solidFill>
                  <a:srgbClr val="000000"/>
                </a:solidFill>
                <a:latin typeface="Consolas" panose="020B0609020204030204" pitchFamily="49" charset="0"/>
                <a:ea typeface="+mn-ea"/>
                <a:cs typeface="Times New Roman" pitchFamily="18" charset="0"/>
              </a:rPr>
              <a:t>Date</a:t>
            </a:r>
            <a:r>
              <a:rPr lang="en-US" sz="2400" kern="1200" dirty="0">
                <a:solidFill>
                  <a:srgbClr val="000000"/>
                </a:solidFill>
                <a:latin typeface="Arial (Body)"/>
                <a:ea typeface="+mn-ea"/>
                <a:cs typeface="Times New Roman" pitchFamily="18" charset="0"/>
              </a:rPr>
              <a:t> constructor defined in lines 11–25 of </a:t>
            </a:r>
            <a:r>
              <a:rPr lang="en-US" sz="2400" kern="1200" dirty="0" smtClean="0">
                <a:solidFill>
                  <a:srgbClr val="000000"/>
                </a:solidFill>
                <a:latin typeface="Arial (Body)"/>
                <a:ea typeface="+mn-ea"/>
                <a:cs typeface="Times New Roman" pitchFamily="18" charset="0"/>
              </a:rPr>
              <a:t>Figure 17.18 (see slide 99-101) displays </a:t>
            </a:r>
            <a:r>
              <a:rPr lang="en-US" sz="2400" kern="1200" dirty="0">
                <a:solidFill>
                  <a:srgbClr val="000000"/>
                </a:solidFill>
                <a:latin typeface="Arial (Body)"/>
                <a:ea typeface="+mn-ea"/>
                <a:cs typeface="Times New Roman" pitchFamily="18" charset="0"/>
              </a:rPr>
              <a:t>a line of output to show that the constructor was called (see the first two lines of the sample </a:t>
            </a:r>
            <a:r>
              <a:rPr lang="en-US" sz="2400" kern="1200" dirty="0" smtClean="0">
                <a:solidFill>
                  <a:srgbClr val="000000"/>
                </a:solidFill>
                <a:latin typeface="Arial (Body)"/>
                <a:ea typeface="+mn-ea"/>
                <a:cs typeface="Times New Roman" pitchFamily="18" charset="0"/>
              </a:rPr>
              <a:t>output).</a:t>
            </a:r>
            <a:endParaRPr lang="en-US" sz="2400" kern="1200" dirty="0">
              <a:solidFill>
                <a:srgbClr val="000000"/>
              </a:solidFill>
              <a:latin typeface="Arial (Body)"/>
              <a:ea typeface="+mn-ea"/>
              <a:cs typeface="Times New Roman" pitchFamily="18" charset="0"/>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(5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08375"/>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[Note: Line 12 of </a:t>
            </a:r>
            <a:r>
              <a:rPr lang="en-US" altLang="en-US" sz="2400" kern="1200" dirty="0" smtClean="0">
                <a:solidFill>
                  <a:srgbClr val="000000"/>
                </a:solidFill>
                <a:latin typeface="Arial (Body)"/>
                <a:ea typeface="+mn-ea"/>
                <a:cs typeface="Times New Roman" panose="02020603050405020304" pitchFamily="18" charset="0"/>
              </a:rPr>
              <a:t>Figure 17.21 (slide 110-111) causes </a:t>
            </a:r>
            <a:r>
              <a:rPr lang="en-US" altLang="en-US" sz="2400" kern="1200" dirty="0">
                <a:solidFill>
                  <a:srgbClr val="000000"/>
                </a:solidFill>
                <a:latin typeface="Arial (Body)"/>
                <a:ea typeface="+mn-ea"/>
                <a:cs typeface="Times New Roman" panose="02020603050405020304" pitchFamily="18" charset="0"/>
              </a:rPr>
              <a:t>two additional Date constructor calls that do not appear in the program’s output. When each of the Employee’s Date member objects is initialized in the Employee constructor’s member-initializer list (</a:t>
            </a:r>
            <a:r>
              <a:rPr lang="en-US" altLang="en-US" sz="2400" kern="1200" dirty="0" smtClean="0">
                <a:solidFill>
                  <a:srgbClr val="000000"/>
                </a:solidFill>
                <a:latin typeface="Arial (Body)"/>
                <a:ea typeface="+mn-ea"/>
                <a:cs typeface="Times New Roman" panose="02020603050405020304" pitchFamily="18" charset="0"/>
              </a:rPr>
              <a:t>Figure 17.20</a:t>
            </a:r>
            <a:r>
              <a:rPr lang="en-US" altLang="en-US" sz="2400" kern="1200" dirty="0">
                <a:solidFill>
                  <a:srgbClr val="000000"/>
                </a:solidFill>
                <a:latin typeface="Arial (Body)"/>
                <a:ea typeface="+mn-ea"/>
                <a:cs typeface="Times New Roman" panose="02020603050405020304" pitchFamily="18" charset="0"/>
              </a:rPr>
              <a:t>, </a:t>
            </a:r>
            <a:r>
              <a:rPr lang="en-US" altLang="en-US" sz="2400" kern="1200" dirty="0" smtClean="0">
                <a:solidFill>
                  <a:srgbClr val="000000"/>
                </a:solidFill>
                <a:latin typeface="Arial (Body)"/>
                <a:ea typeface="+mn-ea"/>
                <a:cs typeface="Times New Roman" panose="02020603050405020304" pitchFamily="18" charset="0"/>
              </a:rPr>
              <a:t>(see slide 103) lines 14–15), </a:t>
            </a:r>
            <a:r>
              <a:rPr lang="en-US" altLang="en-US" sz="2400" kern="1200" dirty="0">
                <a:solidFill>
                  <a:srgbClr val="000000"/>
                </a:solidFill>
                <a:latin typeface="Arial (Body)"/>
                <a:ea typeface="+mn-ea"/>
                <a:cs typeface="Times New Roman" panose="02020603050405020304" pitchFamily="18" charset="0"/>
              </a:rPr>
              <a:t>the default copy constructor for class Date is called. Since this constructor is defined implicitly by the compiler, it does not contain any output statements to demonstrate when it’s </a:t>
            </a:r>
            <a:r>
              <a:rPr lang="en-US" altLang="en-US" sz="2400" kern="1200" dirty="0" smtClean="0">
                <a:solidFill>
                  <a:srgbClr val="000000"/>
                </a:solidFill>
                <a:latin typeface="Arial (Body)"/>
                <a:ea typeface="+mn-ea"/>
                <a:cs typeface="Times New Roman" panose="02020603050405020304" pitchFamily="18" charset="0"/>
              </a:rPr>
              <a:t>called.]</a:t>
            </a:r>
            <a:endParaRPr lang="en-US" altLang="en-US" sz="2400" kern="1200" dirty="0">
              <a:solidFill>
                <a:srgbClr val="000000"/>
              </a:solidFill>
              <a:latin typeface="Arial (Body)"/>
              <a:ea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501865" cy="1066799"/>
          </a:xfrm>
        </p:spPr>
        <p:txBody>
          <a:bodyPr anchor="b"/>
          <a:lstStyle/>
          <a:p>
            <a:r>
              <a:rPr lang="en-US" dirty="0"/>
              <a:t>Figure </a:t>
            </a:r>
            <a:r>
              <a:rPr lang="en-US" dirty="0" smtClean="0"/>
              <a:t>17.21 </a:t>
            </a:r>
            <a:r>
              <a:rPr lang="en-US" dirty="0"/>
              <a:t>Demonstrating Composition—an Object with Member </a:t>
            </a:r>
            <a:r>
              <a:rPr lang="en-US" dirty="0" smtClean="0"/>
              <a:t>Objects </a:t>
            </a:r>
            <a:r>
              <a:rPr lang="en-US" sz="2000" b="0" dirty="0" smtClean="0"/>
              <a:t>(1 of 2)</a:t>
            </a:r>
            <a:endParaRPr lang="en-US" sz="2000" b="0" dirty="0"/>
          </a:p>
        </p:txBody>
      </p:sp>
      <p:pic>
        <p:nvPicPr>
          <p:cNvPr id="3" name="Picture 2" descr="The computer code has 16 lines. The lines read as follows. Line 1. forward slash forward slash Fig period 17 period 21 colon fig17 underscore 21 period c p p. Line 2. forward slash forward slash Demonstrating composition dash dash an object with member objects period. Line 3. hash include left angle bracket i o stream right angle bracket. Line 4. hash include double quote Date period h double quote forward slash forward slash Date class definition. Line 5. hash include double quote Employee period h double quote forward slash forward slash Employee class definition. Line 6. using namespace s t d semicolon. Line 7. Blank. Line 8. i n t main left parenthesis right parenthesis. Line 9. left brace. Line 10, indented once. Date birth left parenthesis 7 comma 24 comma 1949 right parenthesis semicolon. Line 11, indented once. Date hire left parenthesis 3 comma 12 comma 1988 right parenthesis semicolon. Line 12, indented once. Employee manager left parenthesis double quote Bob double quote comma double quote Blue double quote comma birth comma hire right parenthesis semicolon. Line 13. Blank. Line 14, indented once. c out left angle bracket left angle bracket end l semicolon. Line 15, indented once. manager period print left parenthesis right parenthesis semicolon. Line 16. right brace forward slash forward slash end main."/>
          <p:cNvPicPr>
            <a:picLocks noChangeAspect="1"/>
          </p:cNvPicPr>
          <p:nvPr/>
        </p:nvPicPr>
        <p:blipFill>
          <a:blip r:embed="rId2"/>
          <a:stretch>
            <a:fillRect/>
          </a:stretch>
        </p:blipFill>
        <p:spPr>
          <a:xfrm>
            <a:off x="598822" y="1878322"/>
            <a:ext cx="8049105" cy="373834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409398" cy="1066799"/>
          </a:xfrm>
        </p:spPr>
        <p:txBody>
          <a:bodyPr anchor="b"/>
          <a:lstStyle/>
          <a:p>
            <a:r>
              <a:rPr lang="en-US" dirty="0"/>
              <a:t>Figure </a:t>
            </a:r>
            <a:r>
              <a:rPr lang="en-US" dirty="0" smtClean="0"/>
              <a:t>17.21 </a:t>
            </a:r>
            <a:r>
              <a:rPr lang="en-US" dirty="0"/>
              <a:t>Demonstrating Composition—an Object with Member Objects </a:t>
            </a:r>
            <a:r>
              <a:rPr lang="en-US" sz="2000" b="0" dirty="0" smtClean="0"/>
              <a:t>(2 </a:t>
            </a:r>
            <a:r>
              <a:rPr lang="en-US" sz="2000" b="0" dirty="0"/>
              <a:t>of 2)</a:t>
            </a:r>
            <a:endParaRPr lang="en-US" dirty="0"/>
          </a:p>
        </p:txBody>
      </p:sp>
      <p:pic>
        <p:nvPicPr>
          <p:cNvPr id="3" name="Picture 2" descr="The code output has 9 lines. The lines read as follows. Line 1. Date object constructor for date 7 forward slash 24 forward slash 19 49. Line 2. Date object constructor for date 3 forward slash 12 forward slash 19 88. Line 3. Employee object constructor colon Bob Blue. This line is labeled, There are actually five constructor calls when an Employee is constructed dash two calls to the string class’s constructor (lines 12 dash 13 of Fig. 9.20), two calls to the Date class’s default copy constructor (lines 14 dash 15 of Fig. 9.20) and the call to the Employee class’s constructor. Line 4. Blue comma Bob Hired colon 3 forward slash 12 forward slash 19 88 Birthday colon 7 forward slash 24 forward slash 19 49. Line 5. Employee object destructor colon Blue comma Bob. Line 6. Date object destructor for date 3 forward slash 12 forward slash 19 88. Line 7. Date object destructor for date 7 forward slash 24 forward slash 19 49. Line 8. Date object destructor for date 3 forward slash 12 forward slash 19 88. Line 9. Date object destructor for date 7 forward slash 24 forward slash 19 49."/>
          <p:cNvPicPr>
            <a:picLocks noChangeAspect="1"/>
          </p:cNvPicPr>
          <p:nvPr/>
        </p:nvPicPr>
        <p:blipFill>
          <a:blip r:embed="rId2"/>
          <a:stretch>
            <a:fillRect/>
          </a:stretch>
        </p:blipFill>
        <p:spPr>
          <a:xfrm>
            <a:off x="620310" y="2360798"/>
            <a:ext cx="8021533" cy="2467647"/>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8229600" cy="123107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17.11 Composition: Objects as Members of Classes </a:t>
            </a:r>
            <a:r>
              <a:rPr lang="en-US" altLang="en-US" sz="2000" b="0" kern="1200" dirty="0" smtClean="0">
                <a:latin typeface="Times New Roman" panose="02020603050405020304" pitchFamily="18" charset="0"/>
                <a:ea typeface="+mj-ea"/>
                <a:cs typeface="+mj-cs"/>
              </a:rPr>
              <a:t>(6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4086225"/>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What Happens When You Do Not Use the Member Initializer List?</a:t>
            </a:r>
          </a:p>
          <a:p>
            <a:pPr marL="255651" indent="-255651" eaLnBrk="1" hangingPunct="1">
              <a:tabLst/>
              <a:defRPr/>
            </a:pPr>
            <a:r>
              <a:rPr lang="en-US" sz="2400" kern="1200" dirty="0">
                <a:solidFill>
                  <a:srgbClr val="000000"/>
                </a:solidFill>
                <a:latin typeface="Arial (Body)"/>
                <a:ea typeface="+mn-ea"/>
                <a:cs typeface="Times New Roman" pitchFamily="18" charset="0"/>
              </a:rPr>
              <a:t>If a member object is not initialized through a member initializer, the member object’s </a:t>
            </a:r>
            <a:r>
              <a:rPr lang="en-US" sz="2400" b="1" kern="1200" dirty="0">
                <a:solidFill>
                  <a:srgbClr val="000000"/>
                </a:solidFill>
                <a:latin typeface="Arial (Body)"/>
                <a:ea typeface="+mn-ea"/>
                <a:cs typeface="Times New Roman" pitchFamily="18" charset="0"/>
              </a:rPr>
              <a:t>default constructor </a:t>
            </a:r>
            <a:r>
              <a:rPr lang="en-US" sz="2400" kern="1200" dirty="0">
                <a:solidFill>
                  <a:srgbClr val="000000"/>
                </a:solidFill>
                <a:latin typeface="Arial (Body)"/>
                <a:ea typeface="+mn-ea"/>
                <a:cs typeface="Times New Roman" pitchFamily="18" charset="0"/>
              </a:rPr>
              <a:t>will be called </a:t>
            </a:r>
            <a:r>
              <a:rPr lang="en-US" sz="2400" b="1" kern="1200" dirty="0" smtClean="0">
                <a:solidFill>
                  <a:srgbClr val="000000"/>
                </a:solidFill>
                <a:latin typeface="Arial (Body)"/>
                <a:ea typeface="+mn-ea"/>
                <a:cs typeface="Times New Roman" pitchFamily="18" charset="0"/>
              </a:rPr>
              <a:t>implicitly</a:t>
            </a:r>
            <a:r>
              <a:rPr lang="en-US" sz="2400" kern="1200" dirty="0" smtClean="0">
                <a:solidFill>
                  <a:srgbClr val="000000"/>
                </a:solidFill>
                <a:latin typeface="Arial (Body)"/>
                <a:ea typeface="+mn-ea"/>
                <a:cs typeface="Times New Roman" pitchFamily="18" charset="0"/>
              </a:rPr>
              <a:t>.</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Values, if any, established by the default constructor can be overridden by set </a:t>
            </a:r>
            <a:r>
              <a:rPr lang="en-US" sz="2400" kern="1200" dirty="0" smtClean="0">
                <a:solidFill>
                  <a:srgbClr val="000000"/>
                </a:solidFill>
                <a:latin typeface="Arial (Body)"/>
                <a:ea typeface="+mn-ea"/>
                <a:cs typeface="Times New Roman" pitchFamily="18" charset="0"/>
              </a:rPr>
              <a:t>functions.</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However, for complex initialization, this approach may require significant additional work and time.</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17.5</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A compilation error occurs if a member object is not initialized with a member initializer and the member object’s class does not provide a default constructor (i.e., the member object’s class defines one or more constructors, but none is a default constructor).</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Performance Tip </a:t>
            </a:r>
            <a:r>
              <a:rPr lang="en-US" dirty="0" smtClean="0"/>
              <a:t>17.4</a:t>
            </a:r>
            <a:endParaRPr lang="en-US" dirty="0"/>
          </a:p>
        </p:txBody>
      </p:sp>
      <p:sp>
        <p:nvSpPr>
          <p:cNvPr id="3" name="Text Placeholder 2"/>
          <p:cNvSpPr>
            <a:spLocks noGrp="1"/>
          </p:cNvSpPr>
          <p:nvPr>
            <p:ph type="body" idx="1"/>
          </p:nvPr>
        </p:nvSpPr>
        <p:spPr>
          <a:xfrm>
            <a:off x="457200" y="1600201"/>
            <a:ext cx="8229600" cy="2286000"/>
          </a:xfrm>
        </p:spPr>
        <p:txBody>
          <a:bodyPr/>
          <a:lstStyle/>
          <a:p>
            <a:pPr marL="0" indent="0">
              <a:buNone/>
            </a:pPr>
            <a:r>
              <a:rPr lang="en-US" sz="2400" dirty="0">
                <a:latin typeface="Arial Body"/>
              </a:rPr>
              <a:t>Initialize member objects explicitly through member initializers. This eliminates the overhead of “doubly initializing” member objects—once when the member object’s default constructor is called and again when set functions are called in the constructor body (or later) to initialize the member object.</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17.11</a:t>
            </a:r>
            <a:endParaRPr lang="en-US" dirty="0"/>
          </a:p>
        </p:txBody>
      </p:sp>
      <p:sp>
        <p:nvSpPr>
          <p:cNvPr id="3" name="Text Placeholder 2"/>
          <p:cNvSpPr>
            <a:spLocks noGrp="1"/>
          </p:cNvSpPr>
          <p:nvPr>
            <p:ph type="body" idx="1"/>
          </p:nvPr>
        </p:nvSpPr>
        <p:spPr>
          <a:xfrm>
            <a:off x="457200" y="1600200"/>
            <a:ext cx="8229600" cy="2314575"/>
          </a:xfrm>
        </p:spPr>
        <p:txBody>
          <a:bodyPr/>
          <a:lstStyle/>
          <a:p>
            <a:pPr marL="0" indent="0">
              <a:buNone/>
            </a:pPr>
            <a:r>
              <a:rPr lang="en-US" sz="2400" dirty="0">
                <a:latin typeface="Arial Body"/>
              </a:rPr>
              <a:t>If a data member is an object of another class, making that member object </a:t>
            </a:r>
            <a:r>
              <a:rPr lang="en-US" sz="2400" dirty="0">
                <a:latin typeface="Consolas" panose="020B0609020204030204" pitchFamily="49" charset="0"/>
              </a:rPr>
              <a:t>public</a:t>
            </a:r>
            <a:r>
              <a:rPr lang="en-US" sz="2400" dirty="0">
                <a:latin typeface="Arial Body"/>
              </a:rPr>
              <a:t> does not violate the encapsulation and hiding of that member object’s </a:t>
            </a:r>
            <a:r>
              <a:rPr lang="en-US" sz="2400" dirty="0">
                <a:latin typeface="Consolas" panose="020B0609020204030204" pitchFamily="49" charset="0"/>
              </a:rPr>
              <a:t>private</a:t>
            </a:r>
            <a:r>
              <a:rPr lang="en-US" sz="2400" dirty="0">
                <a:latin typeface="Arial Body"/>
              </a:rPr>
              <a:t> members. But, it does violate the encapsulation and hiding of the containing class’s implementation, so member objects of class types should still be </a:t>
            </a:r>
            <a:r>
              <a:rPr lang="en-US" sz="2400" dirty="0">
                <a:latin typeface="Consolas" panose="020B0609020204030204" pitchFamily="49" charset="0"/>
              </a:rPr>
              <a:t>private</a:t>
            </a:r>
            <a:r>
              <a:rPr lang="en-US" sz="2400" dirty="0">
                <a:latin typeface="Arial Body"/>
              </a:rPr>
              <a:t>.</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7803222" cy="1231076"/>
          </a:xfrm>
        </p:spPr>
        <p:txBody>
          <a:bodyPr wrap="square">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17.12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Functions and </a:t>
            </a:r>
            <a:r>
              <a:rPr lang="en-US" altLang="en-US" kern="1200" dirty="0" smtClean="0">
                <a:latin typeface="Consolas" panose="020B0609020204030204" pitchFamily="49" charset="0"/>
                <a:ea typeface="+mj-ea"/>
                <a:cs typeface="+mj-cs"/>
              </a:rPr>
              <a:t>Friend </a:t>
            </a:r>
            <a:r>
              <a:rPr lang="en-US" altLang="en-US" kern="1200" dirty="0" smtClean="0">
                <a:latin typeface="Times New Roman" panose="02020603050405020304" pitchFamily="18" charset="0"/>
                <a:ea typeface="+mj-ea"/>
                <a:cs typeface="+mj-cs"/>
              </a:rPr>
              <a:t>Classes </a:t>
            </a:r>
            <a:r>
              <a:rPr lang="en-US" altLang="en-US" sz="2000" b="0" kern="1200" dirty="0" smtClean="0">
                <a:latin typeface="Times New Roman" panose="02020603050405020304" pitchFamily="18" charset="0"/>
                <a:ea typeface="+mj-ea"/>
                <a:cs typeface="+mj-cs"/>
              </a:rPr>
              <a:t>(1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92388"/>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A </a:t>
            </a:r>
            <a:r>
              <a:rPr lang="en-US" altLang="en-US" sz="2400" b="1" kern="1200" dirty="0">
                <a:solidFill>
                  <a:srgbClr val="000000"/>
                </a:solidFill>
                <a:latin typeface="Arial (Body)"/>
                <a:ea typeface="+mn-ea"/>
                <a:cs typeface="Times New Roman" panose="02020603050405020304" pitchFamily="18" charset="0"/>
              </a:rPr>
              <a:t>friend function</a:t>
            </a:r>
            <a:r>
              <a:rPr lang="en-US" altLang="en-US" sz="2400" kern="1200" dirty="0">
                <a:solidFill>
                  <a:srgbClr val="000000"/>
                </a:solidFill>
                <a:latin typeface="Arial (Body)"/>
                <a:ea typeface="+mn-ea"/>
                <a:cs typeface="Times New Roman" panose="02020603050405020304" pitchFamily="18" charset="0"/>
              </a:rPr>
              <a:t> of a class is a non-member function that has the right to access the </a:t>
            </a:r>
            <a:r>
              <a:rPr lang="en-US" altLang="en-US" sz="2400" kern="1200" dirty="0">
                <a:solidFill>
                  <a:srgbClr val="000000"/>
                </a:solidFill>
                <a:latin typeface="Consolas" panose="020B0609020204030204" pitchFamily="49" charset="0"/>
                <a:ea typeface="+mn-ea"/>
                <a:cs typeface="Times New Roman" panose="02020603050405020304" pitchFamily="18" charset="0"/>
              </a:rPr>
              <a:t>public</a:t>
            </a:r>
            <a:r>
              <a:rPr lang="en-US" altLang="en-US" sz="2400" kern="1200" dirty="0">
                <a:solidFill>
                  <a:srgbClr val="000000"/>
                </a:solidFill>
                <a:latin typeface="Arial (Body)"/>
                <a:ea typeface="+mn-ea"/>
                <a:cs typeface="Times New Roman" panose="02020603050405020304" pitchFamily="18" charset="0"/>
              </a:rPr>
              <a:t> </a:t>
            </a:r>
            <a:r>
              <a:rPr lang="en-US" altLang="en-US" sz="2400" b="1" kern="1200" dirty="0">
                <a:solidFill>
                  <a:srgbClr val="000000"/>
                </a:solidFill>
                <a:latin typeface="Arial (Body)"/>
                <a:ea typeface="+mn-ea"/>
                <a:cs typeface="Times New Roman" panose="02020603050405020304" pitchFamily="18" charset="0"/>
              </a:rPr>
              <a:t>and</a:t>
            </a:r>
            <a:r>
              <a:rPr lang="en-US" altLang="en-US" sz="2400" kern="1200" dirty="0">
                <a:solidFill>
                  <a:srgbClr val="000000"/>
                </a:solidFill>
                <a:latin typeface="Arial (Body)"/>
                <a:ea typeface="+mn-ea"/>
                <a:cs typeface="Times New Roman" panose="02020603050405020304" pitchFamily="18" charset="0"/>
              </a:rPr>
              <a:t> </a:t>
            </a:r>
            <a:r>
              <a:rPr lang="en-US" altLang="en-US" sz="2400" kern="1200" dirty="0">
                <a:solidFill>
                  <a:srgbClr val="000000"/>
                </a:solidFill>
                <a:latin typeface="Consolas" panose="020B0609020204030204" pitchFamily="49" charset="0"/>
                <a:ea typeface="+mn-ea"/>
                <a:cs typeface="Times New Roman" panose="02020603050405020304" pitchFamily="18" charset="0"/>
              </a:rPr>
              <a:t>non-public</a:t>
            </a:r>
            <a:r>
              <a:rPr lang="en-US" altLang="en-US" sz="2400" kern="1200" dirty="0">
                <a:solidFill>
                  <a:srgbClr val="000000"/>
                </a:solidFill>
                <a:latin typeface="Arial (Body)"/>
                <a:ea typeface="+mn-ea"/>
                <a:cs typeface="Times New Roman" panose="02020603050405020304" pitchFamily="18" charset="0"/>
              </a:rPr>
              <a:t> class </a:t>
            </a:r>
            <a:r>
              <a:rPr lang="en-US" altLang="en-US" sz="2400" kern="1200" dirty="0" smtClean="0">
                <a:solidFill>
                  <a:srgbClr val="000000"/>
                </a:solidFill>
                <a:latin typeface="Arial (Body)"/>
                <a:ea typeface="+mn-ea"/>
                <a:cs typeface="Times New Roman" panose="02020603050405020304" pitchFamily="18" charset="0"/>
              </a:rPr>
              <a:t>members.</a:t>
            </a:r>
            <a:endParaRPr lang="en-US" altLang="en-US" sz="2400" kern="1200" dirty="0">
              <a:solidFill>
                <a:srgbClr val="000000"/>
              </a:solidFill>
              <a:latin typeface="Arial (Body)"/>
              <a:ea typeface="+mn-ea"/>
              <a:cs typeface="Times New Roman" panose="02020603050405020304" pitchFamily="18" charset="0"/>
            </a:endParaRPr>
          </a:p>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Standalone functions, entire classes or member functions of other classes may be declared to be </a:t>
            </a:r>
            <a:r>
              <a:rPr lang="en-US" altLang="en-US" sz="2400" b="1" kern="1200" dirty="0">
                <a:solidFill>
                  <a:srgbClr val="000000"/>
                </a:solidFill>
                <a:latin typeface="Arial (Body)"/>
                <a:ea typeface="+mn-ea"/>
                <a:cs typeface="Times New Roman" panose="02020603050405020304" pitchFamily="18" charset="0"/>
              </a:rPr>
              <a:t>friends</a:t>
            </a:r>
            <a:r>
              <a:rPr lang="en-US" altLang="en-US" sz="2400" kern="1200" dirty="0">
                <a:solidFill>
                  <a:srgbClr val="000000"/>
                </a:solidFill>
                <a:latin typeface="Arial (Body)"/>
                <a:ea typeface="+mn-ea"/>
                <a:cs typeface="Times New Roman" panose="02020603050405020304" pitchFamily="18" charset="0"/>
              </a:rPr>
              <a:t> of another </a:t>
            </a:r>
            <a:r>
              <a:rPr lang="en-US" altLang="en-US" sz="2400" kern="1200" dirty="0" smtClean="0">
                <a:solidFill>
                  <a:srgbClr val="000000"/>
                </a:solidFill>
                <a:latin typeface="Arial (Body)"/>
                <a:ea typeface="+mn-ea"/>
                <a:cs typeface="Times New Roman" panose="02020603050405020304" pitchFamily="18" charset="0"/>
              </a:rPr>
              <a:t>class.</a:t>
            </a:r>
            <a:endParaRPr lang="en-US" altLang="en-US" sz="2400" kern="1200" dirty="0">
              <a:solidFill>
                <a:srgbClr val="000000"/>
              </a:solidFill>
              <a:latin typeface="Arial (Body)"/>
              <a:ea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7464175" cy="1231076"/>
          </a:xfrm>
        </p:spPr>
        <p:txBody>
          <a:bodyPr wrap="square">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17.12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Functions and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Classes </a:t>
            </a:r>
            <a:r>
              <a:rPr lang="en-US" altLang="en-US" sz="2000" b="0" kern="1200" dirty="0" smtClean="0">
                <a:latin typeface="Times New Roman" panose="02020603050405020304" pitchFamily="18" charset="0"/>
                <a:ea typeface="+mj-ea"/>
                <a:cs typeface="+mj-cs"/>
              </a:rPr>
              <a:t>(2 of 5)</a:t>
            </a:r>
            <a:endParaRPr lang="en-US" altLang="en-US" sz="2000" b="0" kern="1200" dirty="0">
              <a:latin typeface="Times New Roman" panose="02020603050405020304" pitchFamily="18" charset="0"/>
              <a:ea typeface="+mj-ea"/>
              <a:cs typeface="+mj-cs"/>
            </a:endParaRPr>
          </a:p>
        </p:txBody>
      </p:sp>
      <p:sp>
        <p:nvSpPr>
          <p:cNvPr id="4" name="Text Placeholder 3"/>
          <p:cNvSpPr>
            <a:spLocks noGrp="1"/>
          </p:cNvSpPr>
          <p:nvPr>
            <p:ph type="body" idx="1"/>
          </p:nvPr>
        </p:nvSpPr>
        <p:spPr>
          <a:xfrm>
            <a:off x="457200" y="1600200"/>
            <a:ext cx="8229600" cy="1790272"/>
          </a:xfrm>
        </p:spPr>
        <p:txBody>
          <a:bodyPr/>
          <a:lstStyle/>
          <a:p>
            <a:pPr marL="0" indent="0" eaLnBrk="1" hangingPunct="1">
              <a:lnSpc>
                <a:spcPct val="90000"/>
              </a:lnSpc>
              <a:buFont typeface="Wingdings 3" panose="05040102010807070707" pitchFamily="18" charset="2"/>
              <a:buNone/>
              <a:defRPr/>
            </a:pPr>
            <a:r>
              <a:rPr lang="en-US" sz="1800" b="1" dirty="0">
                <a:solidFill>
                  <a:srgbClr val="000000"/>
                </a:solidFill>
                <a:latin typeface="Arial Body"/>
                <a:cs typeface="Times New Roman" pitchFamily="18" charset="0"/>
              </a:rPr>
              <a:t>Declaring a friend</a:t>
            </a:r>
          </a:p>
          <a:p>
            <a:pPr eaLnBrk="1" hangingPunct="1">
              <a:defRPr/>
            </a:pPr>
            <a:r>
              <a:rPr lang="en-US" sz="1800" dirty="0">
                <a:solidFill>
                  <a:srgbClr val="000000"/>
                </a:solidFill>
                <a:latin typeface="Arial Body"/>
                <a:cs typeface="Times New Roman" pitchFamily="18" charset="0"/>
              </a:rPr>
              <a:t>To declare a function as a </a:t>
            </a:r>
            <a:r>
              <a:rPr lang="en-US" sz="1800" dirty="0">
                <a:solidFill>
                  <a:srgbClr val="000000"/>
                </a:solidFill>
                <a:latin typeface="Consolas" panose="020B0609020204030204" pitchFamily="49" charset="0"/>
                <a:cs typeface="Times New Roman" pitchFamily="18" charset="0"/>
              </a:rPr>
              <a:t>friend</a:t>
            </a:r>
            <a:r>
              <a:rPr lang="en-US" sz="1800" dirty="0">
                <a:solidFill>
                  <a:srgbClr val="000000"/>
                </a:solidFill>
                <a:latin typeface="Arial Body"/>
                <a:cs typeface="Times New Roman" pitchFamily="18" charset="0"/>
              </a:rPr>
              <a:t> of a class, precede the function prototype in the class definition with keyword </a:t>
            </a:r>
            <a:r>
              <a:rPr lang="en-US" sz="1800" dirty="0">
                <a:solidFill>
                  <a:srgbClr val="000000"/>
                </a:solidFill>
                <a:latin typeface="Consolas" panose="020B0609020204030204" pitchFamily="49" charset="0"/>
                <a:cs typeface="Times New Roman" pitchFamily="18" charset="0"/>
              </a:rPr>
              <a:t>friend</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eaLnBrk="1" hangingPunct="1">
              <a:defRPr/>
            </a:pPr>
            <a:r>
              <a:rPr lang="en-US" sz="1800" dirty="0">
                <a:solidFill>
                  <a:srgbClr val="000000"/>
                </a:solidFill>
                <a:latin typeface="Arial Body"/>
                <a:cs typeface="Times New Roman" pitchFamily="18" charset="0"/>
              </a:rPr>
              <a:t>To declare all member functions of class </a:t>
            </a:r>
            <a:r>
              <a:rPr lang="en-US" sz="1800" dirty="0">
                <a:solidFill>
                  <a:srgbClr val="000000"/>
                </a:solidFill>
                <a:latin typeface="Consolas" panose="020B0609020204030204" pitchFamily="49" charset="0"/>
                <a:cs typeface="Times New Roman" pitchFamily="18" charset="0"/>
              </a:rPr>
              <a:t>ClassTwo</a:t>
            </a:r>
            <a:r>
              <a:rPr lang="en-US" sz="1800" dirty="0">
                <a:solidFill>
                  <a:srgbClr val="000000"/>
                </a:solidFill>
                <a:latin typeface="Arial Body"/>
                <a:cs typeface="Times New Roman" pitchFamily="18" charset="0"/>
              </a:rPr>
              <a:t> as friends of class </a:t>
            </a:r>
            <a:r>
              <a:rPr lang="en-US" sz="1800" dirty="0">
                <a:solidFill>
                  <a:srgbClr val="000000"/>
                </a:solidFill>
                <a:latin typeface="Consolas" panose="020B0609020204030204" pitchFamily="49" charset="0"/>
                <a:cs typeface="Times New Roman" pitchFamily="18" charset="0"/>
              </a:rPr>
              <a:t>ClassOne</a:t>
            </a:r>
            <a:r>
              <a:rPr lang="en-US" sz="1800" dirty="0">
                <a:solidFill>
                  <a:srgbClr val="000000"/>
                </a:solidFill>
                <a:latin typeface="Arial Body"/>
                <a:cs typeface="Times New Roman" pitchFamily="18" charset="0"/>
              </a:rPr>
              <a:t>, place a declaration of the </a:t>
            </a:r>
            <a:r>
              <a:rPr lang="en-US" sz="1800" dirty="0" smtClean="0">
                <a:solidFill>
                  <a:srgbClr val="000000"/>
                </a:solidFill>
                <a:latin typeface="Arial Body"/>
                <a:cs typeface="Times New Roman" pitchFamily="18" charset="0"/>
              </a:rPr>
              <a:t>form</a:t>
            </a:r>
          </a:p>
        </p:txBody>
      </p:sp>
      <p:pic>
        <p:nvPicPr>
          <p:cNvPr id="5" name="Picture 4" descr="Friend class Class Two semicolon."/>
          <p:cNvPicPr>
            <a:picLocks noChangeAspect="1"/>
          </p:cNvPicPr>
          <p:nvPr/>
        </p:nvPicPr>
        <p:blipFill rotWithShape="1">
          <a:blip r:embed="rId2"/>
          <a:srcRect l="8314" t="81334" r="56281" b="4981"/>
          <a:stretch/>
        </p:blipFill>
        <p:spPr>
          <a:xfrm>
            <a:off x="1200150" y="3450246"/>
            <a:ext cx="2952750" cy="299514"/>
          </a:xfrm>
          <a:prstGeom prst="rect">
            <a:avLst/>
          </a:prstGeom>
        </p:spPr>
      </p:pic>
      <p:sp>
        <p:nvSpPr>
          <p:cNvPr id="3" name="Text Placeholder 2"/>
          <p:cNvSpPr>
            <a:spLocks noGrp="1"/>
          </p:cNvSpPr>
          <p:nvPr>
            <p:ph type="body" idx="2"/>
          </p:nvPr>
        </p:nvSpPr>
        <p:spPr>
          <a:xfrm>
            <a:off x="457200" y="3766512"/>
            <a:ext cx="8229600" cy="2572643"/>
          </a:xfrm>
        </p:spPr>
        <p:txBody>
          <a:bodyPr/>
          <a:lstStyle/>
          <a:p>
            <a:pPr eaLnBrk="1" hangingPunct="1">
              <a:defRPr/>
            </a:pPr>
            <a:r>
              <a:rPr lang="en-US" sz="1800" dirty="0">
                <a:solidFill>
                  <a:srgbClr val="000000"/>
                </a:solidFill>
                <a:latin typeface="Arial Body"/>
                <a:cs typeface="Times New Roman" pitchFamily="18" charset="0"/>
              </a:rPr>
              <a:t>in the definition of class </a:t>
            </a:r>
            <a:r>
              <a:rPr lang="en-US" sz="1800" dirty="0">
                <a:solidFill>
                  <a:srgbClr val="000000"/>
                </a:solidFill>
                <a:latin typeface="Consolas" panose="020B0609020204030204" pitchFamily="49" charset="0"/>
                <a:cs typeface="Times New Roman" pitchFamily="18" charset="0"/>
              </a:rPr>
              <a:t>ClassOne</a:t>
            </a:r>
            <a:r>
              <a:rPr lang="en-US" sz="1800" dirty="0">
                <a:solidFill>
                  <a:srgbClr val="000000"/>
                </a:solidFill>
                <a:latin typeface="Arial Body"/>
                <a:cs typeface="Times New Roman" pitchFamily="18" charset="0"/>
              </a:rPr>
              <a:t>.</a:t>
            </a:r>
          </a:p>
          <a:p>
            <a:pPr eaLnBrk="1" hangingPunct="1">
              <a:defRPr/>
            </a:pPr>
            <a:r>
              <a:rPr lang="en-US" sz="1800" dirty="0">
                <a:solidFill>
                  <a:srgbClr val="000000"/>
                </a:solidFill>
                <a:latin typeface="Arial Body"/>
                <a:cs typeface="Times New Roman" pitchFamily="18" charset="0"/>
              </a:rPr>
              <a:t>Friendship is </a:t>
            </a:r>
            <a:r>
              <a:rPr lang="en-US" sz="1800" b="1" dirty="0">
                <a:solidFill>
                  <a:srgbClr val="000000"/>
                </a:solidFill>
                <a:latin typeface="Arial Body"/>
                <a:cs typeface="Times New Roman" pitchFamily="18" charset="0"/>
              </a:rPr>
              <a:t>granted</a:t>
            </a:r>
            <a:r>
              <a:rPr lang="en-US" sz="1800" dirty="0">
                <a:solidFill>
                  <a:srgbClr val="000000"/>
                </a:solidFill>
                <a:latin typeface="Arial Body"/>
                <a:cs typeface="Times New Roman" pitchFamily="18" charset="0"/>
              </a:rPr>
              <a:t>, </a:t>
            </a:r>
            <a:r>
              <a:rPr lang="en-US" sz="1800" b="1" dirty="0">
                <a:solidFill>
                  <a:srgbClr val="000000"/>
                </a:solidFill>
                <a:latin typeface="Arial Body"/>
                <a:cs typeface="Times New Roman" pitchFamily="18" charset="0"/>
              </a:rPr>
              <a:t>not taken</a:t>
            </a:r>
            <a:r>
              <a:rPr lang="en-US" sz="1800" dirty="0">
                <a:solidFill>
                  <a:srgbClr val="000000"/>
                </a:solidFill>
                <a:latin typeface="Arial Body"/>
                <a:cs typeface="Times New Roman" pitchFamily="18" charset="0"/>
              </a:rPr>
              <a:t>—for class B to be a </a:t>
            </a:r>
            <a:r>
              <a:rPr lang="en-US" sz="1800" dirty="0">
                <a:solidFill>
                  <a:srgbClr val="000000"/>
                </a:solidFill>
                <a:latin typeface="Consolas" panose="020B0609020204030204" pitchFamily="49" charset="0"/>
                <a:cs typeface="Times New Roman" pitchFamily="18" charset="0"/>
              </a:rPr>
              <a:t>friend</a:t>
            </a:r>
            <a:r>
              <a:rPr lang="en-US" sz="1800" dirty="0">
                <a:solidFill>
                  <a:srgbClr val="000000"/>
                </a:solidFill>
                <a:latin typeface="Arial Body"/>
                <a:cs typeface="Times New Roman" pitchFamily="18" charset="0"/>
              </a:rPr>
              <a:t> of class A, class A </a:t>
            </a:r>
            <a:r>
              <a:rPr lang="en-US" sz="1800" b="1" dirty="0">
                <a:solidFill>
                  <a:srgbClr val="000000"/>
                </a:solidFill>
                <a:latin typeface="Arial Body"/>
                <a:cs typeface="Times New Roman" pitchFamily="18" charset="0"/>
              </a:rPr>
              <a:t>must</a:t>
            </a:r>
            <a:r>
              <a:rPr lang="en-US" sz="1800" dirty="0">
                <a:solidFill>
                  <a:srgbClr val="000000"/>
                </a:solidFill>
                <a:latin typeface="Arial Body"/>
                <a:cs typeface="Times New Roman" pitchFamily="18" charset="0"/>
              </a:rPr>
              <a:t> explicitly declare that class B is its </a:t>
            </a:r>
            <a:r>
              <a:rPr lang="en-US" sz="1800" dirty="0">
                <a:solidFill>
                  <a:srgbClr val="000000"/>
                </a:solidFill>
                <a:latin typeface="Consolas" panose="020B0609020204030204" pitchFamily="49" charset="0"/>
                <a:cs typeface="Times New Roman" pitchFamily="18" charset="0"/>
              </a:rPr>
              <a:t>friend</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eaLnBrk="1" hangingPunct="1">
              <a:defRPr/>
            </a:pPr>
            <a:r>
              <a:rPr lang="en-US" sz="1800" dirty="0">
                <a:solidFill>
                  <a:srgbClr val="000000"/>
                </a:solidFill>
                <a:latin typeface="Arial Body"/>
                <a:cs typeface="Times New Roman" pitchFamily="18" charset="0"/>
              </a:rPr>
              <a:t>Friendship is not </a:t>
            </a:r>
            <a:r>
              <a:rPr lang="en-US" sz="1800" b="1" dirty="0">
                <a:solidFill>
                  <a:srgbClr val="000000"/>
                </a:solidFill>
                <a:latin typeface="Arial Body"/>
                <a:cs typeface="Times New Roman" pitchFamily="18" charset="0"/>
              </a:rPr>
              <a:t>symmetric</a:t>
            </a:r>
            <a:r>
              <a:rPr lang="en-US" sz="1800" dirty="0">
                <a:solidFill>
                  <a:srgbClr val="000000"/>
                </a:solidFill>
                <a:latin typeface="Arial Body"/>
                <a:cs typeface="Times New Roman" pitchFamily="18" charset="0"/>
              </a:rPr>
              <a:t>—if class A is a friend of class B, you cannot infer that class B is a friend of class A</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eaLnBrk="1" hangingPunct="1">
              <a:defRPr/>
            </a:pPr>
            <a:r>
              <a:rPr lang="en-US" sz="1800" dirty="0">
                <a:solidFill>
                  <a:srgbClr val="000000"/>
                </a:solidFill>
                <a:latin typeface="Arial Body"/>
                <a:cs typeface="Times New Roman" pitchFamily="18" charset="0"/>
              </a:rPr>
              <a:t>Friendship is not </a:t>
            </a:r>
            <a:r>
              <a:rPr lang="en-US" sz="1800" b="1" dirty="0">
                <a:solidFill>
                  <a:srgbClr val="000000"/>
                </a:solidFill>
                <a:latin typeface="Arial Body"/>
                <a:cs typeface="Times New Roman" pitchFamily="18" charset="0"/>
              </a:rPr>
              <a:t>transitive</a:t>
            </a:r>
            <a:r>
              <a:rPr lang="en-US" sz="1800" dirty="0">
                <a:solidFill>
                  <a:srgbClr val="000000"/>
                </a:solidFill>
                <a:latin typeface="Arial Body"/>
                <a:cs typeface="Times New Roman" pitchFamily="18" charset="0"/>
              </a:rPr>
              <a:t>—if class A is a friend of class B and class B is a friend of class C, you cannot infer that class A is a friend of class C</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7324725" cy="1231076"/>
          </a:xfrm>
        </p:spPr>
        <p:txBody>
          <a:bodyPr wrap="square">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17.12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Functions and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Classes </a:t>
            </a:r>
            <a:r>
              <a:rPr lang="en-US" altLang="en-US" sz="2000" b="0" kern="1200" dirty="0" smtClean="0">
                <a:latin typeface="Times New Roman" panose="02020603050405020304" pitchFamily="18" charset="0"/>
                <a:ea typeface="+mj-ea"/>
                <a:cs typeface="+mj-cs"/>
              </a:rPr>
              <a:t>(3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199"/>
            <a:ext cx="8229600" cy="3547153"/>
          </a:xfrm>
        </p:spPr>
        <p:txBody>
          <a:bodyPr/>
          <a:lstStyle/>
          <a:p>
            <a:pPr marL="0" indent="0" eaLnBrk="1" hangingPunct="1">
              <a:lnSpc>
                <a:spcPct val="90000"/>
              </a:lnSpc>
              <a:buFont typeface="Wingdings 3" panose="05040102010807070707" pitchFamily="18" charset="2"/>
              <a:buNone/>
              <a:defRPr/>
            </a:pPr>
            <a:r>
              <a:rPr lang="en-US" sz="1800" b="1" dirty="0">
                <a:solidFill>
                  <a:srgbClr val="000000"/>
                </a:solidFill>
                <a:latin typeface="Arial Body"/>
                <a:cs typeface="Times New Roman" pitchFamily="18" charset="0"/>
              </a:rPr>
              <a:t>Modifying a Class’s private Data with a Friend Function</a:t>
            </a:r>
          </a:p>
          <a:p>
            <a:pPr marL="255600" indent="-255600" eaLnBrk="1" hangingPunct="1">
              <a:defRPr/>
            </a:pPr>
            <a:r>
              <a:rPr lang="en-US" sz="1800" dirty="0">
                <a:solidFill>
                  <a:srgbClr val="000000"/>
                </a:solidFill>
                <a:latin typeface="Arial Body"/>
                <a:cs typeface="Times New Roman" pitchFamily="18" charset="0"/>
              </a:rPr>
              <a:t>Figure </a:t>
            </a:r>
            <a:r>
              <a:rPr lang="en-US" sz="1800" dirty="0" smtClean="0">
                <a:solidFill>
                  <a:srgbClr val="000000"/>
                </a:solidFill>
                <a:latin typeface="Arial Body"/>
                <a:cs typeface="Times New Roman" pitchFamily="18" charset="0"/>
              </a:rPr>
              <a:t>17.22 is </a:t>
            </a:r>
            <a:r>
              <a:rPr lang="en-US" sz="1800" dirty="0">
                <a:solidFill>
                  <a:srgbClr val="000000"/>
                </a:solidFill>
                <a:latin typeface="Arial Body"/>
                <a:cs typeface="Times New Roman" pitchFamily="18" charset="0"/>
              </a:rPr>
              <a:t>a mechanical example in which we define </a:t>
            </a:r>
            <a:r>
              <a:rPr lang="en-US" sz="1800" dirty="0">
                <a:solidFill>
                  <a:srgbClr val="000000"/>
                </a:solidFill>
                <a:latin typeface="Consolas" panose="020B0609020204030204" pitchFamily="49" charset="0"/>
                <a:cs typeface="Times New Roman" pitchFamily="18" charset="0"/>
              </a:rPr>
              <a:t>friend</a:t>
            </a:r>
            <a:r>
              <a:rPr lang="en-US" sz="1800" dirty="0">
                <a:solidFill>
                  <a:srgbClr val="000000"/>
                </a:solidFill>
                <a:latin typeface="Arial Body"/>
                <a:cs typeface="Times New Roman" pitchFamily="18" charset="0"/>
              </a:rPr>
              <a:t> function </a:t>
            </a:r>
            <a:r>
              <a:rPr lang="en-US" sz="1800" dirty="0">
                <a:solidFill>
                  <a:srgbClr val="000000"/>
                </a:solidFill>
                <a:latin typeface="Consolas" panose="020B0609020204030204" pitchFamily="49" charset="0"/>
                <a:cs typeface="Times New Roman" pitchFamily="18" charset="0"/>
              </a:rPr>
              <a:t>setX</a:t>
            </a:r>
            <a:r>
              <a:rPr lang="en-US" sz="1800" dirty="0">
                <a:solidFill>
                  <a:srgbClr val="000000"/>
                </a:solidFill>
                <a:latin typeface="Arial Body"/>
                <a:cs typeface="Times New Roman" pitchFamily="18" charset="0"/>
              </a:rPr>
              <a:t> to set the private data member </a:t>
            </a:r>
            <a:r>
              <a:rPr lang="en-US" sz="1800" dirty="0">
                <a:solidFill>
                  <a:srgbClr val="000000"/>
                </a:solidFill>
                <a:latin typeface="Consolas" panose="020B0609020204030204" pitchFamily="49" charset="0"/>
                <a:cs typeface="Times New Roman" pitchFamily="18" charset="0"/>
              </a:rPr>
              <a:t>x</a:t>
            </a:r>
            <a:r>
              <a:rPr lang="en-US" sz="1800" dirty="0">
                <a:solidFill>
                  <a:srgbClr val="000000"/>
                </a:solidFill>
                <a:latin typeface="Arial Body"/>
                <a:cs typeface="Times New Roman" pitchFamily="18" charset="0"/>
              </a:rPr>
              <a:t> of class Count</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marL="255600" indent="-255600" eaLnBrk="1" hangingPunct="1">
              <a:defRPr/>
            </a:pPr>
            <a:r>
              <a:rPr lang="en-US" sz="1800" dirty="0">
                <a:solidFill>
                  <a:srgbClr val="000000"/>
                </a:solidFill>
                <a:latin typeface="Arial Body"/>
                <a:cs typeface="Times New Roman" pitchFamily="18" charset="0"/>
              </a:rPr>
              <a:t>We place the </a:t>
            </a:r>
            <a:r>
              <a:rPr lang="en-US" sz="1800" dirty="0">
                <a:solidFill>
                  <a:srgbClr val="000000"/>
                </a:solidFill>
                <a:latin typeface="Consolas" panose="020B0609020204030204" pitchFamily="49" charset="0"/>
                <a:cs typeface="Times New Roman" pitchFamily="18" charset="0"/>
              </a:rPr>
              <a:t>friend</a:t>
            </a:r>
            <a:r>
              <a:rPr lang="en-US" sz="1800" dirty="0">
                <a:solidFill>
                  <a:srgbClr val="000000"/>
                </a:solidFill>
                <a:latin typeface="Arial Body"/>
                <a:cs typeface="Times New Roman" pitchFamily="18" charset="0"/>
              </a:rPr>
              <a:t> declaration </a:t>
            </a:r>
            <a:r>
              <a:rPr lang="en-US" sz="1800" b="1" dirty="0">
                <a:solidFill>
                  <a:srgbClr val="000000"/>
                </a:solidFill>
                <a:latin typeface="Arial Body"/>
                <a:cs typeface="Times New Roman" pitchFamily="18" charset="0"/>
              </a:rPr>
              <a:t>first</a:t>
            </a:r>
            <a:r>
              <a:rPr lang="en-US" sz="1800" dirty="0">
                <a:solidFill>
                  <a:srgbClr val="000000"/>
                </a:solidFill>
                <a:latin typeface="Arial Body"/>
                <a:cs typeface="Times New Roman" pitchFamily="18" charset="0"/>
              </a:rPr>
              <a:t> in the class definition, even before </a:t>
            </a:r>
            <a:r>
              <a:rPr lang="en-US" sz="1800" dirty="0">
                <a:solidFill>
                  <a:srgbClr val="000000"/>
                </a:solidFill>
                <a:latin typeface="Consolas" panose="020B0609020204030204" pitchFamily="49" charset="0"/>
                <a:cs typeface="Times New Roman" pitchFamily="18" charset="0"/>
              </a:rPr>
              <a:t>public</a:t>
            </a:r>
            <a:r>
              <a:rPr lang="en-US" sz="1800" dirty="0">
                <a:solidFill>
                  <a:srgbClr val="000000"/>
                </a:solidFill>
                <a:latin typeface="Arial Body"/>
                <a:cs typeface="Times New Roman" pitchFamily="18" charset="0"/>
              </a:rPr>
              <a:t> member functions are declared</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marL="255600" indent="-255600" eaLnBrk="1" hangingPunct="1">
              <a:defRPr/>
            </a:pPr>
            <a:r>
              <a:rPr lang="en-US" sz="1800" dirty="0">
                <a:solidFill>
                  <a:srgbClr val="000000"/>
                </a:solidFill>
                <a:latin typeface="Arial Body"/>
                <a:cs typeface="Times New Roman" pitchFamily="18" charset="0"/>
              </a:rPr>
              <a:t>Function </a:t>
            </a:r>
            <a:r>
              <a:rPr lang="en-US" sz="1800" dirty="0">
                <a:solidFill>
                  <a:srgbClr val="000000"/>
                </a:solidFill>
                <a:latin typeface="Consolas" panose="020B0609020204030204" pitchFamily="49" charset="0"/>
                <a:cs typeface="Times New Roman" pitchFamily="18" charset="0"/>
              </a:rPr>
              <a:t>setX</a:t>
            </a:r>
            <a:r>
              <a:rPr lang="en-US" sz="1800" dirty="0">
                <a:solidFill>
                  <a:srgbClr val="000000"/>
                </a:solidFill>
                <a:latin typeface="Arial Body"/>
                <a:cs typeface="Times New Roman" pitchFamily="18" charset="0"/>
              </a:rPr>
              <a:t> is a stand-alone (global) function—it isn’t a member function of class </a:t>
            </a:r>
            <a:r>
              <a:rPr lang="en-US" sz="1800" dirty="0">
                <a:solidFill>
                  <a:srgbClr val="000000"/>
                </a:solidFill>
                <a:latin typeface="Consolas" panose="020B0609020204030204" pitchFamily="49" charset="0"/>
                <a:cs typeface="Times New Roman" pitchFamily="18" charset="0"/>
              </a:rPr>
              <a:t>Count</a:t>
            </a:r>
            <a:r>
              <a:rPr lang="en-US" sz="1800" dirty="0" smtClean="0">
                <a:solidFill>
                  <a:srgbClr val="000000"/>
                </a:solidFill>
                <a:latin typeface="Arial Body"/>
                <a:cs typeface="Times New Roman" pitchFamily="18" charset="0"/>
              </a:rPr>
              <a:t>.</a:t>
            </a:r>
            <a:endParaRPr lang="en-US" sz="1800" dirty="0">
              <a:solidFill>
                <a:srgbClr val="000000"/>
              </a:solidFill>
              <a:latin typeface="Arial Body"/>
              <a:cs typeface="Times New Roman" pitchFamily="18" charset="0"/>
            </a:endParaRPr>
          </a:p>
          <a:p>
            <a:pPr marL="255600" indent="-255600" eaLnBrk="1" hangingPunct="1">
              <a:defRPr/>
            </a:pPr>
            <a:r>
              <a:rPr lang="en-US" sz="1800" dirty="0">
                <a:solidFill>
                  <a:srgbClr val="000000"/>
                </a:solidFill>
                <a:latin typeface="Arial Body"/>
                <a:cs typeface="Times New Roman" pitchFamily="18" charset="0"/>
              </a:rPr>
              <a:t>For this reason, when </a:t>
            </a:r>
            <a:r>
              <a:rPr lang="en-US" sz="1800" dirty="0">
                <a:solidFill>
                  <a:srgbClr val="000000"/>
                </a:solidFill>
                <a:latin typeface="Consolas" panose="020B0609020204030204" pitchFamily="49" charset="0"/>
                <a:cs typeface="Times New Roman" pitchFamily="18" charset="0"/>
              </a:rPr>
              <a:t>setX</a:t>
            </a:r>
            <a:r>
              <a:rPr lang="en-US" sz="1800" dirty="0">
                <a:solidFill>
                  <a:srgbClr val="000000"/>
                </a:solidFill>
                <a:latin typeface="Arial Body"/>
                <a:cs typeface="Times New Roman" pitchFamily="18" charset="0"/>
              </a:rPr>
              <a:t> is invoked for object counter, line 41 passes counter as an argument to </a:t>
            </a:r>
            <a:r>
              <a:rPr lang="en-US" sz="1800" dirty="0">
                <a:solidFill>
                  <a:srgbClr val="000000"/>
                </a:solidFill>
                <a:latin typeface="Consolas" panose="020B0609020204030204" pitchFamily="49" charset="0"/>
                <a:cs typeface="Times New Roman" pitchFamily="18" charset="0"/>
              </a:rPr>
              <a:t>setX</a:t>
            </a:r>
            <a:r>
              <a:rPr lang="en-US" sz="1800" dirty="0">
                <a:solidFill>
                  <a:srgbClr val="000000"/>
                </a:solidFill>
                <a:latin typeface="Arial Body"/>
                <a:cs typeface="Times New Roman" pitchFamily="18" charset="0"/>
              </a:rPr>
              <a:t> rather than using a handle (such as the name of the object) to call the function, as in</a:t>
            </a:r>
            <a:endParaRPr lang="en-US" sz="1800" dirty="0">
              <a:latin typeface="Arial Body"/>
            </a:endParaRPr>
          </a:p>
        </p:txBody>
      </p:sp>
      <p:pic>
        <p:nvPicPr>
          <p:cNvPr id="5" name="Picture 4" descr="Computer code reads, counter period set left parenthesis 8 right parenthesis semicolon forward slash forward slash error colon set x not a member functio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024" y="5224900"/>
            <a:ext cx="7084278" cy="224646"/>
          </a:xfrm>
          <a:prstGeom prst="rect">
            <a:avLst/>
          </a:prstGeom>
        </p:spPr>
      </p:pic>
      <p:sp>
        <p:nvSpPr>
          <p:cNvPr id="4" name="Text Placeholder 3"/>
          <p:cNvSpPr>
            <a:spLocks noGrp="1"/>
          </p:cNvSpPr>
          <p:nvPr>
            <p:ph type="body" idx="2"/>
          </p:nvPr>
        </p:nvSpPr>
        <p:spPr>
          <a:xfrm>
            <a:off x="457200" y="5474872"/>
            <a:ext cx="8229600" cy="893194"/>
          </a:xfrm>
        </p:spPr>
        <p:txBody>
          <a:bodyPr/>
          <a:lstStyle/>
          <a:p>
            <a:r>
              <a:rPr lang="en-US" sz="1800" dirty="0">
                <a:solidFill>
                  <a:srgbClr val="000000"/>
                </a:solidFill>
                <a:latin typeface="Arial Body"/>
                <a:cs typeface="Times New Roman" pitchFamily="18" charset="0"/>
              </a:rPr>
              <a:t>If you remove the friend declaration in line 9, you’ll receive error messages indicating that function </a:t>
            </a:r>
            <a:r>
              <a:rPr lang="en-US" sz="1800" dirty="0">
                <a:solidFill>
                  <a:srgbClr val="000000"/>
                </a:solidFill>
                <a:latin typeface="Consolas" panose="020B0609020204030204" pitchFamily="49" charset="0"/>
                <a:cs typeface="Times New Roman" pitchFamily="18" charset="0"/>
              </a:rPr>
              <a:t>setX</a:t>
            </a:r>
            <a:r>
              <a:rPr lang="en-US" sz="1800" dirty="0">
                <a:solidFill>
                  <a:srgbClr val="000000"/>
                </a:solidFill>
                <a:latin typeface="Arial Body"/>
                <a:cs typeface="Times New Roman" pitchFamily="18" charset="0"/>
              </a:rPr>
              <a:t> cannot modify class </a:t>
            </a:r>
            <a:r>
              <a:rPr lang="en-US" sz="1800" dirty="0">
                <a:solidFill>
                  <a:srgbClr val="000000"/>
                </a:solidFill>
                <a:latin typeface="Consolas" panose="020B0609020204030204" pitchFamily="49" charset="0"/>
                <a:cs typeface="Times New Roman" pitchFamily="18" charset="0"/>
              </a:rPr>
              <a:t>Count’s private</a:t>
            </a:r>
            <a:r>
              <a:rPr lang="en-US" sz="1800" dirty="0">
                <a:solidFill>
                  <a:srgbClr val="000000"/>
                </a:solidFill>
                <a:latin typeface="Arial Body"/>
                <a:cs typeface="Times New Roman" pitchFamily="18" charset="0"/>
              </a:rPr>
              <a:t> data member </a:t>
            </a:r>
            <a:r>
              <a:rPr lang="en-US" sz="1800" dirty="0">
                <a:solidFill>
                  <a:srgbClr val="000000"/>
                </a:solidFill>
                <a:latin typeface="Consolas" panose="020B0609020204030204" pitchFamily="49" charset="0"/>
                <a:cs typeface="Times New Roman" pitchFamily="18" charset="0"/>
              </a:rPr>
              <a:t>x</a:t>
            </a:r>
            <a:r>
              <a:rPr lang="en-US" sz="1800" dirty="0">
                <a:solidFill>
                  <a:srgbClr val="000000"/>
                </a:solidFill>
                <a:latin typeface="Arial Body"/>
                <a:cs typeface="Times New Roman" pitchFamily="18" charset="0"/>
              </a:rPr>
              <a:t>.</a:t>
            </a:r>
            <a:endParaRPr lang="en-US" sz="1800" dirty="0">
              <a:latin typeface="Arial Body"/>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17.22 </a:t>
            </a:r>
            <a:r>
              <a:rPr lang="en-US" dirty="0">
                <a:latin typeface="Consolas" panose="020B0609020204030204" pitchFamily="49" charset="0"/>
              </a:rPr>
              <a:t>Friends</a:t>
            </a:r>
            <a:r>
              <a:rPr lang="en-US" dirty="0"/>
              <a:t> Can Access </a:t>
            </a:r>
            <a:r>
              <a:rPr lang="en-US" dirty="0" smtClean="0">
                <a:latin typeface="Consolas" panose="020B0609020204030204" pitchFamily="49" charset="0"/>
              </a:rPr>
              <a:t>Private </a:t>
            </a:r>
            <a:r>
              <a:rPr lang="en-US" dirty="0" smtClean="0"/>
              <a:t>Members </a:t>
            </a:r>
            <a:r>
              <a:rPr lang="en-US" dirty="0"/>
              <a:t>of a Class </a:t>
            </a:r>
            <a:r>
              <a:rPr lang="en-US" sz="2000" b="0" dirty="0" smtClean="0"/>
              <a:t>(1 </a:t>
            </a:r>
            <a:r>
              <a:rPr lang="en-US" sz="2000" b="0" dirty="0"/>
              <a:t>of 3)</a:t>
            </a:r>
          </a:p>
        </p:txBody>
      </p:sp>
      <p:pic>
        <p:nvPicPr>
          <p:cNvPr id="3" name="Picture 2" descr="Computer cod has 44 lines. The lines read as follows. Line 1. forward slash forward slash F i g period 17 period 22 colon f I g 17 underscore 22 period c p p. Line 2. forward slash forward slash Friends can access private members of a class period. Line 3. hash include left angle bracket i o stream right angle bracket. Line 4. using namespace s t d semicolon. Line 5. Blank. Line 6. forward slash forward slash Count class definition. Line 7. class Count. Line 8. left brace. Line 9, indented once. friend void set X left parenthesis Count ampersand comma i n t right parenthesis semicolon forward slash forward slash friend declaration. Line 9 is highlighted. Line 10. public colon. Line 11, indented once. forward slash forward slash constructor. Line 12, indented once. Count left parenthesis right parenthesis. Line 13, indented twice. colon x left parenthesis 0 right parenthesis forward slash forward slash initialize x to 0. Line 14, indented once. left brace. Line 15, indented twice. forward slash forward slash empty body. Line 16, indented once. right brace forward slash forward slash end constructor Count. Line 17. Blank. "/>
          <p:cNvPicPr>
            <a:picLocks noChangeAspect="1"/>
          </p:cNvPicPr>
          <p:nvPr/>
        </p:nvPicPr>
        <p:blipFill>
          <a:blip r:embed="rId2"/>
          <a:stretch>
            <a:fillRect/>
          </a:stretch>
        </p:blipFill>
        <p:spPr>
          <a:xfrm>
            <a:off x="610372" y="1608838"/>
            <a:ext cx="7923254" cy="4441706"/>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17.22 </a:t>
            </a:r>
            <a:r>
              <a:rPr lang="en-US" dirty="0">
                <a:latin typeface="Consolas" panose="020B0609020204030204" pitchFamily="49" charset="0"/>
              </a:rPr>
              <a:t>Friends</a:t>
            </a:r>
            <a:r>
              <a:rPr lang="en-US" dirty="0"/>
              <a:t> Can Access </a:t>
            </a:r>
            <a:r>
              <a:rPr lang="en-US" dirty="0">
                <a:latin typeface="Consolas" panose="020B0609020204030204" pitchFamily="49" charset="0"/>
              </a:rPr>
              <a:t>Private </a:t>
            </a:r>
            <a:r>
              <a:rPr lang="en-US" dirty="0"/>
              <a:t>Members of a Class </a:t>
            </a:r>
            <a:r>
              <a:rPr lang="en-US" sz="2000" b="0" dirty="0" smtClean="0"/>
              <a:t>(2 </a:t>
            </a:r>
            <a:r>
              <a:rPr lang="en-US" sz="2000" b="0" dirty="0"/>
              <a:t>of 3)</a:t>
            </a:r>
            <a:endParaRPr lang="en-US" dirty="0"/>
          </a:p>
        </p:txBody>
      </p:sp>
      <p:pic>
        <p:nvPicPr>
          <p:cNvPr id="3" name="Picture 2" descr="The code continues. Line 18, indented once. forward slash forward slash output x. Line 19, indented once. void print left parenthesis right parenthesis c o n s t. Line 20, indented once. left brace. Line 21, indented twice. c out left angle bracket left angle bracket x left angle bracket left angle bracket end l semicolon. Line 22, indented once. right brace forward slash forward slash end function print. Line 23. private colon. Line 24, indented once. i n t x semicolon forward slash forward slash data member. Line 25. right brace semicolon forward slash forward slash end class Count. Line 26. Blank. Line 27. forward slash forward slash function set X can modify private data of Count. Line 28. forward slash forward slash because set X is declared as a friend of Count left parenthesis line 9 right parenthesis. Line 29. void set X left parenthesis Count ampersand c comma i n t, v a l right parenthesis. Line 30. left brace. Line 31, indented once. c period x equals v a l semicolon forward slash forward slash allowed because set X is a friend of Count. Line 32. right brace forward slash forward slash end function set X. Lines 27 to 32 are highlighted. Line 33. Blank."/>
          <p:cNvPicPr>
            <a:picLocks noChangeAspect="1"/>
          </p:cNvPicPr>
          <p:nvPr/>
        </p:nvPicPr>
        <p:blipFill>
          <a:blip r:embed="rId2"/>
          <a:stretch>
            <a:fillRect/>
          </a:stretch>
        </p:blipFill>
        <p:spPr>
          <a:xfrm>
            <a:off x="562596" y="1693667"/>
            <a:ext cx="8018807" cy="4148758"/>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17.22 </a:t>
            </a:r>
            <a:r>
              <a:rPr lang="en-US" dirty="0">
                <a:latin typeface="Consolas" panose="020B0609020204030204" pitchFamily="49" charset="0"/>
              </a:rPr>
              <a:t>Friends</a:t>
            </a:r>
            <a:r>
              <a:rPr lang="en-US" dirty="0"/>
              <a:t> Can Access </a:t>
            </a:r>
            <a:r>
              <a:rPr lang="en-US" dirty="0">
                <a:latin typeface="Consolas" panose="020B0609020204030204" pitchFamily="49" charset="0"/>
              </a:rPr>
              <a:t>Private </a:t>
            </a:r>
            <a:r>
              <a:rPr lang="en-US" dirty="0"/>
              <a:t>Members of a Class </a:t>
            </a:r>
            <a:r>
              <a:rPr lang="en-US" sz="2000" b="0" dirty="0" smtClean="0"/>
              <a:t>(3 </a:t>
            </a:r>
            <a:r>
              <a:rPr lang="en-US" sz="2000" b="0" dirty="0"/>
              <a:t>of 3)</a:t>
            </a:r>
            <a:endParaRPr lang="en-US" dirty="0"/>
          </a:p>
        </p:txBody>
      </p:sp>
      <p:pic>
        <p:nvPicPr>
          <p:cNvPr id="5" name="Picture 4" descr="The code continues. Line 34. i n t main left parenthesis right parenthesis. Line 35. left brace. Line 36, indented once. Count counter semicolon forward slash forward slash create Count object. Line 37. Blank. Line 38, indented once. c out left angle bracket left angle bracket double quote counter period x after instantiation colon double quote semicolon. Line 39, indented once. counter period print left parenthesis right parenthesis semicolon. Line 40. Blank. Line 41, indented once. set X left parenthesis counter comma 8 right parenthesis semicolon forward slash forward slash set x using a friend function. Line 41 is highlighted. Line 42, indented once. c out left angle bracket left angle bracket double quote counter period x after call to set X friend function colon double quote semicolon. Line 43, indented once. counter period print left parenthesis right parenthesis semicolon. Line 44. right brace forward slash forward slash end main. The code output has 2 lines. The lines read as follows. Line 1. counter period x after instantiation colon 0. Line 2. counter period x after call to set X friend function colon 8."/>
          <p:cNvPicPr>
            <a:picLocks noChangeAspect="1"/>
          </p:cNvPicPr>
          <p:nvPr/>
        </p:nvPicPr>
        <p:blipFill>
          <a:blip r:embed="rId2"/>
          <a:stretch>
            <a:fillRect/>
          </a:stretch>
        </p:blipFill>
        <p:spPr>
          <a:xfrm>
            <a:off x="660036" y="1873430"/>
            <a:ext cx="7823927" cy="3460455"/>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7400925" cy="1231076"/>
          </a:xfrm>
        </p:spPr>
        <p:txBody>
          <a:bodyPr wrap="square">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17.12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Functions and </a:t>
            </a:r>
            <a:r>
              <a:rPr lang="en-US" altLang="en-US" kern="1200" dirty="0" smtClean="0">
                <a:latin typeface="Consolas" panose="020B0609020204030204" pitchFamily="49" charset="0"/>
                <a:ea typeface="+mj-ea"/>
                <a:cs typeface="+mj-cs"/>
              </a:rPr>
              <a:t>Friend </a:t>
            </a:r>
            <a:r>
              <a:rPr lang="en-US" altLang="en-US" kern="1200" dirty="0" smtClean="0">
                <a:latin typeface="Times New Roman" panose="02020603050405020304" pitchFamily="18" charset="0"/>
                <a:ea typeface="+mj-ea"/>
                <a:cs typeface="+mj-cs"/>
              </a:rPr>
              <a:t>Classes </a:t>
            </a:r>
            <a:r>
              <a:rPr lang="en-US" altLang="en-US" sz="2000" b="0" kern="1200" dirty="0" smtClean="0">
                <a:latin typeface="Times New Roman" panose="02020603050405020304" pitchFamily="18" charset="0"/>
                <a:ea typeface="+mj-ea"/>
                <a:cs typeface="+mj-cs"/>
              </a:rPr>
              <a:t>(4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731213"/>
          </a:xfrm>
        </p:spPr>
        <p:txBody>
          <a:bodyPr wrap="square">
            <a:spAutoFit/>
          </a:bodyPr>
          <a:lstStyle/>
          <a:p>
            <a:pPr eaLnBrk="1" hangingPunct="1">
              <a:buSzTx/>
              <a:buFontTx/>
              <a:buChar char="•"/>
              <a:tabLst/>
            </a:pPr>
            <a:r>
              <a:rPr lang="en-US" altLang="en-US" sz="2200" dirty="0" smtClean="0">
                <a:solidFill>
                  <a:srgbClr val="000000"/>
                </a:solidFill>
                <a:latin typeface="Arial (Body)"/>
                <a:cs typeface="Times New Roman" panose="02020603050405020304" pitchFamily="18" charset="0"/>
                <a:sym typeface="Arial" panose="020B0604020202020204" pitchFamily="34" charset="0"/>
              </a:rPr>
              <a:t>It would normally be appropriate to define function </a:t>
            </a:r>
            <a:r>
              <a:rPr lang="en-US" altLang="en-US" sz="2200" dirty="0" smtClean="0">
                <a:solidFill>
                  <a:srgbClr val="000000"/>
                </a:solidFill>
                <a:latin typeface="Consolas" panose="020B0609020204030204" pitchFamily="49" charset="0"/>
                <a:cs typeface="Times New Roman" panose="02020603050405020304" pitchFamily="18" charset="0"/>
                <a:sym typeface="Arial" panose="020B0604020202020204" pitchFamily="34" charset="0"/>
              </a:rPr>
              <a:t>setX</a:t>
            </a:r>
            <a:r>
              <a:rPr lang="en-US" altLang="en-US" sz="2200" dirty="0" smtClean="0">
                <a:solidFill>
                  <a:srgbClr val="000000"/>
                </a:solidFill>
                <a:latin typeface="Arial (Body)"/>
                <a:cs typeface="Times New Roman" panose="02020603050405020304" pitchFamily="18" charset="0"/>
                <a:sym typeface="Arial" panose="020B0604020202020204" pitchFamily="34" charset="0"/>
              </a:rPr>
              <a:t> as a member function of class </a:t>
            </a:r>
            <a:r>
              <a:rPr lang="en-US" altLang="en-US" sz="2200" dirty="0" smtClean="0">
                <a:solidFill>
                  <a:srgbClr val="000000"/>
                </a:solidFill>
                <a:latin typeface="Consolas" panose="020B0609020204030204" pitchFamily="49" charset="0"/>
                <a:cs typeface="Times New Roman" panose="02020603050405020304" pitchFamily="18" charset="0"/>
                <a:sym typeface="Arial" panose="020B0604020202020204" pitchFamily="34" charset="0"/>
              </a:rPr>
              <a:t>Count</a:t>
            </a:r>
            <a:r>
              <a:rPr lang="en-US" altLang="en-US" sz="2200" dirty="0" smtClean="0">
                <a:solidFill>
                  <a:srgbClr val="000000"/>
                </a:solidFill>
                <a:latin typeface="Arial (Body)"/>
                <a:cs typeface="Times New Roman" panose="02020603050405020304" pitchFamily="18" charset="0"/>
                <a:sym typeface="Arial" panose="020B0604020202020204" pitchFamily="34" charset="0"/>
              </a:rPr>
              <a:t>.</a:t>
            </a:r>
          </a:p>
          <a:p>
            <a:pPr eaLnBrk="1" hangingPunct="1">
              <a:buSzTx/>
              <a:buFontTx/>
              <a:buChar char="•"/>
              <a:tabLst/>
            </a:pPr>
            <a:r>
              <a:rPr lang="en-US" altLang="en-US" sz="2200" dirty="0" smtClean="0">
                <a:solidFill>
                  <a:srgbClr val="000000"/>
                </a:solidFill>
                <a:latin typeface="Arial (Body)"/>
                <a:cs typeface="Times New Roman" panose="02020603050405020304" pitchFamily="18" charset="0"/>
                <a:sym typeface="Arial" panose="020B0604020202020204" pitchFamily="34" charset="0"/>
              </a:rPr>
              <a:t>It would also normally be appropriate to separate the program of Figure 17.22 into three files:</a:t>
            </a:r>
          </a:p>
        </p:txBody>
      </p:sp>
      <p:sp>
        <p:nvSpPr>
          <p:cNvPr id="4" name="Text Placeholder 3"/>
          <p:cNvSpPr>
            <a:spLocks noGrp="1"/>
          </p:cNvSpPr>
          <p:nvPr>
            <p:ph type="body" idx="2"/>
          </p:nvPr>
        </p:nvSpPr>
        <p:spPr>
          <a:xfrm>
            <a:off x="457200" y="3413605"/>
            <a:ext cx="8229600" cy="2859837"/>
          </a:xfrm>
        </p:spPr>
        <p:txBody>
          <a:bodyPr/>
          <a:lstStyle/>
          <a:p>
            <a:pPr marL="740664" indent="-429768" eaLnBrk="1" hangingPunct="1">
              <a:spcBef>
                <a:spcPts val="600"/>
              </a:spcBef>
              <a:buSzPts val="2400"/>
              <a:buFont typeface="+mj-lt"/>
              <a:buAutoNum type="arabicPeriod"/>
              <a:tabLst/>
            </a:pPr>
            <a:r>
              <a:rPr lang="en-US" altLang="en-US" sz="2200" dirty="0">
                <a:solidFill>
                  <a:srgbClr val="000000"/>
                </a:solidFill>
                <a:latin typeface="Arial (Body)"/>
                <a:cs typeface="Times New Roman" panose="02020603050405020304" pitchFamily="18" charset="0"/>
                <a:sym typeface="Arial" panose="020B0604020202020204" pitchFamily="34" charset="0"/>
              </a:rPr>
              <a:t>A header (e.g.,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Count.h</a:t>
            </a:r>
            <a:r>
              <a:rPr lang="en-US" altLang="en-US" sz="2200" dirty="0">
                <a:solidFill>
                  <a:srgbClr val="000000"/>
                </a:solidFill>
                <a:latin typeface="Arial (Body)"/>
                <a:cs typeface="Times New Roman" panose="02020603050405020304" pitchFamily="18" charset="0"/>
                <a:sym typeface="Arial" panose="020B0604020202020204" pitchFamily="34" charset="0"/>
              </a:rPr>
              <a:t>) containing the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Count</a:t>
            </a:r>
            <a:r>
              <a:rPr lang="en-US" altLang="en-US" sz="2200" dirty="0">
                <a:solidFill>
                  <a:srgbClr val="000000"/>
                </a:solidFill>
                <a:latin typeface="Arial (Body)"/>
                <a:cs typeface="Times New Roman" panose="02020603050405020304" pitchFamily="18" charset="0"/>
                <a:sym typeface="Arial" panose="020B0604020202020204" pitchFamily="34" charset="0"/>
              </a:rPr>
              <a:t> class definition, which in turn contains the prototype of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friend</a:t>
            </a:r>
            <a:r>
              <a:rPr lang="en-US" altLang="en-US" sz="2200" dirty="0">
                <a:solidFill>
                  <a:srgbClr val="000000"/>
                </a:solidFill>
                <a:latin typeface="Arial (Body)"/>
                <a:cs typeface="Times New Roman" panose="02020603050405020304" pitchFamily="18" charset="0"/>
                <a:sym typeface="Arial" panose="020B0604020202020204" pitchFamily="34" charset="0"/>
              </a:rPr>
              <a:t> function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setX</a:t>
            </a:r>
          </a:p>
          <a:p>
            <a:pPr marL="740664" indent="-429768" eaLnBrk="1" hangingPunct="1">
              <a:spcBef>
                <a:spcPts val="600"/>
              </a:spcBef>
              <a:buSzPts val="2400"/>
              <a:buFont typeface="+mj-lt"/>
              <a:buAutoNum type="arabicPeriod"/>
              <a:tabLst/>
            </a:pPr>
            <a:r>
              <a:rPr lang="en-US" altLang="en-US" sz="2200" dirty="0">
                <a:solidFill>
                  <a:srgbClr val="000000"/>
                </a:solidFill>
                <a:latin typeface="Arial (Body)"/>
                <a:cs typeface="Times New Roman" panose="02020603050405020304" pitchFamily="18" charset="0"/>
                <a:sym typeface="Arial" panose="020B0604020202020204" pitchFamily="34" charset="0"/>
              </a:rPr>
              <a:t>An implementation file (e.g.,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Count.cpp</a:t>
            </a:r>
            <a:r>
              <a:rPr lang="en-US" altLang="en-US" sz="2200" dirty="0">
                <a:solidFill>
                  <a:srgbClr val="000000"/>
                </a:solidFill>
                <a:latin typeface="Arial (Body)"/>
                <a:cs typeface="Times New Roman" panose="02020603050405020304" pitchFamily="18" charset="0"/>
                <a:sym typeface="Arial" panose="020B0604020202020204" pitchFamily="34" charset="0"/>
              </a:rPr>
              <a:t>) containing the definitions of class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Count’s</a:t>
            </a:r>
            <a:r>
              <a:rPr lang="en-US" altLang="en-US" sz="2200" dirty="0">
                <a:solidFill>
                  <a:srgbClr val="000000"/>
                </a:solidFill>
                <a:latin typeface="Arial (Body)"/>
                <a:cs typeface="Times New Roman" panose="02020603050405020304" pitchFamily="18" charset="0"/>
                <a:sym typeface="Arial" panose="020B0604020202020204" pitchFamily="34" charset="0"/>
              </a:rPr>
              <a:t> member functions and the definition of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friend</a:t>
            </a:r>
            <a:r>
              <a:rPr lang="en-US" altLang="en-US" sz="2200" dirty="0">
                <a:solidFill>
                  <a:srgbClr val="000000"/>
                </a:solidFill>
                <a:latin typeface="Arial (Body)"/>
                <a:cs typeface="Times New Roman" panose="02020603050405020304" pitchFamily="18" charset="0"/>
                <a:sym typeface="Arial" panose="020B0604020202020204" pitchFamily="34" charset="0"/>
              </a:rPr>
              <a:t> function </a:t>
            </a:r>
            <a:r>
              <a:rPr lang="en-US" altLang="en-US" sz="2200" dirty="0">
                <a:solidFill>
                  <a:srgbClr val="000000"/>
                </a:solidFill>
                <a:latin typeface="Consolas" panose="020B0609020204030204" pitchFamily="49" charset="0"/>
                <a:cs typeface="Times New Roman" panose="02020603050405020304" pitchFamily="18" charset="0"/>
                <a:sym typeface="Arial" panose="020B0604020202020204" pitchFamily="34" charset="0"/>
              </a:rPr>
              <a:t>setX</a:t>
            </a:r>
          </a:p>
          <a:p>
            <a:pPr marL="740664" indent="-429768" eaLnBrk="1" hangingPunct="1">
              <a:spcBef>
                <a:spcPts val="600"/>
              </a:spcBef>
              <a:buSzPts val="2400"/>
              <a:buFont typeface="+mj-lt"/>
              <a:buAutoNum type="arabicPeriod"/>
              <a:tabLst/>
            </a:pPr>
            <a:r>
              <a:rPr lang="en-US" altLang="en-US" sz="2200" dirty="0">
                <a:solidFill>
                  <a:srgbClr val="000000"/>
                </a:solidFill>
                <a:latin typeface="Arial (Body)"/>
                <a:cs typeface="Times New Roman" panose="02020603050405020304" pitchFamily="18" charset="0"/>
                <a:sym typeface="Arial" panose="020B0604020202020204" pitchFamily="34" charset="0"/>
              </a:rPr>
              <a:t>A test program (e.g., </a:t>
            </a:r>
            <a:r>
              <a:rPr lang="en-US" altLang="en-US" sz="2200" dirty="0" smtClean="0">
                <a:solidFill>
                  <a:srgbClr val="000000"/>
                </a:solidFill>
                <a:latin typeface="Consolas" panose="020B0609020204030204" pitchFamily="49" charset="0"/>
                <a:cs typeface="Times New Roman" panose="02020603050405020304" pitchFamily="18" charset="0"/>
                <a:sym typeface="Arial" panose="020B0604020202020204" pitchFamily="34" charset="0"/>
              </a:rPr>
              <a:t>figure17_22.cpp</a:t>
            </a:r>
            <a:r>
              <a:rPr lang="en-US" altLang="en-US" sz="2200" dirty="0">
                <a:solidFill>
                  <a:srgbClr val="000000"/>
                </a:solidFill>
                <a:latin typeface="Arial (Body)"/>
                <a:cs typeface="Times New Roman" panose="02020603050405020304" pitchFamily="18" charset="0"/>
                <a:sym typeface="Arial" panose="020B0604020202020204" pitchFamily="34" charset="0"/>
              </a:rPr>
              <a:t>) with main.</a:t>
            </a:r>
            <a:endParaRPr lang="en-US" sz="2200"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87"/>
            <a:ext cx="7143750" cy="1231076"/>
          </a:xfrm>
        </p:spPr>
        <p:txBody>
          <a:bodyPr wrap="square">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17.12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Functions and </a:t>
            </a:r>
            <a:r>
              <a:rPr lang="en-US" altLang="en-US" kern="1200" dirty="0" smtClean="0">
                <a:latin typeface="Consolas" panose="020B0609020204030204" pitchFamily="49" charset="0"/>
                <a:ea typeface="+mj-ea"/>
                <a:cs typeface="+mj-cs"/>
              </a:rPr>
              <a:t>Friend</a:t>
            </a:r>
            <a:r>
              <a:rPr lang="en-US" altLang="en-US" kern="1200" dirty="0" smtClean="0">
                <a:latin typeface="Times New Roman" panose="02020603050405020304" pitchFamily="18" charset="0"/>
                <a:ea typeface="+mj-ea"/>
                <a:cs typeface="+mj-cs"/>
              </a:rPr>
              <a:t> Classes </a:t>
            </a:r>
            <a:r>
              <a:rPr lang="en-US" altLang="en-US" sz="2000" b="0" kern="1200" dirty="0" smtClean="0">
                <a:latin typeface="Times New Roman" panose="02020603050405020304" pitchFamily="18" charset="0"/>
                <a:ea typeface="+mj-ea"/>
                <a:cs typeface="+mj-cs"/>
              </a:rPr>
              <a:t>(5 of 5)</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416175"/>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Overloaded </a:t>
            </a:r>
            <a:r>
              <a:rPr lang="en-US" sz="2400" b="1" kern="1200" dirty="0">
                <a:solidFill>
                  <a:srgbClr val="000000"/>
                </a:solidFill>
                <a:latin typeface="Consolas" panose="020B0609020204030204" pitchFamily="49" charset="0"/>
                <a:ea typeface="+mn-ea"/>
                <a:cs typeface="Times New Roman" pitchFamily="18" charset="0"/>
              </a:rPr>
              <a:t>friend</a:t>
            </a:r>
            <a:r>
              <a:rPr lang="en-US" sz="2400" b="1" kern="1200" dirty="0">
                <a:solidFill>
                  <a:srgbClr val="000000"/>
                </a:solidFill>
                <a:latin typeface="Arial (Body)"/>
                <a:ea typeface="+mn-ea"/>
                <a:cs typeface="Times New Roman" pitchFamily="18" charset="0"/>
              </a:rPr>
              <a:t> Functions</a:t>
            </a:r>
          </a:p>
          <a:p>
            <a:pPr marL="255651" indent="-255651" eaLnBrk="1" hangingPunct="1">
              <a:tabLst/>
              <a:defRPr/>
            </a:pPr>
            <a:r>
              <a:rPr lang="en-US" sz="2400" kern="1200" dirty="0">
                <a:solidFill>
                  <a:srgbClr val="000000"/>
                </a:solidFill>
                <a:latin typeface="Arial (Body)"/>
                <a:ea typeface="+mn-ea"/>
                <a:cs typeface="Times New Roman" pitchFamily="18" charset="0"/>
              </a:rPr>
              <a:t>It’s possible to specify overloaded functions as </a:t>
            </a:r>
            <a:r>
              <a:rPr lang="en-US" sz="2400" kern="1200" dirty="0">
                <a:solidFill>
                  <a:srgbClr val="000000"/>
                </a:solidFill>
                <a:latin typeface="Consolas" panose="020B0609020204030204" pitchFamily="49" charset="0"/>
                <a:ea typeface="+mn-ea"/>
                <a:cs typeface="Times New Roman" pitchFamily="18" charset="0"/>
              </a:rPr>
              <a:t>friends</a:t>
            </a:r>
            <a:r>
              <a:rPr lang="en-US" sz="2400" kern="1200" dirty="0">
                <a:solidFill>
                  <a:srgbClr val="000000"/>
                </a:solidFill>
                <a:latin typeface="Arial (Body)"/>
                <a:ea typeface="+mn-ea"/>
                <a:cs typeface="Times New Roman" pitchFamily="18" charset="0"/>
              </a:rPr>
              <a:t> of a </a:t>
            </a:r>
            <a:r>
              <a:rPr lang="en-US" sz="2400" kern="1200" dirty="0" smtClean="0">
                <a:solidFill>
                  <a:srgbClr val="000000"/>
                </a:solidFill>
                <a:latin typeface="Arial (Body)"/>
                <a:ea typeface="+mn-ea"/>
                <a:cs typeface="Times New Roman" pitchFamily="18" charset="0"/>
              </a:rPr>
              <a:t>class.</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Each function intended to be a </a:t>
            </a:r>
            <a:r>
              <a:rPr lang="en-US" sz="2400" kern="1200" dirty="0">
                <a:solidFill>
                  <a:srgbClr val="000000"/>
                </a:solidFill>
                <a:latin typeface="Consolas" panose="020B0609020204030204" pitchFamily="49" charset="0"/>
                <a:ea typeface="+mn-ea"/>
                <a:cs typeface="Times New Roman" pitchFamily="18" charset="0"/>
              </a:rPr>
              <a:t>friend</a:t>
            </a:r>
            <a:r>
              <a:rPr lang="en-US" sz="2400" kern="1200" dirty="0">
                <a:solidFill>
                  <a:srgbClr val="000000"/>
                </a:solidFill>
                <a:latin typeface="Arial (Body)"/>
                <a:ea typeface="+mn-ea"/>
                <a:cs typeface="Times New Roman" pitchFamily="18" charset="0"/>
              </a:rPr>
              <a:t> must be explicitly declared in the class definition as a friend of the class.</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17.12</a:t>
            </a:r>
            <a:endParaRPr lang="en-US" dirty="0"/>
          </a:p>
        </p:txBody>
      </p:sp>
      <p:sp>
        <p:nvSpPr>
          <p:cNvPr id="3" name="Text Placeholder 2"/>
          <p:cNvSpPr>
            <a:spLocks noGrp="1"/>
          </p:cNvSpPr>
          <p:nvPr>
            <p:ph type="body" idx="1"/>
          </p:nvPr>
        </p:nvSpPr>
        <p:spPr>
          <a:xfrm>
            <a:off x="457200" y="1600200"/>
            <a:ext cx="8229600" cy="885825"/>
          </a:xfrm>
        </p:spPr>
        <p:txBody>
          <a:bodyPr/>
          <a:lstStyle/>
          <a:p>
            <a:pPr marL="0" indent="0">
              <a:buNone/>
            </a:pPr>
            <a:r>
              <a:rPr lang="en-US" sz="2400" dirty="0">
                <a:latin typeface="Arial Body"/>
              </a:rPr>
              <a:t>Even though the prototypes for </a:t>
            </a:r>
            <a:r>
              <a:rPr lang="en-US" sz="2400" dirty="0">
                <a:latin typeface="Consolas" panose="020B0609020204030204" pitchFamily="49" charset="0"/>
              </a:rPr>
              <a:t>friend</a:t>
            </a:r>
            <a:r>
              <a:rPr lang="en-US" sz="2400" dirty="0">
                <a:latin typeface="Arial Body"/>
              </a:rPr>
              <a:t> functions appear in the class definition, friends are not member functions.</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17.13</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Member access notions of </a:t>
            </a:r>
            <a:r>
              <a:rPr lang="en-US" sz="2400" dirty="0">
                <a:latin typeface="Consolas" panose="020B0609020204030204" pitchFamily="49" charset="0"/>
              </a:rPr>
              <a:t>private</a:t>
            </a:r>
            <a:r>
              <a:rPr lang="en-US" sz="2400" dirty="0">
                <a:latin typeface="Arial Body"/>
              </a:rPr>
              <a:t>, </a:t>
            </a:r>
            <a:r>
              <a:rPr lang="en-US" sz="2400" dirty="0" smtClean="0">
                <a:latin typeface="Consolas" panose="020B0609020204030204" pitchFamily="49" charset="0"/>
              </a:rPr>
              <a:t>protected</a:t>
            </a:r>
            <a:r>
              <a:rPr lang="en-US" sz="2400" dirty="0" smtClean="0">
                <a:latin typeface="Arial Body"/>
              </a:rPr>
              <a:t> </a:t>
            </a:r>
            <a:r>
              <a:rPr lang="en-US" sz="2400" dirty="0">
                <a:latin typeface="Arial Body"/>
              </a:rPr>
              <a:t>and </a:t>
            </a:r>
            <a:r>
              <a:rPr lang="en-US" sz="2400" dirty="0">
                <a:latin typeface="Consolas" panose="020B0609020204030204" pitchFamily="49" charset="0"/>
              </a:rPr>
              <a:t>public</a:t>
            </a:r>
            <a:r>
              <a:rPr lang="en-US" sz="2400" dirty="0">
                <a:latin typeface="Arial Body"/>
              </a:rPr>
              <a:t> are not relevant to </a:t>
            </a:r>
            <a:r>
              <a:rPr lang="en-US" sz="2400" dirty="0">
                <a:latin typeface="Consolas" panose="020B0609020204030204" pitchFamily="49" charset="0"/>
              </a:rPr>
              <a:t>friend</a:t>
            </a:r>
            <a:r>
              <a:rPr lang="en-US" sz="2400" dirty="0">
                <a:latin typeface="Arial Body"/>
              </a:rPr>
              <a:t> declarations, so </a:t>
            </a:r>
            <a:r>
              <a:rPr lang="en-US" sz="2400" dirty="0">
                <a:latin typeface="Consolas" panose="020B0609020204030204" pitchFamily="49" charset="0"/>
              </a:rPr>
              <a:t>friend</a:t>
            </a:r>
            <a:r>
              <a:rPr lang="en-US" sz="2400" dirty="0">
                <a:latin typeface="Arial Body"/>
              </a:rPr>
              <a:t> declarations can be placed anywhere in a class definition</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Good Programming Practice </a:t>
            </a:r>
            <a:r>
              <a:rPr lang="en-US" dirty="0" smtClean="0"/>
              <a:t>17.4</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Place all friendship declarations first inside the class definition’s body and do not precede them with any access </a:t>
            </a:r>
            <a:r>
              <a:rPr lang="en-US" sz="2400" dirty="0" smtClean="0">
                <a:latin typeface="Arial Body"/>
              </a:rPr>
              <a:t>specifier.</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17.13 Using the </a:t>
            </a:r>
            <a:r>
              <a:rPr lang="en-US" altLang="en-US" kern="1200" dirty="0" smtClean="0">
                <a:latin typeface="Consolas" panose="020B0609020204030204" pitchFamily="49" charset="0"/>
                <a:ea typeface="+mj-ea"/>
                <a:cs typeface="+mj-cs"/>
              </a:rPr>
              <a:t>this</a:t>
            </a:r>
            <a:r>
              <a:rPr lang="en-US" altLang="en-US" kern="1200" dirty="0" smtClean="0">
                <a:latin typeface="Times New Roman" panose="02020603050405020304" pitchFamily="18" charset="0"/>
                <a:ea typeface="+mj-ea"/>
                <a:cs typeface="+mj-cs"/>
              </a:rPr>
              <a:t> Pointer </a:t>
            </a:r>
            <a:r>
              <a:rPr lang="en-US" altLang="en-US" sz="2000" b="0" kern="1200" dirty="0" smtClean="0">
                <a:latin typeface="Times New Roman" panose="02020603050405020304" pitchFamily="18" charset="0"/>
                <a:ea typeface="+mj-ea"/>
                <a:cs typeface="+mj-cs"/>
              </a:rPr>
              <a:t>(1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250"/>
          </a:xfrm>
        </p:spPr>
        <p:txBody>
          <a:bodyPr>
            <a:spAutoFit/>
          </a:bodyPr>
          <a:lstStyle/>
          <a:p>
            <a:pPr marL="255651" indent="-255651" eaLnBrk="1" hangingPunct="1">
              <a:tabLst/>
              <a:defRPr/>
            </a:pPr>
            <a:r>
              <a:rPr lang="en-US" altLang="en-US" sz="2400" kern="1200" dirty="0" smtClean="0">
                <a:solidFill>
                  <a:srgbClr val="000000"/>
                </a:solidFill>
                <a:latin typeface="Arial (Body)"/>
                <a:ea typeface="+mn-ea"/>
                <a:cs typeface="Times New Roman" panose="02020603050405020304" pitchFamily="18" charset="0"/>
              </a:rPr>
              <a:t>Every object has access to its own address through a pointer called </a:t>
            </a:r>
            <a:r>
              <a:rPr lang="en-US" altLang="en-US" sz="2400" b="1" kern="1200" dirty="0" smtClean="0">
                <a:solidFill>
                  <a:srgbClr val="000000"/>
                </a:solidFill>
                <a:latin typeface="Consolas" panose="020B0609020204030204" pitchFamily="49" charset="0"/>
                <a:ea typeface="+mn-ea"/>
                <a:cs typeface="Times New Roman" panose="02020603050405020304" pitchFamily="18" charset="0"/>
              </a:rPr>
              <a:t>this</a:t>
            </a:r>
            <a:r>
              <a:rPr lang="en-US" altLang="en-US" sz="2400" kern="1200" dirty="0" smtClean="0">
                <a:solidFill>
                  <a:srgbClr val="000000"/>
                </a:solidFill>
                <a:latin typeface="Arial (Body)"/>
                <a:ea typeface="+mn-ea"/>
                <a:cs typeface="Times New Roman" panose="02020603050405020304" pitchFamily="18" charset="0"/>
              </a:rPr>
              <a:t> (a C++ keyword).</a:t>
            </a:r>
          </a:p>
          <a:p>
            <a:pPr marL="255651" indent="-255651" eaLnBrk="1" hangingPunct="1">
              <a:tabLst/>
              <a:defRPr/>
            </a:pPr>
            <a:r>
              <a:rPr lang="en-US" altLang="en-US" sz="2400" kern="1200" dirty="0" smtClean="0">
                <a:solidFill>
                  <a:srgbClr val="000000"/>
                </a:solidFill>
                <a:latin typeface="Arial (Body)"/>
                <a:ea typeface="+mn-ea"/>
                <a:cs typeface="Times New Roman" panose="02020603050405020304" pitchFamily="18" charset="0"/>
              </a:rPr>
              <a:t>The </a:t>
            </a:r>
            <a:r>
              <a:rPr lang="en-US" altLang="en-US" sz="2400" kern="1200" dirty="0" smtClean="0">
                <a:solidFill>
                  <a:srgbClr val="000000"/>
                </a:solidFill>
                <a:latin typeface="Consolas" panose="020B0609020204030204" pitchFamily="49" charset="0"/>
                <a:ea typeface="+mn-ea"/>
                <a:cs typeface="Times New Roman" panose="02020603050405020304" pitchFamily="18" charset="0"/>
              </a:rPr>
              <a:t>this</a:t>
            </a:r>
            <a:r>
              <a:rPr lang="en-US" altLang="en-US" sz="2400" kern="1200" dirty="0" smtClean="0">
                <a:solidFill>
                  <a:srgbClr val="000000"/>
                </a:solidFill>
                <a:latin typeface="Arial (Body)"/>
                <a:ea typeface="+mn-ea"/>
                <a:cs typeface="Times New Roman" panose="02020603050405020304" pitchFamily="18" charset="0"/>
              </a:rPr>
              <a:t> pointer is </a:t>
            </a:r>
            <a:r>
              <a:rPr lang="en-US" altLang="en-US" sz="2400" b="1" kern="1200" dirty="0" smtClean="0">
                <a:solidFill>
                  <a:srgbClr val="000000"/>
                </a:solidFill>
                <a:latin typeface="Arial (Body)"/>
                <a:ea typeface="+mn-ea"/>
                <a:cs typeface="Times New Roman" panose="02020603050405020304" pitchFamily="18" charset="0"/>
              </a:rPr>
              <a:t>not</a:t>
            </a:r>
            <a:r>
              <a:rPr lang="en-US" altLang="en-US" sz="2400" kern="1200" dirty="0" smtClean="0">
                <a:solidFill>
                  <a:srgbClr val="000000"/>
                </a:solidFill>
                <a:latin typeface="Arial (Body)"/>
                <a:ea typeface="+mn-ea"/>
                <a:cs typeface="Times New Roman" panose="02020603050405020304" pitchFamily="18" charset="0"/>
              </a:rPr>
              <a:t> part of the object itself—i.e., the memory occupied by the this pointer is not reflected in the result of a </a:t>
            </a:r>
            <a:r>
              <a:rPr lang="en-US" altLang="en-US" sz="2400" kern="1200" dirty="0" smtClean="0">
                <a:solidFill>
                  <a:srgbClr val="000000"/>
                </a:solidFill>
                <a:latin typeface="Consolas" panose="020B0609020204030204" pitchFamily="49" charset="0"/>
                <a:ea typeface="+mn-ea"/>
                <a:cs typeface="Times New Roman" panose="02020603050405020304" pitchFamily="18" charset="0"/>
              </a:rPr>
              <a:t>sizeof</a:t>
            </a:r>
            <a:r>
              <a:rPr lang="en-US" altLang="en-US" sz="2400" kern="1200" dirty="0" smtClean="0">
                <a:solidFill>
                  <a:srgbClr val="000000"/>
                </a:solidFill>
                <a:latin typeface="Arial (Body)"/>
                <a:ea typeface="+mn-ea"/>
                <a:cs typeface="Times New Roman" panose="02020603050405020304" pitchFamily="18" charset="0"/>
              </a:rPr>
              <a:t> operation on the object.</a:t>
            </a:r>
          </a:p>
          <a:p>
            <a:pPr marL="255651" indent="-255651" eaLnBrk="1" hangingPunct="1">
              <a:tabLst/>
              <a:defRPr/>
            </a:pPr>
            <a:r>
              <a:rPr lang="en-US" altLang="en-US" sz="2400" kern="1200" dirty="0" smtClean="0">
                <a:solidFill>
                  <a:srgbClr val="000000"/>
                </a:solidFill>
                <a:latin typeface="Arial (Body)"/>
                <a:ea typeface="+mn-ea"/>
                <a:cs typeface="Times New Roman" panose="02020603050405020304" pitchFamily="18" charset="0"/>
              </a:rPr>
              <a:t>Rather, the this pointer is passed (by the compiler) as an </a:t>
            </a:r>
            <a:r>
              <a:rPr lang="en-US" altLang="en-US" sz="2400" b="1" kern="1200" dirty="0" smtClean="0">
                <a:solidFill>
                  <a:srgbClr val="000000"/>
                </a:solidFill>
                <a:latin typeface="Arial (Body)"/>
                <a:ea typeface="+mn-ea"/>
                <a:cs typeface="Times New Roman" panose="02020603050405020304" pitchFamily="18" charset="0"/>
              </a:rPr>
              <a:t>implicit</a:t>
            </a:r>
            <a:r>
              <a:rPr lang="en-US" altLang="en-US" sz="2400" kern="1200" dirty="0" smtClean="0">
                <a:solidFill>
                  <a:srgbClr val="000000"/>
                </a:solidFill>
                <a:latin typeface="Arial (Body)"/>
                <a:ea typeface="+mn-ea"/>
                <a:cs typeface="Times New Roman" panose="02020603050405020304" pitchFamily="18" charset="0"/>
              </a:rPr>
              <a:t> argument to each of the object’s non-</a:t>
            </a:r>
            <a:r>
              <a:rPr lang="en-US" altLang="en-US" sz="2400" kern="1200" dirty="0" smtClean="0">
                <a:solidFill>
                  <a:srgbClr val="000000"/>
                </a:solidFill>
                <a:latin typeface="Consolas" panose="020B0609020204030204" pitchFamily="49" charset="0"/>
                <a:ea typeface="+mn-ea"/>
                <a:cs typeface="Times New Roman" panose="02020603050405020304" pitchFamily="18" charset="0"/>
              </a:rPr>
              <a:t>static</a:t>
            </a:r>
            <a:r>
              <a:rPr lang="en-US" altLang="en-US" sz="2400" kern="1200" dirty="0" smtClean="0">
                <a:solidFill>
                  <a:srgbClr val="000000"/>
                </a:solidFill>
                <a:latin typeface="Arial (Body)"/>
                <a:ea typeface="+mn-ea"/>
                <a:cs typeface="Times New Roman" panose="02020603050405020304" pitchFamily="18" charset="0"/>
              </a:rPr>
              <a:t> member functions.</a:t>
            </a:r>
            <a:endParaRPr lang="en-US" altLang="en-US" sz="2400" kern="1200" dirty="0">
              <a:solidFill>
                <a:srgbClr val="000000"/>
              </a:solidFill>
              <a:latin typeface="Arial (Body)"/>
              <a:ea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17.13 Using the </a:t>
            </a:r>
            <a:r>
              <a:rPr lang="en-US" altLang="en-US" kern="1200" dirty="0" smtClean="0">
                <a:latin typeface="Consolas" panose="020B0609020204030204" pitchFamily="49" charset="0"/>
                <a:ea typeface="+mj-ea"/>
                <a:cs typeface="+mj-cs"/>
              </a:rPr>
              <a:t>this</a:t>
            </a:r>
            <a:r>
              <a:rPr lang="en-US" altLang="en-US" kern="1200" dirty="0" smtClean="0">
                <a:latin typeface="Times New Roman" panose="02020603050405020304" pitchFamily="18" charset="0"/>
                <a:ea typeface="+mj-ea"/>
                <a:cs typeface="+mj-cs"/>
              </a:rPr>
              <a:t> Pointer </a:t>
            </a:r>
            <a:r>
              <a:rPr lang="en-US" altLang="en-US" sz="2000" b="0" kern="1200" dirty="0" smtClean="0">
                <a:latin typeface="Times New Roman" panose="02020603050405020304" pitchFamily="18" charset="0"/>
                <a:ea typeface="+mj-ea"/>
                <a:cs typeface="+mj-cs"/>
              </a:rPr>
              <a:t>(2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154363"/>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Using the </a:t>
            </a:r>
            <a:r>
              <a:rPr lang="en-US" sz="2400" b="1" kern="1200" dirty="0">
                <a:solidFill>
                  <a:srgbClr val="000000"/>
                </a:solidFill>
                <a:latin typeface="Consolas" panose="020B0609020204030204" pitchFamily="49" charset="0"/>
                <a:ea typeface="+mn-ea"/>
                <a:cs typeface="Times New Roman" pitchFamily="18" charset="0"/>
              </a:rPr>
              <a:t>this</a:t>
            </a:r>
            <a:r>
              <a:rPr lang="en-US" sz="2400" b="1" kern="1200" dirty="0">
                <a:solidFill>
                  <a:srgbClr val="000000"/>
                </a:solidFill>
                <a:latin typeface="Arial (Body)"/>
                <a:ea typeface="+mn-ea"/>
                <a:cs typeface="Times New Roman" pitchFamily="18" charset="0"/>
              </a:rPr>
              <a:t> Pointer to Avoid Naming Collisions</a:t>
            </a:r>
          </a:p>
          <a:p>
            <a:pPr marL="255651" indent="-255651" eaLnBrk="1" hangingPunct="1">
              <a:tabLst/>
              <a:defRPr/>
            </a:pPr>
            <a:r>
              <a:rPr lang="en-US" sz="2400" kern="1200" dirty="0">
                <a:solidFill>
                  <a:srgbClr val="000000"/>
                </a:solidFill>
                <a:latin typeface="Arial (Body)"/>
                <a:ea typeface="+mn-ea"/>
                <a:cs typeface="Times New Roman" pitchFamily="18" charset="0"/>
              </a:rPr>
              <a:t>Member functions use the this pointer </a:t>
            </a:r>
            <a:r>
              <a:rPr lang="en-US" sz="2400" b="1" kern="1200" dirty="0">
                <a:solidFill>
                  <a:srgbClr val="000000"/>
                </a:solidFill>
                <a:latin typeface="Arial (Body)"/>
                <a:ea typeface="+mn-ea"/>
                <a:cs typeface="Times New Roman" pitchFamily="18" charset="0"/>
              </a:rPr>
              <a:t>implicitly</a:t>
            </a:r>
            <a:r>
              <a:rPr lang="en-US" sz="2400" kern="1200" dirty="0">
                <a:solidFill>
                  <a:srgbClr val="000000"/>
                </a:solidFill>
                <a:latin typeface="Arial (Body)"/>
                <a:ea typeface="+mn-ea"/>
                <a:cs typeface="Times New Roman" pitchFamily="18" charset="0"/>
              </a:rPr>
              <a:t> (as we’ve done so far) or </a:t>
            </a:r>
            <a:r>
              <a:rPr lang="en-US" sz="2400" b="1" kern="1200" dirty="0">
                <a:solidFill>
                  <a:srgbClr val="000000"/>
                </a:solidFill>
                <a:latin typeface="Arial (Body)"/>
                <a:ea typeface="+mn-ea"/>
                <a:cs typeface="Times New Roman" pitchFamily="18" charset="0"/>
              </a:rPr>
              <a:t>explicitly</a:t>
            </a:r>
            <a:r>
              <a:rPr lang="en-US" sz="2400" kern="1200" dirty="0">
                <a:solidFill>
                  <a:srgbClr val="000000"/>
                </a:solidFill>
                <a:latin typeface="Arial (Body)"/>
                <a:ea typeface="+mn-ea"/>
                <a:cs typeface="Times New Roman" pitchFamily="18" charset="0"/>
              </a:rPr>
              <a:t> to reference an object’s data members and other member </a:t>
            </a:r>
            <a:r>
              <a:rPr lang="en-US" sz="2400" kern="1200" dirty="0" smtClean="0">
                <a:solidFill>
                  <a:srgbClr val="000000"/>
                </a:solidFill>
                <a:latin typeface="Arial (Body)"/>
                <a:ea typeface="+mn-ea"/>
                <a:cs typeface="Times New Roman" pitchFamily="18" charset="0"/>
              </a:rPr>
              <a:t>functions.</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A common </a:t>
            </a:r>
            <a:r>
              <a:rPr lang="en-US" sz="2400" b="1" kern="1200" dirty="0">
                <a:solidFill>
                  <a:srgbClr val="000000"/>
                </a:solidFill>
                <a:latin typeface="Arial (Body)"/>
                <a:ea typeface="+mn-ea"/>
                <a:cs typeface="Times New Roman" pitchFamily="18" charset="0"/>
              </a:rPr>
              <a:t>explicit</a:t>
            </a:r>
            <a:r>
              <a:rPr lang="en-US" sz="2400" kern="1200" dirty="0">
                <a:solidFill>
                  <a:srgbClr val="000000"/>
                </a:solidFill>
                <a:latin typeface="Arial (Body)"/>
                <a:ea typeface="+mn-ea"/>
                <a:cs typeface="Times New Roman" pitchFamily="18" charset="0"/>
              </a:rPr>
              <a:t> use of the </a:t>
            </a:r>
            <a:r>
              <a:rPr lang="en-US" sz="2400" kern="1200" dirty="0">
                <a:solidFill>
                  <a:srgbClr val="000000"/>
                </a:solidFill>
                <a:latin typeface="Consolas" panose="020B0609020204030204" pitchFamily="49" charset="0"/>
                <a:ea typeface="+mn-ea"/>
                <a:cs typeface="Times New Roman" pitchFamily="18" charset="0"/>
              </a:rPr>
              <a:t>this</a:t>
            </a:r>
            <a:r>
              <a:rPr lang="en-US" sz="2400" kern="1200" dirty="0">
                <a:solidFill>
                  <a:srgbClr val="000000"/>
                </a:solidFill>
                <a:latin typeface="Arial (Body)"/>
                <a:ea typeface="+mn-ea"/>
                <a:cs typeface="Times New Roman" pitchFamily="18" charset="0"/>
              </a:rPr>
              <a:t> pointer is to avoid </a:t>
            </a:r>
            <a:r>
              <a:rPr lang="en-US" sz="2400" b="1" kern="1200" dirty="0">
                <a:solidFill>
                  <a:srgbClr val="000000"/>
                </a:solidFill>
                <a:latin typeface="Arial (Body)"/>
                <a:ea typeface="+mn-ea"/>
                <a:cs typeface="Times New Roman" pitchFamily="18" charset="0"/>
              </a:rPr>
              <a:t>naming conflicts </a:t>
            </a:r>
            <a:r>
              <a:rPr lang="en-US" sz="2400" kern="1200" dirty="0">
                <a:solidFill>
                  <a:srgbClr val="000000"/>
                </a:solidFill>
                <a:latin typeface="Arial (Body)"/>
                <a:ea typeface="+mn-ea"/>
                <a:cs typeface="Times New Roman" pitchFamily="18" charset="0"/>
              </a:rPr>
              <a:t>between a class’s data members and member-function parameters (or other local </a:t>
            </a:r>
            <a:r>
              <a:rPr lang="en-US" sz="2400" kern="1200" dirty="0" smtClean="0">
                <a:solidFill>
                  <a:srgbClr val="000000"/>
                </a:solidFill>
                <a:latin typeface="Arial (Body)"/>
                <a:ea typeface="+mn-ea"/>
                <a:cs typeface="Times New Roman" pitchFamily="18" charset="0"/>
              </a:rPr>
              <a:t>variables).</a:t>
            </a:r>
            <a:endParaRPr lang="en-US" sz="2400" kern="1200" dirty="0">
              <a:solidFill>
                <a:srgbClr val="000000"/>
              </a:solidFill>
              <a:latin typeface="Arial (Body)"/>
              <a:ea typeface="+mn-ea"/>
              <a:cs typeface="Times New Roman" pitchFamily="18" charset="0"/>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17.13 Using the </a:t>
            </a:r>
            <a:r>
              <a:rPr lang="en-US" altLang="en-US" kern="1200" dirty="0" smtClean="0">
                <a:latin typeface="Consolas" panose="020B0609020204030204" pitchFamily="49" charset="0"/>
                <a:ea typeface="+mj-ea"/>
                <a:cs typeface="+mj-cs"/>
              </a:rPr>
              <a:t>this</a:t>
            </a:r>
            <a:r>
              <a:rPr lang="en-US" altLang="en-US" kern="1200" dirty="0" smtClean="0">
                <a:latin typeface="Times New Roman" panose="02020603050405020304" pitchFamily="18" charset="0"/>
                <a:ea typeface="+mj-ea"/>
                <a:cs typeface="+mj-cs"/>
              </a:rPr>
              <a:t> Pointer </a:t>
            </a:r>
            <a:r>
              <a:rPr lang="en-US" altLang="en-US" sz="2000" b="0" kern="1200" dirty="0" smtClean="0">
                <a:latin typeface="Times New Roman" panose="02020603050405020304" pitchFamily="18" charset="0"/>
                <a:ea typeface="+mj-ea"/>
                <a:cs typeface="+mj-cs"/>
              </a:rPr>
              <a:t>(3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1300326"/>
          </a:xfrm>
        </p:spPr>
        <p:txBody>
          <a:bodyPr>
            <a:spAutoFit/>
          </a:bodyPr>
          <a:lstStyle/>
          <a:p>
            <a:pPr marL="255651" indent="-255651" eaLnBrk="1" hangingPunct="1">
              <a:tabLst/>
              <a:defRPr/>
            </a:pPr>
            <a:r>
              <a:rPr lang="en-US" sz="2000" kern="1200" dirty="0">
                <a:solidFill>
                  <a:srgbClr val="000000"/>
                </a:solidFill>
                <a:latin typeface="Arial (Body)"/>
                <a:ea typeface="+mn-ea"/>
                <a:cs typeface="Times New Roman" pitchFamily="18" charset="0"/>
              </a:rPr>
              <a:t>Consider the </a:t>
            </a:r>
            <a:r>
              <a:rPr lang="en-US" sz="2000" kern="1200" dirty="0">
                <a:solidFill>
                  <a:srgbClr val="000000"/>
                </a:solidFill>
                <a:latin typeface="Consolas" panose="020B0609020204030204" pitchFamily="49" charset="0"/>
                <a:ea typeface="+mn-ea"/>
                <a:cs typeface="Times New Roman" pitchFamily="18" charset="0"/>
              </a:rPr>
              <a:t>Time</a:t>
            </a:r>
            <a:r>
              <a:rPr lang="en-US" sz="2000" kern="1200" dirty="0">
                <a:solidFill>
                  <a:srgbClr val="000000"/>
                </a:solidFill>
                <a:latin typeface="Arial (Body)"/>
                <a:ea typeface="+mn-ea"/>
                <a:cs typeface="Times New Roman" pitchFamily="18" charset="0"/>
              </a:rPr>
              <a:t> class’s hour data member and </a:t>
            </a:r>
            <a:r>
              <a:rPr lang="en-US" sz="2000" kern="1200" dirty="0">
                <a:solidFill>
                  <a:srgbClr val="000000"/>
                </a:solidFill>
                <a:latin typeface="Consolas" panose="020B0609020204030204" pitchFamily="49" charset="0"/>
                <a:ea typeface="+mn-ea"/>
                <a:cs typeface="Times New Roman" pitchFamily="18" charset="0"/>
              </a:rPr>
              <a:t>setHour</a:t>
            </a:r>
            <a:r>
              <a:rPr lang="en-US" sz="2000" kern="1200" dirty="0">
                <a:solidFill>
                  <a:srgbClr val="000000"/>
                </a:solidFill>
                <a:latin typeface="Arial (Body)"/>
                <a:ea typeface="+mn-ea"/>
                <a:cs typeface="Times New Roman" pitchFamily="18" charset="0"/>
              </a:rPr>
              <a:t> member function in </a:t>
            </a:r>
            <a:r>
              <a:rPr lang="en-US" sz="2000" kern="1200" dirty="0" smtClean="0">
                <a:solidFill>
                  <a:srgbClr val="000000"/>
                </a:solidFill>
                <a:latin typeface="Arial (Body)"/>
                <a:ea typeface="+mn-ea"/>
                <a:cs typeface="Times New Roman" pitchFamily="18" charset="0"/>
              </a:rPr>
              <a:t>Figures. 17.4 (see slides 41-42)–17.5 (see slide 44-47).</a:t>
            </a:r>
            <a:endParaRPr lang="en-US" sz="2000" kern="1200" dirty="0">
              <a:solidFill>
                <a:srgbClr val="000000"/>
              </a:solidFill>
              <a:latin typeface="Arial (Body)"/>
              <a:ea typeface="+mn-ea"/>
              <a:cs typeface="Times New Roman" pitchFamily="18" charset="0"/>
            </a:endParaRPr>
          </a:p>
          <a:p>
            <a:pPr marL="255651" indent="-255651" eaLnBrk="1" hangingPunct="1">
              <a:tabLst/>
              <a:defRPr/>
            </a:pPr>
            <a:r>
              <a:rPr lang="en-US" sz="2000" kern="1200" dirty="0">
                <a:solidFill>
                  <a:srgbClr val="000000"/>
                </a:solidFill>
                <a:latin typeface="Arial (Body)"/>
                <a:ea typeface="+mn-ea"/>
                <a:cs typeface="Times New Roman" pitchFamily="18" charset="0"/>
              </a:rPr>
              <a:t>We could have defined </a:t>
            </a:r>
            <a:r>
              <a:rPr lang="en-US" sz="2000" kern="1200" dirty="0">
                <a:solidFill>
                  <a:srgbClr val="000000"/>
                </a:solidFill>
                <a:latin typeface="Consolas" panose="020B0609020204030204" pitchFamily="49" charset="0"/>
                <a:ea typeface="+mn-ea"/>
                <a:cs typeface="Times New Roman" pitchFamily="18" charset="0"/>
              </a:rPr>
              <a:t>setHour</a:t>
            </a:r>
            <a:r>
              <a:rPr lang="en-US" sz="2000" kern="1200" dirty="0">
                <a:solidFill>
                  <a:srgbClr val="000000"/>
                </a:solidFill>
                <a:latin typeface="Arial (Body)"/>
                <a:ea typeface="+mn-ea"/>
                <a:cs typeface="Times New Roman" pitchFamily="18" charset="0"/>
              </a:rPr>
              <a:t> as</a:t>
            </a:r>
            <a:r>
              <a:rPr lang="en-US" sz="2000" kern="1200" dirty="0" smtClean="0">
                <a:solidFill>
                  <a:srgbClr val="000000"/>
                </a:solidFill>
                <a:latin typeface="Arial (Body)"/>
                <a:ea typeface="+mn-ea"/>
                <a:cs typeface="Times New Roman" pitchFamily="18" charset="0"/>
              </a:rPr>
              <a:t>:</a:t>
            </a:r>
            <a:endParaRPr lang="en-US" sz="2000" kern="1200" dirty="0">
              <a:solidFill>
                <a:srgbClr val="000000"/>
              </a:solidFill>
              <a:latin typeface="Arial (Body)"/>
              <a:ea typeface="+mn-ea"/>
              <a:cs typeface="Times New Roman" pitchFamily="18" charset="0"/>
            </a:endParaRPr>
          </a:p>
        </p:txBody>
      </p:sp>
      <p:pic>
        <p:nvPicPr>
          <p:cNvPr id="4" name="Picture 3" descr="The computer code has 8 lines. The lines read as follows. Line 1. forward slash forward slash set hour value. Line 2. void Time colon colon set Hour left parenthesis i n t hour right parenthesis. Line 3. left brace. Line 4, indented once. if left parenthesis hour greater than sign equals 0 ampersand ampersand hour less than sign 24 right parenthesis. Line 5, indented twice. this dash greater than sign hour equals hour semicolon forward slash forward slash use this pointer to access data member. Line 6, indented once. else. Line 7, indented twice. throw invalid underscore argument left parenthesis double quote hour must be 0 hyphen 23 double quote right parenthesis semicolon. Line 8. right brace forward slash forward slash end function set Hour.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331" y="3079102"/>
            <a:ext cx="8011203" cy="2862128"/>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Error-Prevention Tip </a:t>
            </a:r>
            <a:r>
              <a:rPr lang="en-US" dirty="0" smtClean="0"/>
              <a:t>17.4</a:t>
            </a:r>
            <a:endParaRPr lang="en-US" dirty="0"/>
          </a:p>
        </p:txBody>
      </p:sp>
      <p:sp>
        <p:nvSpPr>
          <p:cNvPr id="3" name="Text Placeholder 2"/>
          <p:cNvSpPr>
            <a:spLocks noGrp="1"/>
          </p:cNvSpPr>
          <p:nvPr>
            <p:ph type="body" idx="1"/>
          </p:nvPr>
        </p:nvSpPr>
        <p:spPr>
          <a:xfrm>
            <a:off x="457200" y="1600201"/>
            <a:ext cx="8229600" cy="1228724"/>
          </a:xfrm>
        </p:spPr>
        <p:txBody>
          <a:bodyPr/>
          <a:lstStyle/>
          <a:p>
            <a:pPr marL="0" indent="0">
              <a:buNone/>
            </a:pPr>
            <a:r>
              <a:rPr lang="en-US" sz="2400" dirty="0">
                <a:latin typeface="Arial Body"/>
              </a:rPr>
              <a:t>To make your code clearer and more maintainable, and to avoid errors, never hide data members with local variable names.</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17.13 Using the </a:t>
            </a:r>
            <a:r>
              <a:rPr lang="en-US" altLang="en-US" kern="1200" dirty="0" smtClean="0">
                <a:latin typeface="Consolas" panose="020B0609020204030204" pitchFamily="49" charset="0"/>
                <a:ea typeface="+mj-ea"/>
                <a:cs typeface="+mj-cs"/>
              </a:rPr>
              <a:t>this</a:t>
            </a:r>
            <a:r>
              <a:rPr lang="en-US" altLang="en-US" kern="1200" dirty="0" smtClean="0">
                <a:latin typeface="Times New Roman" panose="02020603050405020304" pitchFamily="18" charset="0"/>
                <a:ea typeface="+mj-ea"/>
                <a:cs typeface="+mj-cs"/>
              </a:rPr>
              <a:t> Pointer </a:t>
            </a:r>
            <a:r>
              <a:rPr lang="en-US" altLang="en-US" sz="2000" b="0" kern="1200" dirty="0" smtClean="0">
                <a:latin typeface="Times New Roman" panose="02020603050405020304" pitchFamily="18" charset="0"/>
                <a:ea typeface="+mj-ea"/>
                <a:cs typeface="+mj-cs"/>
              </a:rPr>
              <a:t>(4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524250"/>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Type of the </a:t>
            </a:r>
            <a:r>
              <a:rPr lang="en-US" sz="2400" b="1" kern="1200" dirty="0">
                <a:solidFill>
                  <a:srgbClr val="000000"/>
                </a:solidFill>
                <a:latin typeface="Consolas" panose="020B0609020204030204" pitchFamily="49" charset="0"/>
                <a:ea typeface="+mn-ea"/>
                <a:cs typeface="Times New Roman" pitchFamily="18" charset="0"/>
              </a:rPr>
              <a:t>this</a:t>
            </a:r>
            <a:r>
              <a:rPr lang="en-US" sz="2400" b="1" kern="1200" dirty="0">
                <a:solidFill>
                  <a:srgbClr val="000000"/>
                </a:solidFill>
                <a:latin typeface="Arial (Body)"/>
                <a:ea typeface="+mn-ea"/>
                <a:cs typeface="Times New Roman" pitchFamily="18" charset="0"/>
              </a:rPr>
              <a:t> Pointer</a:t>
            </a:r>
          </a:p>
          <a:p>
            <a:pPr marL="255651" indent="-255651" eaLnBrk="1" hangingPunct="1">
              <a:tabLst/>
              <a:defRPr/>
            </a:pPr>
            <a:r>
              <a:rPr lang="en-US" sz="2400" kern="1200" dirty="0">
                <a:solidFill>
                  <a:srgbClr val="000000"/>
                </a:solidFill>
                <a:latin typeface="Arial (Body)"/>
                <a:ea typeface="+mn-ea"/>
                <a:cs typeface="Times New Roman" pitchFamily="18" charset="0"/>
              </a:rPr>
              <a:t>The type of the </a:t>
            </a:r>
            <a:r>
              <a:rPr lang="en-US" sz="2400" kern="1200" dirty="0">
                <a:solidFill>
                  <a:srgbClr val="000000"/>
                </a:solidFill>
                <a:latin typeface="Consolas" panose="020B0609020204030204" pitchFamily="49" charset="0"/>
                <a:ea typeface="+mn-ea"/>
                <a:cs typeface="Times New Roman" pitchFamily="18" charset="0"/>
              </a:rPr>
              <a:t>this</a:t>
            </a:r>
            <a:r>
              <a:rPr lang="en-US" sz="2400" kern="1200" dirty="0">
                <a:solidFill>
                  <a:srgbClr val="000000"/>
                </a:solidFill>
                <a:latin typeface="Arial (Body)"/>
                <a:ea typeface="+mn-ea"/>
                <a:cs typeface="Times New Roman" pitchFamily="18" charset="0"/>
              </a:rPr>
              <a:t> pointer depends on the type of the object and whether the member function in which </a:t>
            </a:r>
            <a:r>
              <a:rPr lang="en-US" sz="2400" kern="1200" dirty="0">
                <a:solidFill>
                  <a:srgbClr val="000000"/>
                </a:solidFill>
                <a:latin typeface="Consolas" panose="020B0609020204030204" pitchFamily="49" charset="0"/>
                <a:ea typeface="+mn-ea"/>
                <a:cs typeface="Times New Roman" pitchFamily="18" charset="0"/>
              </a:rPr>
              <a:t>this</a:t>
            </a:r>
            <a:r>
              <a:rPr lang="en-US" sz="2400" kern="1200" dirty="0">
                <a:solidFill>
                  <a:srgbClr val="000000"/>
                </a:solidFill>
                <a:latin typeface="Arial (Body)"/>
                <a:ea typeface="+mn-ea"/>
                <a:cs typeface="Times New Roman" pitchFamily="18" charset="0"/>
              </a:rPr>
              <a:t> is used is declared </a:t>
            </a:r>
            <a:r>
              <a:rPr lang="en-US" sz="2400" kern="1200" dirty="0" smtClean="0">
                <a:solidFill>
                  <a:srgbClr val="000000"/>
                </a:solidFill>
                <a:latin typeface="Consolas" panose="020B0609020204030204" pitchFamily="49" charset="0"/>
                <a:ea typeface="+mn-ea"/>
                <a:cs typeface="Times New Roman" pitchFamily="18" charset="0"/>
              </a:rPr>
              <a:t>const</a:t>
            </a:r>
            <a:r>
              <a:rPr lang="en-US" sz="2400" kern="1200" dirty="0" smtClean="0">
                <a:solidFill>
                  <a:srgbClr val="000000"/>
                </a:solidFill>
                <a:latin typeface="Arial (Body)"/>
                <a:ea typeface="+mn-ea"/>
                <a:cs typeface="Times New Roman" pitchFamily="18" charset="0"/>
              </a:rPr>
              <a:t>.</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For example, in a </a:t>
            </a:r>
            <a:r>
              <a:rPr lang="en-US" sz="2400" kern="1200" dirty="0">
                <a:solidFill>
                  <a:srgbClr val="000000"/>
                </a:solidFill>
                <a:latin typeface="Consolas" panose="020B0609020204030204" pitchFamily="49" charset="0"/>
                <a:ea typeface="+mn-ea"/>
                <a:cs typeface="Times New Roman" pitchFamily="18" charset="0"/>
              </a:rPr>
              <a:t>non-const</a:t>
            </a:r>
            <a:r>
              <a:rPr lang="en-US" sz="2400" kern="1200" dirty="0">
                <a:solidFill>
                  <a:srgbClr val="000000"/>
                </a:solidFill>
                <a:latin typeface="Arial (Body)"/>
                <a:ea typeface="+mn-ea"/>
                <a:cs typeface="Times New Roman" pitchFamily="18" charset="0"/>
              </a:rPr>
              <a:t> member function of class </a:t>
            </a:r>
            <a:r>
              <a:rPr lang="en-US" sz="2400" kern="1200" dirty="0">
                <a:solidFill>
                  <a:srgbClr val="000000"/>
                </a:solidFill>
                <a:latin typeface="Consolas" panose="020B0609020204030204" pitchFamily="49" charset="0"/>
                <a:ea typeface="+mn-ea"/>
                <a:cs typeface="Times New Roman" pitchFamily="18" charset="0"/>
              </a:rPr>
              <a:t>Employee</a:t>
            </a:r>
            <a:r>
              <a:rPr lang="en-US" sz="2400" kern="1200" dirty="0">
                <a:solidFill>
                  <a:srgbClr val="000000"/>
                </a:solidFill>
                <a:latin typeface="Arial (Body)"/>
                <a:ea typeface="+mn-ea"/>
                <a:cs typeface="Times New Roman" pitchFamily="18" charset="0"/>
              </a:rPr>
              <a:t>, the this pointer has the type </a:t>
            </a:r>
            <a:r>
              <a:rPr lang="en-US" sz="2400" kern="1200" dirty="0">
                <a:solidFill>
                  <a:srgbClr val="000000"/>
                </a:solidFill>
                <a:latin typeface="Consolas" panose="020B0609020204030204" pitchFamily="49" charset="0"/>
                <a:ea typeface="+mn-ea"/>
                <a:cs typeface="Times New Roman" pitchFamily="18" charset="0"/>
              </a:rPr>
              <a:t>Employee</a:t>
            </a:r>
            <a:r>
              <a:rPr lang="en-US" sz="2400" kern="1200" dirty="0">
                <a:solidFill>
                  <a:srgbClr val="000000"/>
                </a:solidFill>
                <a:latin typeface="Arial (Body)"/>
                <a:ea typeface="+mn-ea"/>
                <a:cs typeface="Times New Roman" pitchFamily="18" charset="0"/>
              </a:rPr>
              <a:t> </a:t>
            </a:r>
            <a:r>
              <a:rPr lang="en-US" sz="2400" kern="1200" dirty="0">
                <a:solidFill>
                  <a:srgbClr val="000000"/>
                </a:solidFill>
                <a:latin typeface="Consolas" panose="020B0609020204030204" pitchFamily="49" charset="0"/>
                <a:ea typeface="+mn-ea"/>
                <a:cs typeface="Times New Roman" pitchFamily="18" charset="0"/>
              </a:rPr>
              <a:t>*</a:t>
            </a:r>
            <a:r>
              <a:rPr lang="en-US" sz="2400" kern="1200" dirty="0">
                <a:solidFill>
                  <a:srgbClr val="000000"/>
                </a:solidFill>
                <a:latin typeface="Arial (Body)"/>
                <a:ea typeface="+mn-ea"/>
                <a:cs typeface="Times New Roman" pitchFamily="18" charset="0"/>
              </a:rPr>
              <a:t>. In a </a:t>
            </a:r>
            <a:r>
              <a:rPr lang="en-US" sz="2400" kern="1200" dirty="0">
                <a:solidFill>
                  <a:srgbClr val="000000"/>
                </a:solidFill>
                <a:latin typeface="Consolas" panose="020B0609020204030204" pitchFamily="49" charset="0"/>
                <a:ea typeface="+mn-ea"/>
                <a:cs typeface="Times New Roman" pitchFamily="18" charset="0"/>
              </a:rPr>
              <a:t>const</a:t>
            </a:r>
            <a:r>
              <a:rPr lang="en-US" sz="2400" kern="1200" dirty="0">
                <a:solidFill>
                  <a:srgbClr val="000000"/>
                </a:solidFill>
                <a:latin typeface="Arial (Body)"/>
                <a:ea typeface="+mn-ea"/>
                <a:cs typeface="Times New Roman" pitchFamily="18" charset="0"/>
              </a:rPr>
              <a:t> member function, the this pointer has the type </a:t>
            </a:r>
            <a:r>
              <a:rPr lang="en-US" sz="2400" kern="1200" dirty="0">
                <a:solidFill>
                  <a:srgbClr val="000000"/>
                </a:solidFill>
                <a:latin typeface="Consolas" panose="020B0609020204030204" pitchFamily="49" charset="0"/>
                <a:ea typeface="+mn-ea"/>
                <a:cs typeface="Times New Roman" pitchFamily="18" charset="0"/>
              </a:rPr>
              <a:t>const Employee</a:t>
            </a:r>
            <a:r>
              <a:rPr lang="en-US" sz="2400" kern="1200" dirty="0">
                <a:solidFill>
                  <a:srgbClr val="000000"/>
                </a:solidFill>
                <a:latin typeface="Arial (Body)"/>
                <a:ea typeface="+mn-ea"/>
                <a:cs typeface="Times New Roman" pitchFamily="18" charset="0"/>
              </a:rPr>
              <a:t> </a:t>
            </a:r>
            <a:r>
              <a:rPr lang="en-US" sz="2400" kern="1200" dirty="0">
                <a:solidFill>
                  <a:srgbClr val="000000"/>
                </a:solidFill>
                <a:latin typeface="Consolas" panose="020B0609020204030204" pitchFamily="49" charset="0"/>
                <a:ea typeface="+mn-ea"/>
                <a:cs typeface="Times New Roman" pitchFamily="18" charset="0"/>
              </a:rPr>
              <a:t>*</a:t>
            </a:r>
            <a:r>
              <a:rPr lang="en-US" sz="2400" kern="1200" dirty="0">
                <a:solidFill>
                  <a:srgbClr val="000000"/>
                </a:solidFill>
                <a:latin typeface="Arial (Body)"/>
                <a:ea typeface="+mn-ea"/>
                <a:cs typeface="Times New Roman" pitchFamily="18" charset="0"/>
              </a:rPr>
              <a:t>.</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17.13 Using the </a:t>
            </a:r>
            <a:r>
              <a:rPr lang="en-US" altLang="en-US" kern="1200" dirty="0" smtClean="0">
                <a:latin typeface="Consolas" panose="020B0609020204030204" pitchFamily="49" charset="0"/>
                <a:ea typeface="+mj-ea"/>
                <a:cs typeface="+mj-cs"/>
              </a:rPr>
              <a:t>this</a:t>
            </a:r>
            <a:r>
              <a:rPr lang="en-US" altLang="en-US" kern="1200" dirty="0" smtClean="0">
                <a:latin typeface="Times New Roman" panose="02020603050405020304" pitchFamily="18" charset="0"/>
                <a:ea typeface="+mj-ea"/>
                <a:cs typeface="+mj-cs"/>
              </a:rPr>
              <a:t> Pointer </a:t>
            </a:r>
            <a:r>
              <a:rPr lang="en-US" altLang="en-US" sz="2000" b="0" kern="1200" dirty="0" smtClean="0">
                <a:latin typeface="Times New Roman" panose="02020603050405020304" pitchFamily="18" charset="0"/>
                <a:ea typeface="+mj-ea"/>
                <a:cs typeface="+mj-cs"/>
              </a:rPr>
              <a:t>(5 of 6)</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154679"/>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Implicitly and Explicitly Using the </a:t>
            </a:r>
            <a:r>
              <a:rPr lang="en-US" sz="2400" b="1" kern="1200" dirty="0">
                <a:solidFill>
                  <a:srgbClr val="000000"/>
                </a:solidFill>
                <a:latin typeface="Consolas" panose="020B0609020204030204" pitchFamily="49" charset="0"/>
                <a:ea typeface="+mn-ea"/>
                <a:cs typeface="Times New Roman" pitchFamily="18" charset="0"/>
              </a:rPr>
              <a:t>this</a:t>
            </a:r>
            <a:r>
              <a:rPr lang="en-US" sz="2400" b="1" kern="1200" dirty="0">
                <a:solidFill>
                  <a:srgbClr val="000000"/>
                </a:solidFill>
                <a:latin typeface="Arial (Body)"/>
                <a:ea typeface="+mn-ea"/>
                <a:cs typeface="Times New Roman" pitchFamily="18" charset="0"/>
              </a:rPr>
              <a:t> Pointer to Access an Object’s Data Members</a:t>
            </a:r>
          </a:p>
          <a:p>
            <a:pPr marL="255651" indent="-255651" eaLnBrk="1" hangingPunct="1">
              <a:tabLst/>
              <a:defRPr/>
            </a:pPr>
            <a:r>
              <a:rPr lang="en-US" sz="2400" kern="1200" dirty="0">
                <a:solidFill>
                  <a:srgbClr val="000000"/>
                </a:solidFill>
                <a:latin typeface="Arial (Body)"/>
                <a:ea typeface="+mn-ea"/>
                <a:cs typeface="Times New Roman" pitchFamily="18" charset="0"/>
              </a:rPr>
              <a:t>Figure </a:t>
            </a:r>
            <a:r>
              <a:rPr lang="en-US" sz="2400" kern="1200" dirty="0" smtClean="0">
                <a:solidFill>
                  <a:srgbClr val="000000"/>
                </a:solidFill>
                <a:latin typeface="Arial (Body)"/>
                <a:ea typeface="+mn-ea"/>
                <a:cs typeface="Times New Roman" pitchFamily="18" charset="0"/>
              </a:rPr>
              <a:t>17.23 demonstrates </a:t>
            </a:r>
            <a:r>
              <a:rPr lang="en-US" sz="2400" kern="1200" dirty="0">
                <a:solidFill>
                  <a:srgbClr val="000000"/>
                </a:solidFill>
                <a:latin typeface="Arial (Body)"/>
                <a:ea typeface="+mn-ea"/>
                <a:cs typeface="Times New Roman" pitchFamily="18" charset="0"/>
              </a:rPr>
              <a:t>the implicit and explicit use of the this pointer to enable a member function of class </a:t>
            </a:r>
            <a:r>
              <a:rPr lang="en-US" sz="2400" kern="1200" dirty="0">
                <a:solidFill>
                  <a:srgbClr val="000000"/>
                </a:solidFill>
                <a:latin typeface="Consolas" panose="020B0609020204030204" pitchFamily="49" charset="0"/>
                <a:ea typeface="+mn-ea"/>
                <a:cs typeface="Times New Roman" pitchFamily="18" charset="0"/>
              </a:rPr>
              <a:t>Test</a:t>
            </a:r>
            <a:r>
              <a:rPr lang="en-US" sz="2400" kern="1200" dirty="0">
                <a:solidFill>
                  <a:srgbClr val="000000"/>
                </a:solidFill>
                <a:latin typeface="Arial (Body)"/>
                <a:ea typeface="+mn-ea"/>
                <a:cs typeface="Times New Roman" pitchFamily="18" charset="0"/>
              </a:rPr>
              <a:t> to print the private data </a:t>
            </a:r>
            <a:r>
              <a:rPr lang="en-US" sz="2400" kern="1200" dirty="0">
                <a:solidFill>
                  <a:srgbClr val="000000"/>
                </a:solidFill>
                <a:latin typeface="Consolas" panose="020B0609020204030204" pitchFamily="49" charset="0"/>
                <a:ea typeface="+mn-ea"/>
                <a:cs typeface="Times New Roman" pitchFamily="18" charset="0"/>
              </a:rPr>
              <a:t>x</a:t>
            </a:r>
            <a:r>
              <a:rPr lang="en-US" sz="2400" kern="1200" dirty="0">
                <a:solidFill>
                  <a:srgbClr val="000000"/>
                </a:solidFill>
                <a:latin typeface="Arial (Body)"/>
                <a:ea typeface="+mn-ea"/>
                <a:cs typeface="Times New Roman" pitchFamily="18" charset="0"/>
              </a:rPr>
              <a:t> of a </a:t>
            </a:r>
            <a:r>
              <a:rPr lang="en-US" sz="2400" kern="1200" dirty="0">
                <a:solidFill>
                  <a:srgbClr val="000000"/>
                </a:solidFill>
                <a:latin typeface="Consolas" panose="020B0609020204030204" pitchFamily="49" charset="0"/>
                <a:ea typeface="+mn-ea"/>
                <a:cs typeface="Times New Roman" pitchFamily="18" charset="0"/>
              </a:rPr>
              <a:t>Test</a:t>
            </a:r>
            <a:r>
              <a:rPr lang="en-US" sz="2400" kern="1200" dirty="0">
                <a:solidFill>
                  <a:srgbClr val="000000"/>
                </a:solidFill>
                <a:latin typeface="Arial (Body)"/>
                <a:ea typeface="+mn-ea"/>
                <a:cs typeface="Times New Roman" pitchFamily="18" charset="0"/>
              </a:rPr>
              <a:t> </a:t>
            </a:r>
            <a:r>
              <a:rPr lang="en-US" sz="2400" kern="1200" dirty="0" smtClean="0">
                <a:solidFill>
                  <a:srgbClr val="000000"/>
                </a:solidFill>
                <a:latin typeface="Arial (Body)"/>
                <a:ea typeface="+mn-ea"/>
                <a:cs typeface="Times New Roman" pitchFamily="18" charset="0"/>
              </a:rPr>
              <a:t>object.</a:t>
            </a:r>
            <a:endParaRPr lang="en-US" sz="2400" kern="1200" dirty="0">
              <a:solidFill>
                <a:srgbClr val="000000"/>
              </a:solidFill>
              <a:latin typeface="Arial (Body)"/>
              <a:ea typeface="+mn-ea"/>
              <a:cs typeface="Times New Roman" pitchFamily="18" charset="0"/>
            </a:endParaRPr>
          </a:p>
          <a:p>
            <a:pPr marL="255651" indent="-255651" eaLnBrk="1" hangingPunct="1">
              <a:tabLst/>
              <a:defRPr/>
            </a:pPr>
            <a:r>
              <a:rPr lang="en-US" sz="2400" kern="1200" dirty="0">
                <a:solidFill>
                  <a:srgbClr val="000000"/>
                </a:solidFill>
                <a:latin typeface="Arial (Body)"/>
                <a:ea typeface="+mn-ea"/>
                <a:cs typeface="Times New Roman" pitchFamily="18" charset="0"/>
              </a:rPr>
              <a:t>In the next example and in Chapter 10, we show some substantial and subtle examples of using </a:t>
            </a:r>
            <a:r>
              <a:rPr lang="en-US" sz="2400" kern="1200" dirty="0">
                <a:solidFill>
                  <a:srgbClr val="000000"/>
                </a:solidFill>
                <a:latin typeface="Consolas" panose="020B0609020204030204" pitchFamily="49" charset="0"/>
                <a:ea typeface="+mn-ea"/>
                <a:cs typeface="Times New Roman" pitchFamily="18" charset="0"/>
              </a:rPr>
              <a:t>this</a:t>
            </a:r>
            <a:r>
              <a:rPr lang="en-US" sz="2400" kern="1200" dirty="0">
                <a:solidFill>
                  <a:srgbClr val="000000"/>
                </a:solidFill>
                <a:latin typeface="Arial (Body)"/>
                <a:ea typeface="+mn-ea"/>
                <a:cs typeface="Times New Roman" pitchFamily="18" charset="0"/>
              </a:rPr>
              <a:t>.</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17.23 </a:t>
            </a:r>
            <a:r>
              <a:rPr lang="en-US" dirty="0"/>
              <a:t>Using the </a:t>
            </a:r>
            <a:r>
              <a:rPr lang="en-US" dirty="0" smtClean="0">
                <a:latin typeface="Consolas" panose="020B0609020204030204" pitchFamily="49" charset="0"/>
              </a:rPr>
              <a:t>this</a:t>
            </a:r>
            <a:r>
              <a:rPr lang="en-US" dirty="0" smtClean="0"/>
              <a:t> </a:t>
            </a:r>
            <a:r>
              <a:rPr lang="en-US" dirty="0"/>
              <a:t>Pointer to Refer to Object Members </a:t>
            </a:r>
            <a:r>
              <a:rPr lang="en-US" sz="2000" b="0" dirty="0" smtClean="0"/>
              <a:t>(1 </a:t>
            </a:r>
            <a:r>
              <a:rPr lang="en-US" sz="2000" b="0" dirty="0"/>
              <a:t>of 3)</a:t>
            </a:r>
          </a:p>
        </p:txBody>
      </p:sp>
      <p:pic>
        <p:nvPicPr>
          <p:cNvPr id="3" name="Picture 2" descr="The computer code has 43 lines. The lines read as follows. Line 1. forward slash forward slash F i g period 17 period 23 colon f i g 17 underscore 23 period c p p. Line 2. forward slash forward slash Using the this pointer to refer to object members period. Line 3. hash include left angle bracket i o stream right angle bracket. Line 4. using namespace s t d semicolon. Line 5. Blank. Line 6. class Test. Line 7. left brace. Line 8. public colon. Line 9, indented once. explicit Test left parenthesis i n t equals 0 right parenthesis semicolon forward slash forward slash default constructor. Line 10, indented once. void print left parenthesis right parenthesis c o n s t semicolon. Line 11. private colon. Line 12, indented once. i n t, x semicolon. Line 13. right brace semicolon forward slash forward slash end class Test. Line 14. Blank. Line 15. forward slash forward slash constructor. Line 16. Test colon colon Test left parenthesis i n t value right parenthesis. Line 17, indented once. colon x left parenthesis value right parenthesis forward slash forward slash initialize x to value. Line 18. left brace. Line 19, indented once. forward slash forward slash empty body. Line 20. right brace forward slash forward slash end constructor Test. Line 21. Blank."/>
          <p:cNvPicPr>
            <a:picLocks noChangeAspect="1"/>
          </p:cNvPicPr>
          <p:nvPr/>
        </p:nvPicPr>
        <p:blipFill>
          <a:blip r:embed="rId2"/>
          <a:stretch>
            <a:fillRect/>
          </a:stretch>
        </p:blipFill>
        <p:spPr>
          <a:xfrm>
            <a:off x="633152" y="1589174"/>
            <a:ext cx="8021533" cy="4686512"/>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17.23 </a:t>
            </a:r>
            <a:r>
              <a:rPr lang="en-US" dirty="0"/>
              <a:t>Using the </a:t>
            </a:r>
            <a:r>
              <a:rPr lang="en-US" dirty="0" smtClean="0">
                <a:latin typeface="Consolas" panose="020B0609020204030204" pitchFamily="49" charset="0"/>
              </a:rPr>
              <a:t>this</a:t>
            </a:r>
            <a:r>
              <a:rPr lang="en-US" dirty="0" smtClean="0"/>
              <a:t> </a:t>
            </a:r>
            <a:r>
              <a:rPr lang="en-US" dirty="0"/>
              <a:t>Pointer to Refer to Object Members </a:t>
            </a:r>
            <a:r>
              <a:rPr lang="en-US" sz="2000" b="0" dirty="0" smtClean="0"/>
              <a:t>(2 </a:t>
            </a:r>
            <a:r>
              <a:rPr lang="en-US" sz="2000" b="0" dirty="0"/>
              <a:t>of 3)</a:t>
            </a:r>
            <a:endParaRPr lang="en-US" dirty="0"/>
          </a:p>
        </p:txBody>
      </p:sp>
      <p:pic>
        <p:nvPicPr>
          <p:cNvPr id="3" name="Picture 2" descr="The code continues. Line 22. forward slash forward slash print x using implicit and explicit this pointers semicolon. Line 23. forward slash forward slash the parentheses around asterisk this are required. Line 24. void Test colon colon print left parenthesis right parenthesis c o n s t. Line 25. left brace. Line 26, indented once. forward slash forward slash implicitly use the this pointer to access the member x. Line 27, indented once. c out left angle bracket left angle bracket double quote x equals double quote left angle bracket left angle bracket x semicolon. Line 28. Blank. Line 29, indented once. forward slash forward slash explicitly use the this pointer and the arrow operator. Line 30, indented once. forward slash forward slash to access the member x. Line 31, indented once. c out left angle bracket left angle bracket double quote back slash n this dash right angle bracket x equals double quote left angle bracket left angle bracket this dash right angle bracket x semicolon. Line 32. Blank. Line 33, indented once. forward slash forward slash explicitly use the dereferenced this pointer and. Line 34, indented once. forward slash forward slash the dot operator to access the member x. Line 35, indented once. c out left angle bracket left angle bracket double quote back slash n left parenthesis asterisk this right parenthesis period x equals double quote left angle bracket left angle bracket left parenthesis asterisk this right parenthesis period x left angle bracket left angle bracket end l semicolon. Line 36. right brace forward slash forward slash end function print. Line 37. Blank. Line 38. I n t main left parenthesis right parenthesis. Line 39. left brace. Line 40, indented once. Test test Object left parenthesis 12 right parenthesis semicolon forward slash forward slash instantiate and initialize test Object. Line 41. Blank. Line 42, indented once. test Object period print left parenthesis right parenthesis semicolon. Line 43. right brace forward slash forward slash end main."/>
          <p:cNvPicPr>
            <a:picLocks noChangeAspect="1"/>
          </p:cNvPicPr>
          <p:nvPr/>
        </p:nvPicPr>
        <p:blipFill>
          <a:blip r:embed="rId2"/>
          <a:stretch>
            <a:fillRect/>
          </a:stretch>
        </p:blipFill>
        <p:spPr>
          <a:xfrm>
            <a:off x="838015" y="1546878"/>
            <a:ext cx="7467968" cy="469361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dirty="0"/>
              <a:t>Figure </a:t>
            </a:r>
            <a:r>
              <a:rPr lang="en-US" dirty="0" smtClean="0"/>
              <a:t>17.23 </a:t>
            </a:r>
            <a:r>
              <a:rPr lang="en-US" dirty="0"/>
              <a:t>Using the </a:t>
            </a:r>
            <a:r>
              <a:rPr lang="en-US" dirty="0" smtClean="0">
                <a:latin typeface="Consolas" panose="020B0609020204030204" pitchFamily="49" charset="0"/>
              </a:rPr>
              <a:t>this</a:t>
            </a:r>
            <a:r>
              <a:rPr lang="en-US" dirty="0" smtClean="0"/>
              <a:t> </a:t>
            </a:r>
            <a:r>
              <a:rPr lang="en-US" dirty="0"/>
              <a:t>Pointer to Refer to Object Members </a:t>
            </a:r>
            <a:r>
              <a:rPr lang="en-US" sz="2000" b="0" dirty="0" smtClean="0"/>
              <a:t>(3 </a:t>
            </a:r>
            <a:r>
              <a:rPr lang="en-US" sz="2000" b="0" dirty="0"/>
              <a:t>of 3)</a:t>
            </a:r>
            <a:endParaRPr lang="en-US" dirty="0"/>
          </a:p>
        </p:txBody>
      </p:sp>
      <p:pic>
        <p:nvPicPr>
          <p:cNvPr id="3" name="Picture 2" descr="The code output has 3 lines. The lines read as follows. Line 1. x equals 12. Line 2. this dash greater than sign x equals 12. Line 3. left parenthesis asterisk this right parenthesis period x equals 12."/>
          <p:cNvPicPr>
            <a:picLocks noChangeAspect="1"/>
          </p:cNvPicPr>
          <p:nvPr/>
        </p:nvPicPr>
        <p:blipFill>
          <a:blip r:embed="rId2"/>
          <a:stretch>
            <a:fillRect/>
          </a:stretch>
        </p:blipFill>
        <p:spPr>
          <a:xfrm>
            <a:off x="711270" y="2238383"/>
            <a:ext cx="7721459" cy="1066144"/>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kern="1200" dirty="0">
                <a:latin typeface="Times New Roman" panose="02020603050405020304" pitchFamily="18" charset="0"/>
              </a:rPr>
              <a:t>17.13 Using the </a:t>
            </a:r>
            <a:r>
              <a:rPr lang="en-US" altLang="en-US" kern="1200" dirty="0">
                <a:latin typeface="Consolas" panose="020B0609020204030204" pitchFamily="49" charset="0"/>
              </a:rPr>
              <a:t>this</a:t>
            </a:r>
            <a:r>
              <a:rPr lang="en-US" altLang="en-US" kern="1200" dirty="0">
                <a:latin typeface="Times New Roman" panose="02020603050405020304" pitchFamily="18" charset="0"/>
              </a:rPr>
              <a:t> Pointer </a:t>
            </a:r>
            <a:r>
              <a:rPr lang="en-US" altLang="en-US" sz="2000" b="0" kern="1200" dirty="0">
                <a:latin typeface="Times New Roman" panose="02020603050405020304" pitchFamily="18" charset="0"/>
              </a:rPr>
              <a:t>(6 of 6)</a:t>
            </a:r>
            <a:endParaRPr lang="en-US" dirty="0"/>
          </a:p>
        </p:txBody>
      </p:sp>
      <p:sp>
        <p:nvSpPr>
          <p:cNvPr id="3" name="Text Placeholder 2"/>
          <p:cNvSpPr>
            <a:spLocks noGrp="1"/>
          </p:cNvSpPr>
          <p:nvPr>
            <p:ph type="body" idx="1"/>
          </p:nvPr>
        </p:nvSpPr>
        <p:spPr/>
        <p:txBody>
          <a:bodyPr/>
          <a:lstStyle/>
          <a:p>
            <a:pPr marL="0" indent="0" eaLnBrk="1" hangingPunct="1">
              <a:lnSpc>
                <a:spcPct val="90000"/>
              </a:lnSpc>
              <a:buFont typeface="Wingdings 3" panose="05040102010807070707" pitchFamily="18" charset="2"/>
              <a:buNone/>
              <a:defRPr/>
            </a:pPr>
            <a:r>
              <a:rPr lang="en-US" sz="1800" dirty="0">
                <a:solidFill>
                  <a:srgbClr val="000000"/>
                </a:solidFill>
                <a:latin typeface="+mn-lt"/>
                <a:cs typeface="Times New Roman" pitchFamily="18" charset="0"/>
              </a:rPr>
              <a:t>Using the </a:t>
            </a:r>
            <a:r>
              <a:rPr lang="en-US" sz="1800" dirty="0">
                <a:solidFill>
                  <a:srgbClr val="000000"/>
                </a:solidFill>
                <a:latin typeface="Consolas" panose="020B0609020204030204" pitchFamily="49" charset="0"/>
                <a:cs typeface="Times New Roman" pitchFamily="18" charset="0"/>
              </a:rPr>
              <a:t>this</a:t>
            </a:r>
            <a:r>
              <a:rPr lang="en-US" sz="1800" dirty="0">
                <a:solidFill>
                  <a:srgbClr val="000000"/>
                </a:solidFill>
                <a:latin typeface="+mn-lt"/>
                <a:cs typeface="Times New Roman" pitchFamily="18" charset="0"/>
              </a:rPr>
              <a:t> Pointer to Enable Cascaded Function Calls</a:t>
            </a:r>
          </a:p>
          <a:p>
            <a:pPr eaLnBrk="1" hangingPunct="1">
              <a:defRPr/>
            </a:pPr>
            <a:r>
              <a:rPr lang="en-US" sz="1800" dirty="0">
                <a:solidFill>
                  <a:srgbClr val="000000"/>
                </a:solidFill>
                <a:latin typeface="+mn-lt"/>
                <a:cs typeface="Times New Roman" pitchFamily="18" charset="0"/>
              </a:rPr>
              <a:t>Another use of the </a:t>
            </a:r>
            <a:r>
              <a:rPr lang="en-US" sz="1800" dirty="0">
                <a:solidFill>
                  <a:srgbClr val="000000"/>
                </a:solidFill>
                <a:latin typeface="Consolas" panose="020B0609020204030204" pitchFamily="49" charset="0"/>
                <a:cs typeface="Times New Roman" pitchFamily="18" charset="0"/>
              </a:rPr>
              <a:t>this</a:t>
            </a:r>
            <a:r>
              <a:rPr lang="en-US" sz="1800" dirty="0">
                <a:solidFill>
                  <a:srgbClr val="000000"/>
                </a:solidFill>
                <a:latin typeface="+mn-lt"/>
                <a:cs typeface="Times New Roman" pitchFamily="18" charset="0"/>
              </a:rPr>
              <a:t> pointer is to enable </a:t>
            </a:r>
            <a:r>
              <a:rPr lang="en-US" sz="1800" b="1" dirty="0">
                <a:solidFill>
                  <a:schemeClr val="tx1"/>
                </a:solidFill>
                <a:latin typeface="+mn-lt"/>
                <a:cs typeface="Times New Roman" pitchFamily="18" charset="0"/>
              </a:rPr>
              <a:t>cascaded member-function calls</a:t>
            </a:r>
            <a:r>
              <a:rPr lang="en-US" sz="1800" dirty="0">
                <a:solidFill>
                  <a:srgbClr val="000000"/>
                </a:solidFill>
                <a:latin typeface="+mn-lt"/>
                <a:cs typeface="Times New Roman" pitchFamily="18" charset="0"/>
              </a:rPr>
              <a:t>—that is, invoking multiple functions in the same statement (as in line 12 of </a:t>
            </a:r>
            <a:r>
              <a:rPr lang="en-US" sz="1800" dirty="0" smtClean="0">
                <a:solidFill>
                  <a:srgbClr val="000000"/>
                </a:solidFill>
                <a:latin typeface="+mn-lt"/>
                <a:cs typeface="Times New Roman" pitchFamily="18" charset="0"/>
              </a:rPr>
              <a:t>Figure 17.26 (see slides 144-145)).</a:t>
            </a:r>
            <a:endParaRPr lang="en-US" sz="1800" dirty="0">
              <a:solidFill>
                <a:srgbClr val="000000"/>
              </a:solidFill>
              <a:latin typeface="+mn-lt"/>
              <a:cs typeface="Times New Roman" pitchFamily="18" charset="0"/>
            </a:endParaRPr>
          </a:p>
          <a:p>
            <a:pPr eaLnBrk="1" hangingPunct="1">
              <a:defRPr/>
            </a:pPr>
            <a:r>
              <a:rPr lang="en-US" sz="1800" dirty="0">
                <a:solidFill>
                  <a:srgbClr val="000000"/>
                </a:solidFill>
                <a:latin typeface="+mn-lt"/>
                <a:cs typeface="Times New Roman" pitchFamily="18" charset="0"/>
              </a:rPr>
              <a:t>The program of </a:t>
            </a:r>
            <a:r>
              <a:rPr lang="en-US" sz="1800" dirty="0" smtClean="0">
                <a:solidFill>
                  <a:srgbClr val="000000"/>
                </a:solidFill>
                <a:latin typeface="+mn-lt"/>
                <a:cs typeface="Times New Roman" pitchFamily="18" charset="0"/>
              </a:rPr>
              <a:t>Figures</a:t>
            </a:r>
            <a:r>
              <a:rPr lang="en-US" sz="1800" dirty="0">
                <a:solidFill>
                  <a:srgbClr val="000000"/>
                </a:solidFill>
                <a:latin typeface="+mn-lt"/>
                <a:cs typeface="Times New Roman" pitchFamily="18" charset="0"/>
              </a:rPr>
              <a:t>. </a:t>
            </a:r>
            <a:r>
              <a:rPr lang="en-US" sz="1800" dirty="0" smtClean="0">
                <a:solidFill>
                  <a:srgbClr val="000000"/>
                </a:solidFill>
                <a:latin typeface="+mn-lt"/>
                <a:cs typeface="Times New Roman" pitchFamily="18" charset="0"/>
              </a:rPr>
              <a:t>17.24 </a:t>
            </a:r>
            <a:r>
              <a:rPr lang="en-US" sz="1800" dirty="0">
                <a:solidFill>
                  <a:srgbClr val="000000"/>
                </a:solidFill>
                <a:cs typeface="Times New Roman" pitchFamily="18" charset="0"/>
              </a:rPr>
              <a:t>(see slides </a:t>
            </a:r>
            <a:r>
              <a:rPr lang="en-US" sz="1800" dirty="0" smtClean="0">
                <a:solidFill>
                  <a:srgbClr val="000000"/>
                </a:solidFill>
                <a:cs typeface="Times New Roman" pitchFamily="18" charset="0"/>
              </a:rPr>
              <a:t>137-138)</a:t>
            </a:r>
            <a:r>
              <a:rPr lang="en-US" sz="1800" dirty="0" smtClean="0">
                <a:solidFill>
                  <a:srgbClr val="000000"/>
                </a:solidFill>
                <a:latin typeface="+mn-lt"/>
                <a:cs typeface="Times New Roman" pitchFamily="18" charset="0"/>
              </a:rPr>
              <a:t>–17.26 </a:t>
            </a:r>
            <a:r>
              <a:rPr lang="en-US" sz="1800" dirty="0" smtClean="0">
                <a:solidFill>
                  <a:srgbClr val="000000"/>
                </a:solidFill>
                <a:cs typeface="Times New Roman" pitchFamily="18" charset="0"/>
              </a:rPr>
              <a:t>(</a:t>
            </a:r>
            <a:r>
              <a:rPr lang="en-US" sz="1800" dirty="0">
                <a:solidFill>
                  <a:srgbClr val="000000"/>
                </a:solidFill>
                <a:cs typeface="Times New Roman" pitchFamily="18" charset="0"/>
              </a:rPr>
              <a:t>see slides 144-145)</a:t>
            </a:r>
            <a:r>
              <a:rPr lang="en-US" sz="1800" dirty="0" smtClean="0">
                <a:solidFill>
                  <a:srgbClr val="000000"/>
                </a:solidFill>
                <a:latin typeface="+mn-lt"/>
                <a:cs typeface="Times New Roman" pitchFamily="18" charset="0"/>
              </a:rPr>
              <a:t> </a:t>
            </a:r>
            <a:r>
              <a:rPr lang="en-US" sz="1800" dirty="0">
                <a:solidFill>
                  <a:srgbClr val="000000"/>
                </a:solidFill>
                <a:latin typeface="+mn-lt"/>
                <a:cs typeface="Times New Roman" pitchFamily="18" charset="0"/>
              </a:rPr>
              <a:t>modifies class </a:t>
            </a:r>
            <a:r>
              <a:rPr lang="en-US" sz="1800" dirty="0">
                <a:solidFill>
                  <a:srgbClr val="000000"/>
                </a:solidFill>
                <a:latin typeface="Consolas" panose="020B0609020204030204" pitchFamily="49" charset="0"/>
                <a:cs typeface="Times New Roman" pitchFamily="18" charset="0"/>
              </a:rPr>
              <a:t>Time</a:t>
            </a:r>
            <a:r>
              <a:rPr lang="en-US" sz="1800" dirty="0">
                <a:solidFill>
                  <a:srgbClr val="000000"/>
                </a:solidFill>
                <a:latin typeface="+mn-lt"/>
                <a:cs typeface="Times New Roman" pitchFamily="18" charset="0"/>
              </a:rPr>
              <a:t>’s </a:t>
            </a:r>
            <a:r>
              <a:rPr lang="en-US" sz="1800" dirty="0">
                <a:solidFill>
                  <a:srgbClr val="000000"/>
                </a:solidFill>
                <a:latin typeface="Consolas" panose="020B0609020204030204" pitchFamily="49" charset="0"/>
                <a:cs typeface="Times New Roman" pitchFamily="18" charset="0"/>
              </a:rPr>
              <a:t>set</a:t>
            </a:r>
            <a:r>
              <a:rPr lang="en-US" sz="1800" dirty="0">
                <a:solidFill>
                  <a:srgbClr val="000000"/>
                </a:solidFill>
                <a:latin typeface="+mn-lt"/>
                <a:cs typeface="Times New Roman" pitchFamily="18" charset="0"/>
              </a:rPr>
              <a:t> functions </a:t>
            </a:r>
            <a:r>
              <a:rPr lang="en-US" sz="1800" dirty="0">
                <a:solidFill>
                  <a:srgbClr val="000000"/>
                </a:solidFill>
                <a:latin typeface="Consolas" panose="020B0609020204030204" pitchFamily="49" charset="0"/>
                <a:cs typeface="Times New Roman" pitchFamily="18" charset="0"/>
              </a:rPr>
              <a:t>setTime</a:t>
            </a:r>
            <a:r>
              <a:rPr lang="en-US" sz="1800" dirty="0">
                <a:solidFill>
                  <a:srgbClr val="000000"/>
                </a:solidFill>
                <a:latin typeface="+mn-lt"/>
                <a:cs typeface="Times New Roman" pitchFamily="18" charset="0"/>
              </a:rPr>
              <a:t>, </a:t>
            </a:r>
            <a:r>
              <a:rPr lang="en-US" sz="1800" dirty="0">
                <a:solidFill>
                  <a:srgbClr val="000000"/>
                </a:solidFill>
                <a:latin typeface="Consolas" panose="020B0609020204030204" pitchFamily="49" charset="0"/>
                <a:cs typeface="Times New Roman" pitchFamily="18" charset="0"/>
              </a:rPr>
              <a:t>setHour</a:t>
            </a:r>
            <a:r>
              <a:rPr lang="en-US" sz="1800" dirty="0">
                <a:solidFill>
                  <a:srgbClr val="000000"/>
                </a:solidFill>
                <a:latin typeface="+mn-lt"/>
                <a:cs typeface="Times New Roman" pitchFamily="18" charset="0"/>
              </a:rPr>
              <a:t>, </a:t>
            </a:r>
            <a:r>
              <a:rPr lang="en-US" sz="1800" dirty="0">
                <a:solidFill>
                  <a:srgbClr val="000000"/>
                </a:solidFill>
                <a:latin typeface="Consolas" panose="020B0609020204030204" pitchFamily="49" charset="0"/>
                <a:cs typeface="Times New Roman" pitchFamily="18" charset="0"/>
              </a:rPr>
              <a:t>setMinute</a:t>
            </a:r>
            <a:r>
              <a:rPr lang="en-US" sz="1800" dirty="0">
                <a:solidFill>
                  <a:srgbClr val="000000"/>
                </a:solidFill>
                <a:latin typeface="+mn-lt"/>
                <a:cs typeface="Times New Roman" pitchFamily="18" charset="0"/>
              </a:rPr>
              <a:t> and </a:t>
            </a:r>
            <a:r>
              <a:rPr lang="en-US" sz="1800" dirty="0">
                <a:solidFill>
                  <a:srgbClr val="000000"/>
                </a:solidFill>
                <a:latin typeface="Consolas" panose="020B0609020204030204" pitchFamily="49" charset="0"/>
                <a:cs typeface="Times New Roman" pitchFamily="18" charset="0"/>
              </a:rPr>
              <a:t>setSecond</a:t>
            </a:r>
            <a:r>
              <a:rPr lang="en-US" sz="1800" dirty="0">
                <a:solidFill>
                  <a:srgbClr val="000000"/>
                </a:solidFill>
                <a:latin typeface="+mn-lt"/>
                <a:cs typeface="Times New Roman" pitchFamily="18" charset="0"/>
              </a:rPr>
              <a:t> such that each returns a reference to a </a:t>
            </a:r>
            <a:r>
              <a:rPr lang="en-US" sz="1800" dirty="0">
                <a:solidFill>
                  <a:srgbClr val="000000"/>
                </a:solidFill>
                <a:latin typeface="Consolas" panose="020B0609020204030204" pitchFamily="49" charset="0"/>
                <a:cs typeface="Times New Roman" pitchFamily="18" charset="0"/>
              </a:rPr>
              <a:t>Time</a:t>
            </a:r>
            <a:r>
              <a:rPr lang="en-US" sz="1800" dirty="0">
                <a:solidFill>
                  <a:srgbClr val="000000"/>
                </a:solidFill>
                <a:latin typeface="+mn-lt"/>
                <a:cs typeface="Times New Roman" pitchFamily="18" charset="0"/>
              </a:rPr>
              <a:t> object to enable cascaded member-function calls</a:t>
            </a:r>
            <a:r>
              <a:rPr lang="en-US" sz="1800" dirty="0" smtClean="0">
                <a:solidFill>
                  <a:srgbClr val="000000"/>
                </a:solidFill>
                <a:latin typeface="+mn-lt"/>
                <a:cs typeface="Times New Roman" pitchFamily="18" charset="0"/>
              </a:rPr>
              <a:t>.</a:t>
            </a:r>
            <a:endParaRPr lang="en-US" sz="1800" dirty="0">
              <a:solidFill>
                <a:srgbClr val="000000"/>
              </a:solidFill>
              <a:latin typeface="+mn-lt"/>
              <a:cs typeface="Times New Roman" pitchFamily="18" charset="0"/>
            </a:endParaRPr>
          </a:p>
          <a:p>
            <a:pPr eaLnBrk="1" hangingPunct="1">
              <a:defRPr/>
            </a:pPr>
            <a:r>
              <a:rPr lang="en-US" sz="1800" dirty="0">
                <a:solidFill>
                  <a:srgbClr val="000000"/>
                </a:solidFill>
                <a:latin typeface="+mn-lt"/>
                <a:cs typeface="Times New Roman" pitchFamily="18" charset="0"/>
              </a:rPr>
              <a:t>Notice in </a:t>
            </a:r>
            <a:r>
              <a:rPr lang="en-US" sz="1800" dirty="0" smtClean="0">
                <a:solidFill>
                  <a:srgbClr val="000000"/>
                </a:solidFill>
                <a:latin typeface="+mn-lt"/>
                <a:cs typeface="Times New Roman" pitchFamily="18" charset="0"/>
              </a:rPr>
              <a:t>Figure 17.25 </a:t>
            </a:r>
            <a:r>
              <a:rPr lang="en-US" sz="1800" dirty="0">
                <a:solidFill>
                  <a:srgbClr val="000000"/>
                </a:solidFill>
                <a:cs typeface="Times New Roman" pitchFamily="18" charset="0"/>
              </a:rPr>
              <a:t>(see slides </a:t>
            </a:r>
            <a:r>
              <a:rPr lang="en-US" sz="1800" dirty="0" smtClean="0">
                <a:solidFill>
                  <a:srgbClr val="000000"/>
                </a:solidFill>
                <a:cs typeface="Times New Roman" pitchFamily="18" charset="0"/>
              </a:rPr>
              <a:t>139-143)</a:t>
            </a:r>
            <a:r>
              <a:rPr lang="en-US" sz="1800" dirty="0" smtClean="0">
                <a:solidFill>
                  <a:srgbClr val="000000"/>
                </a:solidFill>
                <a:latin typeface="+mn-lt"/>
                <a:cs typeface="Times New Roman" pitchFamily="18" charset="0"/>
              </a:rPr>
              <a:t> </a:t>
            </a:r>
            <a:r>
              <a:rPr lang="en-US" sz="1800" dirty="0">
                <a:solidFill>
                  <a:srgbClr val="000000"/>
                </a:solidFill>
                <a:latin typeface="+mn-lt"/>
                <a:cs typeface="Times New Roman" pitchFamily="18" charset="0"/>
              </a:rPr>
              <a:t>that the last statement in the body of each of these member functions returns *</a:t>
            </a:r>
            <a:r>
              <a:rPr lang="en-US" sz="1800" dirty="0">
                <a:solidFill>
                  <a:srgbClr val="000000"/>
                </a:solidFill>
                <a:latin typeface="Consolas" panose="020B0609020204030204" pitchFamily="49" charset="0"/>
                <a:cs typeface="Times New Roman" pitchFamily="18" charset="0"/>
              </a:rPr>
              <a:t>this</a:t>
            </a:r>
            <a:r>
              <a:rPr lang="en-US" sz="1800" dirty="0">
                <a:solidFill>
                  <a:srgbClr val="000000"/>
                </a:solidFill>
                <a:latin typeface="+mn-lt"/>
                <a:cs typeface="Times New Roman" pitchFamily="18" charset="0"/>
              </a:rPr>
              <a:t> (lines 23, 34, 45 and 56) into a return type of </a:t>
            </a:r>
            <a:r>
              <a:rPr lang="en-US" sz="1800" dirty="0">
                <a:solidFill>
                  <a:srgbClr val="000000"/>
                </a:solidFill>
                <a:latin typeface="Consolas" panose="020B0609020204030204" pitchFamily="49" charset="0"/>
                <a:cs typeface="Times New Roman" pitchFamily="18" charset="0"/>
              </a:rPr>
              <a:t>Time</a:t>
            </a:r>
            <a:r>
              <a:rPr lang="en-US" sz="1800" dirty="0">
                <a:solidFill>
                  <a:srgbClr val="000000"/>
                </a:solidFill>
                <a:latin typeface="+mn-lt"/>
                <a:cs typeface="Times New Roman" pitchFamily="18" charset="0"/>
              </a:rPr>
              <a:t> &amp;.</a:t>
            </a:r>
          </a:p>
          <a:p>
            <a:pPr eaLnBrk="1" hangingPunct="1">
              <a:defRPr/>
            </a:pPr>
            <a:r>
              <a:rPr lang="en-US" sz="1800" dirty="0">
                <a:solidFill>
                  <a:srgbClr val="000000"/>
                </a:solidFill>
                <a:latin typeface="+mn-lt"/>
                <a:cs typeface="Times New Roman" pitchFamily="18" charset="0"/>
              </a:rPr>
              <a:t>The program of </a:t>
            </a:r>
            <a:r>
              <a:rPr lang="en-US" sz="1800" dirty="0" smtClean="0">
                <a:solidFill>
                  <a:srgbClr val="000000"/>
                </a:solidFill>
                <a:latin typeface="+mn-lt"/>
                <a:cs typeface="Times New Roman" pitchFamily="18" charset="0"/>
              </a:rPr>
              <a:t>Figure 17.26 </a:t>
            </a:r>
            <a:r>
              <a:rPr lang="en-US" sz="1800" dirty="0" smtClean="0">
                <a:solidFill>
                  <a:srgbClr val="000000"/>
                </a:solidFill>
                <a:cs typeface="Times New Roman" pitchFamily="18" charset="0"/>
              </a:rPr>
              <a:t>(</a:t>
            </a:r>
            <a:r>
              <a:rPr lang="en-US" sz="1800" dirty="0">
                <a:solidFill>
                  <a:srgbClr val="000000"/>
                </a:solidFill>
                <a:cs typeface="Times New Roman" pitchFamily="18" charset="0"/>
              </a:rPr>
              <a:t>see slides 144-145)</a:t>
            </a:r>
            <a:r>
              <a:rPr lang="en-US" sz="1800" dirty="0" smtClean="0">
                <a:solidFill>
                  <a:srgbClr val="000000"/>
                </a:solidFill>
                <a:latin typeface="+mn-lt"/>
                <a:cs typeface="Times New Roman" pitchFamily="18" charset="0"/>
              </a:rPr>
              <a:t> </a:t>
            </a:r>
            <a:r>
              <a:rPr lang="en-US" sz="1800" dirty="0">
                <a:solidFill>
                  <a:srgbClr val="000000"/>
                </a:solidFill>
                <a:latin typeface="+mn-lt"/>
                <a:cs typeface="Times New Roman" pitchFamily="18" charset="0"/>
              </a:rPr>
              <a:t>creates </a:t>
            </a:r>
            <a:r>
              <a:rPr lang="en-US" sz="1800" dirty="0">
                <a:solidFill>
                  <a:srgbClr val="000000"/>
                </a:solidFill>
                <a:latin typeface="Consolas" panose="020B0609020204030204" pitchFamily="49" charset="0"/>
                <a:cs typeface="Times New Roman" pitchFamily="18" charset="0"/>
              </a:rPr>
              <a:t>Time</a:t>
            </a:r>
            <a:r>
              <a:rPr lang="en-US" sz="1800" dirty="0">
                <a:solidFill>
                  <a:srgbClr val="000000"/>
                </a:solidFill>
                <a:latin typeface="+mn-lt"/>
                <a:cs typeface="Times New Roman" pitchFamily="18" charset="0"/>
              </a:rPr>
              <a:t> object </a:t>
            </a:r>
            <a:r>
              <a:rPr lang="en-US" sz="1800" dirty="0">
                <a:solidFill>
                  <a:srgbClr val="000000"/>
                </a:solidFill>
                <a:latin typeface="Consolas" panose="020B0609020204030204" pitchFamily="49" charset="0"/>
                <a:cs typeface="Times New Roman" pitchFamily="18" charset="0"/>
              </a:rPr>
              <a:t>t</a:t>
            </a:r>
            <a:r>
              <a:rPr lang="en-US" sz="1800" dirty="0">
                <a:solidFill>
                  <a:srgbClr val="000000"/>
                </a:solidFill>
                <a:latin typeface="+mn-lt"/>
                <a:cs typeface="Times New Roman" pitchFamily="18" charset="0"/>
              </a:rPr>
              <a:t> (line 9), then uses it in </a:t>
            </a:r>
            <a:r>
              <a:rPr lang="en-US" sz="1800" b="1" dirty="0">
                <a:solidFill>
                  <a:srgbClr val="000000"/>
                </a:solidFill>
                <a:latin typeface="+mn-lt"/>
                <a:cs typeface="Times New Roman" pitchFamily="18" charset="0"/>
              </a:rPr>
              <a:t>cascaded</a:t>
            </a:r>
            <a:r>
              <a:rPr lang="en-US" sz="1800" i="1" dirty="0">
                <a:solidFill>
                  <a:srgbClr val="000000"/>
                </a:solidFill>
                <a:latin typeface="+mn-lt"/>
                <a:cs typeface="Times New Roman" pitchFamily="18" charset="0"/>
              </a:rPr>
              <a:t> </a:t>
            </a:r>
            <a:r>
              <a:rPr lang="en-US" sz="1800" b="1" dirty="0">
                <a:solidFill>
                  <a:srgbClr val="000000"/>
                </a:solidFill>
                <a:latin typeface="+mn-lt"/>
                <a:cs typeface="Times New Roman" pitchFamily="18" charset="0"/>
              </a:rPr>
              <a:t>member-function calls </a:t>
            </a:r>
            <a:r>
              <a:rPr lang="en-US" sz="1800" dirty="0">
                <a:solidFill>
                  <a:srgbClr val="000000"/>
                </a:solidFill>
                <a:latin typeface="+mn-lt"/>
                <a:cs typeface="Times New Roman" pitchFamily="18" charset="0"/>
              </a:rPr>
              <a:t>(lines 12 and 24</a:t>
            </a:r>
            <a:r>
              <a:rPr lang="en-US" sz="1800" dirty="0" smtClean="0">
                <a:solidFill>
                  <a:srgbClr val="000000"/>
                </a:solidFill>
                <a:latin typeface="+mn-lt"/>
                <a:cs typeface="Times New Roman" pitchFamily="18" charset="0"/>
              </a:rPr>
              <a:t>).</a:t>
            </a:r>
            <a:endParaRPr lang="en-US" sz="1800" dirty="0">
              <a:solidFill>
                <a:srgbClr val="000000"/>
              </a:solidFill>
              <a:latin typeface="+mn-lt"/>
              <a:cs typeface="Times New Roman" pitchFamily="18" charset="0"/>
            </a:endParaRPr>
          </a:p>
        </p:txBody>
      </p:sp>
    </p:spTree>
    <p:extLst>
      <p:ext uri="{BB962C8B-B14F-4D97-AF65-F5344CB8AC3E}">
        <p14:creationId xmlns:p14="http://schemas.microsoft.com/office/powerpoint/2010/main" val="300861184"/>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368301" cy="1066799"/>
          </a:xfrm>
        </p:spPr>
        <p:txBody>
          <a:bodyPr anchor="b"/>
          <a:lstStyle/>
          <a:p>
            <a:r>
              <a:rPr lang="en-US" dirty="0"/>
              <a:t>Figure </a:t>
            </a:r>
            <a:r>
              <a:rPr lang="en-US" dirty="0" smtClean="0"/>
              <a:t>17.24 </a:t>
            </a:r>
            <a:r>
              <a:rPr lang="en-US" dirty="0">
                <a:latin typeface="Consolas" panose="020B0609020204030204" pitchFamily="49" charset="0"/>
              </a:rPr>
              <a:t>Time</a:t>
            </a:r>
            <a:r>
              <a:rPr lang="en-US" dirty="0"/>
              <a:t> Class Modified to Enable Cascaded Member-Function </a:t>
            </a:r>
            <a:r>
              <a:rPr lang="en-US" dirty="0" smtClean="0"/>
              <a:t>Calls </a:t>
            </a:r>
            <a:r>
              <a:rPr lang="en-US" sz="2000" b="0" dirty="0" smtClean="0"/>
              <a:t>(1 of 2)</a:t>
            </a:r>
            <a:endParaRPr lang="en-US" sz="2000" b="0" dirty="0"/>
          </a:p>
        </p:txBody>
      </p:sp>
      <p:pic>
        <p:nvPicPr>
          <p:cNvPr id="3" name="Picture 2" descr="Computer code. The code has 34 lines. The lines read as follows. Line 1. forward slash forward slash Fig period 17 period 24 colon Time period h. Line 2. forward slash forward slash Cascading member function calls period. Line 3. Blank. Line 4. forward slash forward slash Time class definition period. Line 5. forward slash forward slash Member functions defined in Time period c p p period. Line 6. hash if n d e f TIME underscore H. Line 7. hash define TIME underscore H. Line 8. Blank. Line 9. class Time. Line 10. left brace. Line 11. public colon. Line 12, indented once. explicit Time left parenthesis i n t equals 0 comma i n t equals 0 comma i n t equals 0 right parenthesis semicolon forward slash forward slash default constructor. Line 13. Blank. Line 14, indented once. forward slash forward slash set functions left parenthesis the Time ampersand return types enable cascading right parenthesis. Line 15, indented once. Time ampersand set Time left parenthesis i n t comma i n t comma i n t right parenthesis semicolon forward slash forward slash set hour comma minute comma second. Line 16, indented once. Time ampersand set Hour left parenthesis i n t right parenthesis semicolon forward slash forward slash set hour. Line 17, indented once. Time ampersand set Minute left parenthesis i n t right parenthesis semicolon forward slash forward slash set minute. Line 18, indented once. Time ampersand set Second left parenthesis i n t right parenthesis semicolon forward slash forward slash set second. Lines 14 to 18 are highlighted. Line 19. Blank. Line 20, indented once. forward slash forward slash get functions left parenthesis normally declared c o n s t right parenthesis. Line 21, indented once. unsigned i n t get Hour left parenthesis right parenthesis c o n s t semicolon forward slash forward slash return hour. Line 22, indented once. unsigned i n t get Minute left parenthesis right parenthesis c o n s t semicolon forward slash forward slash return minute. Line 23, indented once. unsigned i n t get Second left parenthesis right parenthesis c o n s t semicolon forward slash forward slash return second. "/>
          <p:cNvPicPr>
            <a:picLocks noChangeAspect="1"/>
          </p:cNvPicPr>
          <p:nvPr/>
        </p:nvPicPr>
        <p:blipFill>
          <a:blip r:embed="rId2"/>
          <a:stretch>
            <a:fillRect/>
          </a:stretch>
        </p:blipFill>
        <p:spPr>
          <a:xfrm>
            <a:off x="892190" y="1442179"/>
            <a:ext cx="7359619" cy="4826719"/>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368301" cy="1066799"/>
          </a:xfrm>
        </p:spPr>
        <p:txBody>
          <a:bodyPr anchor="b"/>
          <a:lstStyle/>
          <a:p>
            <a:r>
              <a:rPr lang="en-US" dirty="0"/>
              <a:t>Figure </a:t>
            </a:r>
            <a:r>
              <a:rPr lang="en-US" dirty="0" smtClean="0"/>
              <a:t>17.24 </a:t>
            </a:r>
            <a:r>
              <a:rPr lang="en-US" dirty="0">
                <a:latin typeface="Consolas" panose="020B0609020204030204" pitchFamily="49" charset="0"/>
              </a:rPr>
              <a:t>Time</a:t>
            </a:r>
            <a:r>
              <a:rPr lang="en-US" dirty="0"/>
              <a:t> Class Modified to Enable Cascaded Member-Function Calls </a:t>
            </a:r>
            <a:r>
              <a:rPr lang="en-US" sz="2000" b="0" dirty="0" smtClean="0"/>
              <a:t>(2 </a:t>
            </a:r>
            <a:r>
              <a:rPr lang="en-US" sz="2000" b="0" dirty="0"/>
              <a:t>of 2)</a:t>
            </a:r>
            <a:endParaRPr lang="en-US" dirty="0"/>
          </a:p>
        </p:txBody>
      </p:sp>
      <p:pic>
        <p:nvPicPr>
          <p:cNvPr id="3" name="Picture 2" descr="The code continues. Line 24. Blank. Line 25, indented once. forward slash forward slash print functions left parenthesis normally declared c o n s t right parenthesis. Line 26, indented once. void print Universal left parenthesis right parenthesis c o n s t semicolon forward slash forward slash print universal time. Line 27, indented once. void print Standard left parenthesis right parenthesis c o n s t semicolon forward slash forward slash print standard time. Line 28. private colon. Line 29, indented once. unsigned i n t hour semicolon forward slash forward slash 0 to 23 left parenthesis 24 dash hour clock format right parenthesis. Line 30, indented once. unsigned i n t minute semicolon forward slash forward slash 0 to 59. Line 31, indented once. unsigned i n t second semicolon forward slash forward slash 0 to 59. Line 32. right brace semicolon forward slash forward slash end class Time. Line 33. Blank. Line 34. hash end if."/>
          <p:cNvPicPr>
            <a:picLocks noChangeAspect="1"/>
          </p:cNvPicPr>
          <p:nvPr/>
        </p:nvPicPr>
        <p:blipFill>
          <a:blip r:embed="rId2"/>
          <a:stretch>
            <a:fillRect/>
          </a:stretch>
        </p:blipFill>
        <p:spPr>
          <a:xfrm>
            <a:off x="740568" y="2203047"/>
            <a:ext cx="7662865" cy="3109450"/>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43050"/>
          </a:xfrm>
        </p:spPr>
        <p:txBody>
          <a:bodyPr anchor="t"/>
          <a:lstStyle/>
          <a:p>
            <a:r>
              <a:rPr lang="en-US" sz="3000" dirty="0"/>
              <a:t>Figure </a:t>
            </a:r>
            <a:r>
              <a:rPr lang="en-US" sz="3000" dirty="0" smtClean="0"/>
              <a:t>17.25 </a:t>
            </a:r>
            <a:r>
              <a:rPr lang="en-US" sz="3000" dirty="0">
                <a:latin typeface="Consolas" panose="020B0609020204030204" pitchFamily="49" charset="0"/>
              </a:rPr>
              <a:t>Time</a:t>
            </a:r>
            <a:r>
              <a:rPr lang="en-US" sz="3000" dirty="0"/>
              <a:t> Class Member-Function Definitions Modified to Enable Cascaded Memberfunction Calls</a:t>
            </a:r>
            <a:r>
              <a:rPr lang="en-US" dirty="0"/>
              <a:t> </a:t>
            </a:r>
            <a:r>
              <a:rPr lang="en-US" sz="2000" b="0" dirty="0" smtClean="0"/>
              <a:t>(1 </a:t>
            </a:r>
            <a:r>
              <a:rPr lang="en-US" sz="2000" b="0" dirty="0"/>
              <a:t>of </a:t>
            </a:r>
            <a:r>
              <a:rPr lang="en-US" sz="2000" b="0" dirty="0" smtClean="0"/>
              <a:t>5)</a:t>
            </a:r>
            <a:endParaRPr lang="en-US" sz="2000" b="0" dirty="0"/>
          </a:p>
        </p:txBody>
      </p:sp>
      <p:pic>
        <p:nvPicPr>
          <p:cNvPr id="3" name="Picture 2" descr="The computer code has 90 lines. The lines read as follows. Line 1. forward slash forward slash Fig period 17 period 25 colon Time period c p p. Line 2. forward slash forward slash Time class member dash function definitions period. Line 3. hash include left angle bracket i o stream right angle bracket. Line 4. hash include left angle bracket i o man i p right angle bracket. Line 5. hash include left angle bracket s t d except right angle bracket. Line 6. hash include double quote Time period h double quote forward slash forward slash Time class definition. Line 7. using namespace s t d semicolon. Line 8. Blank. Line 9. forward slash forward slash constructor function to initialize private data semicolon. Line 10. forward slash forward slash calls member function set Time to set variables semicolon. Line 11. forward slash forward slash default values are 0 left parenthesis see class definition right parenthesis. Line 12. Time colon colon Time left parenthesis i n t h r comma i n t min comma i n t sec right parenthesis. Line 13. left brace. Line 14, indented once. set Time left parenthesis h r comma m i n comma s e c right parenthesis semicolon. Line 15. right brace forward slash forward slash end Time constructor. Line16. Blank. "/>
          <p:cNvPicPr>
            <a:picLocks noChangeAspect="1"/>
          </p:cNvPicPr>
          <p:nvPr/>
        </p:nvPicPr>
        <p:blipFill>
          <a:blip r:embed="rId2"/>
          <a:stretch>
            <a:fillRect/>
          </a:stretch>
        </p:blipFill>
        <p:spPr>
          <a:xfrm>
            <a:off x="857229" y="2054931"/>
            <a:ext cx="7429540" cy="4124868"/>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516319" cy="1514475"/>
          </a:xfrm>
        </p:spPr>
        <p:txBody>
          <a:bodyPr anchor="t"/>
          <a:lstStyle/>
          <a:p>
            <a:r>
              <a:rPr lang="en-US" sz="3000" dirty="0"/>
              <a:t>Figure </a:t>
            </a:r>
            <a:r>
              <a:rPr lang="en-US" sz="3000" dirty="0" smtClean="0"/>
              <a:t>17.25 </a:t>
            </a:r>
            <a:r>
              <a:rPr lang="en-US" sz="3000" dirty="0">
                <a:latin typeface="Consolas" panose="020B0609020204030204" pitchFamily="49" charset="0"/>
              </a:rPr>
              <a:t>Time</a:t>
            </a:r>
            <a:r>
              <a:rPr lang="en-US" sz="3000" dirty="0"/>
              <a:t> Class Member-Function Definitions Modified to Enable Cascaded Memberfunction Calls</a:t>
            </a:r>
            <a:r>
              <a:rPr lang="en-US" dirty="0"/>
              <a:t> </a:t>
            </a:r>
            <a:r>
              <a:rPr lang="en-US" sz="2000" b="0" dirty="0" smtClean="0"/>
              <a:t>(2 </a:t>
            </a:r>
            <a:r>
              <a:rPr lang="en-US" sz="2000" b="0" dirty="0"/>
              <a:t>of </a:t>
            </a:r>
            <a:r>
              <a:rPr lang="en-US" sz="2000" b="0" dirty="0" smtClean="0"/>
              <a:t>5)</a:t>
            </a:r>
            <a:endParaRPr lang="en-US" sz="2000" dirty="0"/>
          </a:p>
        </p:txBody>
      </p:sp>
      <p:pic>
        <p:nvPicPr>
          <p:cNvPr id="3" name="Picture 2" descr="The code continues. Line 17. forward slash forward slash set values of hour comma minute comma and second. Line 18. Time ampersand Time colon colon set Time left parenthesis i n t h comma i n t m comma i n t s right parenthesis forward slash forward slash note Time ampersand return. Line 18 is highlighted. Line 19. left brace. Line 20, indented once. set Hour left parenthesis h right parenthesis semicolon. Line 21, indented once. set Minute left parenthesis m right parenthesis semicolon. Line 22, indented once. set Second left parenthesis s right parenthesis semicolon. Line 23, indented once. return asterisk this semicolon forward slash forward slash enables cascading. Line 23 is highlighted. Line 24. right brace forward slash forward slash end function set Time. Line 25. Blank. Line 26. forward slash forward slash set hour value. Line 27. Time ampersand Time colon colon set Hour left parenthesis i n t h right parenthesis forward slash forward slash note Time ampersand return. Line 27 is highlighted. Line 28. left brace. Line 29, indented once. if left parenthesis h greater than sign equals 0 ampersand ampersand h less than sign 24 right parenthesis. Line 30, indented twice. hour equals h semicolon. Line 31, indented once. else. Line 32, indented twice. throw invalid underscore argument left parenthesis double quote hour must be 0 to 23 double quote right parenthesis semicolon. Line33. Blank. Line 34, indented once. return asterisk this semicolon forward slash forward slash enables cascading. Line 34 is highlighted. Line 35. right brace forward slash forward slash end function set Hour. Line 36. Blank."/>
          <p:cNvPicPr>
            <a:picLocks noChangeAspect="1"/>
          </p:cNvPicPr>
          <p:nvPr/>
        </p:nvPicPr>
        <p:blipFill>
          <a:blip r:embed="rId2"/>
          <a:stretch>
            <a:fillRect/>
          </a:stretch>
        </p:blipFill>
        <p:spPr>
          <a:xfrm>
            <a:off x="1119779" y="1968976"/>
            <a:ext cx="7191158" cy="4317331"/>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600"/>
            <a:ext cx="8229600" cy="1476375"/>
          </a:xfrm>
        </p:spPr>
        <p:txBody>
          <a:bodyPr anchor="t"/>
          <a:lstStyle/>
          <a:p>
            <a:r>
              <a:rPr lang="en-US" sz="3000" dirty="0"/>
              <a:t>Figure </a:t>
            </a:r>
            <a:r>
              <a:rPr lang="en-US" sz="3000" dirty="0" smtClean="0"/>
              <a:t>17.25 </a:t>
            </a:r>
            <a:r>
              <a:rPr lang="en-US" sz="3000" dirty="0">
                <a:latin typeface="Consolas" panose="020B0609020204030204" pitchFamily="49" charset="0"/>
              </a:rPr>
              <a:t>Time</a:t>
            </a:r>
            <a:r>
              <a:rPr lang="en-US" sz="3000" dirty="0"/>
              <a:t> Class Member-Function Definitions Modified to Enable Cascaded Memberfunction Calls</a:t>
            </a:r>
            <a:r>
              <a:rPr lang="en-US" dirty="0"/>
              <a:t> </a:t>
            </a:r>
            <a:r>
              <a:rPr lang="en-US" sz="2000" b="0" dirty="0" smtClean="0"/>
              <a:t>(3 </a:t>
            </a:r>
            <a:r>
              <a:rPr lang="en-US" sz="2000" b="0" dirty="0"/>
              <a:t>of </a:t>
            </a:r>
            <a:r>
              <a:rPr lang="en-US" sz="2000" b="0" dirty="0" smtClean="0"/>
              <a:t>5)</a:t>
            </a:r>
            <a:endParaRPr lang="en-US" sz="2000" dirty="0"/>
          </a:p>
        </p:txBody>
      </p:sp>
      <p:pic>
        <p:nvPicPr>
          <p:cNvPr id="2" name="Picture 1" descr="The code continues. Line 37. forward slash forward slash set minute value. Line 38. Time ampersand Time colon colon set Minute left parenthesis i n t m right parenthesis forward slash forward slash note Time ampersand return. Line 38 is highlighted. Line 39. left brace. Line 40, indented once. if left parenthesis m greater than sign equals 0 ampersand ampersand m less than sign 60 right parenthesis. Line 41, indented twice. minute equals m semicolon. Line 42, indented once. else. Line 43, indented twice. throw invalid underscore argument left parenthesis double quote minute must be 0 to 59 double quote right parenthesis semicolon. Line 44. Blank. Line 45, indented once. return asterisk this semicolon forward slash forward slash enables cascading. Line 45 is highlighted. Line 46. right brace forward slash forward slash end function set Minute. Line 47. Blank. Line 48. forward slash forward slash set second value. Line 49. Time ampersand Time colon colon set Second left parenthesis i n t s right parenthesis forward slash forward slash note Time ampersand return. Line 49 is highlighted. Line 50. left brace. Line 51, indented once. if left parenthesis s greater than sign equals 0 ampersand ampersand s less than sign 60 right parenthesis. Line 52, indented twice. second equals s semicolon. Line 53, indented once. else. Line 54, indented twice. throw invalid underscore argument left parenthesis double quote second must be 0 to 59 double quote right parenthesis semicolon. Line 55. Blank. Line 56, indented once. return asterisk this semicolon forward slash forward slash enables cascading. Line 56 is highlighted. Line 57. right brace forward slash forward slash end function set Second."/>
          <p:cNvPicPr>
            <a:picLocks noChangeAspect="1"/>
          </p:cNvPicPr>
          <p:nvPr/>
        </p:nvPicPr>
        <p:blipFill>
          <a:blip r:embed="rId2"/>
          <a:stretch>
            <a:fillRect/>
          </a:stretch>
        </p:blipFill>
        <p:spPr>
          <a:xfrm>
            <a:off x="1241547" y="1948171"/>
            <a:ext cx="6275946" cy="4382284"/>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14475"/>
          </a:xfrm>
        </p:spPr>
        <p:txBody>
          <a:bodyPr anchor="t"/>
          <a:lstStyle/>
          <a:p>
            <a:r>
              <a:rPr lang="en-US" sz="3000" dirty="0"/>
              <a:t>Figure </a:t>
            </a:r>
            <a:r>
              <a:rPr lang="en-US" sz="3000" dirty="0" smtClean="0"/>
              <a:t>17.25 </a:t>
            </a:r>
            <a:r>
              <a:rPr lang="en-US" sz="3000" dirty="0">
                <a:latin typeface="Consolas" panose="020B0609020204030204" pitchFamily="49" charset="0"/>
              </a:rPr>
              <a:t>Time</a:t>
            </a:r>
            <a:r>
              <a:rPr lang="en-US" sz="3000" dirty="0"/>
              <a:t> Class Member-Function Definitions Modified to Enable Cascaded Memberfunction Calls</a:t>
            </a:r>
            <a:r>
              <a:rPr lang="en-US" dirty="0"/>
              <a:t> </a:t>
            </a:r>
            <a:r>
              <a:rPr lang="en-US" sz="2000" b="0" dirty="0" smtClean="0"/>
              <a:t>(4 </a:t>
            </a:r>
            <a:r>
              <a:rPr lang="en-US" sz="2000" b="0" dirty="0"/>
              <a:t>of </a:t>
            </a:r>
            <a:r>
              <a:rPr lang="en-US" sz="2000" b="0" dirty="0" smtClean="0"/>
              <a:t>5)</a:t>
            </a:r>
            <a:endParaRPr lang="en-US" sz="2000" dirty="0"/>
          </a:p>
        </p:txBody>
      </p:sp>
      <p:pic>
        <p:nvPicPr>
          <p:cNvPr id="3" name="Picture 2" descr="The code continues. Line 58. Blank. Line 59. forward slash forward slash get hour value. Line 60. unsigned i n t Time colon colon get Hour left parenthesis right parenthesis const. Line 61. left brace. Line 62, indented once. return hour semicolon. Line 63. right brace forward slash forward slash end function get Hour. Line 64. Blank. Line 65. forward slash forward slash get minute value. Line 66. unsigned i n t Time colon colon get Minute left parenthesis right parenthesis const. Line 67. left brace. Line 68, indented once. return minute semicolon. Line 69. right brace forward slash forward slash end function get Minute. Line 70. Blank. Line 71. forward slash forward slash get second value. Line 72. unsigned i n t Time colon colon get Second left parenthesis right parenthesis const. Line 73. left brace. Line 74, indented once. return second semicolon. Line 75. right brace forward slash forward slash end function get Second. Line 76. Blank."/>
          <p:cNvPicPr>
            <a:picLocks noChangeAspect="1"/>
          </p:cNvPicPr>
          <p:nvPr/>
        </p:nvPicPr>
        <p:blipFill>
          <a:blip r:embed="rId2"/>
          <a:stretch>
            <a:fillRect/>
          </a:stretch>
        </p:blipFill>
        <p:spPr>
          <a:xfrm>
            <a:off x="1654388" y="1974781"/>
            <a:ext cx="5142682" cy="4429005"/>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552575"/>
          </a:xfrm>
        </p:spPr>
        <p:txBody>
          <a:bodyPr anchor="t"/>
          <a:lstStyle/>
          <a:p>
            <a:r>
              <a:rPr lang="en-US" sz="3000" dirty="0"/>
              <a:t>Figure </a:t>
            </a:r>
            <a:r>
              <a:rPr lang="en-US" sz="3000" dirty="0" smtClean="0"/>
              <a:t>17.25 </a:t>
            </a:r>
            <a:r>
              <a:rPr lang="en-US" sz="3000" dirty="0">
                <a:latin typeface="Consolas" panose="020B0609020204030204" pitchFamily="49" charset="0"/>
              </a:rPr>
              <a:t>Time</a:t>
            </a:r>
            <a:r>
              <a:rPr lang="en-US" sz="3000" dirty="0"/>
              <a:t> Class Member-Function Definitions Modified to Enable Cascaded Memberfunction Calls</a:t>
            </a:r>
            <a:r>
              <a:rPr lang="en-US" dirty="0"/>
              <a:t> </a:t>
            </a:r>
            <a:r>
              <a:rPr lang="en-US" sz="2000" b="0" dirty="0" smtClean="0"/>
              <a:t>(5 </a:t>
            </a:r>
            <a:r>
              <a:rPr lang="en-US" sz="2000" b="0" dirty="0"/>
              <a:t>of </a:t>
            </a:r>
            <a:r>
              <a:rPr lang="en-US" sz="2000" b="0" dirty="0" smtClean="0"/>
              <a:t>5)</a:t>
            </a:r>
            <a:endParaRPr lang="en-US" sz="2000" dirty="0"/>
          </a:p>
        </p:txBody>
      </p:sp>
      <p:pic>
        <p:nvPicPr>
          <p:cNvPr id="3" name="Picture 2" descr="The code continues. Line 77. forward slash forward slash print Time in universal dash time format left parenthesis H H colon M M colon S S right parenthesis. Line 78. void Time colon colon print Universal left parenthesis right parenthesis const. Line 79. left brace. Line 80, indented once. c out left angle bracket left angle bracket set fill left parenthesis '0' right parenthesis left angle bracket left angle bracket set w left parenthesis 2 right parenthesis left angle bracket left angle bracket hour left angle bracket left angle bracket double quote colon double quote. Line 81, indented once. left angle bracket left angle bracket set w left parenthesis 2 right parenthesis left angle bracket left angle bracket minute left angle bracket left angle bracket double quote colon double quote left angle bracket left angle bracket set w left parenthesis 2 right parenthesis left angle bracket left angle bracket second semicolon. Line 82. right brace forward slash forward slash end function print Universal. Line 83. Blank. Line 84. forward slash forward slash print Time in standard dash time format left parenthesis H H colon M M colon S S A M or P M right parenthesis. Line 85. void Time colon colon print Standard left parenthesis right parenthesis const. Line 86. 86. Line 87, indented once. c out left angle bracket left angle bracket left parenthesis left parenthesis hour equals equals 0 double pipe hour equals equals 12 right parenthesis question mark 12 colon hour percent sign 12 right parenthesis. Line 88, indented twice. left angle bracket left angle bracket double quote colon double quote left angle bracket left angle bracket set fill left parenthesis '0' right parenthesis left angle bracket left angle bracket set w left parenthesis 2 right parenthesis left angle bracket left angle bracket minute. Line 89, indented twice. left angle bracket left angle bracket double quote colon double quote left angle bracket left angle bracket set w left parenthesis 2 right parenthesis left angle bracket left angle bracket second left angle bracket left angle bracket left parenthesis hour less than sign 12 question mark double quote A M double quote colon double quote P M double quote right parenthesis semicolon. Line 90. right brace forward slash forward slash end function print Standard."/>
          <p:cNvPicPr>
            <a:picLocks noChangeAspect="1"/>
          </p:cNvPicPr>
          <p:nvPr/>
        </p:nvPicPr>
        <p:blipFill>
          <a:blip r:embed="rId2"/>
          <a:stretch>
            <a:fillRect/>
          </a:stretch>
        </p:blipFill>
        <p:spPr>
          <a:xfrm>
            <a:off x="502599" y="2405262"/>
            <a:ext cx="8138800" cy="3424207"/>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17.26 </a:t>
            </a:r>
            <a:r>
              <a:rPr lang="en-US" dirty="0"/>
              <a:t>Cascading Member-Function Calls with the </a:t>
            </a:r>
            <a:r>
              <a:rPr lang="en-US" dirty="0" smtClean="0">
                <a:latin typeface="Consolas" panose="020B0609020204030204" pitchFamily="49" charset="0"/>
              </a:rPr>
              <a:t>this</a:t>
            </a:r>
            <a:r>
              <a:rPr lang="en-US" dirty="0" smtClean="0"/>
              <a:t> </a:t>
            </a:r>
            <a:r>
              <a:rPr lang="en-US" dirty="0"/>
              <a:t>Pointer </a:t>
            </a:r>
            <a:r>
              <a:rPr lang="en-US" sz="2000" b="0" dirty="0"/>
              <a:t>(1 of 2)</a:t>
            </a:r>
          </a:p>
        </p:txBody>
      </p:sp>
      <p:pic>
        <p:nvPicPr>
          <p:cNvPr id="3" name="Picture 2" descr="The computer code has 26 lines. The lines read as follows. Line 1. forward slash forward slash Fig period 17 period 26 colon fig 17 underscore 26 period c p p. Line 2. forward slash forward slash Cascading member hyphen function calls with the this pointer period. Line 3. hash include less than sign i o stream greater than sign. Line 4. hash include double quote Time period h double quote forward slash forward slash Time class definition. Line 5. using namespace s t d semicolon. Line 6. Blank. Line 7. i n t main left parenthesis right parenthesis. Line 8. left brace. Line 9, indented once. Time t semicolon forward slash forward slash create Time object. Line 10. Blank. Line 11, indented once. forward slash forward slash cascaded function calls. Line 12, indented once. t period set Hour left parenthesis 18 right parenthesis period set Minute left parenthesis 30 right parenthesis period set Second left parenthesis 22 right parenthesis semicolon. Line 13. Blank. Line 14, indented once. forward slash forward slash output time in universal and standard formats. Line 15, indented once. c out less than sign less than sign double quote Universal time colon double quote semicolon. Line 16, indented once. t period print Universal left parenthesis right parenthesis semicolon. Line 17. Blank. Line 18, indented once. c out less than sign less than sign double quote back slash n Standard time colon double quote semicolon. Line 19, indented once. t period print Standard left parenthesis right parenthesis semicolon. Line 20. Blank. Line 21, indented once. c out less than sign less than sign double quote back slash n back slash n New standard time colon double quote semicolon. Line 22. Blank."/>
          <p:cNvPicPr>
            <a:picLocks noChangeAspect="1"/>
          </p:cNvPicPr>
          <p:nvPr/>
        </p:nvPicPr>
        <p:blipFill>
          <a:blip r:embed="rId2"/>
          <a:stretch>
            <a:fillRect/>
          </a:stretch>
        </p:blipFill>
        <p:spPr>
          <a:xfrm>
            <a:off x="1000836" y="1473375"/>
            <a:ext cx="7142327" cy="4877011"/>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a:t>
            </a:r>
            <a:r>
              <a:rPr lang="en-US" dirty="0" smtClean="0"/>
              <a:t>17.26 </a:t>
            </a:r>
            <a:r>
              <a:rPr lang="en-US" dirty="0"/>
              <a:t>Cascading Member-Function Calls with the </a:t>
            </a:r>
            <a:r>
              <a:rPr lang="en-US" dirty="0" smtClean="0">
                <a:latin typeface="Consolas" panose="020B0609020204030204" pitchFamily="49" charset="0"/>
              </a:rPr>
              <a:t>this</a:t>
            </a:r>
            <a:r>
              <a:rPr lang="en-US" dirty="0" smtClean="0"/>
              <a:t> </a:t>
            </a:r>
            <a:r>
              <a:rPr lang="en-US" dirty="0"/>
              <a:t>Pointer </a:t>
            </a:r>
            <a:r>
              <a:rPr lang="en-US" sz="2000" b="0" dirty="0" smtClean="0"/>
              <a:t>(2 </a:t>
            </a:r>
            <a:r>
              <a:rPr lang="en-US" sz="2000" b="0" dirty="0"/>
              <a:t>of 2)</a:t>
            </a:r>
            <a:endParaRPr lang="en-US" dirty="0"/>
          </a:p>
        </p:txBody>
      </p:sp>
      <p:pic>
        <p:nvPicPr>
          <p:cNvPr id="5" name="Picture 4" descr="The code continues. Line 23, indented once. forward slash forward slash cascaded function calls. Line 24, indented once. t period set Time left parenthesis 20 comma 20 comma 20 right parenthesis period print Standard left parenthesis right parenthesis semicolon. Line 25, indented once. c out less than sign less than sign end l semicolon. Line 26. right brace forward slash forward slash end main. The code output has 3 lines. The lines read as follows. Line 1. Universal time colon 18 colon 30 colon 22. Line 2. Standard time colon 6 colon 30 colon 22 PM. Line 3. New standard time colon 8 colon 20 colon 20 PM."/>
          <p:cNvPicPr>
            <a:picLocks noChangeAspect="1"/>
          </p:cNvPicPr>
          <p:nvPr/>
        </p:nvPicPr>
        <p:blipFill>
          <a:blip r:embed="rId2"/>
          <a:stretch>
            <a:fillRect/>
          </a:stretch>
        </p:blipFill>
        <p:spPr>
          <a:xfrm>
            <a:off x="525162" y="2293753"/>
            <a:ext cx="8121033" cy="2393783"/>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17.14 </a:t>
            </a:r>
            <a:r>
              <a:rPr lang="en-US" altLang="en-US" kern="1200" dirty="0" smtClean="0">
                <a:latin typeface="Consolas" panose="020B0609020204030204" pitchFamily="49" charset="0"/>
                <a:ea typeface="+mj-ea"/>
                <a:cs typeface="+mj-cs"/>
              </a:rPr>
              <a:t>Static</a:t>
            </a:r>
            <a:r>
              <a:rPr lang="en-US" altLang="en-US" kern="1200" dirty="0" smtClean="0">
                <a:latin typeface="Times New Roman" panose="02020603050405020304" pitchFamily="18" charset="0"/>
                <a:ea typeface="+mj-ea"/>
                <a:cs typeface="+mj-cs"/>
              </a:rPr>
              <a:t> Class Members </a:t>
            </a:r>
            <a:r>
              <a:rPr lang="en-US" altLang="en-US" sz="2000" b="0" kern="1200" dirty="0" smtClean="0">
                <a:latin typeface="Times New Roman" panose="02020603050405020304" pitchFamily="18" charset="0"/>
                <a:ea typeface="+mj-ea"/>
                <a:cs typeface="+mj-cs"/>
              </a:rPr>
              <a:t>(1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3154363"/>
          </a:xfrm>
        </p:spPr>
        <p:txBody>
          <a:bodyPr>
            <a:spAutoFit/>
          </a:bodyPr>
          <a:lstStyle/>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In certain cases, only one copy of a variable should be </a:t>
            </a:r>
            <a:r>
              <a:rPr lang="en-US" altLang="en-US" sz="2400" b="1" kern="1200" dirty="0">
                <a:solidFill>
                  <a:srgbClr val="000000"/>
                </a:solidFill>
                <a:latin typeface="Arial (Body)"/>
                <a:ea typeface="+mn-ea"/>
                <a:cs typeface="Times New Roman" panose="02020603050405020304" pitchFamily="18" charset="0"/>
              </a:rPr>
              <a:t>shared</a:t>
            </a:r>
            <a:r>
              <a:rPr lang="en-US" altLang="en-US" sz="2400" kern="1200" dirty="0">
                <a:solidFill>
                  <a:srgbClr val="000000"/>
                </a:solidFill>
                <a:latin typeface="Arial (Body)"/>
                <a:ea typeface="+mn-ea"/>
                <a:cs typeface="Times New Roman" panose="02020603050405020304" pitchFamily="18" charset="0"/>
              </a:rPr>
              <a:t> by </a:t>
            </a:r>
            <a:r>
              <a:rPr lang="en-US" altLang="en-US" sz="2400" b="1" kern="1200" dirty="0">
                <a:solidFill>
                  <a:srgbClr val="000000"/>
                </a:solidFill>
                <a:latin typeface="Arial (Body)"/>
                <a:ea typeface="+mn-ea"/>
                <a:cs typeface="Times New Roman" panose="02020603050405020304" pitchFamily="18" charset="0"/>
              </a:rPr>
              <a:t>all</a:t>
            </a:r>
            <a:r>
              <a:rPr lang="en-US" altLang="en-US" sz="2400" kern="1200" dirty="0">
                <a:solidFill>
                  <a:srgbClr val="000000"/>
                </a:solidFill>
                <a:latin typeface="Arial (Body)"/>
                <a:ea typeface="+mn-ea"/>
                <a:cs typeface="Times New Roman" panose="02020603050405020304" pitchFamily="18" charset="0"/>
              </a:rPr>
              <a:t> objects of a </a:t>
            </a:r>
            <a:r>
              <a:rPr lang="en-US" altLang="en-US" sz="2400" kern="1200" dirty="0" smtClean="0">
                <a:solidFill>
                  <a:srgbClr val="000000"/>
                </a:solidFill>
                <a:latin typeface="Arial (Body)"/>
                <a:ea typeface="+mn-ea"/>
                <a:cs typeface="Times New Roman" panose="02020603050405020304" pitchFamily="18" charset="0"/>
              </a:rPr>
              <a:t>class.</a:t>
            </a:r>
            <a:endParaRPr lang="en-US" altLang="en-US" sz="2400" kern="1200" dirty="0">
              <a:solidFill>
                <a:srgbClr val="000000"/>
              </a:solidFill>
              <a:latin typeface="Arial (Body)"/>
              <a:ea typeface="+mn-ea"/>
              <a:cs typeface="Times New Roman" panose="02020603050405020304" pitchFamily="18" charset="0"/>
            </a:endParaRPr>
          </a:p>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A </a:t>
            </a:r>
            <a:r>
              <a:rPr lang="en-US" altLang="en-US" sz="2400" b="1" kern="1200" dirty="0">
                <a:solidFill>
                  <a:srgbClr val="000000"/>
                </a:solidFill>
                <a:latin typeface="Consolas" panose="020B0609020204030204" pitchFamily="49" charset="0"/>
                <a:ea typeface="+mn-ea"/>
                <a:cs typeface="Times New Roman" panose="02020603050405020304" pitchFamily="18" charset="0"/>
              </a:rPr>
              <a:t>static</a:t>
            </a:r>
            <a:r>
              <a:rPr lang="en-US" altLang="en-US" sz="2400" b="1" kern="1200" dirty="0">
                <a:solidFill>
                  <a:srgbClr val="000000"/>
                </a:solidFill>
                <a:latin typeface="Arial (Body)"/>
                <a:ea typeface="+mn-ea"/>
                <a:cs typeface="Times New Roman" panose="02020603050405020304" pitchFamily="18" charset="0"/>
              </a:rPr>
              <a:t> data member</a:t>
            </a:r>
            <a:r>
              <a:rPr lang="en-US" altLang="en-US" sz="2400" kern="1200" dirty="0">
                <a:solidFill>
                  <a:srgbClr val="000000"/>
                </a:solidFill>
                <a:latin typeface="Arial (Body)"/>
                <a:ea typeface="+mn-ea"/>
                <a:cs typeface="Times New Roman" panose="02020603050405020304" pitchFamily="18" charset="0"/>
              </a:rPr>
              <a:t> is used for these and other </a:t>
            </a:r>
            <a:r>
              <a:rPr lang="en-US" altLang="en-US" sz="2400" kern="1200" dirty="0" smtClean="0">
                <a:solidFill>
                  <a:srgbClr val="000000"/>
                </a:solidFill>
                <a:latin typeface="Arial (Body)"/>
                <a:ea typeface="+mn-ea"/>
                <a:cs typeface="Times New Roman" panose="02020603050405020304" pitchFamily="18" charset="0"/>
              </a:rPr>
              <a:t>reasons.</a:t>
            </a:r>
            <a:endParaRPr lang="en-US" altLang="en-US" sz="2400" kern="1200" dirty="0">
              <a:solidFill>
                <a:srgbClr val="000000"/>
              </a:solidFill>
              <a:latin typeface="Arial (Body)"/>
              <a:ea typeface="+mn-ea"/>
              <a:cs typeface="Times New Roman" panose="02020603050405020304" pitchFamily="18" charset="0"/>
            </a:endParaRPr>
          </a:p>
          <a:p>
            <a:pPr marL="255651" indent="-255651" eaLnBrk="1" hangingPunct="1">
              <a:tabLst/>
              <a:defRPr/>
            </a:pPr>
            <a:r>
              <a:rPr lang="en-US" altLang="en-US" sz="2400" kern="1200" dirty="0">
                <a:solidFill>
                  <a:srgbClr val="000000"/>
                </a:solidFill>
                <a:latin typeface="Arial (Body)"/>
                <a:ea typeface="+mn-ea"/>
                <a:cs typeface="Times New Roman" panose="02020603050405020304" pitchFamily="18" charset="0"/>
              </a:rPr>
              <a:t>Such a variable represents “class-wide” information, i.e., data that is shared by all instances and is not specific to any one object of the </a:t>
            </a:r>
            <a:r>
              <a:rPr lang="en-US" altLang="en-US" sz="2400" kern="1200" dirty="0" smtClean="0">
                <a:solidFill>
                  <a:srgbClr val="000000"/>
                </a:solidFill>
                <a:latin typeface="Arial (Body)"/>
                <a:ea typeface="+mn-ea"/>
                <a:cs typeface="Times New Roman" panose="02020603050405020304" pitchFamily="18" charset="0"/>
              </a:rPr>
              <a:t>class.</a:t>
            </a:r>
            <a:endParaRPr lang="en-US" altLang="en-US" sz="2400" kern="1200" dirty="0">
              <a:solidFill>
                <a:srgbClr val="000000"/>
              </a:solidFill>
              <a:latin typeface="Arial (Body)"/>
              <a:ea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Performance Tip 17.5</a:t>
            </a:r>
          </a:p>
        </p:txBody>
      </p:sp>
      <p:sp>
        <p:nvSpPr>
          <p:cNvPr id="3" name="Text Placeholder 2"/>
          <p:cNvSpPr>
            <a:spLocks noGrp="1"/>
          </p:cNvSpPr>
          <p:nvPr>
            <p:ph type="body" idx="1"/>
          </p:nvPr>
        </p:nvSpPr>
        <p:spPr>
          <a:xfrm>
            <a:off x="457200" y="1600201"/>
            <a:ext cx="8229600" cy="819150"/>
          </a:xfrm>
        </p:spPr>
        <p:txBody>
          <a:bodyPr/>
          <a:lstStyle/>
          <a:p>
            <a:pPr marL="0" indent="0">
              <a:buNone/>
            </a:pPr>
            <a:r>
              <a:rPr lang="en-US" sz="2400" dirty="0">
                <a:latin typeface="Arial Body"/>
              </a:rPr>
              <a:t>Use </a:t>
            </a:r>
            <a:r>
              <a:rPr lang="en-US" sz="2400" dirty="0">
                <a:latin typeface="Consolas" panose="020B0609020204030204" pitchFamily="49" charset="0"/>
              </a:rPr>
              <a:t>static</a:t>
            </a:r>
            <a:r>
              <a:rPr lang="en-US" sz="2400" dirty="0">
                <a:latin typeface="Arial Body"/>
              </a:rPr>
              <a:t> data members to save storage when a single copy of the data for all objects of a class will suffice.</a:t>
            </a: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17.14 </a:t>
            </a:r>
            <a:r>
              <a:rPr lang="en-US" altLang="en-US" kern="1200" dirty="0" smtClean="0">
                <a:latin typeface="Consolas" panose="020B0609020204030204" pitchFamily="49" charset="0"/>
                <a:ea typeface="+mj-ea"/>
                <a:cs typeface="+mj-cs"/>
              </a:rPr>
              <a:t>Static</a:t>
            </a:r>
            <a:r>
              <a:rPr lang="en-US" altLang="en-US" kern="1200" dirty="0" smtClean="0">
                <a:latin typeface="Times New Roman" panose="02020603050405020304" pitchFamily="18" charset="0"/>
                <a:ea typeface="+mj-ea"/>
                <a:cs typeface="+mj-cs"/>
              </a:rPr>
              <a:t> Class Members </a:t>
            </a:r>
            <a:r>
              <a:rPr lang="en-US" altLang="en-US" sz="2000" b="0" kern="1200" dirty="0" smtClean="0">
                <a:latin typeface="Times New Roman" panose="02020603050405020304" pitchFamily="18" charset="0"/>
                <a:ea typeface="+mj-ea"/>
                <a:cs typeface="+mj-cs"/>
              </a:rPr>
              <a:t>(2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199" y="1600200"/>
            <a:ext cx="8407831" cy="4224203"/>
          </a:xfrm>
        </p:spPr>
        <p:txBody>
          <a:bodyPr wrap="square">
            <a:spAutoFit/>
          </a:bodyPr>
          <a:lstStyle/>
          <a:p>
            <a:pPr marL="0" indent="0" eaLnBrk="1" hangingPunct="1">
              <a:buNone/>
              <a:tabLst/>
              <a:defRPr/>
            </a:pPr>
            <a:r>
              <a:rPr lang="en-US" sz="2000" b="1" kern="1200" dirty="0">
                <a:solidFill>
                  <a:srgbClr val="000000"/>
                </a:solidFill>
                <a:latin typeface="Arial (Body)"/>
                <a:ea typeface="+mn-ea"/>
                <a:cs typeface="Times New Roman" pitchFamily="18" charset="0"/>
              </a:rPr>
              <a:t>Scope and Initialization of </a:t>
            </a:r>
            <a:r>
              <a:rPr lang="en-US" sz="2000" b="1" kern="1200" dirty="0">
                <a:solidFill>
                  <a:srgbClr val="000000"/>
                </a:solidFill>
                <a:latin typeface="Consolas" panose="020B0609020204030204" pitchFamily="49" charset="0"/>
                <a:ea typeface="+mn-ea"/>
                <a:cs typeface="Times New Roman" pitchFamily="18" charset="0"/>
              </a:rPr>
              <a:t>static</a:t>
            </a:r>
            <a:r>
              <a:rPr lang="en-US" sz="2000" b="1" kern="1200" dirty="0">
                <a:solidFill>
                  <a:srgbClr val="000000"/>
                </a:solidFill>
                <a:latin typeface="Arial (Body)"/>
                <a:ea typeface="+mn-ea"/>
                <a:cs typeface="Times New Roman" pitchFamily="18" charset="0"/>
              </a:rPr>
              <a:t> Data Members</a:t>
            </a:r>
          </a:p>
          <a:p>
            <a:pPr marL="255651" indent="-255651" eaLnBrk="1" hangingPunct="1">
              <a:tabLst/>
              <a:defRPr/>
            </a:pPr>
            <a:r>
              <a:rPr lang="en-US" sz="2000" kern="1200" dirty="0">
                <a:solidFill>
                  <a:srgbClr val="000000"/>
                </a:solidFill>
                <a:latin typeface="Arial (Body)"/>
                <a:ea typeface="+mn-ea"/>
                <a:cs typeface="Times New Roman" pitchFamily="18" charset="0"/>
              </a:rPr>
              <a:t>static data members have </a:t>
            </a:r>
            <a:r>
              <a:rPr lang="en-US" sz="2000" b="1" kern="1200" dirty="0">
                <a:solidFill>
                  <a:srgbClr val="000000"/>
                </a:solidFill>
                <a:latin typeface="Arial (Body)"/>
                <a:ea typeface="+mn-ea"/>
                <a:cs typeface="Times New Roman" pitchFamily="18" charset="0"/>
              </a:rPr>
              <a:t>class </a:t>
            </a:r>
            <a:r>
              <a:rPr lang="en-US" sz="2000" b="1" kern="1200" dirty="0" smtClean="0">
                <a:solidFill>
                  <a:srgbClr val="000000"/>
                </a:solidFill>
                <a:latin typeface="Arial (Body)"/>
                <a:ea typeface="+mn-ea"/>
                <a:cs typeface="Times New Roman" pitchFamily="18" charset="0"/>
              </a:rPr>
              <a:t>scope</a:t>
            </a:r>
            <a:r>
              <a:rPr lang="en-US" sz="2000" i="1" kern="1200" dirty="0" smtClean="0">
                <a:solidFill>
                  <a:srgbClr val="000000"/>
                </a:solidFill>
                <a:latin typeface="Arial (Body)"/>
                <a:ea typeface="+mn-ea"/>
                <a:cs typeface="Times New Roman" pitchFamily="18" charset="0"/>
              </a:rPr>
              <a:t>.</a:t>
            </a:r>
            <a:endParaRPr lang="en-US" sz="2000" kern="1200" dirty="0">
              <a:solidFill>
                <a:srgbClr val="000000"/>
              </a:solidFill>
              <a:latin typeface="Arial (Body)"/>
              <a:ea typeface="+mn-ea"/>
              <a:cs typeface="Times New Roman" pitchFamily="18" charset="0"/>
            </a:endParaRPr>
          </a:p>
          <a:p>
            <a:pPr marL="255651" indent="-255651" eaLnBrk="1" hangingPunct="1">
              <a:tabLst/>
              <a:defRPr/>
            </a:pPr>
            <a:r>
              <a:rPr lang="en-US" sz="2000" kern="1200" dirty="0">
                <a:solidFill>
                  <a:srgbClr val="000000"/>
                </a:solidFill>
                <a:latin typeface="Arial (Body)"/>
                <a:ea typeface="+mn-ea"/>
                <a:cs typeface="Times New Roman" pitchFamily="18" charset="0"/>
              </a:rPr>
              <a:t>A static data member must be initialized </a:t>
            </a:r>
            <a:r>
              <a:rPr lang="en-US" sz="2000" b="1" kern="1200" dirty="0">
                <a:solidFill>
                  <a:srgbClr val="000000"/>
                </a:solidFill>
                <a:latin typeface="Arial (Body)"/>
                <a:ea typeface="+mn-ea"/>
                <a:cs typeface="Times New Roman" pitchFamily="18" charset="0"/>
              </a:rPr>
              <a:t>exactly</a:t>
            </a:r>
            <a:r>
              <a:rPr lang="en-US" sz="2000" kern="1200" dirty="0">
                <a:solidFill>
                  <a:srgbClr val="000000"/>
                </a:solidFill>
                <a:latin typeface="Arial (Body)"/>
                <a:ea typeface="+mn-ea"/>
                <a:cs typeface="Times New Roman" pitchFamily="18" charset="0"/>
              </a:rPr>
              <a:t> </a:t>
            </a:r>
            <a:r>
              <a:rPr lang="en-US" sz="2000" kern="1200" dirty="0" smtClean="0">
                <a:solidFill>
                  <a:srgbClr val="000000"/>
                </a:solidFill>
                <a:latin typeface="Arial (Body)"/>
                <a:ea typeface="+mn-ea"/>
                <a:cs typeface="Times New Roman" pitchFamily="18" charset="0"/>
              </a:rPr>
              <a:t>once.</a:t>
            </a:r>
            <a:endParaRPr lang="en-US" sz="2000" kern="1200" dirty="0">
              <a:solidFill>
                <a:srgbClr val="000000"/>
              </a:solidFill>
              <a:latin typeface="Arial (Body)"/>
              <a:ea typeface="+mn-ea"/>
              <a:cs typeface="Times New Roman" pitchFamily="18" charset="0"/>
            </a:endParaRPr>
          </a:p>
          <a:p>
            <a:pPr marL="255651" indent="-255651" eaLnBrk="1" hangingPunct="1">
              <a:tabLst/>
              <a:defRPr/>
            </a:pPr>
            <a:r>
              <a:rPr lang="en-US" sz="2000" kern="1200" dirty="0">
                <a:solidFill>
                  <a:srgbClr val="000000"/>
                </a:solidFill>
                <a:latin typeface="Arial (Body)"/>
                <a:ea typeface="+mn-ea"/>
                <a:cs typeface="Times New Roman" pitchFamily="18" charset="0"/>
              </a:rPr>
              <a:t>Fundamental-type </a:t>
            </a:r>
            <a:r>
              <a:rPr lang="en-US" sz="2000" kern="1200" dirty="0">
                <a:solidFill>
                  <a:srgbClr val="000000"/>
                </a:solidFill>
                <a:latin typeface="Consolas" panose="020B0609020204030204" pitchFamily="49" charset="0"/>
                <a:ea typeface="+mn-ea"/>
                <a:cs typeface="Times New Roman" pitchFamily="18" charset="0"/>
              </a:rPr>
              <a:t>static</a:t>
            </a:r>
            <a:r>
              <a:rPr lang="en-US" sz="2000" kern="1200" dirty="0">
                <a:solidFill>
                  <a:srgbClr val="000000"/>
                </a:solidFill>
                <a:latin typeface="Arial (Body)"/>
                <a:ea typeface="+mn-ea"/>
                <a:cs typeface="Times New Roman" pitchFamily="18" charset="0"/>
              </a:rPr>
              <a:t> data members are initialized by default to </a:t>
            </a:r>
            <a:r>
              <a:rPr lang="en-US" sz="2000" dirty="0">
                <a:solidFill>
                  <a:srgbClr val="000000"/>
                </a:solidFill>
                <a:latin typeface="Consolas" panose="020B0609020204030204" pitchFamily="49" charset="0"/>
                <a:cs typeface="Times New Roman" pitchFamily="18" charset="0"/>
              </a:rPr>
              <a:t>0</a:t>
            </a:r>
            <a:r>
              <a:rPr lang="en-US" sz="2000" kern="1200" dirty="0" smtClean="0">
                <a:solidFill>
                  <a:srgbClr val="000000"/>
                </a:solidFill>
                <a:latin typeface="Arial (Body)"/>
                <a:ea typeface="+mn-ea"/>
                <a:cs typeface="Times New Roman" pitchFamily="18" charset="0"/>
              </a:rPr>
              <a:t>.</a:t>
            </a:r>
            <a:endParaRPr lang="en-US" sz="2000" kern="1200" dirty="0">
              <a:solidFill>
                <a:srgbClr val="000000"/>
              </a:solidFill>
              <a:latin typeface="Arial (Body)"/>
              <a:ea typeface="+mn-ea"/>
              <a:cs typeface="Times New Roman" pitchFamily="18" charset="0"/>
            </a:endParaRPr>
          </a:p>
          <a:p>
            <a:pPr marL="255651" indent="-255651" eaLnBrk="1" hangingPunct="1">
              <a:tabLst/>
              <a:defRPr/>
            </a:pPr>
            <a:r>
              <a:rPr lang="en-US" sz="2000" kern="1200" dirty="0">
                <a:solidFill>
                  <a:srgbClr val="000000"/>
                </a:solidFill>
                <a:latin typeface="Arial (Body)"/>
                <a:ea typeface="+mn-ea"/>
                <a:cs typeface="Times New Roman" pitchFamily="18" charset="0"/>
              </a:rPr>
              <a:t>Prior to C++11, a </a:t>
            </a:r>
            <a:r>
              <a:rPr lang="en-US" sz="2000" kern="1200" dirty="0">
                <a:solidFill>
                  <a:srgbClr val="000000"/>
                </a:solidFill>
                <a:latin typeface="Consolas" panose="020B0609020204030204" pitchFamily="49" charset="0"/>
                <a:ea typeface="+mn-ea"/>
                <a:cs typeface="Times New Roman" pitchFamily="18" charset="0"/>
              </a:rPr>
              <a:t>static const</a:t>
            </a:r>
            <a:r>
              <a:rPr lang="en-US" sz="2000" kern="1200" dirty="0">
                <a:solidFill>
                  <a:srgbClr val="000000"/>
                </a:solidFill>
                <a:latin typeface="Arial (Body)"/>
                <a:ea typeface="+mn-ea"/>
                <a:cs typeface="Times New Roman" pitchFamily="18" charset="0"/>
              </a:rPr>
              <a:t> data member of </a:t>
            </a:r>
            <a:r>
              <a:rPr lang="en-US" sz="2000" kern="1200" dirty="0">
                <a:solidFill>
                  <a:srgbClr val="000000"/>
                </a:solidFill>
                <a:latin typeface="Consolas" panose="020B0609020204030204" pitchFamily="49" charset="0"/>
                <a:ea typeface="+mn-ea"/>
                <a:cs typeface="Times New Roman" pitchFamily="18" charset="0"/>
              </a:rPr>
              <a:t>int</a:t>
            </a:r>
            <a:r>
              <a:rPr lang="en-US" sz="2000" kern="1200" dirty="0">
                <a:solidFill>
                  <a:srgbClr val="000000"/>
                </a:solidFill>
                <a:latin typeface="Arial (Body)"/>
                <a:ea typeface="+mn-ea"/>
                <a:cs typeface="Times New Roman" pitchFamily="18" charset="0"/>
              </a:rPr>
              <a:t> or </a:t>
            </a:r>
            <a:r>
              <a:rPr lang="en-US" sz="2000" kern="1200" dirty="0">
                <a:solidFill>
                  <a:srgbClr val="000000"/>
                </a:solidFill>
                <a:latin typeface="Consolas" panose="020B0609020204030204" pitchFamily="49" charset="0"/>
                <a:ea typeface="+mn-ea"/>
                <a:cs typeface="Times New Roman" pitchFamily="18" charset="0"/>
              </a:rPr>
              <a:t>enum</a:t>
            </a:r>
            <a:r>
              <a:rPr lang="en-US" sz="2000" kern="1200" dirty="0">
                <a:solidFill>
                  <a:srgbClr val="000000"/>
                </a:solidFill>
                <a:latin typeface="Arial (Body)"/>
                <a:ea typeface="+mn-ea"/>
                <a:cs typeface="Times New Roman" pitchFamily="18" charset="0"/>
              </a:rPr>
              <a:t> type could be initialized in its declaration in the class definition and all other </a:t>
            </a:r>
            <a:r>
              <a:rPr lang="en-US" sz="2000" kern="1200" dirty="0">
                <a:solidFill>
                  <a:srgbClr val="000000"/>
                </a:solidFill>
                <a:latin typeface="Consolas" panose="020B0609020204030204" pitchFamily="49" charset="0"/>
                <a:ea typeface="+mn-ea"/>
                <a:cs typeface="Times New Roman" pitchFamily="18" charset="0"/>
              </a:rPr>
              <a:t>static</a:t>
            </a:r>
            <a:r>
              <a:rPr lang="en-US" sz="2000" kern="1200" dirty="0">
                <a:solidFill>
                  <a:srgbClr val="000000"/>
                </a:solidFill>
                <a:latin typeface="Arial (Body)"/>
                <a:ea typeface="+mn-ea"/>
                <a:cs typeface="Times New Roman" pitchFamily="18" charset="0"/>
              </a:rPr>
              <a:t> data members had to be defined and initialized </a:t>
            </a:r>
            <a:r>
              <a:rPr lang="en-US" sz="2000" b="1" kern="1200" dirty="0">
                <a:solidFill>
                  <a:srgbClr val="000000"/>
                </a:solidFill>
                <a:latin typeface="Arial (Body)"/>
                <a:ea typeface="+mn-ea"/>
                <a:cs typeface="Times New Roman" pitchFamily="18" charset="0"/>
              </a:rPr>
              <a:t>at global namespace scope </a:t>
            </a:r>
            <a:r>
              <a:rPr lang="en-US" sz="2000" kern="1200" dirty="0">
                <a:solidFill>
                  <a:srgbClr val="000000"/>
                </a:solidFill>
                <a:latin typeface="Arial (Body)"/>
                <a:ea typeface="+mn-ea"/>
                <a:cs typeface="Times New Roman" pitchFamily="18" charset="0"/>
              </a:rPr>
              <a:t>(i.e., outside the body of the class </a:t>
            </a:r>
            <a:r>
              <a:rPr lang="en-US" sz="2000" kern="1200" dirty="0" smtClean="0">
                <a:solidFill>
                  <a:srgbClr val="000000"/>
                </a:solidFill>
                <a:latin typeface="Arial (Body)"/>
                <a:ea typeface="+mn-ea"/>
                <a:cs typeface="Times New Roman" pitchFamily="18" charset="0"/>
              </a:rPr>
              <a:t>definition).</a:t>
            </a:r>
            <a:endParaRPr lang="en-US" sz="2000" kern="1200" dirty="0">
              <a:solidFill>
                <a:srgbClr val="000000"/>
              </a:solidFill>
              <a:latin typeface="Arial (Body)"/>
              <a:ea typeface="+mn-ea"/>
              <a:cs typeface="Times New Roman" pitchFamily="18" charset="0"/>
            </a:endParaRPr>
          </a:p>
          <a:p>
            <a:pPr marL="255651" indent="-255651" eaLnBrk="1" hangingPunct="1">
              <a:tabLst/>
              <a:defRPr/>
            </a:pPr>
            <a:r>
              <a:rPr lang="en-US" sz="2000" kern="1200" dirty="0">
                <a:solidFill>
                  <a:srgbClr val="000000"/>
                </a:solidFill>
                <a:latin typeface="Arial (Body)"/>
                <a:ea typeface="+mn-ea"/>
                <a:cs typeface="Times New Roman" pitchFamily="18" charset="0"/>
              </a:rPr>
              <a:t>Again, C++11’s in-class initializers also allow you to initialize these variables where they’re declared in the class </a:t>
            </a:r>
            <a:r>
              <a:rPr lang="en-US" sz="2000" kern="1200" dirty="0" smtClean="0">
                <a:solidFill>
                  <a:srgbClr val="000000"/>
                </a:solidFill>
                <a:latin typeface="Arial (Body)"/>
                <a:ea typeface="+mn-ea"/>
                <a:cs typeface="Times New Roman" pitchFamily="18" charset="0"/>
              </a:rPr>
              <a:t>definition.</a:t>
            </a:r>
            <a:endParaRPr lang="en-US" sz="2000" kern="1200" dirty="0">
              <a:solidFill>
                <a:srgbClr val="000000"/>
              </a:solidFill>
              <a:latin typeface="Arial (Body)"/>
              <a:ea typeface="+mn-ea"/>
              <a:cs typeface="Times New Roman" pitchFamily="18" charset="0"/>
            </a:endParaRP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17.14 </a:t>
            </a:r>
            <a:r>
              <a:rPr lang="en-US" altLang="en-US" kern="1200" dirty="0" smtClean="0">
                <a:latin typeface="Consolas" panose="020B0609020204030204" pitchFamily="49" charset="0"/>
                <a:ea typeface="+mj-ea"/>
                <a:cs typeface="+mj-cs"/>
              </a:rPr>
              <a:t>Static</a:t>
            </a:r>
            <a:r>
              <a:rPr lang="en-US" altLang="en-US" kern="1200" dirty="0" smtClean="0">
                <a:latin typeface="Times New Roman" panose="02020603050405020304" pitchFamily="18" charset="0"/>
                <a:ea typeface="+mj-ea"/>
                <a:cs typeface="+mj-cs"/>
              </a:rPr>
              <a:t> Class Members </a:t>
            </a:r>
            <a:r>
              <a:rPr lang="en-US" altLang="en-US" sz="2000" b="0" kern="1200" dirty="0" smtClean="0">
                <a:latin typeface="Times New Roman" panose="02020603050405020304" pitchFamily="18" charset="0"/>
                <a:ea typeface="+mj-ea"/>
                <a:cs typeface="+mj-cs"/>
              </a:rPr>
              <a:t>(3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399124" cy="2423710"/>
          </a:xfrm>
        </p:spPr>
        <p:txBody>
          <a:bodyPr wrap="square">
            <a:spAutoFit/>
          </a:bodyPr>
          <a:lstStyle/>
          <a:p>
            <a:pPr marL="0" indent="0" eaLnBrk="1" hangingPunct="1">
              <a:buNone/>
              <a:tabLst/>
              <a:defRPr/>
            </a:pPr>
            <a:r>
              <a:rPr lang="en-US" sz="1800" b="1" kern="1200" dirty="0">
                <a:solidFill>
                  <a:srgbClr val="000000"/>
                </a:solidFill>
                <a:latin typeface="Arial (Body)"/>
                <a:ea typeface="+mn-ea"/>
                <a:cs typeface="Times New Roman" pitchFamily="18" charset="0"/>
              </a:rPr>
              <a:t>Accessing </a:t>
            </a:r>
            <a:r>
              <a:rPr lang="en-US" sz="1800" b="1" kern="1200" dirty="0">
                <a:solidFill>
                  <a:srgbClr val="000000"/>
                </a:solidFill>
                <a:latin typeface="Consolas" panose="020B0609020204030204" pitchFamily="49" charset="0"/>
                <a:ea typeface="+mn-ea"/>
                <a:cs typeface="Times New Roman" pitchFamily="18" charset="0"/>
              </a:rPr>
              <a:t>static</a:t>
            </a:r>
            <a:r>
              <a:rPr lang="en-US" sz="1800" b="1" kern="1200" dirty="0">
                <a:solidFill>
                  <a:srgbClr val="000000"/>
                </a:solidFill>
                <a:latin typeface="Arial (Body)"/>
                <a:ea typeface="+mn-ea"/>
                <a:cs typeface="Times New Roman" pitchFamily="18" charset="0"/>
              </a:rPr>
              <a:t> Data Members</a:t>
            </a:r>
          </a:p>
          <a:p>
            <a:pPr marL="255651" indent="-255651" eaLnBrk="1" hangingPunct="1">
              <a:tabLst/>
              <a:defRPr/>
            </a:pPr>
            <a:r>
              <a:rPr lang="en-US" sz="1800" kern="1200" dirty="0">
                <a:solidFill>
                  <a:srgbClr val="000000"/>
                </a:solidFill>
                <a:latin typeface="Arial (Body)"/>
                <a:ea typeface="+mn-ea"/>
                <a:cs typeface="Times New Roman" pitchFamily="18" charset="0"/>
              </a:rPr>
              <a:t>A class’s </a:t>
            </a:r>
            <a:r>
              <a:rPr lang="en-US" sz="1800" kern="1200" dirty="0">
                <a:solidFill>
                  <a:srgbClr val="000000"/>
                </a:solidFill>
                <a:latin typeface="Consolas" panose="020B0609020204030204" pitchFamily="49" charset="0"/>
                <a:ea typeface="+mn-ea"/>
                <a:cs typeface="Times New Roman" pitchFamily="18" charset="0"/>
              </a:rPr>
              <a:t>private</a:t>
            </a:r>
            <a:r>
              <a:rPr lang="en-US" sz="1800" kern="1200" dirty="0">
                <a:solidFill>
                  <a:srgbClr val="000000"/>
                </a:solidFill>
                <a:latin typeface="Arial (Body)"/>
                <a:ea typeface="+mn-ea"/>
                <a:cs typeface="Times New Roman" pitchFamily="18" charset="0"/>
              </a:rPr>
              <a:t> and </a:t>
            </a:r>
            <a:r>
              <a:rPr lang="en-US" sz="1800" kern="1200" dirty="0">
                <a:solidFill>
                  <a:srgbClr val="000000"/>
                </a:solidFill>
                <a:latin typeface="Consolas" panose="020B0609020204030204" pitchFamily="49" charset="0"/>
                <a:ea typeface="+mn-ea"/>
                <a:cs typeface="Times New Roman" pitchFamily="18" charset="0"/>
              </a:rPr>
              <a:t>protected static</a:t>
            </a:r>
            <a:r>
              <a:rPr lang="en-US" sz="1800" kern="1200" dirty="0">
                <a:solidFill>
                  <a:srgbClr val="000000"/>
                </a:solidFill>
                <a:latin typeface="Arial (Body)"/>
                <a:ea typeface="+mn-ea"/>
                <a:cs typeface="Times New Roman" pitchFamily="18" charset="0"/>
              </a:rPr>
              <a:t> members are normally accessed through the class’s </a:t>
            </a:r>
            <a:r>
              <a:rPr lang="en-US" sz="1800" kern="1200" dirty="0">
                <a:solidFill>
                  <a:srgbClr val="000000"/>
                </a:solidFill>
                <a:latin typeface="Consolas" panose="020B0609020204030204" pitchFamily="49" charset="0"/>
                <a:ea typeface="+mn-ea"/>
                <a:cs typeface="Times New Roman" pitchFamily="18" charset="0"/>
              </a:rPr>
              <a:t>public</a:t>
            </a:r>
            <a:r>
              <a:rPr lang="en-US" sz="1800" kern="1200" dirty="0">
                <a:solidFill>
                  <a:srgbClr val="000000"/>
                </a:solidFill>
                <a:latin typeface="Arial (Body)"/>
                <a:ea typeface="+mn-ea"/>
                <a:cs typeface="Times New Roman" pitchFamily="18" charset="0"/>
              </a:rPr>
              <a:t> member functions or </a:t>
            </a:r>
            <a:r>
              <a:rPr lang="en-US" sz="1800" kern="1200" dirty="0" smtClean="0">
                <a:solidFill>
                  <a:srgbClr val="000000"/>
                </a:solidFill>
                <a:latin typeface="Arial (Body)"/>
                <a:ea typeface="+mn-ea"/>
                <a:cs typeface="Times New Roman" pitchFamily="18" charset="0"/>
              </a:rPr>
              <a:t>friends.</a:t>
            </a:r>
            <a:endParaRPr lang="en-US" sz="1800" kern="1200" dirty="0">
              <a:solidFill>
                <a:srgbClr val="000000"/>
              </a:solidFill>
              <a:latin typeface="Arial (Body)"/>
              <a:ea typeface="+mn-ea"/>
              <a:cs typeface="Times New Roman" pitchFamily="18" charset="0"/>
            </a:endParaRPr>
          </a:p>
          <a:p>
            <a:pPr marL="255651" indent="-255651" eaLnBrk="1" hangingPunct="1">
              <a:tabLst/>
              <a:defRPr/>
            </a:pPr>
            <a:r>
              <a:rPr lang="en-US" sz="1800" b="1" kern="1200" dirty="0">
                <a:solidFill>
                  <a:srgbClr val="000000"/>
                </a:solidFill>
                <a:latin typeface="Arial (Body)"/>
                <a:ea typeface="+mn-ea"/>
                <a:cs typeface="Times New Roman" pitchFamily="18" charset="0"/>
              </a:rPr>
              <a:t>A class’s </a:t>
            </a:r>
            <a:r>
              <a:rPr lang="en-US" sz="1800" b="1" kern="1200" dirty="0">
                <a:solidFill>
                  <a:srgbClr val="000000"/>
                </a:solidFill>
                <a:latin typeface="Consolas" panose="020B0609020204030204" pitchFamily="49" charset="0"/>
                <a:ea typeface="+mn-ea"/>
                <a:cs typeface="Times New Roman" pitchFamily="18" charset="0"/>
              </a:rPr>
              <a:t>static</a:t>
            </a:r>
            <a:r>
              <a:rPr lang="en-US" sz="1800" b="1" kern="1200" dirty="0">
                <a:solidFill>
                  <a:srgbClr val="000000"/>
                </a:solidFill>
                <a:latin typeface="Arial (Body)"/>
                <a:ea typeface="+mn-ea"/>
                <a:cs typeface="Times New Roman" pitchFamily="18" charset="0"/>
              </a:rPr>
              <a:t> members exist even when no objects of that class </a:t>
            </a:r>
            <a:r>
              <a:rPr lang="en-US" sz="1800" b="1" kern="1200" dirty="0" smtClean="0">
                <a:solidFill>
                  <a:srgbClr val="000000"/>
                </a:solidFill>
                <a:latin typeface="Arial (Body)"/>
                <a:ea typeface="+mn-ea"/>
                <a:cs typeface="Times New Roman" pitchFamily="18" charset="0"/>
              </a:rPr>
              <a:t>exist.</a:t>
            </a:r>
            <a:endParaRPr lang="en-US" sz="1800" b="1" kern="1200" dirty="0">
              <a:solidFill>
                <a:srgbClr val="000000"/>
              </a:solidFill>
              <a:latin typeface="Arial (Body)"/>
              <a:ea typeface="+mn-ea"/>
              <a:cs typeface="Times New Roman" pitchFamily="18" charset="0"/>
            </a:endParaRPr>
          </a:p>
          <a:p>
            <a:pPr marL="255651" indent="-255651" eaLnBrk="1" hangingPunct="1">
              <a:tabLst/>
              <a:defRPr/>
            </a:pPr>
            <a:r>
              <a:rPr lang="en-US" sz="1800" kern="1200" dirty="0">
                <a:solidFill>
                  <a:srgbClr val="000000"/>
                </a:solidFill>
                <a:latin typeface="Arial (Body)"/>
                <a:ea typeface="+mn-ea"/>
                <a:cs typeface="Times New Roman" pitchFamily="18" charset="0"/>
              </a:rPr>
              <a:t>To access a </a:t>
            </a:r>
            <a:r>
              <a:rPr lang="en-US" sz="1800" kern="1200" dirty="0">
                <a:solidFill>
                  <a:srgbClr val="000000"/>
                </a:solidFill>
                <a:latin typeface="Consolas" panose="020B0609020204030204" pitchFamily="49" charset="0"/>
                <a:ea typeface="+mn-ea"/>
                <a:cs typeface="Times New Roman" pitchFamily="18" charset="0"/>
              </a:rPr>
              <a:t>public static</a:t>
            </a:r>
            <a:r>
              <a:rPr lang="en-US" sz="1800" kern="1200" dirty="0">
                <a:solidFill>
                  <a:srgbClr val="000000"/>
                </a:solidFill>
                <a:latin typeface="Arial (Body)"/>
                <a:ea typeface="+mn-ea"/>
                <a:cs typeface="Times New Roman" pitchFamily="18" charset="0"/>
              </a:rPr>
              <a:t> class member when no objects of the class exist, simply prefix the class name and the scope resolution </a:t>
            </a:r>
            <a:r>
              <a:rPr lang="en-US" sz="1800" kern="1200" dirty="0" smtClean="0">
                <a:solidFill>
                  <a:srgbClr val="000000"/>
                </a:solidFill>
                <a:latin typeface="Arial (Body)"/>
                <a:ea typeface="+mn-ea"/>
                <a:cs typeface="Times New Roman" pitchFamily="18" charset="0"/>
              </a:rPr>
              <a:t>operator</a:t>
            </a:r>
            <a:endParaRPr lang="en-US" sz="1800" kern="1200" dirty="0">
              <a:solidFill>
                <a:srgbClr val="000000"/>
              </a:solidFill>
              <a:latin typeface="Arial (Body)"/>
              <a:ea typeface="+mn-ea"/>
              <a:cs typeface="Times New Roman" pitchFamily="18" charset="0"/>
            </a:endParaRPr>
          </a:p>
        </p:txBody>
      </p:sp>
      <p:graphicFrame>
        <p:nvGraphicFramePr>
          <p:cNvPr id="5" name="Object 4" descr="Left parenthesis colon colon right parenthesis."/>
          <p:cNvGraphicFramePr>
            <a:graphicFrameLocks noChangeAspect="1"/>
          </p:cNvGraphicFramePr>
          <p:nvPr>
            <p:extLst>
              <p:ext uri="{D42A27DB-BD31-4B8C-83A1-F6EECF244321}">
                <p14:modId xmlns:p14="http://schemas.microsoft.com/office/powerpoint/2010/main" val="1339331520"/>
              </p:ext>
            </p:extLst>
          </p:nvPr>
        </p:nvGraphicFramePr>
        <p:xfrm>
          <a:off x="7193302" y="3612982"/>
          <a:ext cx="334694" cy="371881"/>
        </p:xfrm>
        <a:graphic>
          <a:graphicData uri="http://schemas.openxmlformats.org/presentationml/2006/ole">
            <mc:AlternateContent xmlns:mc="http://schemas.openxmlformats.org/markup-compatibility/2006">
              <mc:Choice xmlns:v="urn:schemas-microsoft-com:vml" Requires="v">
                <p:oleObj spid="_x0000_s5560" name="Equation" r:id="rId3" imgW="228600" imgH="253800" progId="Equation.DSMT4">
                  <p:embed/>
                </p:oleObj>
              </mc:Choice>
              <mc:Fallback>
                <p:oleObj name="Equation" r:id="rId3" imgW="228600" imgH="253800" progId="Equation.DSMT4">
                  <p:embed/>
                  <p:pic>
                    <p:nvPicPr>
                      <p:cNvPr id="0" name=""/>
                      <p:cNvPicPr/>
                      <p:nvPr/>
                    </p:nvPicPr>
                    <p:blipFill>
                      <a:blip r:embed="rId4"/>
                      <a:stretch>
                        <a:fillRect/>
                      </a:stretch>
                    </p:blipFill>
                    <p:spPr>
                      <a:xfrm>
                        <a:off x="7193302" y="3612982"/>
                        <a:ext cx="334694" cy="371881"/>
                      </a:xfrm>
                      <a:prstGeom prst="rect">
                        <a:avLst/>
                      </a:prstGeom>
                    </p:spPr>
                  </p:pic>
                </p:oleObj>
              </mc:Fallback>
            </mc:AlternateContent>
          </a:graphicData>
        </a:graphic>
      </p:graphicFrame>
      <p:sp>
        <p:nvSpPr>
          <p:cNvPr id="4" name="Text Placeholder 3"/>
          <p:cNvSpPr>
            <a:spLocks noGrp="1"/>
          </p:cNvSpPr>
          <p:nvPr>
            <p:ph type="body" idx="2"/>
          </p:nvPr>
        </p:nvSpPr>
        <p:spPr>
          <a:xfrm>
            <a:off x="477748" y="3561612"/>
            <a:ext cx="8229600" cy="2513181"/>
          </a:xfrm>
        </p:spPr>
        <p:txBody>
          <a:bodyPr/>
          <a:lstStyle/>
          <a:p>
            <a:pPr marL="228600" indent="6799263" eaLnBrk="1" hangingPunct="1">
              <a:buNone/>
              <a:tabLst/>
              <a:defRPr/>
            </a:pPr>
            <a:r>
              <a:rPr lang="en-US" sz="1800" kern="1200" dirty="0">
                <a:solidFill>
                  <a:srgbClr val="000000"/>
                </a:solidFill>
                <a:latin typeface="Arial (Body)"/>
                <a:cs typeface="Times New Roman" pitchFamily="18" charset="0"/>
              </a:rPr>
              <a:t>to the name of the data member.</a:t>
            </a:r>
          </a:p>
          <a:p>
            <a:pPr marL="255651" indent="-255651" eaLnBrk="1" hangingPunct="1">
              <a:tabLst/>
              <a:defRPr/>
            </a:pPr>
            <a:r>
              <a:rPr lang="en-US" sz="1800" kern="1200" dirty="0">
                <a:solidFill>
                  <a:srgbClr val="000000"/>
                </a:solidFill>
                <a:latin typeface="Arial (Body)"/>
                <a:cs typeface="Times New Roman" pitchFamily="18" charset="0"/>
              </a:rPr>
              <a:t>To access a private or protected static class member when no objects of the class exist, provide a public </a:t>
            </a:r>
            <a:r>
              <a:rPr lang="en-US" sz="1800" b="1" kern="1200" dirty="0">
                <a:solidFill>
                  <a:srgbClr val="000000"/>
                </a:solidFill>
                <a:latin typeface="Consolas" panose="020B0609020204030204" pitchFamily="49" charset="0"/>
                <a:cs typeface="Times New Roman" pitchFamily="18" charset="0"/>
              </a:rPr>
              <a:t>static</a:t>
            </a:r>
            <a:r>
              <a:rPr lang="en-US" sz="1800" b="1" kern="1200" dirty="0">
                <a:solidFill>
                  <a:srgbClr val="000000"/>
                </a:solidFill>
                <a:latin typeface="Arial (Body)"/>
                <a:cs typeface="Times New Roman" pitchFamily="18" charset="0"/>
              </a:rPr>
              <a:t> member function</a:t>
            </a:r>
            <a:r>
              <a:rPr lang="en-US" sz="1800" kern="1200" dirty="0">
                <a:solidFill>
                  <a:srgbClr val="000000"/>
                </a:solidFill>
                <a:latin typeface="Arial (Body)"/>
                <a:cs typeface="Times New Roman" pitchFamily="18" charset="0"/>
              </a:rPr>
              <a:t> and call the function by prefixing its name with the class name and scope resolution operator.</a:t>
            </a:r>
          </a:p>
          <a:p>
            <a:pPr marL="255651" indent="-255651" eaLnBrk="1" hangingPunct="1">
              <a:tabLst/>
              <a:defRPr/>
            </a:pPr>
            <a:r>
              <a:rPr lang="en-US" sz="1800" kern="1200" dirty="0">
                <a:solidFill>
                  <a:srgbClr val="000000"/>
                </a:solidFill>
                <a:latin typeface="Arial (Body)"/>
                <a:cs typeface="Times New Roman" pitchFamily="18" charset="0"/>
              </a:rPr>
              <a:t>A </a:t>
            </a:r>
            <a:r>
              <a:rPr lang="en-US" sz="1800" kern="1200" dirty="0">
                <a:solidFill>
                  <a:srgbClr val="000000"/>
                </a:solidFill>
                <a:latin typeface="Consolas" panose="020B0609020204030204" pitchFamily="49" charset="0"/>
                <a:cs typeface="Times New Roman" pitchFamily="18" charset="0"/>
              </a:rPr>
              <a:t>static</a:t>
            </a:r>
            <a:r>
              <a:rPr lang="en-US" sz="1800" kern="1200" dirty="0">
                <a:solidFill>
                  <a:srgbClr val="000000"/>
                </a:solidFill>
                <a:latin typeface="Arial (Body)"/>
                <a:cs typeface="Times New Roman" pitchFamily="18" charset="0"/>
              </a:rPr>
              <a:t> member function is a service of the </a:t>
            </a:r>
            <a:r>
              <a:rPr lang="en-US" sz="1800" b="1" kern="1200" dirty="0">
                <a:solidFill>
                  <a:srgbClr val="000000"/>
                </a:solidFill>
                <a:latin typeface="Arial (Body)"/>
                <a:cs typeface="Times New Roman" pitchFamily="18" charset="0"/>
              </a:rPr>
              <a:t>class</a:t>
            </a:r>
            <a:r>
              <a:rPr lang="en-US" sz="1800" kern="1200" dirty="0">
                <a:solidFill>
                  <a:srgbClr val="000000"/>
                </a:solidFill>
                <a:latin typeface="Arial (Body)"/>
                <a:cs typeface="Times New Roman" pitchFamily="18" charset="0"/>
              </a:rPr>
              <a:t>, </a:t>
            </a:r>
            <a:r>
              <a:rPr lang="en-US" sz="1800" b="1" kern="1200" dirty="0">
                <a:solidFill>
                  <a:srgbClr val="000000"/>
                </a:solidFill>
                <a:latin typeface="Arial (Body)"/>
                <a:cs typeface="Times New Roman" pitchFamily="18" charset="0"/>
              </a:rPr>
              <a:t>not</a:t>
            </a:r>
            <a:r>
              <a:rPr lang="en-US" sz="1800" kern="1200" dirty="0">
                <a:solidFill>
                  <a:srgbClr val="000000"/>
                </a:solidFill>
                <a:latin typeface="Arial (Body)"/>
                <a:cs typeface="Times New Roman" pitchFamily="18" charset="0"/>
              </a:rPr>
              <a:t> of a specific </a:t>
            </a:r>
            <a:r>
              <a:rPr lang="en-US" sz="1800" b="1" kern="1200" dirty="0">
                <a:solidFill>
                  <a:srgbClr val="000000"/>
                </a:solidFill>
                <a:latin typeface="Arial (Body)"/>
                <a:cs typeface="Times New Roman" pitchFamily="18" charset="0"/>
              </a:rPr>
              <a:t>object</a:t>
            </a:r>
            <a:r>
              <a:rPr lang="en-US" sz="1800" kern="1200" dirty="0">
                <a:solidFill>
                  <a:srgbClr val="000000"/>
                </a:solidFill>
                <a:latin typeface="Arial (Body)"/>
                <a:cs typeface="Times New Roman" pitchFamily="18" charset="0"/>
              </a:rPr>
              <a:t> of the class</a:t>
            </a:r>
            <a:r>
              <a:rPr lang="en-US" sz="1800" kern="1200" dirty="0" smtClean="0">
                <a:solidFill>
                  <a:srgbClr val="000000"/>
                </a:solidFill>
                <a:latin typeface="Arial (Body)"/>
                <a:cs typeface="Times New Roman" pitchFamily="18" charset="0"/>
              </a:rPr>
              <a:t>.</a:t>
            </a:r>
            <a:endParaRPr lang="en-US" sz="1800" kern="1200" dirty="0">
              <a:solidFill>
                <a:srgbClr val="000000"/>
              </a:solidFill>
              <a:latin typeface="Arial (Body)"/>
              <a:cs typeface="Times New Roman" pitchFamily="18" charset="0"/>
            </a:endParaRP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Software Engineering Observation </a:t>
            </a:r>
            <a:r>
              <a:rPr lang="en-US" dirty="0" smtClean="0"/>
              <a:t>17.14</a:t>
            </a:r>
            <a:endParaRPr lang="en-US" dirty="0"/>
          </a:p>
        </p:txBody>
      </p:sp>
      <p:sp>
        <p:nvSpPr>
          <p:cNvPr id="3" name="Text Placeholder 2"/>
          <p:cNvSpPr>
            <a:spLocks noGrp="1"/>
          </p:cNvSpPr>
          <p:nvPr>
            <p:ph type="body" idx="1"/>
          </p:nvPr>
        </p:nvSpPr>
        <p:spPr>
          <a:xfrm>
            <a:off x="457200" y="1600200"/>
            <a:ext cx="8229600" cy="1266825"/>
          </a:xfrm>
        </p:spPr>
        <p:txBody>
          <a:bodyPr/>
          <a:lstStyle/>
          <a:p>
            <a:pPr marL="0" indent="0">
              <a:buNone/>
            </a:pPr>
            <a:r>
              <a:rPr lang="en-US" sz="2400" dirty="0">
                <a:latin typeface="Arial Body"/>
              </a:rPr>
              <a:t>A class’s </a:t>
            </a:r>
            <a:r>
              <a:rPr lang="en-US" sz="2400" dirty="0">
                <a:latin typeface="Consolas" panose="020B0609020204030204" pitchFamily="49" charset="0"/>
              </a:rPr>
              <a:t>static</a:t>
            </a:r>
            <a:r>
              <a:rPr lang="en-US" sz="2400" dirty="0">
                <a:latin typeface="Arial Body"/>
              </a:rPr>
              <a:t> data members and </a:t>
            </a:r>
            <a:r>
              <a:rPr lang="en-US" sz="2400" dirty="0">
                <a:latin typeface="Consolas" panose="020B0609020204030204" pitchFamily="49" charset="0"/>
              </a:rPr>
              <a:t>static</a:t>
            </a:r>
            <a:r>
              <a:rPr lang="en-US" sz="2400" dirty="0">
                <a:latin typeface="Arial Body"/>
              </a:rPr>
              <a:t> member functions exist and can be used even if no objects of that class have been instantiated.</a:t>
            </a: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838"/>
            <a:ext cx="8229600" cy="708025"/>
          </a:xfrm>
        </p:spPr>
        <p:txBody>
          <a:bodyPr>
            <a:spAutoFit/>
          </a:bodyPr>
          <a:lstStyle/>
          <a:p>
            <a:pPr eaLnBrk="1" hangingPunct="1">
              <a:spcBef>
                <a:spcPct val="0"/>
              </a:spcBef>
              <a:buClrTx/>
              <a:defRPr/>
            </a:pPr>
            <a:r>
              <a:rPr lang="en-US" altLang="en-US" kern="1200" dirty="0" smtClean="0">
                <a:latin typeface="Times New Roman" panose="02020603050405020304" pitchFamily="18" charset="0"/>
                <a:ea typeface="+mj-ea"/>
                <a:cs typeface="+mj-cs"/>
              </a:rPr>
              <a:t>17.14 </a:t>
            </a:r>
            <a:r>
              <a:rPr lang="en-US" altLang="en-US" kern="1200" dirty="0" smtClean="0">
                <a:latin typeface="Consolas" panose="020B0609020204030204" pitchFamily="49" charset="0"/>
                <a:ea typeface="+mj-ea"/>
                <a:cs typeface="+mj-cs"/>
              </a:rPr>
              <a:t>Static</a:t>
            </a:r>
            <a:r>
              <a:rPr lang="en-US" altLang="en-US" kern="1200" dirty="0" smtClean="0">
                <a:latin typeface="Times New Roman" panose="02020603050405020304" pitchFamily="18" charset="0"/>
                <a:ea typeface="+mj-ea"/>
                <a:cs typeface="+mj-cs"/>
              </a:rPr>
              <a:t> Class Members </a:t>
            </a:r>
            <a:r>
              <a:rPr lang="en-US" altLang="en-US" sz="2000" b="0" kern="1200" dirty="0" smtClean="0">
                <a:latin typeface="Times New Roman" panose="02020603050405020304" pitchFamily="18" charset="0"/>
                <a:ea typeface="+mj-ea"/>
                <a:cs typeface="+mj-cs"/>
              </a:rPr>
              <a:t>(4 of 4)</a:t>
            </a:r>
            <a:endParaRPr lang="en-US" altLang="en-US" sz="2000" b="0" kern="1200" dirty="0">
              <a:latin typeface="Times New Roman" panose="02020603050405020304" pitchFamily="18" charset="0"/>
              <a:ea typeface="+mj-ea"/>
              <a:cs typeface="+mj-cs"/>
            </a:endParaRPr>
          </a:p>
        </p:txBody>
      </p:sp>
      <p:sp>
        <p:nvSpPr>
          <p:cNvPr id="3" name="Text Placeholder 2"/>
          <p:cNvSpPr>
            <a:spLocks noGrp="1"/>
          </p:cNvSpPr>
          <p:nvPr>
            <p:ph type="body" idx="1"/>
          </p:nvPr>
        </p:nvSpPr>
        <p:spPr>
          <a:xfrm>
            <a:off x="457200" y="1600200"/>
            <a:ext cx="8229600" cy="2592987"/>
          </a:xfrm>
        </p:spPr>
        <p:txBody>
          <a:bodyPr>
            <a:spAutoFit/>
          </a:bodyPr>
          <a:lstStyle/>
          <a:p>
            <a:pPr marL="0" indent="0" eaLnBrk="1" hangingPunct="1">
              <a:buNone/>
              <a:tabLst/>
              <a:defRPr/>
            </a:pPr>
            <a:r>
              <a:rPr lang="en-US" sz="2400" b="1" kern="1200" dirty="0">
                <a:solidFill>
                  <a:srgbClr val="000000"/>
                </a:solidFill>
                <a:latin typeface="Arial (Body)"/>
                <a:ea typeface="+mn-ea"/>
                <a:cs typeface="Times New Roman" pitchFamily="18" charset="0"/>
              </a:rPr>
              <a:t>Demonstrating </a:t>
            </a:r>
            <a:r>
              <a:rPr lang="en-US" sz="2400" b="1" kern="1200" dirty="0">
                <a:solidFill>
                  <a:srgbClr val="000000"/>
                </a:solidFill>
                <a:latin typeface="Consolas" panose="020B0609020204030204" pitchFamily="49" charset="0"/>
                <a:ea typeface="+mn-ea"/>
                <a:cs typeface="Times New Roman" pitchFamily="18" charset="0"/>
              </a:rPr>
              <a:t>static</a:t>
            </a:r>
            <a:r>
              <a:rPr lang="en-US" sz="2400" b="1" kern="1200" dirty="0">
                <a:solidFill>
                  <a:srgbClr val="000000"/>
                </a:solidFill>
                <a:latin typeface="Arial (Body)"/>
                <a:ea typeface="+mn-ea"/>
                <a:cs typeface="Times New Roman" pitchFamily="18" charset="0"/>
              </a:rPr>
              <a:t> Data Members</a:t>
            </a:r>
          </a:p>
          <a:p>
            <a:pPr marL="255651" indent="-255651" eaLnBrk="1" hangingPunct="1">
              <a:tabLst/>
              <a:defRPr/>
            </a:pPr>
            <a:r>
              <a:rPr lang="en-US" sz="2400" kern="1200" dirty="0">
                <a:solidFill>
                  <a:srgbClr val="000000"/>
                </a:solidFill>
                <a:latin typeface="Arial (Body)"/>
                <a:ea typeface="+mn-ea"/>
                <a:cs typeface="Times New Roman" pitchFamily="18" charset="0"/>
              </a:rPr>
              <a:t>The program of </a:t>
            </a:r>
            <a:r>
              <a:rPr lang="en-US" sz="2400" kern="1200" dirty="0" smtClean="0">
                <a:solidFill>
                  <a:srgbClr val="000000"/>
                </a:solidFill>
                <a:latin typeface="Arial (Body)"/>
                <a:ea typeface="+mn-ea"/>
                <a:cs typeface="Times New Roman" pitchFamily="18" charset="0"/>
              </a:rPr>
              <a:t>Figures 17.27 (see slide 152-153)–17.29 (see slide 156-158) demonstrates </a:t>
            </a:r>
            <a:r>
              <a:rPr lang="en-US" sz="2400" kern="1200" dirty="0">
                <a:solidFill>
                  <a:srgbClr val="000000"/>
                </a:solidFill>
                <a:latin typeface="Arial (Body)"/>
                <a:ea typeface="+mn-ea"/>
                <a:cs typeface="Times New Roman" pitchFamily="18" charset="0"/>
              </a:rPr>
              <a:t>a </a:t>
            </a:r>
            <a:r>
              <a:rPr lang="en-US" sz="2400" kern="1200" dirty="0">
                <a:solidFill>
                  <a:srgbClr val="000000"/>
                </a:solidFill>
                <a:latin typeface="Consolas" panose="020B0609020204030204" pitchFamily="49" charset="0"/>
                <a:ea typeface="+mn-ea"/>
                <a:cs typeface="Times New Roman" pitchFamily="18" charset="0"/>
              </a:rPr>
              <a:t>private static</a:t>
            </a:r>
            <a:r>
              <a:rPr lang="en-US" sz="2400" kern="1200" dirty="0">
                <a:solidFill>
                  <a:srgbClr val="000000"/>
                </a:solidFill>
                <a:latin typeface="Arial (Body)"/>
                <a:ea typeface="+mn-ea"/>
                <a:cs typeface="Times New Roman" pitchFamily="18" charset="0"/>
              </a:rPr>
              <a:t> data member called </a:t>
            </a:r>
            <a:r>
              <a:rPr lang="en-US" sz="2400" kern="1200" dirty="0">
                <a:solidFill>
                  <a:srgbClr val="000000"/>
                </a:solidFill>
                <a:latin typeface="Consolas" panose="020B0609020204030204" pitchFamily="49" charset="0"/>
                <a:ea typeface="+mn-ea"/>
                <a:cs typeface="Times New Roman" pitchFamily="18" charset="0"/>
              </a:rPr>
              <a:t>count</a:t>
            </a:r>
            <a:r>
              <a:rPr lang="en-US" sz="2400" kern="1200" dirty="0">
                <a:solidFill>
                  <a:srgbClr val="000000"/>
                </a:solidFill>
                <a:latin typeface="Arial (Body)"/>
                <a:ea typeface="+mn-ea"/>
                <a:cs typeface="Times New Roman" pitchFamily="18" charset="0"/>
              </a:rPr>
              <a:t> (</a:t>
            </a:r>
            <a:r>
              <a:rPr lang="en-US" sz="2400" kern="1200" dirty="0" smtClean="0">
                <a:solidFill>
                  <a:srgbClr val="000000"/>
                </a:solidFill>
                <a:latin typeface="Arial (Body)"/>
                <a:ea typeface="+mn-ea"/>
                <a:cs typeface="Times New Roman" pitchFamily="18" charset="0"/>
              </a:rPr>
              <a:t>Figure 17.27, </a:t>
            </a:r>
            <a:r>
              <a:rPr lang="en-US" sz="2400" kern="1200" dirty="0">
                <a:solidFill>
                  <a:srgbClr val="000000"/>
                </a:solidFill>
                <a:latin typeface="Arial (Body)"/>
                <a:ea typeface="+mn-ea"/>
                <a:cs typeface="Times New Roman" pitchFamily="18" charset="0"/>
              </a:rPr>
              <a:t>line 24) and a </a:t>
            </a:r>
            <a:r>
              <a:rPr lang="en-US" sz="2400" kern="1200" dirty="0">
                <a:solidFill>
                  <a:srgbClr val="000000"/>
                </a:solidFill>
                <a:latin typeface="Consolas" panose="020B0609020204030204" pitchFamily="49" charset="0"/>
                <a:ea typeface="+mn-ea"/>
                <a:cs typeface="Times New Roman" pitchFamily="18" charset="0"/>
              </a:rPr>
              <a:t>public static</a:t>
            </a:r>
            <a:r>
              <a:rPr lang="en-US" sz="2400" kern="1200" dirty="0">
                <a:solidFill>
                  <a:srgbClr val="000000"/>
                </a:solidFill>
                <a:latin typeface="Arial (Body)"/>
                <a:ea typeface="+mn-ea"/>
                <a:cs typeface="Times New Roman" pitchFamily="18" charset="0"/>
              </a:rPr>
              <a:t> member function called </a:t>
            </a:r>
            <a:r>
              <a:rPr lang="en-US" sz="2400" kern="1200" dirty="0">
                <a:solidFill>
                  <a:srgbClr val="000000"/>
                </a:solidFill>
                <a:latin typeface="Consolas" panose="020B0609020204030204" pitchFamily="49" charset="0"/>
                <a:ea typeface="+mn-ea"/>
                <a:cs typeface="Times New Roman" pitchFamily="18" charset="0"/>
              </a:rPr>
              <a:t>getCount</a:t>
            </a:r>
            <a:r>
              <a:rPr lang="en-US" sz="2400" kern="1200" dirty="0">
                <a:solidFill>
                  <a:srgbClr val="000000"/>
                </a:solidFill>
                <a:latin typeface="Arial (Body)"/>
                <a:ea typeface="+mn-ea"/>
                <a:cs typeface="Times New Roman" pitchFamily="18" charset="0"/>
              </a:rPr>
              <a:t> (</a:t>
            </a:r>
            <a:r>
              <a:rPr lang="en-US" sz="2400" kern="1200" dirty="0" smtClean="0">
                <a:solidFill>
                  <a:srgbClr val="000000"/>
                </a:solidFill>
                <a:latin typeface="Arial (Body)"/>
                <a:ea typeface="+mn-ea"/>
                <a:cs typeface="Times New Roman" pitchFamily="18" charset="0"/>
              </a:rPr>
              <a:t>Figure 17.27, </a:t>
            </a:r>
            <a:r>
              <a:rPr lang="en-US" sz="2400" kern="1200" dirty="0">
                <a:solidFill>
                  <a:srgbClr val="000000"/>
                </a:solidFill>
                <a:latin typeface="Arial (Body)"/>
                <a:ea typeface="+mn-ea"/>
                <a:cs typeface="Times New Roman" pitchFamily="18" charset="0"/>
              </a:rPr>
              <a:t>line </a:t>
            </a:r>
            <a:r>
              <a:rPr lang="en-US" sz="2400" kern="1200" dirty="0" smtClean="0">
                <a:solidFill>
                  <a:srgbClr val="000000"/>
                </a:solidFill>
                <a:latin typeface="Arial (Body)"/>
                <a:ea typeface="+mn-ea"/>
                <a:cs typeface="Times New Roman" pitchFamily="18" charset="0"/>
              </a:rPr>
              <a:t>18).</a:t>
            </a:r>
            <a:endParaRPr lang="en-US" sz="2400" kern="1200" dirty="0">
              <a:solidFill>
                <a:srgbClr val="000000"/>
              </a:solidFill>
              <a:latin typeface="Arial (Body)"/>
              <a:ea typeface="+mn-ea"/>
              <a:cs typeface="Times New Roman" pitchFamily="18" charset="0"/>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447800"/>
          </a:xfrm>
        </p:spPr>
        <p:txBody>
          <a:bodyPr anchor="t"/>
          <a:lstStyle/>
          <a:p>
            <a:r>
              <a:rPr lang="en-US" sz="3000" dirty="0"/>
              <a:t>Figure </a:t>
            </a:r>
            <a:r>
              <a:rPr lang="en-US" sz="3000" dirty="0" smtClean="0"/>
              <a:t>17.27 </a:t>
            </a:r>
            <a:r>
              <a:rPr lang="en-US" sz="3000" dirty="0">
                <a:latin typeface="Consolas" panose="020B0609020204030204" pitchFamily="49" charset="0"/>
              </a:rPr>
              <a:t>Employee</a:t>
            </a:r>
            <a:r>
              <a:rPr lang="en-US" sz="3000" dirty="0"/>
              <a:t> Class Definition with a Static Data Member to Track the Number of </a:t>
            </a:r>
            <a:r>
              <a:rPr lang="en-US" sz="3000" dirty="0">
                <a:latin typeface="Consolas" panose="020B0609020204030204" pitchFamily="49" charset="0"/>
              </a:rPr>
              <a:t>Employee</a:t>
            </a:r>
            <a:r>
              <a:rPr lang="en-US" sz="3000" dirty="0"/>
              <a:t> Objects in </a:t>
            </a:r>
            <a:r>
              <a:rPr lang="en-US" sz="3000" dirty="0" smtClean="0"/>
              <a:t>Memory </a:t>
            </a:r>
            <a:r>
              <a:rPr lang="en-US" sz="2000" b="0" dirty="0" smtClean="0"/>
              <a:t>(1 of 2)</a:t>
            </a:r>
            <a:endParaRPr lang="en-US" sz="2000" b="0" dirty="0"/>
          </a:p>
        </p:txBody>
      </p:sp>
      <p:pic>
        <p:nvPicPr>
          <p:cNvPr id="3" name="Picture 2" descr="The computer code has 27 lines. The lines read as follows. Line 1. forward slash forward slash Fig period 17 period 27 colon Employee period h. Line 2. forward slash forward slash Employee class definition with a static data member to. Line 3. forward slash forward slash track the number of Employee objects in memory. Line 4. hash if n d e f EMPLOYEE underscore H. Line 5. hash define EMPLOYEE underscore H. Line 6. Blank. Line 7. hash include left angle bracket string right angle bracket. Line 8. Blank. Line 9. class Employee. Line 10. left brace. Line 11. public colon. Line 12, indented once. Employee left parenthesis c o n s t s t d colon colon string ampersand comma c o n s t s t d colon colon string ampersand right parenthesis semicolon forward slash forward slash constructor. Line 13, indented once. tilde Employee left parenthesis right parenthesis semicolon forward slash forward slash destructor. Line 14, indented once. s t d colon colon string get First Name left parenthesis right parenthesis c o n s t semicolon forward slash forward slash return first name. Line 15, indented once. s t d colon colon string get Last Name left parenthesis right parenthesis c o n s t semicolon forward slash forward slash return last name. Line 16. Blank. Line 17, indented once. forward slash forward slash static member function. Line 18, indented once. static unsigned i n t get Count left parenthesis right parenthesis semicolon forward slash forward slash return hash of objects instantiated. Line 19. private colon. Line 20, indented once. s t d colon colon string first Name semicolon. Line 21, indented once. s t d colon colon string last Name semicolon. Line 22. Blank."/>
          <p:cNvPicPr>
            <a:picLocks noChangeAspect="1"/>
          </p:cNvPicPr>
          <p:nvPr/>
        </p:nvPicPr>
        <p:blipFill>
          <a:blip r:embed="rId2"/>
          <a:stretch>
            <a:fillRect/>
          </a:stretch>
        </p:blipFill>
        <p:spPr>
          <a:xfrm>
            <a:off x="1005217" y="1913357"/>
            <a:ext cx="7063895" cy="4408021"/>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600200"/>
          </a:xfrm>
        </p:spPr>
        <p:txBody>
          <a:bodyPr anchor="t"/>
          <a:lstStyle/>
          <a:p>
            <a:r>
              <a:rPr lang="en-US" sz="3000" dirty="0"/>
              <a:t>Figure </a:t>
            </a:r>
            <a:r>
              <a:rPr lang="en-US" sz="3000" dirty="0" smtClean="0"/>
              <a:t>17.27 </a:t>
            </a:r>
            <a:r>
              <a:rPr lang="en-US" sz="3000" dirty="0">
                <a:latin typeface="Consolas" panose="020B0609020204030204" pitchFamily="49" charset="0"/>
              </a:rPr>
              <a:t>Employee</a:t>
            </a:r>
            <a:r>
              <a:rPr lang="en-US" sz="3000" dirty="0"/>
              <a:t> Class Definition with a Static Data Member to Track the Number of </a:t>
            </a:r>
            <a:r>
              <a:rPr lang="en-US" sz="3000" dirty="0">
                <a:latin typeface="Consolas" panose="020B0609020204030204" pitchFamily="49" charset="0"/>
              </a:rPr>
              <a:t>Employee</a:t>
            </a:r>
            <a:r>
              <a:rPr lang="en-US" sz="3000" dirty="0"/>
              <a:t> Objects in Memory </a:t>
            </a:r>
            <a:r>
              <a:rPr lang="en-US" sz="2000" b="0" dirty="0" smtClean="0"/>
              <a:t>(2 </a:t>
            </a:r>
            <a:r>
              <a:rPr lang="en-US" sz="2000" b="0" dirty="0"/>
              <a:t>of 2)</a:t>
            </a:r>
            <a:endParaRPr lang="en-US" sz="2000" dirty="0"/>
          </a:p>
        </p:txBody>
      </p:sp>
      <p:pic>
        <p:nvPicPr>
          <p:cNvPr id="3" name="Picture 2" descr="The code continues. Line 23, indented once. forward slash forward slash static data. Line 24, indented once. static unsigned i n t count semicolon forward slash forward slash number of objects instantiated. Line 25. right brace semicolon forward slash forward slash end class Employee. Line 26. Blank. Line 27. hash end if."/>
          <p:cNvPicPr>
            <a:picLocks noChangeAspect="1"/>
          </p:cNvPicPr>
          <p:nvPr/>
        </p:nvPicPr>
        <p:blipFill>
          <a:blip r:embed="rId2"/>
          <a:stretch>
            <a:fillRect/>
          </a:stretch>
        </p:blipFill>
        <p:spPr>
          <a:xfrm>
            <a:off x="557166" y="2628278"/>
            <a:ext cx="8029668" cy="1477459"/>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a:t>
            </a:r>
            <a:r>
              <a:rPr lang="en-US" dirty="0" smtClean="0"/>
              <a:t>17.28 </a:t>
            </a:r>
            <a:r>
              <a:rPr lang="en-US" dirty="0">
                <a:latin typeface="Consolas" panose="020B0609020204030204" pitchFamily="49" charset="0"/>
              </a:rPr>
              <a:t>Employee</a:t>
            </a:r>
            <a:r>
              <a:rPr lang="en-US" dirty="0"/>
              <a:t> Class Member-Function Definitions </a:t>
            </a:r>
            <a:r>
              <a:rPr lang="en-US" sz="2000" b="0" dirty="0" smtClean="0"/>
              <a:t>(1 of 2)</a:t>
            </a:r>
            <a:endParaRPr lang="en-US" sz="2000" b="0" dirty="0"/>
          </a:p>
        </p:txBody>
      </p:sp>
      <p:pic>
        <p:nvPicPr>
          <p:cNvPr id="3" name="Picture 2" descr="The computer code has 45 lines. The lines read as follows. Line 1. forward slash forward slash Fig period 17 period 28 colon Employee period c p p. Line 2. forward slash forward slash Employee class member dash function definitions period. Line 3. hash include left angle bracket i o stream right angle bracket. Line 4. hash include double quote Employee period h double quote forward slash forward slash Employee class definition. Line 5. using namespace s t d semicolon. Line 6. Blank. Line 7. forward slash forward slash define and initialize static data member at global namespace scope. Line 8. unsigned i n t Employee colon colon count equals 0 semicolon forward slash forward slash cannot include keyword static. Line 9. Blank. Line 10. forward slash forward slash define static member function that returns number of. Line 11. forward slash forward slash Employee objects instantiated left parenthesis declared static in Employee period h right parenthesis. Line 12. unsigned i n t Employee colon colon get Count left parenthesis right parenthesis. Line 13. left brace. Line 14, indented once. return count semicolon. Line 15. right brace forward slash forward slash end static function get Count. Line 16. Blank. Line 17. forward slash forward slash constructor initializes non dash static data members and. Line 18. forward slash forward slash increments static data member count. Line 19. Employee colon colon Employee left parenthesis c o n s t string ampersand first comma c o n s t string ampersand last right parenthesis. Line 20, indented once. colon first Name left parenthesis first right parenthesis comma last Name left parenthesis last right parenthesis. Line 21. left brace."/>
          <p:cNvPicPr>
            <a:picLocks noChangeAspect="1"/>
          </p:cNvPicPr>
          <p:nvPr/>
        </p:nvPicPr>
        <p:blipFill>
          <a:blip r:embed="rId2"/>
          <a:stretch>
            <a:fillRect/>
          </a:stretch>
        </p:blipFill>
        <p:spPr>
          <a:xfrm>
            <a:off x="680718" y="1671004"/>
            <a:ext cx="7782564" cy="4522852"/>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a:t>
            </a:r>
            <a:r>
              <a:rPr lang="en-US" dirty="0" smtClean="0"/>
              <a:t>17.28 </a:t>
            </a:r>
            <a:r>
              <a:rPr lang="en-US" dirty="0">
                <a:latin typeface="Consolas" panose="020B0609020204030204" pitchFamily="49" charset="0"/>
              </a:rPr>
              <a:t>Employee</a:t>
            </a:r>
            <a:r>
              <a:rPr lang="en-US" dirty="0"/>
              <a:t> Class Member-Function Definitions </a:t>
            </a:r>
            <a:r>
              <a:rPr lang="en-US" sz="2000" b="0" dirty="0" smtClean="0"/>
              <a:t>(2 </a:t>
            </a:r>
            <a:r>
              <a:rPr lang="en-US" sz="2000" b="0" dirty="0"/>
              <a:t>of 2)</a:t>
            </a:r>
            <a:endParaRPr lang="en-US" dirty="0"/>
          </a:p>
        </p:txBody>
      </p:sp>
      <p:pic>
        <p:nvPicPr>
          <p:cNvPr id="3" name="Picture 2" descr="The code continues. Line 22, indented once. plus plus count semicolon forward slash forward slash increment static count of employees. Line 23, indented once. c out left angle bracket left angle bracket double quote Employee constructor for double quote left angle bracket left angle bracket first Name. Line 24, indented once. left angle bracket left angle bracket single quote single quote left angle bracket left angle bracket last Name left angle bracket left angle bracket double quote called period double quote left angle bracket left angle bracket end l semicolon. Line 25. right brace forward slash forward slash end Employee constructor. Line 26. Blank. Line 27. forward slash forward slash destructor de allocates dynamically allocated memory. Line 28. Employee colon colon tilde Employee left parenthesis right parenthesis. Line 29. left brace. Line 30, indented once. c out left angle bracket left angle bracket double quote tilde Employee left parenthesis right parenthesis called for double quote left angle bracket left angle bracket first Name. Line 31, indented once. left angle bracket left angle bracket single quote single quote left angle bracket left angle bracket last Name left angle bracket left angle bracket end l semicolon. Line 32, indented once. dash dash count semicolon forward slash forward slash decrement static count of employees. Line 33. right brace forward slash forward slash end tilde Employee destructor. Line 34. Blank. Line 35. forward slash forward slash return first name of employee. Line 36. string Employee colon colon get First Name left parenthesis right parenthesis const. Line 37. left brace. Line 38, indented once. return first Name semicolon forward slash forward slash return copy of first name. Line 39. right brace forward slash forward slash end function get First Name. Line 40. Blank. Line 41. forward slash forward slash return last name of employee. Line 42. string Employee colon colon get Last Name left parenthesis right parenthesis const. Line 43. left brace. Line 44, indented once. return last Name semicolon forward slash forward slash return copy of last name. Line 45. right brace forward slash forward slash end function get Last Name."/>
          <p:cNvPicPr>
            <a:picLocks noChangeAspect="1"/>
          </p:cNvPicPr>
          <p:nvPr/>
        </p:nvPicPr>
        <p:blipFill>
          <a:blip r:embed="rId2"/>
          <a:stretch>
            <a:fillRect/>
          </a:stretch>
        </p:blipFill>
        <p:spPr>
          <a:xfrm>
            <a:off x="890820" y="1474713"/>
            <a:ext cx="7382913" cy="4874339"/>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z="3000" dirty="0"/>
              <a:t>Figure 17.29 </a:t>
            </a:r>
            <a:r>
              <a:rPr lang="en-US" sz="3000" dirty="0">
                <a:latin typeface="Consolas" panose="020B0609020204030204" pitchFamily="49" charset="0"/>
              </a:rPr>
              <a:t>Static</a:t>
            </a:r>
            <a:r>
              <a:rPr lang="en-US" sz="3000" dirty="0"/>
              <a:t> Data Member Tracking the Number of Objects of a Class </a:t>
            </a:r>
            <a:r>
              <a:rPr lang="en-US" sz="2000" b="0" dirty="0"/>
              <a:t>(1 of 3)</a:t>
            </a:r>
            <a:endParaRPr lang="en-US" dirty="0"/>
          </a:p>
        </p:txBody>
      </p:sp>
      <p:pic>
        <p:nvPicPr>
          <p:cNvPr id="3" name="Picture 2" descr="The computer code has 35 lines. The lines read as follows. Line 1. forward slash forward slash Fig period 17 period 29 colon fig 17 underscore 29 period c p p. Line 2. forward slash forward slash static data member tracking the number of objects of a class period. Line 3. hash include left angle bracket i o stream right angle bracket. Line 4. hash include double quote Employee period h double quote forward slash forward slash Employee class definition. Line 5. using namespace s t d semicolon. Line 6. Blank. Line 7. i n t main left parenthesis right parenthesis. Line 8. left brace. Line 9, indented once. forward slash forward slash no objects exist semicolon use class name and binary scope resolution. Line 10, indented once. forward slash forward slash operator to access static member function get Count. Line 11, indented once. c out left angle bracket left angle bracket double quote Number of employees before instantiation of any objects is double quote. Line 12, indented twice. left angle bracket left angle bracket Employee colon colon get Count left parenthesis right parenthesis left angle bracket left angle bracket end l semicolon forward slash forward slash use class name. The words, Employee colon colon get Count left parenthesis right parenthesis, in line 12 are highlighted. Line 13. Blank. Line 14, indented once. forward slash forward slash the following scope creates and destroys. Line 15, indented once. forward slash forward slash Employee objects before main terminates. Line 16, indented once. left brace. Line 17, indented twice. Employee e 1 left parenthesis double quote Susan double quote comma double quote Baker double quote right parenthesis semicolon. Line 18, indented twice. Employee e 2 left parenthesis double quote Robert double quote comma double quote Jones double quote right parenthesis semicolon. Line 19. Blank."/>
          <p:cNvPicPr>
            <a:picLocks noChangeAspect="1"/>
          </p:cNvPicPr>
          <p:nvPr/>
        </p:nvPicPr>
        <p:blipFill>
          <a:blip r:embed="rId2"/>
          <a:stretch>
            <a:fillRect/>
          </a:stretch>
        </p:blipFill>
        <p:spPr>
          <a:xfrm>
            <a:off x="573925" y="2015788"/>
            <a:ext cx="7913953" cy="4162052"/>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z="3000" dirty="0"/>
              <a:t>Figure 17.29 </a:t>
            </a:r>
            <a:r>
              <a:rPr lang="en-US" sz="3000" dirty="0">
                <a:latin typeface="Consolas" panose="020B0609020204030204" pitchFamily="49" charset="0"/>
              </a:rPr>
              <a:t>Static</a:t>
            </a:r>
            <a:r>
              <a:rPr lang="en-US" sz="3000" dirty="0"/>
              <a:t> Data Member Tracking the Number of Objects of a Class </a:t>
            </a:r>
            <a:r>
              <a:rPr lang="en-US" sz="2000" b="0" dirty="0" smtClean="0"/>
              <a:t>(2 </a:t>
            </a:r>
            <a:r>
              <a:rPr lang="en-US" sz="2000" b="0" dirty="0"/>
              <a:t>of 3)</a:t>
            </a:r>
            <a:endParaRPr lang="en-US" dirty="0"/>
          </a:p>
        </p:txBody>
      </p:sp>
      <p:pic>
        <p:nvPicPr>
          <p:cNvPr id="3" name="Picture 2" descr="The code continues. Line 20, indented twice. forward slash forward slash two objects exist semicolon call static member function get Count again. Line 21, indented twice. forward slash forward slash using the class name and the scope resolution operator. Line 22, indented twice. c out left angle bracket left angle bracket double quote Number of employees after objects are instantiated is double quote. Line 23, indented twice. left angle bracket left angle bracket Employee colon colon get Count left parenthesis right parenthesis semicolon. The words, Employee colon colon get Count left parenthesis right parenthesis, In line 23 are highlighted. Line 24. Blank. Line 25, indented twice. c out left angle bracket left angle bracket double quote back slash n back slash n Employee 1 colon double quote. Line 26, indented twice. left angle bracket left angle bracket e 1 period get First Name left parenthesis right parenthesis left angle bracket left angle bracket double quote double quote left angle bracket left angle bracket e 1 period get Last Name left parenthesis right parenthesis. Line 27, indented twice. left angle bracket left angle bracket double quote back slash n Employee 2 colon double quote. Line 28, indented twice. left angle bracket left angle bracket e 2 period get First Name left parenthesis right parenthesis left angle bracket left angle bracket double quote double quote left angle bracket left angle bracket e 2 period get Last Name left parenthesis right parenthesis left angle bracket left angle bracket double quote back slash n back slash n double quote semicolon. Line 29, indented once. right brace forward slash forward slash end nested scope in main. Line 30. Blank. Line 31, indented once. forward slash forward slash no objects exist comma so call static member function get Count again. Line 32, indented once. forward slash forward slash using the class name and the scope resolution operator. Line 33, indented once. c out left angle bracket left angle bracket double quote back slash n Number of employees after objects are deleted is double quote. Line 34, indented once. left angle bracket left angle bracket Employee colon colon get Count left parenthesis right parenthesis left angle bracket left angle bracket end l semicolon. The words, Employee colon colon get Count left parenthesis right parenthesis, in line 34 are highlighted. Line 35. right brace forward slash forward slash end main."/>
          <p:cNvPicPr>
            <a:picLocks noChangeAspect="1"/>
          </p:cNvPicPr>
          <p:nvPr/>
        </p:nvPicPr>
        <p:blipFill>
          <a:blip r:embed="rId2"/>
          <a:stretch>
            <a:fillRect/>
          </a:stretch>
        </p:blipFill>
        <p:spPr>
          <a:xfrm>
            <a:off x="553542" y="2093397"/>
            <a:ext cx="8119114" cy="3636974"/>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b"/>
          <a:lstStyle/>
          <a:p>
            <a:r>
              <a:rPr lang="en-US" sz="3000" dirty="0"/>
              <a:t>Figure 17.29 </a:t>
            </a:r>
            <a:r>
              <a:rPr lang="en-US" sz="3000" dirty="0">
                <a:latin typeface="Consolas" panose="020B0609020204030204" pitchFamily="49" charset="0"/>
              </a:rPr>
              <a:t>Static</a:t>
            </a:r>
            <a:r>
              <a:rPr lang="en-US" sz="3000" dirty="0"/>
              <a:t> Data Member Tracking the Number of Objects of a Class </a:t>
            </a:r>
            <a:r>
              <a:rPr lang="en-US" sz="2000" b="0" dirty="0" smtClean="0"/>
              <a:t>(3 </a:t>
            </a:r>
            <a:r>
              <a:rPr lang="en-US" sz="2000" b="0" dirty="0"/>
              <a:t>of 3)</a:t>
            </a:r>
            <a:endParaRPr lang="en-US" dirty="0"/>
          </a:p>
        </p:txBody>
      </p:sp>
      <p:pic>
        <p:nvPicPr>
          <p:cNvPr id="3" name="Picture 2" descr="The code output has 9 lines. The lines read as follows. Line 1. Number of employees before instantiation of any objects is 0. Line 2. Employee constructor for Susan Baker called period. Line 3. Employee constructor for Robert Jones called period. Line 4. Number of employees after objects are instantiated is 2. Line 5. Employee 1 colon Susan Baker. Line 6. Employee 2 colon Robert Jones. Line 7. tilde Employee left parenthesis right parenthesis called for Robert Jones. Line 8. tilde Employee left parenthesis right parenthesis called for Susan Baker. Line 9. Number of employees after objects are deleted is 0."/>
          <p:cNvPicPr>
            <a:picLocks noChangeAspect="1"/>
          </p:cNvPicPr>
          <p:nvPr/>
        </p:nvPicPr>
        <p:blipFill>
          <a:blip r:embed="rId2"/>
          <a:stretch>
            <a:fillRect/>
          </a:stretch>
        </p:blipFill>
        <p:spPr>
          <a:xfrm>
            <a:off x="646468" y="2226078"/>
            <a:ext cx="7830517" cy="2405843"/>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17.6</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Using the </a:t>
            </a:r>
            <a:r>
              <a:rPr lang="en-US" sz="2400" dirty="0">
                <a:latin typeface="Consolas" panose="020B0609020204030204" pitchFamily="49" charset="0"/>
              </a:rPr>
              <a:t>this</a:t>
            </a:r>
            <a:r>
              <a:rPr lang="en-US" sz="2400" dirty="0">
                <a:latin typeface="Arial Body"/>
              </a:rPr>
              <a:t> pointer in a </a:t>
            </a:r>
            <a:r>
              <a:rPr lang="en-US" sz="2400" dirty="0">
                <a:latin typeface="Consolas" panose="020B0609020204030204" pitchFamily="49" charset="0"/>
              </a:rPr>
              <a:t>static</a:t>
            </a:r>
            <a:r>
              <a:rPr lang="en-US" sz="2400" dirty="0">
                <a:latin typeface="Arial Body"/>
              </a:rPr>
              <a:t> member function is a compilation error.</a:t>
            </a: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Common Programming Error </a:t>
            </a:r>
            <a:r>
              <a:rPr lang="en-US" dirty="0" smtClean="0"/>
              <a:t>17.7</a:t>
            </a:r>
            <a:endParaRPr lang="en-US" dirty="0"/>
          </a:p>
        </p:txBody>
      </p:sp>
      <p:sp>
        <p:nvSpPr>
          <p:cNvPr id="3" name="Text Placeholder 2"/>
          <p:cNvSpPr>
            <a:spLocks noGrp="1"/>
          </p:cNvSpPr>
          <p:nvPr>
            <p:ph type="body" idx="1"/>
          </p:nvPr>
        </p:nvSpPr>
        <p:spPr/>
        <p:txBody>
          <a:bodyPr/>
          <a:lstStyle/>
          <a:p>
            <a:pPr marL="0" indent="0">
              <a:buNone/>
            </a:pPr>
            <a:r>
              <a:rPr lang="en-US" sz="2400" dirty="0">
                <a:latin typeface="Arial (Body)"/>
              </a:rPr>
              <a:t>Declaring a </a:t>
            </a:r>
            <a:r>
              <a:rPr lang="en-US" sz="2400" dirty="0">
                <a:latin typeface="Consolas" panose="020B0609020204030204" pitchFamily="49" charset="0"/>
              </a:rPr>
              <a:t>static</a:t>
            </a:r>
            <a:r>
              <a:rPr lang="en-US" sz="2400" dirty="0">
                <a:latin typeface="Arial (Body)"/>
              </a:rPr>
              <a:t> member function </a:t>
            </a:r>
            <a:r>
              <a:rPr lang="en-US" sz="2400" dirty="0">
                <a:latin typeface="Consolas" panose="020B0609020204030204" pitchFamily="49" charset="0"/>
              </a:rPr>
              <a:t>const</a:t>
            </a:r>
            <a:r>
              <a:rPr lang="en-US" sz="2400" dirty="0">
                <a:latin typeface="Arial (Body)"/>
              </a:rPr>
              <a:t> is a compilation error. The </a:t>
            </a:r>
            <a:r>
              <a:rPr lang="en-US" sz="2400" dirty="0">
                <a:latin typeface="Consolas" panose="020B0609020204030204" pitchFamily="49" charset="0"/>
              </a:rPr>
              <a:t>const</a:t>
            </a:r>
            <a:r>
              <a:rPr lang="en-US" sz="2400" dirty="0">
                <a:latin typeface="Arial (Body)"/>
              </a:rPr>
              <a:t> qualifier indicates that a function cannot modify the contents of the object on which it operates, but </a:t>
            </a:r>
            <a:r>
              <a:rPr lang="en-US" sz="2400" dirty="0">
                <a:latin typeface="Consolas" panose="020B0609020204030204" pitchFamily="49" charset="0"/>
              </a:rPr>
              <a:t>static</a:t>
            </a:r>
            <a:r>
              <a:rPr lang="en-US" sz="2400" dirty="0">
                <a:latin typeface="Arial (Body)"/>
              </a:rPr>
              <a:t> member functions exist and operate independently of any objects of the class</a:t>
            </a:r>
            <a:r>
              <a:rPr lang="en-US" sz="2400" dirty="0" smtClean="0">
                <a:latin typeface="Arial (Body)"/>
              </a:rPr>
              <a:t>.</a:t>
            </a:r>
            <a:endParaRPr lang="en-US" sz="2400" dirty="0">
              <a:latin typeface="Arial (Body)"/>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itle 1"/>
          <p:cNvSpPr txBox="1">
            <a:spLocks noGrp="1"/>
          </p:cNvSpPr>
          <p:nvPr>
            <p:ph type="title"/>
          </p:nvPr>
        </p:nvSpPr>
        <p:spPr>
          <a:xfrm>
            <a:off x="457200" y="604838"/>
            <a:ext cx="8229600" cy="708025"/>
          </a:xfrm>
        </p:spPr>
        <p:txBody>
          <a:bodyPr>
            <a:spAutoFit/>
          </a:bodyPr>
          <a:lstStyle/>
          <a:p>
            <a:pPr eaLnBrk="1" hangingPunct="1">
              <a:spcBef>
                <a:spcPct val="0"/>
              </a:spcBef>
              <a:buFont typeface="Times New Roman" panose="02020603050405020304" pitchFamily="18" charset="0"/>
              <a:buNone/>
            </a:pPr>
            <a:r>
              <a:rPr lang="en-US" altLang="en-US" dirty="0" smtClean="0">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85347"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763" y="2309813"/>
            <a:ext cx="742315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10174</TotalTime>
  <Words>7602</Words>
  <Application>Microsoft Office PowerPoint</Application>
  <PresentationFormat>On-screen Show (4:3)</PresentationFormat>
  <Paragraphs>456</Paragraphs>
  <Slides>161</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161</vt:i4>
      </vt:variant>
    </vt:vector>
  </HeadingPairs>
  <TitlesOfParts>
    <vt:vector size="172" baseType="lpstr">
      <vt:lpstr>Arial</vt:lpstr>
      <vt:lpstr>Arial (Body)</vt:lpstr>
      <vt:lpstr>Arial Body</vt:lpstr>
      <vt:lpstr>Consolas</vt:lpstr>
      <vt:lpstr>Noto Sans Symbols</vt:lpstr>
      <vt:lpstr>Times New Roman</vt:lpstr>
      <vt:lpstr>Verdana</vt:lpstr>
      <vt:lpstr>Wingdings 3</vt:lpstr>
      <vt:lpstr>508 Lecture</vt:lpstr>
      <vt:lpstr>1_508 Lecture</vt:lpstr>
      <vt:lpstr>Equation</vt:lpstr>
      <vt:lpstr>C How to Program</vt:lpstr>
      <vt:lpstr>Learning Objectives</vt:lpstr>
      <vt:lpstr>Outline (1 of 2)</vt:lpstr>
      <vt:lpstr>Outline (2 of 2)</vt:lpstr>
      <vt:lpstr>17.1 Introduction (1 of 3)</vt:lpstr>
      <vt:lpstr>17.1 Introduction (2 of 3)</vt:lpstr>
      <vt:lpstr>17.1 Introduction (3 of 3)</vt:lpstr>
      <vt:lpstr>17.2 Time Class Case Study (1 of 8)</vt:lpstr>
      <vt:lpstr>Good Programming Practice 17.1</vt:lpstr>
      <vt:lpstr>Software Engineering Observation 17.1</vt:lpstr>
      <vt:lpstr>Figure 17.1 Time Class Definition</vt:lpstr>
      <vt:lpstr>17.2 Time Class Case Study (2 of 8)</vt:lpstr>
      <vt:lpstr>Error-Prevention Tip 17.1</vt:lpstr>
      <vt:lpstr>Good Programming Practice 17.2</vt:lpstr>
      <vt:lpstr>17.2 Time Class Case Study (3 of 8)</vt:lpstr>
      <vt:lpstr>Figure 17.2 Time Class Member-Function Definitions (1 of 3)</vt:lpstr>
      <vt:lpstr>Figure 17.2 Time Class Member-Function Definitions (2 of 3)</vt:lpstr>
      <vt:lpstr>Figure 17.2 Time Class Member-Function Definitions (3 of 3)</vt:lpstr>
      <vt:lpstr>17.2 Time Class Case Study (4 of 8)</vt:lpstr>
      <vt:lpstr>17.2 Time Class Case Study (5 of 8)</vt:lpstr>
      <vt:lpstr>Error-Prevention Tip 17.2</vt:lpstr>
      <vt:lpstr>17.2 Time Class Case Study (6 of 8)</vt:lpstr>
      <vt:lpstr>Performance Tip 17.1</vt:lpstr>
      <vt:lpstr>Software Engineering Observation 17.2</vt:lpstr>
      <vt:lpstr>Software Engineering Observation 17.3</vt:lpstr>
      <vt:lpstr>Software Engineering Observation 17.4</vt:lpstr>
      <vt:lpstr>Error-Prevention Tip 17.3</vt:lpstr>
      <vt:lpstr>17.2 Time Class Case Study (7 of 8)</vt:lpstr>
      <vt:lpstr>Figure 17.3 Program to Test Class Time (1 of 3)</vt:lpstr>
      <vt:lpstr>Figure 17.3 Program to Test Class Time (2 of 3)</vt:lpstr>
      <vt:lpstr>Figure 17.3 Program to Test Class Time (3 of 3)</vt:lpstr>
      <vt:lpstr>17.2 Time Class Case Study (8 of 8)</vt:lpstr>
      <vt:lpstr>Performance Tip 17.2</vt:lpstr>
      <vt:lpstr>17.3 Class Scope and Accessing Class Members (1 of 5)</vt:lpstr>
      <vt:lpstr>17.3 Class Scope and Accessing Class Members (2 of 5)</vt:lpstr>
      <vt:lpstr>17.3 Class Scope and Accessing Class Members (3 of 5)</vt:lpstr>
      <vt:lpstr>17.3 Class Scope and Accessing Class Members (4 of 5)</vt:lpstr>
      <vt:lpstr>17.3 Class Scope and Accessing Class Members (5 of 5)</vt:lpstr>
      <vt:lpstr>17.4 Access Functions and Utility Functions</vt:lpstr>
      <vt:lpstr>17.5 Time Class Case Study: Constructors with Default Arguments (1 of 6)</vt:lpstr>
      <vt:lpstr>Figure 17.4 Time Class Containing a Constructor with Default Arguments (1 of 2)</vt:lpstr>
      <vt:lpstr>Figure 17.4 Time Class Containing a Constructor with Default Arguments (2 of 2)</vt:lpstr>
      <vt:lpstr>Software Engineering Observation 17.5</vt:lpstr>
      <vt:lpstr>Figure 17.5 Member-Function Definitions for Class Time (1 of 4)</vt:lpstr>
      <vt:lpstr>Figure 17.5 Member-Function Definitions for Class Time (2 of 4)</vt:lpstr>
      <vt:lpstr>Figure 17.5 Member-Function Definitions for Class Time (3 of 4)</vt:lpstr>
      <vt:lpstr>Figure 17.5 Member-Function Definitions for Class Time (4 of 4)</vt:lpstr>
      <vt:lpstr>Figure 17.6 Constructor with Default Arguments (1 of 3)</vt:lpstr>
      <vt:lpstr>Figure 17.6 Constructor with Default Arguments (2 of 3)</vt:lpstr>
      <vt:lpstr>Figure 17.6 Constructor with Default Arguments (3 of 3)</vt:lpstr>
      <vt:lpstr>17.5 Time Class Case Study: Constructors with Default Arguments (2 of 6)</vt:lpstr>
      <vt:lpstr>17.5 Time Class Case Study: Constructors with Default Arguments (3 of 6)</vt:lpstr>
      <vt:lpstr>Software Engineering Observation 17.6</vt:lpstr>
      <vt:lpstr>Common Programming Error 17.1</vt:lpstr>
      <vt:lpstr>17.5 Time Class Case Study: Constructors with Default Arguments (4 of 6)</vt:lpstr>
      <vt:lpstr>17.5 Time Class Case Study: Constructors with Default Arguments (5 of 6)</vt:lpstr>
      <vt:lpstr>17.6 Time Class Case Study: Constructors with Default Arguments</vt:lpstr>
      <vt:lpstr>17.5 Time Class Case Study: Constructors with Default Arguments (6 of 6)</vt:lpstr>
      <vt:lpstr>17.6 Destructors</vt:lpstr>
      <vt:lpstr>17.7 When Constructors and Destructors Are Called (1 of 5)</vt:lpstr>
      <vt:lpstr>17.7 When Constructors and Destructors Are Called (2 of 5)</vt:lpstr>
      <vt:lpstr>17.7 When Constructors and Destructors Are Called (3 of 5)</vt:lpstr>
      <vt:lpstr>17.7 When Constructors and Destructors Are Called (4 of 5)</vt:lpstr>
      <vt:lpstr>17.7 When Constructors and Destructors Are Called (5 of 5)</vt:lpstr>
      <vt:lpstr>Figure 17.7 CreateAndDestroy Class Definition</vt:lpstr>
      <vt:lpstr>Figure 17.8 CreateAndDestroy Class Member-Function Definitions</vt:lpstr>
      <vt:lpstr>Figure 17.9 Order in Which Constructors and Destructors Are Called (1 of 3)</vt:lpstr>
      <vt:lpstr>Figure 17.9 Order in Which Constructors and Destructors Are Called (2 of 3)</vt:lpstr>
      <vt:lpstr>Figure 17.9 Order in Which Constructors and Destructors Are Called (3 of 3)</vt:lpstr>
      <vt:lpstr>17.8 Time Class Case Study: A Subtle Trap—Returning a Reference or a Pointer to a Private Data Member (1 of 2)</vt:lpstr>
      <vt:lpstr>17.8 Time Class Case Study: A Subtle Trap—Returning a Reference or a Pointer to a Private Data Member (2 of 2)</vt:lpstr>
      <vt:lpstr>Figure 17.10 Time Class Declaration</vt:lpstr>
      <vt:lpstr>Figure 17.11 Time Class Member-Function Definitions (1 of 2)</vt:lpstr>
      <vt:lpstr>Figure 17.11 Time Class Member-Function Definitions (2 of 2)</vt:lpstr>
      <vt:lpstr>Software Engineering Observation 17.7</vt:lpstr>
      <vt:lpstr>Figure 17.12 Public Member Function That Returns a Reference to a Private Data Member (1 of 2)</vt:lpstr>
      <vt:lpstr>Figure 17.12 Public Member Function That Returns a Reference to a Private Data Member (2 of 2)</vt:lpstr>
      <vt:lpstr>17.9 Default Memberwise Assignment (1 of 2)</vt:lpstr>
      <vt:lpstr>Figure 17.13 Date Class Declaration</vt:lpstr>
      <vt:lpstr>Figure 17.14 Date Class Member-Function Definitions</vt:lpstr>
      <vt:lpstr>Figure 17.15 Class Objects Can Be Assigned to Each Other Using Default Memberwise Assignment (1 of 2)</vt:lpstr>
      <vt:lpstr>Figure 17.15 Class Objects Can Be Assigned to Each Other Using Default Memberwise Assignment (2 of 2)</vt:lpstr>
      <vt:lpstr>17.9 Default Memberwise Assignment (2 of 2)</vt:lpstr>
      <vt:lpstr>17.10 Const Objects and Const Member Functions (1 of 4)</vt:lpstr>
      <vt:lpstr>Software Engineering Observation 17.8</vt:lpstr>
      <vt:lpstr>Performance Tip 17.3</vt:lpstr>
      <vt:lpstr>17.10 Const Objects and Const Member Functions</vt:lpstr>
      <vt:lpstr>Common Programming Error 17.2</vt:lpstr>
      <vt:lpstr>Common Programming Error 17.3</vt:lpstr>
      <vt:lpstr>Common Programming Error 17.4</vt:lpstr>
      <vt:lpstr>17.10 Const Objects and Const Member Functions (3 of 4)</vt:lpstr>
      <vt:lpstr>17.10 Const Objects and Const Member Functions (4 of 4)</vt:lpstr>
      <vt:lpstr>Figure 17.16 Const Objects and Const Member Functions (1 of 2)</vt:lpstr>
      <vt:lpstr>Figure 17.16 Const Objects and Const Member Functions (2 of 2)</vt:lpstr>
      <vt:lpstr>17.11 Composition: Objects as Members of Classes (1 of 6)</vt:lpstr>
      <vt:lpstr>Software Engineering Observation 17.9</vt:lpstr>
      <vt:lpstr>Software Engineering Observation 17.10</vt:lpstr>
      <vt:lpstr>Figure 17.17 Date Class Definition</vt:lpstr>
      <vt:lpstr>Figure 17.18 Date Class Member-Function Definitions (1 of 3)</vt:lpstr>
      <vt:lpstr>Figure 17.18 Date Class Member-Function Definitions (2 of 3)</vt:lpstr>
      <vt:lpstr>Figure 17.18 Date Class Member-Function Definitions (3 of 3)</vt:lpstr>
      <vt:lpstr>Figure 17.19 Employee Class Definition Showing Composition</vt:lpstr>
      <vt:lpstr>Figure 17.20 Employee Class Member-Function Definitions (1 of 2)</vt:lpstr>
      <vt:lpstr>Figure 17.20 Employee Class Member-Function Definitions (2 of 2)</vt:lpstr>
      <vt:lpstr>17.11 Composition: Objects as Members of Classes (2 of 6)</vt:lpstr>
      <vt:lpstr>Good Programming Practice 17.3</vt:lpstr>
      <vt:lpstr>17.11 Composition: Objects as Members of Classes (3 of 6)</vt:lpstr>
      <vt:lpstr>17.11 Composition: Objects as Members of Classes (4 of 6)</vt:lpstr>
      <vt:lpstr>17.11 Composition: Objects as Members of Classes (5 of 6)</vt:lpstr>
      <vt:lpstr>Figure 17.21 Demonstrating Composition—an Object with Member Objects (1 of 2)</vt:lpstr>
      <vt:lpstr>Figure 17.21 Demonstrating Composition—an Object with Member Objects (2 of 2)</vt:lpstr>
      <vt:lpstr>17.11 Composition: Objects as Members of Classes (6 of 6)</vt:lpstr>
      <vt:lpstr>Common Programming Error 17.5</vt:lpstr>
      <vt:lpstr>Performance Tip 17.4</vt:lpstr>
      <vt:lpstr>Software Engineering Observation 17.11</vt:lpstr>
      <vt:lpstr>17.12 Friend Functions and Friend Classes (1 of 5)</vt:lpstr>
      <vt:lpstr>17.12 Friend Functions and Friend Classes (2 of 5)</vt:lpstr>
      <vt:lpstr>17.12 Friend Functions and Friend Classes (3 of 5)</vt:lpstr>
      <vt:lpstr>Figure 17.22 Friends Can Access Private Members of a Class (1 of 3)</vt:lpstr>
      <vt:lpstr>Figure 17.22 Friends Can Access Private Members of a Class (2 of 3)</vt:lpstr>
      <vt:lpstr>Figure 17.22 Friends Can Access Private Members of a Class (3 of 3)</vt:lpstr>
      <vt:lpstr>17.12 Friend Functions and Friend Classes (4 of 5)</vt:lpstr>
      <vt:lpstr>17.12 Friend Functions and Friend Classes (5 of 5)</vt:lpstr>
      <vt:lpstr>Software Engineering Observation 17.12</vt:lpstr>
      <vt:lpstr>Software Engineering Observation 17.13</vt:lpstr>
      <vt:lpstr>Good Programming Practice 17.4</vt:lpstr>
      <vt:lpstr>17.13 Using the this Pointer (1 of 6)</vt:lpstr>
      <vt:lpstr>17.13 Using the this Pointer (2 of 6)</vt:lpstr>
      <vt:lpstr>17.13 Using the this Pointer (3 of 6)</vt:lpstr>
      <vt:lpstr>Error-Prevention Tip 17.4</vt:lpstr>
      <vt:lpstr>17.13 Using the this Pointer (4 of 6)</vt:lpstr>
      <vt:lpstr>17.13 Using the this Pointer (5 of 6)</vt:lpstr>
      <vt:lpstr>Figure 17.23 Using the this Pointer to Refer to Object Members (1 of 3)</vt:lpstr>
      <vt:lpstr>Figure 17.23 Using the this Pointer to Refer to Object Members (2 of 3)</vt:lpstr>
      <vt:lpstr>Figure 17.23 Using the this Pointer to Refer to Object Members (3 of 3)</vt:lpstr>
      <vt:lpstr>17.13 Using the this Pointer (6 of 6)</vt:lpstr>
      <vt:lpstr>Figure 17.24 Time Class Modified to Enable Cascaded Member-Function Calls (1 of 2)</vt:lpstr>
      <vt:lpstr>Figure 17.24 Time Class Modified to Enable Cascaded Member-Function Calls (2 of 2)</vt:lpstr>
      <vt:lpstr>Figure 17.25 Time Class Member-Function Definitions Modified to Enable Cascaded Memberfunction Calls (1 of 5)</vt:lpstr>
      <vt:lpstr>Figure 17.25 Time Class Member-Function Definitions Modified to Enable Cascaded Memberfunction Calls (2 of 5)</vt:lpstr>
      <vt:lpstr>Figure 17.25 Time Class Member-Function Definitions Modified to Enable Cascaded Memberfunction Calls (3 of 5)</vt:lpstr>
      <vt:lpstr>Figure 17.25 Time Class Member-Function Definitions Modified to Enable Cascaded Memberfunction Calls (4 of 5)</vt:lpstr>
      <vt:lpstr>Figure 17.25 Time Class Member-Function Definitions Modified to Enable Cascaded Memberfunction Calls (5 of 5)</vt:lpstr>
      <vt:lpstr>Figure 17.26 Cascading Member-Function Calls with the this Pointer (1 of 2)</vt:lpstr>
      <vt:lpstr>Figure 17.26 Cascading Member-Function Calls with the this Pointer (2 of 2)</vt:lpstr>
      <vt:lpstr>17.14 Static Class Members (1 of 4)</vt:lpstr>
      <vt:lpstr>Performance Tip 17.5</vt:lpstr>
      <vt:lpstr>17.14 Static Class Members (2 of 4)</vt:lpstr>
      <vt:lpstr>17.14 Static Class Members (3 of 4)</vt:lpstr>
      <vt:lpstr>Software Engineering Observation 17.14</vt:lpstr>
      <vt:lpstr>17.14 Static Class Members (4 of 4)</vt:lpstr>
      <vt:lpstr>Figure 17.27 Employee Class Definition with a Static Data Member to Track the Number of Employee Objects in Memory (1 of 2)</vt:lpstr>
      <vt:lpstr>Figure 17.27 Employee Class Definition with a Static Data Member to Track the Number of Employee Objects in Memory (2 of 2)</vt:lpstr>
      <vt:lpstr>Figure 17.28 Employee Class Member-Function Definitions (1 of 2)</vt:lpstr>
      <vt:lpstr>Figure 17.28 Employee Class Member-Function Definitions (2 of 2)</vt:lpstr>
      <vt:lpstr>Figure 17.29 Static Data Member Tracking the Number of Objects of a Class (1 of 3)</vt:lpstr>
      <vt:lpstr>Figure 17.29 Static Data Member Tracking the Number of Objects of a Class (2 of 3)</vt:lpstr>
      <vt:lpstr>Figure 17.29 Static Data Member Tracking the Number of Objects of a Class (3 of 3)</vt:lpstr>
      <vt:lpstr>Common Programming Error 17.6</vt:lpstr>
      <vt:lpstr>Common Programming Error 17.7</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How to Program, 8e</dc:title>
  <dc:subject>Computer Science</dc:subject>
  <dc:creator>Paul Deitel/Harvey Deitel</dc:creator>
  <cp:keywords>C How to Program</cp:keywords>
  <cp:lastModifiedBy>P, Pavendan (Cognizant)</cp:lastModifiedBy>
  <cp:revision>1648</cp:revision>
  <dcterms:modified xsi:type="dcterms:W3CDTF">2018-04-23T10:23:05Z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