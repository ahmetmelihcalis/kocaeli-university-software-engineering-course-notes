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49"/>
  </p:notesMasterIdLst>
  <p:handoutMasterIdLst>
    <p:handoutMasterId r:id="rId150"/>
  </p:handoutMasterIdLst>
  <p:sldIdLst>
    <p:sldId id="301" r:id="rId3"/>
    <p:sldId id="307" r:id="rId4"/>
    <p:sldId id="447" r:id="rId5"/>
    <p:sldId id="482" r:id="rId6"/>
    <p:sldId id="310" r:id="rId7"/>
    <p:sldId id="311" r:id="rId8"/>
    <p:sldId id="312" r:id="rId9"/>
    <p:sldId id="451" r:id="rId10"/>
    <p:sldId id="314" r:id="rId11"/>
    <p:sldId id="315" r:id="rId12"/>
    <p:sldId id="316" r:id="rId13"/>
    <p:sldId id="317" r:id="rId14"/>
    <p:sldId id="483" r:id="rId15"/>
    <p:sldId id="319" r:id="rId16"/>
    <p:sldId id="320" r:id="rId17"/>
    <p:sldId id="321" r:id="rId18"/>
    <p:sldId id="322" r:id="rId19"/>
    <p:sldId id="323" r:id="rId20"/>
    <p:sldId id="324" r:id="rId21"/>
    <p:sldId id="325" r:id="rId22"/>
    <p:sldId id="326" r:id="rId23"/>
    <p:sldId id="327" r:id="rId24"/>
    <p:sldId id="484" r:id="rId25"/>
    <p:sldId id="455" r:id="rId26"/>
    <p:sldId id="330" r:id="rId27"/>
    <p:sldId id="485" r:id="rId28"/>
    <p:sldId id="332" r:id="rId29"/>
    <p:sldId id="457" r:id="rId30"/>
    <p:sldId id="486" r:id="rId31"/>
    <p:sldId id="459" r:id="rId32"/>
    <p:sldId id="460" r:id="rId33"/>
    <p:sldId id="481" r:id="rId34"/>
    <p:sldId id="338" r:id="rId35"/>
    <p:sldId id="339" r:id="rId36"/>
    <p:sldId id="340" r:id="rId37"/>
    <p:sldId id="341" r:id="rId38"/>
    <p:sldId id="342" r:id="rId39"/>
    <p:sldId id="343" r:id="rId40"/>
    <p:sldId id="344" r:id="rId41"/>
    <p:sldId id="345" r:id="rId42"/>
    <p:sldId id="346" r:id="rId43"/>
    <p:sldId id="347" r:id="rId44"/>
    <p:sldId id="348" r:id="rId45"/>
    <p:sldId id="349" r:id="rId46"/>
    <p:sldId id="350" r:id="rId47"/>
    <p:sldId id="351" r:id="rId48"/>
    <p:sldId id="352" r:id="rId49"/>
    <p:sldId id="353" r:id="rId50"/>
    <p:sldId id="465" r:id="rId51"/>
    <p:sldId id="355" r:id="rId52"/>
    <p:sldId id="356" r:id="rId53"/>
    <p:sldId id="357" r:id="rId54"/>
    <p:sldId id="358" r:id="rId55"/>
    <p:sldId id="359" r:id="rId56"/>
    <p:sldId id="360" r:id="rId57"/>
    <p:sldId id="361" r:id="rId58"/>
    <p:sldId id="362" r:id="rId59"/>
    <p:sldId id="363" r:id="rId60"/>
    <p:sldId id="364" r:id="rId61"/>
    <p:sldId id="365" r:id="rId62"/>
    <p:sldId id="366" r:id="rId63"/>
    <p:sldId id="487" r:id="rId64"/>
    <p:sldId id="367" r:id="rId65"/>
    <p:sldId id="368" r:id="rId66"/>
    <p:sldId id="369" r:id="rId67"/>
    <p:sldId id="370" r:id="rId68"/>
    <p:sldId id="371" r:id="rId69"/>
    <p:sldId id="372" r:id="rId70"/>
    <p:sldId id="373" r:id="rId71"/>
    <p:sldId id="374" r:id="rId72"/>
    <p:sldId id="375" r:id="rId73"/>
    <p:sldId id="376" r:id="rId74"/>
    <p:sldId id="377" r:id="rId75"/>
    <p:sldId id="378" r:id="rId76"/>
    <p:sldId id="379" r:id="rId77"/>
    <p:sldId id="380" r:id="rId78"/>
    <p:sldId id="381" r:id="rId79"/>
    <p:sldId id="445" r:id="rId80"/>
    <p:sldId id="382" r:id="rId81"/>
    <p:sldId id="383" r:id="rId82"/>
    <p:sldId id="384" r:id="rId83"/>
    <p:sldId id="385" r:id="rId84"/>
    <p:sldId id="386" r:id="rId85"/>
    <p:sldId id="387" r:id="rId86"/>
    <p:sldId id="388" r:id="rId87"/>
    <p:sldId id="389" r:id="rId88"/>
    <p:sldId id="390" r:id="rId89"/>
    <p:sldId id="391" r:id="rId90"/>
    <p:sldId id="471" r:id="rId91"/>
    <p:sldId id="392" r:id="rId92"/>
    <p:sldId id="393" r:id="rId93"/>
    <p:sldId id="394" r:id="rId94"/>
    <p:sldId id="395" r:id="rId95"/>
    <p:sldId id="396" r:id="rId96"/>
    <p:sldId id="397" r:id="rId97"/>
    <p:sldId id="398" r:id="rId98"/>
    <p:sldId id="399" r:id="rId99"/>
    <p:sldId id="400" r:id="rId100"/>
    <p:sldId id="401" r:id="rId101"/>
    <p:sldId id="402" r:id="rId102"/>
    <p:sldId id="403" r:id="rId103"/>
    <p:sldId id="404" r:id="rId104"/>
    <p:sldId id="405" r:id="rId105"/>
    <p:sldId id="406" r:id="rId106"/>
    <p:sldId id="407" r:id="rId107"/>
    <p:sldId id="408" r:id="rId108"/>
    <p:sldId id="409" r:id="rId109"/>
    <p:sldId id="410" r:id="rId110"/>
    <p:sldId id="411" r:id="rId111"/>
    <p:sldId id="412" r:id="rId112"/>
    <p:sldId id="473" r:id="rId113"/>
    <p:sldId id="488" r:id="rId114"/>
    <p:sldId id="474" r:id="rId115"/>
    <p:sldId id="489" r:id="rId116"/>
    <p:sldId id="415" r:id="rId117"/>
    <p:sldId id="416" r:id="rId118"/>
    <p:sldId id="417" r:id="rId119"/>
    <p:sldId id="418" r:id="rId120"/>
    <p:sldId id="491" r:id="rId121"/>
    <p:sldId id="492" r:id="rId122"/>
    <p:sldId id="419" r:id="rId123"/>
    <p:sldId id="420" r:id="rId124"/>
    <p:sldId id="475" r:id="rId125"/>
    <p:sldId id="421" r:id="rId126"/>
    <p:sldId id="422" r:id="rId127"/>
    <p:sldId id="423" r:id="rId128"/>
    <p:sldId id="424" r:id="rId129"/>
    <p:sldId id="490" r:id="rId130"/>
    <p:sldId id="426" r:id="rId131"/>
    <p:sldId id="427" r:id="rId132"/>
    <p:sldId id="428" r:id="rId133"/>
    <p:sldId id="429" r:id="rId134"/>
    <p:sldId id="430" r:id="rId135"/>
    <p:sldId id="431" r:id="rId136"/>
    <p:sldId id="432" r:id="rId137"/>
    <p:sldId id="433" r:id="rId138"/>
    <p:sldId id="434" r:id="rId139"/>
    <p:sldId id="435" r:id="rId140"/>
    <p:sldId id="436" r:id="rId141"/>
    <p:sldId id="437" r:id="rId142"/>
    <p:sldId id="438" r:id="rId143"/>
    <p:sldId id="439" r:id="rId144"/>
    <p:sldId id="440" r:id="rId145"/>
    <p:sldId id="441" r:id="rId146"/>
    <p:sldId id="480" r:id="rId147"/>
    <p:sldId id="305" r:id="rId148"/>
  </p:sldIdLst>
  <p:sldSz cx="9144000" cy="6858000" type="screen4x3"/>
  <p:notesSz cx="6858000" cy="9144000"/>
  <p:defaultTex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15:guide id="1" orient="horz" pos="4088">
          <p15:clr>
            <a:srgbClr val="A4A3A4"/>
          </p15:clr>
        </p15:guide>
        <p15:guide id="2" pos="242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56" autoAdjust="0"/>
    <p:restoredTop sz="94337" autoAdjust="0"/>
  </p:normalViewPr>
  <p:slideViewPr>
    <p:cSldViewPr snapToGrid="0" snapToObjects="1">
      <p:cViewPr varScale="1">
        <p:scale>
          <a:sx n="105" d="100"/>
          <a:sy n="105" d="100"/>
        </p:scale>
        <p:origin x="1962" y="102"/>
      </p:cViewPr>
      <p:guideLst>
        <p:guide orient="horz" pos="4088"/>
        <p:guide pos="242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notesMaster" Target="notesMasters/notesMaster1.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handoutMaster" Target="handoutMasters/handoutMaster1.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presProps" Target="pres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tableStyles" Target="tableStyles.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8.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76.wmf"/><Relationship Id="rId1" Type="http://schemas.openxmlformats.org/officeDocument/2006/relationships/image" Target="../media/image75.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78.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2.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 Id="rId4" Type="http://schemas.openxmlformats.org/officeDocument/2006/relationships/image" Target="../media/image10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10.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13.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Header Placeholder 1"/>
          <p:cNvSpPr>
            <a:spLocks noGrp="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vl1pPr>
          </a:lstStyle>
          <a:p>
            <a:endParaRPr lang="en-US" altLang="en-US"/>
          </a:p>
        </p:txBody>
      </p:sp>
      <p:sp>
        <p:nvSpPr>
          <p:cNvPr id="13315" name="Date Placeholder 2"/>
          <p:cNvSpPr>
            <a:spLocks noGrp="1"/>
          </p:cNvSpPr>
          <p:nvPr>
            <p:ph type="dt" sz="quarter"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vl1pPr>
          </a:lstStyle>
          <a:p>
            <a:fld id="{E570EF0D-2C01-47DC-BB56-1A1002E24AEA}" type="datetimeFigureOut">
              <a:rPr lang="en-US" altLang="en-US"/>
              <a:pPr/>
              <a:t>4/23/2018</a:t>
            </a:fld>
            <a:endParaRPr lang="en-US" altLang="en-US"/>
          </a:p>
        </p:txBody>
      </p:sp>
      <p:sp>
        <p:nvSpPr>
          <p:cNvPr id="13316" name="Footer Placeholder 3"/>
          <p:cNvSpPr>
            <a:spLocks noGrp="1"/>
          </p:cNvSpPr>
          <p:nvPr>
            <p:ph type="ftr" sz="quarter" idx="2"/>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ltLang="en-US"/>
          </a:p>
        </p:txBody>
      </p:sp>
      <p:sp>
        <p:nvSpPr>
          <p:cNvPr id="13317" name="Slide Number Placeholder 4"/>
          <p:cNvSpPr>
            <a:spLocks noGrp="1"/>
          </p:cNvSpPr>
          <p:nvPr>
            <p:ph type="sldNum" sz="quarter" idx="3"/>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0675528C-B10C-401D-B2A2-D83F39141DE1}"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Shape 3"/>
          <p:cNvSpPr txBox="1">
            <a:spLocks noGrp="1"/>
          </p:cNvSpPr>
          <p:nvPr>
            <p:ph type="hdr" idx="2"/>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lvl1pPr eaLnBrk="1" hangingPunct="1">
              <a:defRPr sz="1200"/>
            </a:lvl1pPr>
          </a:lstStyle>
          <a:p>
            <a:endParaRPr lang="en-US" altLang="en-US"/>
          </a:p>
        </p:txBody>
      </p:sp>
      <p:sp>
        <p:nvSpPr>
          <p:cNvPr id="12291" name="Shape 4"/>
          <p:cNvSpPr txBox="1">
            <a:spLocks noGrp="1"/>
          </p:cNvSpPr>
          <p:nvPr>
            <p:ph type="dt" idx="10"/>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lvl1pPr algn="r" eaLnBrk="1" hangingPunct="1">
              <a:defRPr sz="1200"/>
            </a:lvl1pPr>
          </a:lstStyle>
          <a:p>
            <a:endParaRPr lang="en-US" altLang="en-US"/>
          </a:p>
        </p:txBody>
      </p:sp>
      <p:sp>
        <p:nvSpPr>
          <p:cNvPr id="12292" name="Shape 5"/>
          <p:cNvSpPr>
            <a:spLocks noGrp="1" noRot="1" noChangeAspect="1"/>
          </p:cNvSpPr>
          <p:nvPr>
            <p:ph type="sldImg" idx="3"/>
          </p:nvPr>
        </p:nvSpPr>
        <p:spPr bwMode="auto">
          <a:xfrm>
            <a:off x="1143000" y="685800"/>
            <a:ext cx="4572000" cy="3429000"/>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 name="T10" fmla="*/ 0 w 120000"/>
              <a:gd name="T11" fmla="*/ 0 h 120000"/>
              <a:gd name="T12" fmla="*/ 120000 w 120000"/>
              <a:gd name="T13" fmla="*/ 120000 h 120000"/>
            </a:gdLst>
            <a:ahLst/>
            <a:cxnLst>
              <a:cxn ang="0">
                <a:pos x="T0" y="T1"/>
              </a:cxn>
              <a:cxn ang="0">
                <a:pos x="T2" y="T3"/>
              </a:cxn>
              <a:cxn ang="0">
                <a:pos x="T4" y="T5"/>
              </a:cxn>
              <a:cxn ang="0">
                <a:pos x="T6" y="T7"/>
              </a:cxn>
              <a:cxn ang="0">
                <a:pos x="T8" y="T9"/>
              </a:cxn>
            </a:cxnLst>
            <a:rect l="T10" t="T11" r="T12" b="T13"/>
            <a:pathLst>
              <a:path w="120000" h="120000" extrusionOk="0">
                <a:moveTo>
                  <a:pt x="0" y="0"/>
                </a:moveTo>
                <a:lnTo>
                  <a:pt x="120000" y="0"/>
                </a:lnTo>
                <a:lnTo>
                  <a:pt x="120000" y="120000"/>
                </a:lnTo>
                <a:lnTo>
                  <a:pt x="0" y="120000"/>
                </a:lnTo>
                <a:lnTo>
                  <a:pt x="0" y="0"/>
                </a:lnTo>
                <a:close/>
              </a:path>
            </a:pathLst>
          </a:custGeom>
          <a:noFill/>
          <a:ln w="127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6" name="Shape 6"/>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pPr lvl="0"/>
            <a:endParaRPr noProof="0">
              <a:sym typeface="Arial"/>
            </a:endParaRPr>
          </a:p>
        </p:txBody>
      </p:sp>
      <p:sp>
        <p:nvSpPr>
          <p:cNvPr id="12294" name="Shape 7"/>
          <p:cNvSpPr txBox="1">
            <a:spLocks noGrp="1"/>
          </p:cNvSpPr>
          <p:nvPr>
            <p:ph type="ftr" idx="11"/>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lvl1pPr eaLnBrk="1" hangingPunct="1">
              <a:defRPr sz="1200"/>
            </a:lvl1pPr>
          </a:lstStyle>
          <a:p>
            <a:endParaRPr lang="en-US" altLang="en-US"/>
          </a:p>
        </p:txBody>
      </p:sp>
      <p:sp>
        <p:nvSpPr>
          <p:cNvPr id="12295" name="Shape 8"/>
          <p:cNvSpPr txBox="1">
            <a:spLocks noGrp="1"/>
          </p:cNvSpPr>
          <p:nvPr>
            <p:ph type="sldNum" idx="12"/>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b" anchorCtr="0" compatLnSpc="1">
            <a:prstTxWarp prst="textNoShape">
              <a:avLst/>
            </a:prstTxWarp>
          </a:bodyPr>
          <a:lstStyle>
            <a:lvl1pPr algn="r" eaLnBrk="1" hangingPunct="1">
              <a:buSzPct val="25000"/>
              <a:defRPr sz="1200"/>
            </a:lvl1pPr>
          </a:lstStyle>
          <a:p>
            <a:fld id="{7FC5E5EF-36C9-40E6-9EB9-C99747EECCFE}" type="slidenum">
              <a:rPr lang="en-US" altLang="en-US"/>
              <a:pPr/>
              <a:t>‹#›</a:t>
            </a:fld>
            <a:endParaRPr lang="en-US" altLang="en-US"/>
          </a:p>
        </p:txBody>
      </p:sp>
    </p:spTree>
  </p:cSld>
  <p:clrMap bg1="lt1" tx1="dk1" bg2="dk2" tx2="lt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mn-lt"/>
        <a:ea typeface="+mn-ea"/>
        <a:cs typeface="+mn-cs"/>
      </a:defRPr>
    </a:lvl1pPr>
    <a:lvl2pPr marL="457200" algn="l" defTabSz="457200" rtl="0" fontAlgn="base">
      <a:spcBef>
        <a:spcPct val="30000"/>
      </a:spcBef>
      <a:spcAft>
        <a:spcPct val="0"/>
      </a:spcAft>
      <a:defRPr sz="1200" kern="1200">
        <a:solidFill>
          <a:schemeClr val="tx1"/>
        </a:solidFill>
        <a:latin typeface="+mn-lt"/>
        <a:ea typeface="+mn-ea"/>
        <a:cs typeface="+mn-cs"/>
      </a:defRPr>
    </a:lvl2pPr>
    <a:lvl3pPr marL="914400" algn="l" defTabSz="457200" rtl="0" fontAlgn="base">
      <a:spcBef>
        <a:spcPct val="30000"/>
      </a:spcBef>
      <a:spcAft>
        <a:spcPct val="0"/>
      </a:spcAft>
      <a:defRPr sz="1200" kern="1200">
        <a:solidFill>
          <a:schemeClr val="tx1"/>
        </a:solidFill>
        <a:latin typeface="+mn-lt"/>
        <a:ea typeface="+mn-ea"/>
        <a:cs typeface="+mn-cs"/>
      </a:defRPr>
    </a:lvl3pPr>
    <a:lvl4pPr marL="1371600" algn="l" defTabSz="457200" rtl="0" fontAlgn="base">
      <a:spcBef>
        <a:spcPct val="30000"/>
      </a:spcBef>
      <a:spcAft>
        <a:spcPct val="0"/>
      </a:spcAft>
      <a:defRPr sz="1200" kern="1200">
        <a:solidFill>
          <a:schemeClr val="tx1"/>
        </a:solidFill>
        <a:latin typeface="+mn-lt"/>
        <a:ea typeface="+mn-ea"/>
        <a:cs typeface="+mn-cs"/>
      </a:defRPr>
    </a:lvl4pPr>
    <a:lvl5pPr marL="1828800" algn="l" defTabSz="457200" rtl="0" fontAlgn="base">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a:ln>
            <a:headEnd/>
            <a:tailEnd/>
          </a:ln>
        </p:spPr>
      </p:sp>
      <p:sp>
        <p:nvSpPr>
          <p:cNvPr id="15363" name="Notes Placeholder 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r>
              <a:rPr lang="en-US" altLang="en-US" smtClean="0">
                <a:solidFill>
                  <a:srgbClr val="000000"/>
                </a:solidFill>
                <a:latin typeface="Arial" panose="020B0604020202020204" pitchFamily="34" charset="0"/>
                <a:cs typeface="Arial" panose="020B0604020202020204" pitchFamily="34" charset="0"/>
                <a:sym typeface="Arial" panose="020B0604020202020204" pitchFamily="34" charset="0"/>
              </a:rPr>
              <a:t>If this PowerPoint presentation contains mathematical equations, you may need to check that your computer has the following installed:</a:t>
            </a:r>
          </a:p>
          <a:p>
            <a:pPr>
              <a:spcBef>
                <a:spcPct val="0"/>
              </a:spcBef>
            </a:pPr>
            <a:r>
              <a:rPr lang="en-US" altLang="en-US" smtClean="0">
                <a:solidFill>
                  <a:srgbClr val="000000"/>
                </a:solidFill>
                <a:latin typeface="Arial" panose="020B0604020202020204" pitchFamily="34" charset="0"/>
                <a:cs typeface="Arial" panose="020B0604020202020204" pitchFamily="34" charset="0"/>
                <a:sym typeface="Arial" panose="020B0604020202020204" pitchFamily="34" charset="0"/>
              </a:rPr>
              <a:t>1) MathType Plugin</a:t>
            </a:r>
          </a:p>
          <a:p>
            <a:pPr>
              <a:spcBef>
                <a:spcPct val="0"/>
              </a:spcBef>
            </a:pPr>
            <a:r>
              <a:rPr lang="en-US" altLang="en-US" smtClean="0">
                <a:solidFill>
                  <a:srgbClr val="000000"/>
                </a:solidFill>
                <a:latin typeface="Arial" panose="020B0604020202020204" pitchFamily="34" charset="0"/>
                <a:cs typeface="Arial" panose="020B0604020202020204" pitchFamily="34" charset="0"/>
                <a:sym typeface="Arial" panose="020B0604020202020204" pitchFamily="34" charset="0"/>
              </a:rPr>
              <a:t>2) Math Player (free versions available)</a:t>
            </a:r>
          </a:p>
          <a:p>
            <a:pPr>
              <a:spcBef>
                <a:spcPct val="0"/>
              </a:spcBef>
            </a:pPr>
            <a:r>
              <a:rPr lang="en-US" altLang="en-US" smtClean="0">
                <a:solidFill>
                  <a:srgbClr val="000000"/>
                </a:solidFill>
                <a:latin typeface="Arial" panose="020B0604020202020204" pitchFamily="34" charset="0"/>
                <a:cs typeface="Arial" panose="020B0604020202020204" pitchFamily="34" charset="0"/>
                <a:sym typeface="Arial" panose="020B0604020202020204" pitchFamily="34" charset="0"/>
              </a:rPr>
              <a:t>3) NVDA Reader (free versions available)</a:t>
            </a:r>
          </a:p>
        </p:txBody>
      </p:sp>
      <p:sp>
        <p:nvSpPr>
          <p:cNvPr id="15364" name="Slide Number Placeholder 3"/>
          <p:cNvSpPr>
            <a:spLocks noGrp="1"/>
          </p:cNvSpPr>
          <p:nvPr>
            <p:ph type="sldNum" sz="quarter" idx="12"/>
          </p:nvPr>
        </p:nvSpPr>
        <p:spPr>
          <a:noFill/>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88EC3C44-9008-4A5A-881A-9BC8AF9D1463}" type="slidenum">
              <a:rPr lang="en-US" altLang="en-US" sz="1200"/>
              <a:pPr/>
              <a:t>1</a:t>
            </a:fld>
            <a:endParaRPr lang="en-US"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7FC5E5EF-36C9-40E6-9EB9-C99747EECCFE}" type="slidenum">
              <a:rPr lang="en-US" altLang="en-US" smtClean="0"/>
              <a:pPr/>
              <a:t>20</a:t>
            </a:fld>
            <a:endParaRPr lang="en-US" altLang="en-US"/>
          </a:p>
        </p:txBody>
      </p:sp>
    </p:spTree>
    <p:extLst>
      <p:ext uri="{BB962C8B-B14F-4D97-AF65-F5344CB8AC3E}">
        <p14:creationId xmlns:p14="http://schemas.microsoft.com/office/powerpoint/2010/main" val="2124796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4" name="Shape 18"/>
          <p:cNvSpPr>
            <a:spLocks noChangeArrowheads="1"/>
          </p:cNvSpPr>
          <p:nvPr/>
        </p:nvSpPr>
        <p:spPr bwMode="auto">
          <a:xfrm>
            <a:off x="0" y="0"/>
            <a:ext cx="9144000" cy="3886200"/>
          </a:xfrm>
          <a:prstGeom prst="rect">
            <a:avLst/>
          </a:prstGeom>
          <a:solidFill>
            <a:srgbClr val="007FA3"/>
          </a:solidFill>
          <a:ln w="25400">
            <a:solidFill>
              <a:srgbClr val="007FA3"/>
            </a:solidFill>
            <a:round/>
            <a:headEnd/>
            <a:tailEnd/>
          </a:ln>
        </p:spPr>
        <p:txBody>
          <a:bodyPr lIns="91425" tIns="45700" rIns="91425" bIns="45700" anchor="ct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endParaRPr lang="en-US" altLang="en-US" sz="1800">
              <a:solidFill>
                <a:srgbClr val="FFFFFF"/>
              </a:solidFil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5" name="Shape 21"/>
          <p:cNvSpPr txBox="1">
            <a:spLocks noGrp="1"/>
          </p:cNvSpPr>
          <p:nvPr>
            <p:ph type="ftr" idx="10"/>
          </p:nvPr>
        </p:nvSpPr>
        <p:spPr/>
        <p:txBody>
          <a:bodyPr/>
          <a:lstStyle>
            <a:lvl1pPr>
              <a:defRPr/>
            </a:lvl1pPr>
          </a:lstStyle>
          <a:p>
            <a:endParaRPr lang="en-US" altLang="en-US"/>
          </a:p>
        </p:txBody>
      </p:sp>
      <p:sp>
        <p:nvSpPr>
          <p:cNvPr id="6" name="Shape 22"/>
          <p:cNvSpPr txBox="1">
            <a:spLocks noGrp="1"/>
          </p:cNvSpPr>
          <p:nvPr>
            <p:ph type="dt" idx="11"/>
          </p:nvPr>
        </p:nvSpPr>
        <p:spPr/>
        <p:txBody>
          <a:bodyPr/>
          <a:lstStyle>
            <a:lvl1pPr>
              <a:defRPr/>
            </a:lvl1pPr>
          </a:lstStyle>
          <a:p>
            <a:endParaRPr lang="en-US" altLang="en-US"/>
          </a:p>
        </p:txBody>
      </p:sp>
      <p:sp>
        <p:nvSpPr>
          <p:cNvPr id="7" name="Shape 23"/>
          <p:cNvSpPr txBox="1">
            <a:spLocks noGrp="1"/>
          </p:cNvSpPr>
          <p:nvPr>
            <p:ph type="sldNum" idx="12"/>
          </p:nvPr>
        </p:nvSpPr>
        <p:spPr/>
        <p:txBody>
          <a:bodyPr/>
          <a:lstStyle>
            <a:lvl1pPr>
              <a:defRPr/>
            </a:lvl1pPr>
          </a:lstStyle>
          <a:p>
            <a:fld id="{01F846CD-CB82-4043-A7B0-3FADC04EBF77}" type="slidenum">
              <a:rPr lang="en-US" altLang="en-US"/>
              <a:pPr/>
              <a:t>‹#›</a:t>
            </a:fld>
            <a:endParaRPr lang="en-US" altLang="en-US"/>
          </a:p>
        </p:txBody>
      </p:sp>
    </p:spTree>
    <p:extLst>
      <p:ext uri="{BB962C8B-B14F-4D97-AF65-F5344CB8AC3E}">
        <p14:creationId xmlns:p14="http://schemas.microsoft.com/office/powerpoint/2010/main" val="889665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anchor="b"/>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 name="Shape 56"/>
          <p:cNvSpPr txBox="1">
            <a:spLocks noGrp="1"/>
          </p:cNvSpPr>
          <p:nvPr>
            <p:ph type="ftr" idx="10"/>
          </p:nvPr>
        </p:nvSpPr>
        <p:spPr/>
        <p:txBody>
          <a:bodyPr/>
          <a:lstStyle>
            <a:lvl1pPr>
              <a:defRPr/>
            </a:lvl1pPr>
          </a:lstStyle>
          <a:p>
            <a:endParaRPr lang="en-US" altLang="en-US"/>
          </a:p>
        </p:txBody>
      </p:sp>
      <p:sp>
        <p:nvSpPr>
          <p:cNvPr id="5" name="Shape 57"/>
          <p:cNvSpPr txBox="1">
            <a:spLocks noGrp="1"/>
          </p:cNvSpPr>
          <p:nvPr>
            <p:ph type="dt" idx="11"/>
          </p:nvPr>
        </p:nvSpPr>
        <p:spPr/>
        <p:txBody>
          <a:bodyPr/>
          <a:lstStyle>
            <a:lvl1pPr>
              <a:defRPr>
                <a:solidFill>
                  <a:srgbClr val="000000"/>
                </a:solidFill>
              </a:defRPr>
            </a:lvl1pPr>
          </a:lstStyle>
          <a:p>
            <a:endParaRPr lang="en-US" altLang="en-US"/>
          </a:p>
        </p:txBody>
      </p:sp>
      <p:sp>
        <p:nvSpPr>
          <p:cNvPr id="6" name="Shape 58"/>
          <p:cNvSpPr txBox="1">
            <a:spLocks noGrp="1"/>
          </p:cNvSpPr>
          <p:nvPr>
            <p:ph type="sldNum" idx="12"/>
          </p:nvPr>
        </p:nvSpPr>
        <p:spPr/>
        <p:txBody>
          <a:bodyPr/>
          <a:lstStyle>
            <a:lvl1pPr>
              <a:defRPr>
                <a:solidFill>
                  <a:srgbClr val="000000"/>
                </a:solidFill>
              </a:defRPr>
            </a:lvl1pPr>
          </a:lstStyle>
          <a:p>
            <a:fld id="{2FC3E4D3-C1FD-4BF5-AD97-C9888282CDAD}" type="slidenum">
              <a:rPr lang="en-US" altLang="en-US"/>
              <a:pPr/>
              <a:t>‹#›</a:t>
            </a:fld>
            <a:endParaRPr lang="en-US" altLang="en-US"/>
          </a:p>
        </p:txBody>
      </p:sp>
    </p:spTree>
    <p:extLst>
      <p:ext uri="{BB962C8B-B14F-4D97-AF65-F5344CB8AC3E}">
        <p14:creationId xmlns:p14="http://schemas.microsoft.com/office/powerpoint/2010/main" val="763330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a:p>
            <a:pPr lvl="1"/>
            <a:endParaRPr lang="en-IN" dirty="0" smtClean="0"/>
          </a:p>
          <a:p>
            <a:pPr lvl="2"/>
            <a:endParaRPr lang="en-IN" dirty="0" smtClean="0"/>
          </a:p>
        </p:txBody>
      </p:sp>
    </p:spTree>
    <p:extLst>
      <p:ext uri="{BB962C8B-B14F-4D97-AF65-F5344CB8AC3E}">
        <p14:creationId xmlns:p14="http://schemas.microsoft.com/office/powerpoint/2010/main" val="312460092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361049211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7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4" name="Content Placeholder 3"/>
          <p:cNvSpPr>
            <a:spLocks noGrp="1"/>
          </p:cNvSpPr>
          <p:nvPr>
            <p:ph sz="quarter" idx="18"/>
          </p:nvPr>
        </p:nvSpPr>
        <p:spPr>
          <a:xfrm>
            <a:off x="457199" y="5854700"/>
            <a:ext cx="8232775" cy="5051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5261265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4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271158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6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4" name="Content Placeholder 3"/>
          <p:cNvSpPr>
            <a:spLocks noGrp="1"/>
          </p:cNvSpPr>
          <p:nvPr>
            <p:ph sz="quarter" idx="16"/>
          </p:nvPr>
        </p:nvSpPr>
        <p:spPr>
          <a:xfrm>
            <a:off x="457200" y="4575175"/>
            <a:ext cx="8229600" cy="62684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Content Placeholder 7"/>
          <p:cNvSpPr>
            <a:spLocks noGrp="1"/>
          </p:cNvSpPr>
          <p:nvPr>
            <p:ph sz="quarter" idx="17"/>
          </p:nvPr>
        </p:nvSpPr>
        <p:spPr>
          <a:xfrm>
            <a:off x="457199" y="5565775"/>
            <a:ext cx="8229601" cy="68988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6692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3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780644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Content Placeholder 7"/>
          <p:cNvSpPr>
            <a:spLocks noGrp="1"/>
          </p:cNvSpPr>
          <p:nvPr>
            <p:ph sz="quarter" idx="19"/>
          </p:nvPr>
        </p:nvSpPr>
        <p:spPr>
          <a:xfrm>
            <a:off x="3657601" y="6418263"/>
            <a:ext cx="479834" cy="29845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quarter" idx="20"/>
          </p:nvPr>
        </p:nvSpPr>
        <p:spPr>
          <a:xfrm>
            <a:off x="5503863" y="6418263"/>
            <a:ext cx="453317" cy="29845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4" name="Content Placeholder 13"/>
          <p:cNvSpPr>
            <a:spLocks noGrp="1"/>
          </p:cNvSpPr>
          <p:nvPr>
            <p:ph sz="quarter" idx="21"/>
          </p:nvPr>
        </p:nvSpPr>
        <p:spPr>
          <a:xfrm>
            <a:off x="7200900" y="6418263"/>
            <a:ext cx="576027" cy="29845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5"/>
          <p:cNvSpPr>
            <a:spLocks noGrp="1"/>
          </p:cNvSpPr>
          <p:nvPr>
            <p:ph sz="quarter" idx="22"/>
          </p:nvPr>
        </p:nvSpPr>
        <p:spPr>
          <a:xfrm flipH="1">
            <a:off x="7976101" y="6418263"/>
            <a:ext cx="778599" cy="29845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15235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anchor="b"/>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6" name="Shape 42"/>
          <p:cNvSpPr txBox="1">
            <a:spLocks noGrp="1"/>
          </p:cNvSpPr>
          <p:nvPr>
            <p:ph type="ftr" idx="10"/>
          </p:nvPr>
        </p:nvSpPr>
        <p:spPr>
          <a:xfrm>
            <a:off x="93663" y="6165850"/>
            <a:ext cx="8596312" cy="234950"/>
          </a:xfrm>
        </p:spPr>
        <p:txBody>
          <a:bodyPr/>
          <a:lstStyle>
            <a:lvl1pPr>
              <a:defRPr/>
            </a:lvl1pPr>
          </a:lstStyle>
          <a:p>
            <a:endParaRPr lang="en-US" altLang="en-US"/>
          </a:p>
        </p:txBody>
      </p:sp>
      <p:sp>
        <p:nvSpPr>
          <p:cNvPr id="7" name="Shape 43"/>
          <p:cNvSpPr txBox="1">
            <a:spLocks noGrp="1"/>
          </p:cNvSpPr>
          <p:nvPr>
            <p:ph type="dt" idx="11"/>
          </p:nvPr>
        </p:nvSpPr>
        <p:spPr/>
        <p:txBody>
          <a:bodyPr/>
          <a:lstStyle>
            <a:lvl1pPr>
              <a:defRPr/>
            </a:lvl1pPr>
          </a:lstStyle>
          <a:p>
            <a:endParaRPr lang="en-US" altLang="en-US"/>
          </a:p>
        </p:txBody>
      </p:sp>
      <p:sp>
        <p:nvSpPr>
          <p:cNvPr id="8" name="Shape 44"/>
          <p:cNvSpPr txBox="1">
            <a:spLocks noGrp="1"/>
          </p:cNvSpPr>
          <p:nvPr>
            <p:ph type="sldNum" idx="12"/>
          </p:nvPr>
        </p:nvSpPr>
        <p:spPr/>
        <p:txBody>
          <a:bodyPr/>
          <a:lstStyle>
            <a:lvl1pPr>
              <a:defRPr/>
            </a:lvl1pPr>
          </a:lstStyle>
          <a:p>
            <a:fld id="{562FB41F-3558-4683-A4D9-7EA6AE76A39D}" type="slidenum">
              <a:rPr lang="en-US" altLang="en-US"/>
              <a:pPr/>
              <a:t>‹#›</a:t>
            </a:fld>
            <a:endParaRPr lang="en-US" altLang="en-US"/>
          </a:p>
        </p:txBody>
      </p:sp>
    </p:spTree>
    <p:extLst>
      <p:ext uri="{BB962C8B-B14F-4D97-AF65-F5344CB8AC3E}">
        <p14:creationId xmlns:p14="http://schemas.microsoft.com/office/powerpoint/2010/main" val="3815734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 name="Shape 12"/>
          <p:cNvSpPr txBox="1">
            <a:spLocks noGrp="1"/>
          </p:cNvSpPr>
          <p:nvPr>
            <p:ph type="ftr" idx="12"/>
          </p:nvPr>
        </p:nvSpPr>
        <p:spPr>
          <a:ln/>
        </p:spPr>
        <p:txBody>
          <a:bodyPr/>
          <a:lstStyle>
            <a:lvl1pPr>
              <a:defRPr/>
            </a:lvl1pPr>
          </a:lstStyle>
          <a:p>
            <a:endParaRPr lang="en-US" altLang="en-US"/>
          </a:p>
        </p:txBody>
      </p:sp>
      <p:sp>
        <p:nvSpPr>
          <p:cNvPr id="6" name="Shape 13"/>
          <p:cNvSpPr txBox="1">
            <a:spLocks noGrp="1"/>
          </p:cNvSpPr>
          <p:nvPr>
            <p:ph type="dt" idx="13"/>
          </p:nvPr>
        </p:nvSpPr>
        <p:spPr>
          <a:ln/>
        </p:spPr>
        <p:txBody>
          <a:bodyPr/>
          <a:lstStyle>
            <a:lvl1pPr>
              <a:defRPr/>
            </a:lvl1pPr>
          </a:lstStyle>
          <a:p>
            <a:endParaRPr lang="en-US" altLang="en-US"/>
          </a:p>
        </p:txBody>
      </p:sp>
      <p:sp>
        <p:nvSpPr>
          <p:cNvPr id="7" name="Shape 14"/>
          <p:cNvSpPr txBox="1">
            <a:spLocks noGrp="1"/>
          </p:cNvSpPr>
          <p:nvPr>
            <p:ph type="sldNum" idx="14"/>
          </p:nvPr>
        </p:nvSpPr>
        <p:spPr>
          <a:ln/>
        </p:spPr>
        <p:txBody>
          <a:bodyPr/>
          <a:lstStyle>
            <a:lvl1pPr>
              <a:defRPr/>
            </a:lvl1pPr>
          </a:lstStyle>
          <a:p>
            <a:fld id="{0ACA9AD1-B70E-4AE3-B360-D7C55EDF391A}" type="slidenum">
              <a:rPr lang="en-US" altLang="en-US"/>
              <a:pPr/>
              <a:t>‹#›</a:t>
            </a:fld>
            <a:endParaRPr lang="en-US" altLang="en-US"/>
          </a:p>
        </p:txBody>
      </p:sp>
    </p:spTree>
    <p:extLst>
      <p:ext uri="{BB962C8B-B14F-4D97-AF65-F5344CB8AC3E}">
        <p14:creationId xmlns:p14="http://schemas.microsoft.com/office/powerpoint/2010/main" val="4005995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endParaRPr lang="en-US" altLang="en-US"/>
          </a:p>
        </p:txBody>
      </p:sp>
      <p:sp>
        <p:nvSpPr>
          <p:cNvPr id="5" name="Shape 13"/>
          <p:cNvSpPr txBox="1">
            <a:spLocks noGrp="1"/>
          </p:cNvSpPr>
          <p:nvPr>
            <p:ph type="dt" idx="13"/>
          </p:nvPr>
        </p:nvSpPr>
        <p:spPr>
          <a:ln/>
        </p:spPr>
        <p:txBody>
          <a:bodyPr/>
          <a:lstStyle>
            <a:lvl1pPr>
              <a:defRPr/>
            </a:lvl1pPr>
          </a:lstStyle>
          <a:p>
            <a:endParaRPr lang="en-US" altLang="en-US"/>
          </a:p>
        </p:txBody>
      </p:sp>
      <p:sp>
        <p:nvSpPr>
          <p:cNvPr id="6" name="Shape 14"/>
          <p:cNvSpPr txBox="1">
            <a:spLocks noGrp="1"/>
          </p:cNvSpPr>
          <p:nvPr>
            <p:ph type="sldNum" idx="14"/>
          </p:nvPr>
        </p:nvSpPr>
        <p:spPr>
          <a:ln/>
        </p:spPr>
        <p:txBody>
          <a:bodyPr/>
          <a:lstStyle>
            <a:lvl1pPr>
              <a:defRPr/>
            </a:lvl1pPr>
          </a:lstStyle>
          <a:p>
            <a:fld id="{34AB5505-7394-4A51-850D-90AAF06578FD}" type="slidenum">
              <a:rPr lang="en-US" altLang="en-US"/>
              <a:pPr/>
              <a:t>‹#›</a:t>
            </a:fld>
            <a:endParaRPr lang="en-US" altLang="en-US"/>
          </a:p>
        </p:txBody>
      </p:sp>
    </p:spTree>
    <p:extLst>
      <p:ext uri="{BB962C8B-B14F-4D97-AF65-F5344CB8AC3E}">
        <p14:creationId xmlns:p14="http://schemas.microsoft.com/office/powerpoint/2010/main" val="30332657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 name="Shape 12"/>
          <p:cNvSpPr txBox="1">
            <a:spLocks noGrp="1"/>
          </p:cNvSpPr>
          <p:nvPr>
            <p:ph type="ftr" idx="12"/>
          </p:nvPr>
        </p:nvSpPr>
        <p:spPr>
          <a:ln/>
        </p:spPr>
        <p:txBody>
          <a:bodyPr/>
          <a:lstStyle>
            <a:lvl1pPr>
              <a:defRPr/>
            </a:lvl1pPr>
          </a:lstStyle>
          <a:p>
            <a:endParaRPr lang="en-US" altLang="en-US"/>
          </a:p>
        </p:txBody>
      </p:sp>
      <p:sp>
        <p:nvSpPr>
          <p:cNvPr id="4" name="Shape 13"/>
          <p:cNvSpPr txBox="1">
            <a:spLocks noGrp="1"/>
          </p:cNvSpPr>
          <p:nvPr>
            <p:ph type="dt" idx="13"/>
          </p:nvPr>
        </p:nvSpPr>
        <p:spPr>
          <a:ln/>
        </p:spPr>
        <p:txBody>
          <a:bodyPr/>
          <a:lstStyle>
            <a:lvl1pPr>
              <a:defRPr/>
            </a:lvl1pPr>
          </a:lstStyle>
          <a:p>
            <a:endParaRPr lang="en-US" altLang="en-US"/>
          </a:p>
        </p:txBody>
      </p:sp>
      <p:sp>
        <p:nvSpPr>
          <p:cNvPr id="5" name="Shape 14"/>
          <p:cNvSpPr txBox="1">
            <a:spLocks noGrp="1"/>
          </p:cNvSpPr>
          <p:nvPr>
            <p:ph type="sldNum" idx="14"/>
          </p:nvPr>
        </p:nvSpPr>
        <p:spPr>
          <a:ln/>
        </p:spPr>
        <p:txBody>
          <a:bodyPr/>
          <a:lstStyle>
            <a:lvl1pPr>
              <a:defRPr/>
            </a:lvl1pPr>
          </a:lstStyle>
          <a:p>
            <a:fld id="{750B731B-D2A7-48EC-89C9-DA4F54A833B1}" type="slidenum">
              <a:rPr lang="en-US" altLang="en-US"/>
              <a:pPr/>
              <a:t>‹#›</a:t>
            </a:fld>
            <a:endParaRPr lang="en-US" altLang="en-US"/>
          </a:p>
        </p:txBody>
      </p:sp>
    </p:spTree>
    <p:extLst>
      <p:ext uri="{BB962C8B-B14F-4D97-AF65-F5344CB8AC3E}">
        <p14:creationId xmlns:p14="http://schemas.microsoft.com/office/powerpoint/2010/main" val="14316699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smtClean="0"/>
          </a:p>
          <a:p>
            <a:pPr lvl="1"/>
            <a:endParaRPr lang="en-US" dirty="0" smtClean="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smtClean="0"/>
          </a:p>
          <a:p>
            <a:pPr lvl="1"/>
            <a:endParaRPr lang="en-US" dirty="0" smtClean="0"/>
          </a:p>
          <a:p>
            <a:pPr lvl="2"/>
            <a:endParaRPr dirty="0"/>
          </a:p>
        </p:txBody>
      </p:sp>
      <p:sp>
        <p:nvSpPr>
          <p:cNvPr id="5" name="Shape 12"/>
          <p:cNvSpPr txBox="1">
            <a:spLocks noGrp="1"/>
          </p:cNvSpPr>
          <p:nvPr>
            <p:ph type="ftr" idx="12"/>
          </p:nvPr>
        </p:nvSpPr>
        <p:spPr>
          <a:ln/>
        </p:spPr>
        <p:txBody>
          <a:bodyPr/>
          <a:lstStyle>
            <a:lvl1pPr>
              <a:defRPr/>
            </a:lvl1pPr>
          </a:lstStyle>
          <a:p>
            <a:endParaRPr lang="en-US" altLang="en-US"/>
          </a:p>
        </p:txBody>
      </p:sp>
      <p:sp>
        <p:nvSpPr>
          <p:cNvPr id="6" name="Shape 13"/>
          <p:cNvSpPr txBox="1">
            <a:spLocks noGrp="1"/>
          </p:cNvSpPr>
          <p:nvPr>
            <p:ph type="dt" idx="13"/>
          </p:nvPr>
        </p:nvSpPr>
        <p:spPr>
          <a:ln/>
        </p:spPr>
        <p:txBody>
          <a:bodyPr/>
          <a:lstStyle>
            <a:lvl1pPr>
              <a:defRPr/>
            </a:lvl1pPr>
          </a:lstStyle>
          <a:p>
            <a:endParaRPr lang="en-US" altLang="en-US"/>
          </a:p>
        </p:txBody>
      </p:sp>
      <p:sp>
        <p:nvSpPr>
          <p:cNvPr id="7" name="Shape 14"/>
          <p:cNvSpPr txBox="1">
            <a:spLocks noGrp="1"/>
          </p:cNvSpPr>
          <p:nvPr>
            <p:ph type="sldNum" idx="14"/>
          </p:nvPr>
        </p:nvSpPr>
        <p:spPr>
          <a:ln/>
        </p:spPr>
        <p:txBody>
          <a:bodyPr/>
          <a:lstStyle>
            <a:lvl1pPr>
              <a:defRPr/>
            </a:lvl1pPr>
          </a:lstStyle>
          <a:p>
            <a:fld id="{5849D66C-B003-42D5-BF52-6477CD74AA53}" type="slidenum">
              <a:rPr lang="en-US" altLang="en-US"/>
              <a:pPr/>
              <a:t>‹#›</a:t>
            </a:fld>
            <a:endParaRPr lang="en-US" altLang="en-US"/>
          </a:p>
        </p:txBody>
      </p:sp>
    </p:spTree>
    <p:extLst>
      <p:ext uri="{BB962C8B-B14F-4D97-AF65-F5344CB8AC3E}">
        <p14:creationId xmlns:p14="http://schemas.microsoft.com/office/powerpoint/2010/main" val="3183267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2" name="Shape 80"/>
          <p:cNvSpPr txBox="1">
            <a:spLocks noGrp="1"/>
          </p:cNvSpPr>
          <p:nvPr>
            <p:ph type="ftr" idx="10"/>
          </p:nvPr>
        </p:nvSpPr>
        <p:spPr/>
        <p:txBody>
          <a:bodyPr/>
          <a:lstStyle>
            <a:lvl1pPr>
              <a:defRPr/>
            </a:lvl1pPr>
          </a:lstStyle>
          <a:p>
            <a:endParaRPr lang="en-US" altLang="en-US"/>
          </a:p>
        </p:txBody>
      </p:sp>
      <p:sp>
        <p:nvSpPr>
          <p:cNvPr id="3" name="Shape 81"/>
          <p:cNvSpPr txBox="1">
            <a:spLocks noGrp="1"/>
          </p:cNvSpPr>
          <p:nvPr>
            <p:ph type="dt" idx="11"/>
          </p:nvPr>
        </p:nvSpPr>
        <p:spPr/>
        <p:txBody>
          <a:bodyPr/>
          <a:lstStyle>
            <a:lvl1pPr>
              <a:defRPr>
                <a:solidFill>
                  <a:srgbClr val="000000"/>
                </a:solidFill>
              </a:defRPr>
            </a:lvl1pPr>
          </a:lstStyle>
          <a:p>
            <a:endParaRPr lang="en-US" altLang="en-US"/>
          </a:p>
        </p:txBody>
      </p:sp>
      <p:sp>
        <p:nvSpPr>
          <p:cNvPr id="4" name="Shape 82"/>
          <p:cNvSpPr txBox="1">
            <a:spLocks noGrp="1"/>
          </p:cNvSpPr>
          <p:nvPr>
            <p:ph type="sldNum" idx="12"/>
          </p:nvPr>
        </p:nvSpPr>
        <p:spPr/>
        <p:txBody>
          <a:bodyPr/>
          <a:lstStyle>
            <a:lvl1pPr>
              <a:defRPr>
                <a:solidFill>
                  <a:srgbClr val="000000"/>
                </a:solidFill>
              </a:defRPr>
            </a:lvl1pPr>
          </a:lstStyle>
          <a:p>
            <a:fld id="{7C0505E7-AFAA-4827-A903-D348DE51E815}" type="slidenum">
              <a:rPr lang="en-US" altLang="en-US"/>
              <a:pPr/>
              <a:t>‹#›</a:t>
            </a:fld>
            <a:endParaRPr lang="en-US" altLang="en-US"/>
          </a:p>
        </p:txBody>
      </p:sp>
    </p:spTree>
    <p:extLst>
      <p:ext uri="{BB962C8B-B14F-4D97-AF65-F5344CB8AC3E}">
        <p14:creationId xmlns:p14="http://schemas.microsoft.com/office/powerpoint/2010/main" val="34172355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anchor="b"/>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7" name="Shape 42"/>
          <p:cNvSpPr txBox="1">
            <a:spLocks noGrp="1"/>
          </p:cNvSpPr>
          <p:nvPr>
            <p:ph type="ftr" idx="14"/>
          </p:nvPr>
        </p:nvSpPr>
        <p:spPr>
          <a:xfrm>
            <a:off x="93663" y="6165850"/>
            <a:ext cx="8596312" cy="234950"/>
          </a:xfrm>
        </p:spPr>
        <p:txBody>
          <a:bodyPr/>
          <a:lstStyle>
            <a:lvl1pPr>
              <a:defRPr/>
            </a:lvl1pPr>
          </a:lstStyle>
          <a:p>
            <a:endParaRPr lang="en-US" altLang="en-US"/>
          </a:p>
        </p:txBody>
      </p:sp>
      <p:sp>
        <p:nvSpPr>
          <p:cNvPr id="8" name="Shape 43"/>
          <p:cNvSpPr txBox="1">
            <a:spLocks noGrp="1"/>
          </p:cNvSpPr>
          <p:nvPr>
            <p:ph type="dt" idx="15"/>
          </p:nvPr>
        </p:nvSpPr>
        <p:spPr/>
        <p:txBody>
          <a:bodyPr/>
          <a:lstStyle>
            <a:lvl1pPr>
              <a:defRPr/>
            </a:lvl1pPr>
          </a:lstStyle>
          <a:p>
            <a:endParaRPr lang="en-US" altLang="en-US"/>
          </a:p>
        </p:txBody>
      </p:sp>
      <p:sp>
        <p:nvSpPr>
          <p:cNvPr id="10" name="Shape 44"/>
          <p:cNvSpPr txBox="1">
            <a:spLocks noGrp="1"/>
          </p:cNvSpPr>
          <p:nvPr>
            <p:ph type="sldNum" idx="16"/>
          </p:nvPr>
        </p:nvSpPr>
        <p:spPr/>
        <p:txBody>
          <a:bodyPr/>
          <a:lstStyle>
            <a:lvl1pPr>
              <a:defRPr/>
            </a:lvl1pPr>
          </a:lstStyle>
          <a:p>
            <a:fld id="{FE6A28D3-9EB2-40EE-9D10-48451EFF2079}" type="slidenum">
              <a:rPr lang="en-US" altLang="en-US"/>
              <a:pPr/>
              <a:t>‹#›</a:t>
            </a:fld>
            <a:endParaRPr lang="en-US" altLang="en-US"/>
          </a:p>
        </p:txBody>
      </p:sp>
    </p:spTree>
    <p:extLst>
      <p:ext uri="{BB962C8B-B14F-4D97-AF65-F5344CB8AC3E}">
        <p14:creationId xmlns:p14="http://schemas.microsoft.com/office/powerpoint/2010/main" val="36164406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lvl1pPr>
              <a:defRPr/>
            </a:lvl1pPr>
          </a:lstStyle>
          <a:p>
            <a:endParaRPr lang="en-US" altLang="en-US"/>
          </a:p>
        </p:txBody>
      </p:sp>
      <p:sp>
        <p:nvSpPr>
          <p:cNvPr id="3" name="Date Placeholder 2"/>
          <p:cNvSpPr>
            <a:spLocks noGrp="1"/>
          </p:cNvSpPr>
          <p:nvPr>
            <p:ph type="dt" idx="11"/>
          </p:nvPr>
        </p:nvSpPr>
        <p:spPr/>
        <p:txBody>
          <a:bodyPr/>
          <a:lstStyle>
            <a:lvl1pPr>
              <a:defRPr/>
            </a:lvl1pPr>
          </a:lstStyle>
          <a:p>
            <a:endParaRPr lang="en-US" altLang="en-US"/>
          </a:p>
        </p:txBody>
      </p:sp>
      <p:sp>
        <p:nvSpPr>
          <p:cNvPr id="4" name="Slide Number Placeholder 3"/>
          <p:cNvSpPr>
            <a:spLocks noGrp="1"/>
          </p:cNvSpPr>
          <p:nvPr>
            <p:ph type="sldNum" idx="12"/>
          </p:nvPr>
        </p:nvSpPr>
        <p:spPr/>
        <p:txBody>
          <a:bodyPr/>
          <a:lstStyle>
            <a:lvl1pPr>
              <a:defRPr/>
            </a:lvl1pPr>
          </a:lstStyle>
          <a:p>
            <a:fld id="{E139E3CF-2BB1-4256-A257-CB9BFD93C247}" type="slidenum">
              <a:rPr lang="en-US" altLang="en-US"/>
              <a:pPr/>
              <a:t>‹#›</a:t>
            </a:fld>
            <a:endParaRPr lang="en-US" altLang="en-US"/>
          </a:p>
        </p:txBody>
      </p:sp>
    </p:spTree>
    <p:extLst>
      <p:ext uri="{BB962C8B-B14F-4D97-AF65-F5344CB8AC3E}">
        <p14:creationId xmlns:p14="http://schemas.microsoft.com/office/powerpoint/2010/main" val="3262184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Shape 10"/>
          <p:cNvSpPr txBox="1">
            <a:spLocks noGrp="1"/>
          </p:cNvSpPr>
          <p:nvPr>
            <p:ph type="title"/>
          </p:nvPr>
        </p:nvSpPr>
        <p:spPr bwMode="auto">
          <a:xfrm>
            <a:off x="457200" y="215900"/>
            <a:ext cx="82296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en-US" altLang="en-US" smtClean="0">
              <a:sym typeface="Arial" panose="020B0604020202020204" pitchFamily="34" charset="0"/>
            </a:endParaRPr>
          </a:p>
        </p:txBody>
      </p:sp>
      <p:sp>
        <p:nvSpPr>
          <p:cNvPr id="1027" name="Shape 11"/>
          <p:cNvSpPr txBox="1">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smtClean="0">
              <a:sym typeface="Arial" panose="020B0604020202020204" pitchFamily="34" charset="0"/>
            </a:endParaRPr>
          </a:p>
        </p:txBody>
      </p:sp>
      <p:sp>
        <p:nvSpPr>
          <p:cNvPr id="1028" name="Shape 12"/>
          <p:cNvSpPr txBox="1">
            <a:spLocks noGrp="1"/>
          </p:cNvSpPr>
          <p:nvPr>
            <p:ph type="ftr" idx="11"/>
          </p:nvPr>
        </p:nvSpPr>
        <p:spPr bwMode="auto">
          <a:xfrm>
            <a:off x="93663" y="6172200"/>
            <a:ext cx="8596312"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lvl1pPr eaLnBrk="1" hangingPunct="1">
              <a:defRPr sz="1100"/>
            </a:lvl1pPr>
          </a:lstStyle>
          <a:p>
            <a:endParaRPr lang="en-US" altLang="en-US"/>
          </a:p>
        </p:txBody>
      </p:sp>
      <p:sp>
        <p:nvSpPr>
          <p:cNvPr id="1029" name="Shape 13"/>
          <p:cNvSpPr txBox="1">
            <a:spLocks noGrp="1"/>
          </p:cNvSpPr>
          <p:nvPr>
            <p:ph type="dt" idx="10"/>
          </p:nvPr>
        </p:nvSpPr>
        <p:spPr bwMode="auto">
          <a:xfrm>
            <a:off x="6335713" y="112713"/>
            <a:ext cx="21336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ctr" anchorCtr="0" compatLnSpc="1">
            <a:prstTxWarp prst="textNoShape">
              <a:avLst/>
            </a:prstTxWarp>
          </a:bodyPr>
          <a:lstStyle>
            <a:lvl1pPr algn="r" eaLnBrk="1" hangingPunct="1">
              <a:defRPr sz="900">
                <a:solidFill>
                  <a:srgbClr val="FFFFFF"/>
                </a:solidFill>
              </a:defRPr>
            </a:lvl1pPr>
          </a:lstStyle>
          <a:p>
            <a:endParaRPr lang="en-US" altLang="en-US"/>
          </a:p>
        </p:txBody>
      </p:sp>
      <p:sp>
        <p:nvSpPr>
          <p:cNvPr id="1030" name="Shape 14"/>
          <p:cNvSpPr txBox="1">
            <a:spLocks noGrp="1"/>
          </p:cNvSpPr>
          <p:nvPr>
            <p:ph type="sldNum" idx="12"/>
          </p:nvPr>
        </p:nvSpPr>
        <p:spPr bwMode="auto">
          <a:xfrm>
            <a:off x="8469313" y="112713"/>
            <a:ext cx="55245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lvl1pPr algn="r" eaLnBrk="1" hangingPunct="1">
              <a:buSzPct val="25000"/>
              <a:defRPr sz="900">
                <a:solidFill>
                  <a:srgbClr val="FFFFFF"/>
                </a:solidFill>
              </a:defRPr>
            </a:lvl1pPr>
          </a:lstStyle>
          <a:p>
            <a:fld id="{9C6BC7FA-C534-4266-B8C6-F4CA3C03E190}" type="slidenum">
              <a:rPr lang="en-US" altLang="en-US"/>
              <a:pPr/>
              <a:t>‹#›</a:t>
            </a:fld>
            <a:endParaRPr lang="en-US" altLang="en-US"/>
          </a:p>
        </p:txBody>
      </p:sp>
      <p:pic>
        <p:nvPicPr>
          <p:cNvPr id="1031" name="Shape 15" descr="Pearson Logo"/>
          <p:cNvPicPr preferRelativeResize="0">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4500" y="6429375"/>
            <a:ext cx="9175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5"/>
          <p:cNvSpPr txBox="1">
            <a:spLocks/>
          </p:cNvSpPr>
          <p:nvPr userDrawn="1"/>
        </p:nvSpPr>
        <p:spPr>
          <a:xfrm>
            <a:off x="2682875" y="6473825"/>
            <a:ext cx="6076950" cy="201613"/>
          </a:xfrm>
          <a:prstGeom prst="rect">
            <a:avLst/>
          </a:prstGeom>
        </p:spPr>
        <p:txBody>
          <a:bodyPr anchor="ctr"/>
          <a:lstStyle>
            <a:defPPr marR="0" lvl="0" algn="l" rtl="0">
              <a:lnSpc>
                <a:spcPct val="100000"/>
              </a:lnSpc>
              <a:spcBef>
                <a:spcPts val="0"/>
              </a:spcBef>
              <a:spcAft>
                <a:spcPts val="0"/>
              </a:spcAft>
            </a:defPPr>
            <a:lvl1pPr marL="255588" indent="-255588"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eaLnBrk="1" hangingPunct="1"/>
            <a:r>
              <a:rPr lang="en-US" altLang="en-US" sz="1200" kern="0" smtClean="0">
                <a:solidFill>
                  <a:schemeClr val="tx1"/>
                </a:solidFill>
                <a:latin typeface="Verdana" panose="020B0604030504040204" pitchFamily="34" charset="0"/>
                <a:cs typeface="Arial" panose="020B0604020202020204" pitchFamily="34" charset="0"/>
              </a:rPr>
              <a:t>Copyright © 2016, 2013, 2010 Pearson Education, Inc. All Rights Reserved</a:t>
            </a:r>
            <a:endParaRPr lang="en-US" altLang="en-US" sz="1200" kern="0" dirty="0" smtClean="0">
              <a:solidFill>
                <a:schemeClr val="tx1"/>
              </a:solidFill>
              <a:latin typeface="Verdana" panose="020B0604030504040204" pitchFamily="34"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9" r:id="rId5"/>
    <p:sldLayoutId id="2147483717" r:id="rId6"/>
    <p:sldLayoutId id="2147483718" r:id="rId7"/>
    <p:sldLayoutId id="2147483716" r:id="rId8"/>
    <p:sldLayoutId id="2147483711" r:id="rId9"/>
    <p:sldLayoutId id="2147483712" r:id="rId10"/>
    <p:sldLayoutId id="2147483703" r:id="rId11"/>
    <p:sldLayoutId id="2147483704" r:id="rId12"/>
    <p:sldLayoutId id="2147483705" r:id="rId13"/>
    <p:sldLayoutId id="2147483706" r:id="rId14"/>
    <p:sldLayoutId id="2147483713" r:id="rId15"/>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marL="255588" indent="-255588"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Shape 10"/>
          <p:cNvSpPr txBox="1">
            <a:spLocks noGrp="1"/>
          </p:cNvSpPr>
          <p:nvPr>
            <p:ph type="title"/>
          </p:nvPr>
        </p:nvSpPr>
        <p:spPr bwMode="auto">
          <a:xfrm>
            <a:off x="457200" y="215900"/>
            <a:ext cx="82296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en-US" altLang="en-US" smtClean="0">
              <a:sym typeface="Arial" panose="020B0604020202020204" pitchFamily="34" charset="0"/>
            </a:endParaRPr>
          </a:p>
        </p:txBody>
      </p:sp>
      <p:sp>
        <p:nvSpPr>
          <p:cNvPr id="2051" name="Shape 11"/>
          <p:cNvSpPr txBox="1">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smtClean="0">
              <a:sym typeface="Arial" panose="020B0604020202020204" pitchFamily="34" charset="0"/>
            </a:endParaRPr>
          </a:p>
        </p:txBody>
      </p:sp>
      <p:sp>
        <p:nvSpPr>
          <p:cNvPr id="2052" name="Shape 12"/>
          <p:cNvSpPr txBox="1">
            <a:spLocks noGrp="1"/>
          </p:cNvSpPr>
          <p:nvPr>
            <p:ph type="ftr" idx="11"/>
          </p:nvPr>
        </p:nvSpPr>
        <p:spPr bwMode="auto">
          <a:xfrm>
            <a:off x="93663" y="6172200"/>
            <a:ext cx="8596312"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lvl1pPr eaLnBrk="1" hangingPunct="1">
              <a:defRPr sz="1100"/>
            </a:lvl1pPr>
          </a:lstStyle>
          <a:p>
            <a:endParaRPr lang="en-US" altLang="en-US"/>
          </a:p>
        </p:txBody>
      </p:sp>
      <p:sp>
        <p:nvSpPr>
          <p:cNvPr id="2053" name="Shape 13"/>
          <p:cNvSpPr txBox="1">
            <a:spLocks noGrp="1"/>
          </p:cNvSpPr>
          <p:nvPr>
            <p:ph type="dt" idx="10"/>
          </p:nvPr>
        </p:nvSpPr>
        <p:spPr bwMode="auto">
          <a:xfrm>
            <a:off x="6335713" y="112713"/>
            <a:ext cx="21336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ctr" anchorCtr="0" compatLnSpc="1">
            <a:prstTxWarp prst="textNoShape">
              <a:avLst/>
            </a:prstTxWarp>
          </a:bodyPr>
          <a:lstStyle>
            <a:lvl1pPr algn="r" eaLnBrk="1" hangingPunct="1">
              <a:defRPr sz="900">
                <a:solidFill>
                  <a:srgbClr val="FFFFFF"/>
                </a:solidFill>
              </a:defRPr>
            </a:lvl1pPr>
          </a:lstStyle>
          <a:p>
            <a:endParaRPr lang="en-US" altLang="en-US"/>
          </a:p>
        </p:txBody>
      </p:sp>
      <p:sp>
        <p:nvSpPr>
          <p:cNvPr id="2054" name="Shape 14"/>
          <p:cNvSpPr txBox="1">
            <a:spLocks noGrp="1"/>
          </p:cNvSpPr>
          <p:nvPr>
            <p:ph type="sldNum" idx="12"/>
          </p:nvPr>
        </p:nvSpPr>
        <p:spPr bwMode="auto">
          <a:xfrm>
            <a:off x="8469313" y="112713"/>
            <a:ext cx="55245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lvl1pPr algn="r" eaLnBrk="1" hangingPunct="1">
              <a:buSzPct val="25000"/>
              <a:defRPr sz="900">
                <a:solidFill>
                  <a:srgbClr val="FFFFFF"/>
                </a:solidFill>
              </a:defRPr>
            </a:lvl1pPr>
          </a:lstStyle>
          <a:p>
            <a:fld id="{69C82F03-6807-4C9F-83B2-CCFC2A30B6AB}" type="slidenum">
              <a:rPr lang="en-US" altLang="en-US"/>
              <a:pPr/>
              <a:t>‹#›</a:t>
            </a:fld>
            <a:endParaRPr lang="en-US" altLang="en-US"/>
          </a:p>
        </p:txBody>
      </p:sp>
      <p:pic>
        <p:nvPicPr>
          <p:cNvPr id="2055" name="Shape 15" descr="Pearson Logo"/>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500" y="6429375"/>
            <a:ext cx="9175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dk2" tx2="lt2" accent1="accent1" accent2="accent2" accent3="accent3" accent4="accent4" accent5="accent5" accent6="accent6" hlink="hlink" folHlink="folHlink"/>
  <p:sldLayoutIdLst>
    <p:sldLayoutId id="2147483714" r:id="rId1"/>
    <p:sldLayoutId id="2147483715" r:id="rId2"/>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marL="255588" indent="-255588"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8.xml"/><Relationship Id="rId1" Type="http://schemas.openxmlformats.org/officeDocument/2006/relationships/vmlDrawing" Target="../drawings/vmlDrawing3.vml"/><Relationship Id="rId6" Type="http://schemas.openxmlformats.org/officeDocument/2006/relationships/image" Target="../media/image12.wmf"/><Relationship Id="rId5" Type="http://schemas.openxmlformats.org/officeDocument/2006/relationships/oleObject" Target="../embeddings/oleObject4.bin"/><Relationship Id="rId4" Type="http://schemas.openxmlformats.org/officeDocument/2006/relationships/image" Target="../media/image11.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8.xml"/><Relationship Id="rId1" Type="http://schemas.openxmlformats.org/officeDocument/2006/relationships/vmlDrawing" Target="../drawings/vmlDrawing4.vml"/><Relationship Id="rId6" Type="http://schemas.openxmlformats.org/officeDocument/2006/relationships/image" Target="../media/image15.wmf"/><Relationship Id="rId5" Type="http://schemas.openxmlformats.org/officeDocument/2006/relationships/oleObject" Target="../embeddings/oleObject6.bin"/><Relationship Id="rId4" Type="http://schemas.openxmlformats.org/officeDocument/2006/relationships/image" Target="../media/image14.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8.xml"/><Relationship Id="rId1" Type="http://schemas.openxmlformats.org/officeDocument/2006/relationships/vmlDrawing" Target="../drawings/vmlDrawing5.vml"/><Relationship Id="rId6" Type="http://schemas.openxmlformats.org/officeDocument/2006/relationships/image" Target="../media/image17.wmf"/><Relationship Id="rId5" Type="http://schemas.openxmlformats.org/officeDocument/2006/relationships/oleObject" Target="../embeddings/oleObject8.bin"/><Relationship Id="rId4" Type="http://schemas.openxmlformats.org/officeDocument/2006/relationships/image" Target="../media/image16.wmf"/></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4.wmf"/><Relationship Id="rId5" Type="http://schemas.openxmlformats.org/officeDocument/2006/relationships/oleObject" Target="../embeddings/oleObject10.bin"/><Relationship Id="rId4" Type="http://schemas.openxmlformats.org/officeDocument/2006/relationships/image" Target="../media/image23.wmf"/><Relationship Id="rId9"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4.xml"/><Relationship Id="rId1" Type="http://schemas.openxmlformats.org/officeDocument/2006/relationships/vmlDrawing" Target="../drawings/vmlDrawing7.vml"/><Relationship Id="rId4" Type="http://schemas.openxmlformats.org/officeDocument/2006/relationships/image" Target="../media/image27.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oleObject" Target="../embeddings/oleObject13.bin"/><Relationship Id="rId7" Type="http://schemas.openxmlformats.org/officeDocument/2006/relationships/image" Target="../media/image31.png"/><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9.wmf"/><Relationship Id="rId5" Type="http://schemas.openxmlformats.org/officeDocument/2006/relationships/oleObject" Target="../embeddings/oleObject14.bin"/><Relationship Id="rId10" Type="http://schemas.openxmlformats.org/officeDocument/2006/relationships/image" Target="../media/image30.wmf"/><Relationship Id="rId4" Type="http://schemas.openxmlformats.org/officeDocument/2006/relationships/image" Target="../media/image28.wmf"/><Relationship Id="rId9" Type="http://schemas.openxmlformats.org/officeDocument/2006/relationships/oleObject" Target="../embeddings/oleObject15.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4.xml"/><Relationship Id="rId1" Type="http://schemas.openxmlformats.org/officeDocument/2006/relationships/vmlDrawing" Target="../drawings/vmlDrawing9.vml"/><Relationship Id="rId4" Type="http://schemas.openxmlformats.org/officeDocument/2006/relationships/image" Target="../media/image33.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vmlDrawing" Target="../drawings/vmlDrawing10.vml"/><Relationship Id="rId6" Type="http://schemas.openxmlformats.org/officeDocument/2006/relationships/image" Target="../media/image35.wmf"/><Relationship Id="rId5" Type="http://schemas.openxmlformats.org/officeDocument/2006/relationships/oleObject" Target="../embeddings/oleObject18.bin"/><Relationship Id="rId4" Type="http://schemas.openxmlformats.org/officeDocument/2006/relationships/image" Target="../media/image34.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8.xml"/><Relationship Id="rId1" Type="http://schemas.openxmlformats.org/officeDocument/2006/relationships/vmlDrawing" Target="../drawings/vmlDrawing11.vml"/><Relationship Id="rId6" Type="http://schemas.openxmlformats.org/officeDocument/2006/relationships/image" Target="../media/image37.wmf"/><Relationship Id="rId5" Type="http://schemas.openxmlformats.org/officeDocument/2006/relationships/oleObject" Target="../embeddings/oleObject20.bin"/><Relationship Id="rId4" Type="http://schemas.openxmlformats.org/officeDocument/2006/relationships/image" Target="../media/image36.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4.xml"/><Relationship Id="rId1" Type="http://schemas.openxmlformats.org/officeDocument/2006/relationships/vmlDrawing" Target="../drawings/vmlDrawing12.vml"/><Relationship Id="rId4" Type="http://schemas.openxmlformats.org/officeDocument/2006/relationships/image" Target="../media/image38.wmf"/></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 Id="rId5" Type="http://schemas.openxmlformats.org/officeDocument/2006/relationships/image" Target="../media/image42.png"/><Relationship Id="rId4" Type="http://schemas.openxmlformats.org/officeDocument/2006/relationships/image" Target="../media/image41.png"/></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4.xml"/><Relationship Id="rId1" Type="http://schemas.openxmlformats.org/officeDocument/2006/relationships/vmlDrawing" Target="../drawings/vmlDrawing13.vml"/><Relationship Id="rId4" Type="http://schemas.openxmlformats.org/officeDocument/2006/relationships/image" Target="../media/image57.w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8.xml"/><Relationship Id="rId1" Type="http://schemas.openxmlformats.org/officeDocument/2006/relationships/vmlDrawing" Target="../drawings/vmlDrawing14.vml"/><Relationship Id="rId6" Type="http://schemas.openxmlformats.org/officeDocument/2006/relationships/image" Target="../media/image59.wmf"/><Relationship Id="rId5" Type="http://schemas.openxmlformats.org/officeDocument/2006/relationships/oleObject" Target="../embeddings/oleObject24.bin"/><Relationship Id="rId4" Type="http://schemas.openxmlformats.org/officeDocument/2006/relationships/image" Target="../media/image58.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4.xml"/><Relationship Id="rId1" Type="http://schemas.openxmlformats.org/officeDocument/2006/relationships/vmlDrawing" Target="../drawings/vmlDrawing15.vml"/><Relationship Id="rId4" Type="http://schemas.openxmlformats.org/officeDocument/2006/relationships/image" Target="../media/image65.w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4.xml"/><Relationship Id="rId1" Type="http://schemas.openxmlformats.org/officeDocument/2006/relationships/vmlDrawing" Target="../drawings/vmlDrawing16.vml"/><Relationship Id="rId4" Type="http://schemas.openxmlformats.org/officeDocument/2006/relationships/image" Target="../media/image66.wmf"/></Relationships>
</file>

<file path=ppt/slides/_rels/slide79.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1.em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2.e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27.bin"/><Relationship Id="rId7" Type="http://schemas.openxmlformats.org/officeDocument/2006/relationships/image" Target="../media/image77.png"/><Relationship Id="rId2" Type="http://schemas.openxmlformats.org/officeDocument/2006/relationships/slideLayout" Target="../slideLayouts/slideLayout8.xml"/><Relationship Id="rId1" Type="http://schemas.openxmlformats.org/officeDocument/2006/relationships/vmlDrawing" Target="../drawings/vmlDrawing17.vml"/><Relationship Id="rId6" Type="http://schemas.openxmlformats.org/officeDocument/2006/relationships/image" Target="../media/image76.wmf"/><Relationship Id="rId5" Type="http://schemas.openxmlformats.org/officeDocument/2006/relationships/oleObject" Target="../embeddings/oleObject28.bin"/><Relationship Id="rId4" Type="http://schemas.openxmlformats.org/officeDocument/2006/relationships/image" Target="../media/image75.wmf"/></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29.bin"/><Relationship Id="rId7" Type="http://schemas.openxmlformats.org/officeDocument/2006/relationships/image" Target="../media/image80.png"/><Relationship Id="rId2" Type="http://schemas.openxmlformats.org/officeDocument/2006/relationships/slideLayout" Target="../slideLayouts/slideLayout6.xml"/><Relationship Id="rId1" Type="http://schemas.openxmlformats.org/officeDocument/2006/relationships/vmlDrawing" Target="../drawings/vmlDrawing18.vml"/><Relationship Id="rId6" Type="http://schemas.openxmlformats.org/officeDocument/2006/relationships/image" Target="../media/image79.wmf"/><Relationship Id="rId5" Type="http://schemas.openxmlformats.org/officeDocument/2006/relationships/oleObject" Target="../embeddings/oleObject30.bin"/><Relationship Id="rId4" Type="http://schemas.openxmlformats.org/officeDocument/2006/relationships/image" Target="../media/image78.wm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3.e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84.em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85.emf"/><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86.em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88.emf"/><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4.xml"/></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4.xml"/><Relationship Id="rId1" Type="http://schemas.openxmlformats.org/officeDocument/2006/relationships/vmlDrawing" Target="../drawings/vmlDrawing19.vml"/><Relationship Id="rId4" Type="http://schemas.openxmlformats.org/officeDocument/2006/relationships/image" Target="../media/image90.wmf"/></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2.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slideLayout" Target="../slideLayouts/slideLayout6.xml"/><Relationship Id="rId1" Type="http://schemas.openxmlformats.org/officeDocument/2006/relationships/vmlDrawing" Target="../drawings/vmlDrawing20.vml"/><Relationship Id="rId6" Type="http://schemas.openxmlformats.org/officeDocument/2006/relationships/image" Target="../media/image93.wmf"/><Relationship Id="rId5" Type="http://schemas.openxmlformats.org/officeDocument/2006/relationships/oleObject" Target="../embeddings/oleObject33.bin"/><Relationship Id="rId4" Type="http://schemas.openxmlformats.org/officeDocument/2006/relationships/image" Target="../media/image92.wmf"/></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8.xml"/><Relationship Id="rId1" Type="http://schemas.openxmlformats.org/officeDocument/2006/relationships/vmlDrawing" Target="../drawings/vmlDrawing21.vml"/><Relationship Id="rId6" Type="http://schemas.openxmlformats.org/officeDocument/2006/relationships/image" Target="../media/image96.wmf"/><Relationship Id="rId5" Type="http://schemas.openxmlformats.org/officeDocument/2006/relationships/oleObject" Target="../embeddings/oleObject36.bin"/><Relationship Id="rId4" Type="http://schemas.openxmlformats.org/officeDocument/2006/relationships/image" Target="../media/image95.wmf"/></Relationships>
</file>

<file path=ppt/slides/_rels/slide114.x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oleObject" Target="../embeddings/oleObject42.bin"/><Relationship Id="rId2" Type="http://schemas.openxmlformats.org/officeDocument/2006/relationships/slideLayout" Target="../slideLayouts/slideLayout5.xml"/><Relationship Id="rId1" Type="http://schemas.openxmlformats.org/officeDocument/2006/relationships/vmlDrawing" Target="../drawings/vmlDrawing22.vml"/><Relationship Id="rId6" Type="http://schemas.openxmlformats.org/officeDocument/2006/relationships/image" Target="../media/image98.wmf"/><Relationship Id="rId11" Type="http://schemas.openxmlformats.org/officeDocument/2006/relationships/image" Target="../media/image100.wmf"/><Relationship Id="rId5" Type="http://schemas.openxmlformats.org/officeDocument/2006/relationships/oleObject" Target="../embeddings/oleObject38.bin"/><Relationship Id="rId10" Type="http://schemas.openxmlformats.org/officeDocument/2006/relationships/oleObject" Target="../embeddings/oleObject41.bin"/><Relationship Id="rId4" Type="http://schemas.openxmlformats.org/officeDocument/2006/relationships/image" Target="../media/image97.wmf"/><Relationship Id="rId9" Type="http://schemas.openxmlformats.org/officeDocument/2006/relationships/oleObject" Target="../embeddings/oleObject40.bin"/></Relationships>
</file>

<file path=ppt/slides/_rels/slide11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4.xml"/></Relationships>
</file>

<file path=ppt/slides/_rels/slide119.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4.xml"/></Relationships>
</file>

<file path=ppt/slides/_rels/slide123.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14.xml"/><Relationship Id="rId1" Type="http://schemas.openxmlformats.org/officeDocument/2006/relationships/vmlDrawing" Target="../drawings/vmlDrawing23.vml"/><Relationship Id="rId4" Type="http://schemas.openxmlformats.org/officeDocument/2006/relationships/image" Target="../media/image110.wmf"/></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slideLayout" Target="../slideLayouts/slideLayout6.xml"/><Relationship Id="rId1" Type="http://schemas.openxmlformats.org/officeDocument/2006/relationships/vmlDrawing" Target="../drawings/vmlDrawing24.vml"/><Relationship Id="rId5" Type="http://schemas.openxmlformats.org/officeDocument/2006/relationships/image" Target="../media/image111.wmf"/><Relationship Id="rId4" Type="http://schemas.openxmlformats.org/officeDocument/2006/relationships/oleObject" Target="../embeddings/oleObject44.bin"/></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14.xml"/><Relationship Id="rId1" Type="http://schemas.openxmlformats.org/officeDocument/2006/relationships/vmlDrawing" Target="../drawings/vmlDrawing25.vml"/><Relationship Id="rId5" Type="http://schemas.openxmlformats.org/officeDocument/2006/relationships/image" Target="../media/image114.png"/><Relationship Id="rId4" Type="http://schemas.openxmlformats.org/officeDocument/2006/relationships/image" Target="../media/image113.wmf"/></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image" Target="../media/image115.emf"/><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16.emf"/><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2" Type="http://schemas.openxmlformats.org/officeDocument/2006/relationships/image" Target="../media/image117.emf"/><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18.emf"/><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slideLayout" Target="../slideLayouts/slideLayout14.xml"/><Relationship Id="rId1" Type="http://schemas.openxmlformats.org/officeDocument/2006/relationships/vmlDrawing" Target="../drawings/vmlDrawing26.vml"/><Relationship Id="rId5" Type="http://schemas.openxmlformats.org/officeDocument/2006/relationships/image" Target="../media/image119.wmf"/><Relationship Id="rId4" Type="http://schemas.openxmlformats.org/officeDocument/2006/relationships/oleObject" Target="../embeddings/oleObject46.bin"/></Relationships>
</file>

<file path=ppt/slides/_rels/slide143.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txBox="1">
            <a:spLocks noGrp="1"/>
          </p:cNvSpPr>
          <p:nvPr>
            <p:ph type="title"/>
          </p:nvPr>
        </p:nvSpPr>
        <p:spPr>
          <a:xfrm>
            <a:off x="457200" y="320675"/>
            <a:ext cx="8229600" cy="803275"/>
          </a:xfrm>
        </p:spPr>
        <p:txBody>
          <a:bodyPr anchor="b"/>
          <a:lstStyle/>
          <a:p>
            <a:pPr eaLnBrk="1" hangingPunct="1">
              <a:spcBef>
                <a:spcPct val="0"/>
              </a:spcBef>
              <a:buFont typeface="Times New Roman" panose="02020603050405020304" pitchFamily="18" charset="0"/>
              <a:buNone/>
            </a:pPr>
            <a:r>
              <a:rPr lang="en-US" altLang="en-US" dirty="0" smtClean="0">
                <a:latin typeface="Times New Roman" panose="02020603050405020304" pitchFamily="18" charset="0"/>
                <a:cs typeface="Times New Roman" panose="02020603050405020304" pitchFamily="18" charset="0"/>
                <a:sym typeface="Times New Roman" panose="02020603050405020304" pitchFamily="18" charset="0"/>
              </a:rPr>
              <a:t>C How to Program</a:t>
            </a:r>
            <a:endParaRPr lang="en-US" altLang="en-US" dirty="0" smtClean="0">
              <a:latin typeface="Times New Roman" panose="02020603050405020304" pitchFamily="18" charset="0"/>
              <a:cs typeface="Times New Roman" panose="02020603050405020304" pitchFamily="18" charset="0"/>
              <a:sym typeface="Arial" panose="020B0604020202020204" pitchFamily="34" charset="0"/>
            </a:endParaRPr>
          </a:p>
        </p:txBody>
      </p:sp>
      <p:sp>
        <p:nvSpPr>
          <p:cNvPr id="3" name="Text Placeholder 2"/>
          <p:cNvSpPr>
            <a:spLocks noGrp="1"/>
          </p:cNvSpPr>
          <p:nvPr>
            <p:ph type="body" idx="1"/>
          </p:nvPr>
        </p:nvSpPr>
        <p:spPr>
          <a:xfrm>
            <a:off x="457200" y="1227138"/>
            <a:ext cx="8229600" cy="449262"/>
          </a:xfrm>
        </p:spPr>
        <p:txBody>
          <a:bodyPr/>
          <a:lstStyle/>
          <a:p>
            <a:pPr eaLnBrk="1" fontAlgn="auto" hangingPunct="1">
              <a:spcAft>
                <a:spcPts val="0"/>
              </a:spcAft>
              <a:buSzPct val="100000"/>
              <a:defRPr/>
            </a:pPr>
            <a:r>
              <a:rPr lang="en-US" dirty="0" smtClean="0">
                <a:latin typeface="+mn-lt"/>
              </a:rPr>
              <a:t>Eighth </a:t>
            </a:r>
            <a:r>
              <a:rPr lang="en-US" dirty="0">
                <a:latin typeface="+mn-lt"/>
              </a:rPr>
              <a:t>Edition</a:t>
            </a:r>
          </a:p>
        </p:txBody>
      </p:sp>
      <p:sp>
        <p:nvSpPr>
          <p:cNvPr id="4" name="Text Placeholder 3"/>
          <p:cNvSpPr>
            <a:spLocks noGrp="1"/>
          </p:cNvSpPr>
          <p:nvPr>
            <p:ph type="body" idx="2"/>
          </p:nvPr>
        </p:nvSpPr>
        <p:spPr>
          <a:xfrm>
            <a:off x="4876800" y="2286000"/>
            <a:ext cx="3657600" cy="739775"/>
          </a:xfrm>
        </p:spPr>
        <p:txBody>
          <a:bodyPr/>
          <a:lstStyle/>
          <a:p>
            <a:pPr algn="ctr" eaLnBrk="1" fontAlgn="auto" hangingPunct="1">
              <a:spcAft>
                <a:spcPts val="0"/>
              </a:spcAft>
              <a:buSzPct val="100000"/>
              <a:defRPr/>
            </a:pPr>
            <a:r>
              <a:rPr lang="en-US" b="1" dirty="0" smtClean="0">
                <a:latin typeface="+mn-lt"/>
              </a:rPr>
              <a:t>Chapter 18</a:t>
            </a:r>
            <a:endParaRPr lang="en-US" b="1" dirty="0">
              <a:latin typeface="+mn-lt"/>
            </a:endParaRPr>
          </a:p>
        </p:txBody>
      </p:sp>
      <p:sp>
        <p:nvSpPr>
          <p:cNvPr id="5" name="Text Placeholder 4"/>
          <p:cNvSpPr>
            <a:spLocks noGrp="1"/>
          </p:cNvSpPr>
          <p:nvPr>
            <p:ph type="body" idx="3"/>
          </p:nvPr>
        </p:nvSpPr>
        <p:spPr>
          <a:xfrm>
            <a:off x="4876800" y="3114675"/>
            <a:ext cx="3657600" cy="1235075"/>
          </a:xfrm>
        </p:spPr>
        <p:txBody>
          <a:bodyPr/>
          <a:lstStyle/>
          <a:p>
            <a:pPr algn="ctr" eaLnBrk="1" fontAlgn="auto" hangingPunct="1">
              <a:spcBef>
                <a:spcPts val="440"/>
              </a:spcBef>
              <a:spcAft>
                <a:spcPts val="0"/>
              </a:spcAft>
              <a:buClr>
                <a:schemeClr val="lt1"/>
              </a:buClr>
              <a:buSzPct val="25000"/>
              <a:defRPr/>
            </a:pPr>
            <a:r>
              <a:rPr lang="en-US" dirty="0">
                <a:solidFill>
                  <a:schemeClr val="tx1"/>
                </a:solidFill>
                <a:latin typeface="+mn-lt"/>
              </a:rPr>
              <a:t>Operator Overloading</a:t>
            </a:r>
            <a:r>
              <a:rPr lang="en-US" dirty="0" smtClean="0">
                <a:solidFill>
                  <a:schemeClr val="tx1"/>
                </a:solidFill>
                <a:latin typeface="+mn-lt"/>
              </a:rPr>
              <a:t>; Class </a:t>
            </a:r>
            <a:r>
              <a:rPr lang="en-US" dirty="0">
                <a:solidFill>
                  <a:schemeClr val="tx1"/>
                </a:solidFill>
                <a:latin typeface="Consolas" panose="020B0609020204030204" pitchFamily="49" charset="0"/>
                <a:cs typeface="Consolas" panose="020B0609020204030204" pitchFamily="49" charset="0"/>
              </a:rPr>
              <a:t>string</a:t>
            </a:r>
          </a:p>
        </p:txBody>
      </p:sp>
      <p:pic>
        <p:nvPicPr>
          <p:cNvPr id="14342" name="Picture 6" descr="Front Cover: C How to Program Eighth Edition by Paul Deitel and Harvey Deitel."/>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6125" y="1906588"/>
            <a:ext cx="3486150" cy="43386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4343" name="Text Placeholder 5"/>
          <p:cNvSpPr txBox="1">
            <a:spLocks noGrp="1"/>
          </p:cNvSpPr>
          <p:nvPr>
            <p:ph type="body" idx="13"/>
          </p:nvPr>
        </p:nvSpPr>
        <p:spPr>
          <a:xfrm>
            <a:off x="2682875" y="6473825"/>
            <a:ext cx="6076950" cy="201613"/>
          </a:xfrm>
        </p:spPr>
        <p:txBody>
          <a:bodyPr anchor="ctr"/>
          <a:lstStyle/>
          <a:p>
            <a:pPr algn="r" eaLnBrk="1" hangingPunct="1">
              <a:spcBef>
                <a:spcPct val="0"/>
              </a:spcBef>
              <a:buFontTx/>
              <a:buNone/>
            </a:pPr>
            <a:r>
              <a:rPr lang="en-US" altLang="en-US" sz="1200" dirty="0" smtClean="0">
                <a:solidFill>
                  <a:schemeClr val="tx1"/>
                </a:solidFill>
                <a:latin typeface="Verdana" panose="020B0604030504040204" pitchFamily="34" charset="0"/>
                <a:cs typeface="Arial" panose="020B0604020202020204" pitchFamily="34" charset="0"/>
                <a:sym typeface="Arial" panose="020B0604020202020204" pitchFamily="34" charset="0"/>
              </a:rPr>
              <a:t>Copyright © 2016, 2013, 2010 Pearson Education, Inc. All Rights Reserved</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Learning </a:t>
            </a:r>
            <a:r>
              <a:rPr lang="en-IN" dirty="0" smtClean="0"/>
              <a:t>Objectives</a:t>
            </a:r>
            <a:endParaRPr lang="en-US" dirty="0"/>
          </a:p>
        </p:txBody>
      </p:sp>
      <p:sp>
        <p:nvSpPr>
          <p:cNvPr id="3" name="Text Placeholder 2"/>
          <p:cNvSpPr>
            <a:spLocks noGrp="1"/>
          </p:cNvSpPr>
          <p:nvPr>
            <p:ph type="body" idx="1"/>
          </p:nvPr>
        </p:nvSpPr>
        <p:spPr/>
        <p:txBody>
          <a:bodyPr/>
          <a:lstStyle/>
          <a:p>
            <a:r>
              <a:rPr lang="en-US" sz="1800" dirty="0">
                <a:latin typeface="+mn-lt"/>
              </a:rPr>
              <a:t>Learn how </a:t>
            </a:r>
            <a:r>
              <a:rPr lang="en-US" sz="1800" dirty="0" smtClean="0">
                <a:latin typeface="+mn-lt"/>
              </a:rPr>
              <a:t>operator overloading </a:t>
            </a:r>
            <a:r>
              <a:rPr lang="en-US" sz="1800" dirty="0">
                <a:latin typeface="+mn-lt"/>
              </a:rPr>
              <a:t>can help </a:t>
            </a:r>
            <a:r>
              <a:rPr lang="en-US" sz="1800" dirty="0" smtClean="0">
                <a:latin typeface="+mn-lt"/>
              </a:rPr>
              <a:t>you craft </a:t>
            </a:r>
            <a:r>
              <a:rPr lang="en-US" sz="1800" dirty="0">
                <a:latin typeface="+mn-lt"/>
              </a:rPr>
              <a:t>valuable classes.</a:t>
            </a:r>
          </a:p>
          <a:p>
            <a:r>
              <a:rPr lang="en-US" sz="1800" dirty="0" smtClean="0">
                <a:latin typeface="+mn-lt"/>
              </a:rPr>
              <a:t>Overload </a:t>
            </a:r>
            <a:r>
              <a:rPr lang="en-US" sz="1800" dirty="0">
                <a:latin typeface="+mn-lt"/>
              </a:rPr>
              <a:t>unary and </a:t>
            </a:r>
            <a:r>
              <a:rPr lang="en-US" sz="1800" dirty="0" smtClean="0">
                <a:latin typeface="+mn-lt"/>
              </a:rPr>
              <a:t>binary operators</a:t>
            </a:r>
            <a:r>
              <a:rPr lang="en-US" sz="1800" dirty="0">
                <a:latin typeface="+mn-lt"/>
              </a:rPr>
              <a:t>.</a:t>
            </a:r>
          </a:p>
          <a:p>
            <a:r>
              <a:rPr lang="en-US" sz="1800" dirty="0" smtClean="0">
                <a:latin typeface="+mn-lt"/>
              </a:rPr>
              <a:t>Convert </a:t>
            </a:r>
            <a:r>
              <a:rPr lang="en-US" sz="1800" dirty="0">
                <a:latin typeface="+mn-lt"/>
              </a:rPr>
              <a:t>objects from </a:t>
            </a:r>
            <a:r>
              <a:rPr lang="en-US" sz="1800" dirty="0" smtClean="0">
                <a:latin typeface="+mn-lt"/>
              </a:rPr>
              <a:t>one class </a:t>
            </a:r>
            <a:r>
              <a:rPr lang="en-US" sz="1800" dirty="0">
                <a:latin typeface="+mn-lt"/>
              </a:rPr>
              <a:t>to another class.</a:t>
            </a:r>
          </a:p>
          <a:p>
            <a:r>
              <a:rPr lang="en-US" sz="1800" dirty="0" smtClean="0">
                <a:latin typeface="+mn-lt"/>
              </a:rPr>
              <a:t>Use </a:t>
            </a:r>
            <a:r>
              <a:rPr lang="en-US" sz="1800" dirty="0">
                <a:latin typeface="+mn-lt"/>
              </a:rPr>
              <a:t>overloaded </a:t>
            </a:r>
            <a:r>
              <a:rPr lang="en-US" sz="1800" dirty="0" smtClean="0">
                <a:latin typeface="+mn-lt"/>
              </a:rPr>
              <a:t>operators and </a:t>
            </a:r>
            <a:r>
              <a:rPr lang="en-US" sz="1800" dirty="0">
                <a:latin typeface="+mn-lt"/>
              </a:rPr>
              <a:t>additional features of </a:t>
            </a:r>
            <a:r>
              <a:rPr lang="en-US" sz="1800" dirty="0" smtClean="0">
                <a:latin typeface="+mn-lt"/>
              </a:rPr>
              <a:t>the </a:t>
            </a:r>
            <a:r>
              <a:rPr lang="en-US" sz="1800" dirty="0" smtClean="0">
                <a:latin typeface="Consolas" panose="020B0609020204030204" pitchFamily="49" charset="0"/>
                <a:cs typeface="Consolas" panose="020B0609020204030204" pitchFamily="49" charset="0"/>
              </a:rPr>
              <a:t>string</a:t>
            </a:r>
            <a:r>
              <a:rPr lang="en-US" sz="1800" dirty="0" smtClean="0">
                <a:latin typeface="+mn-lt"/>
              </a:rPr>
              <a:t> </a:t>
            </a:r>
            <a:r>
              <a:rPr lang="en-US" sz="1800" dirty="0">
                <a:latin typeface="+mn-lt"/>
              </a:rPr>
              <a:t>class</a:t>
            </a:r>
            <a:r>
              <a:rPr lang="en-US" sz="1800" dirty="0" smtClean="0">
                <a:latin typeface="+mn-lt"/>
              </a:rPr>
              <a:t>.</a:t>
            </a:r>
          </a:p>
          <a:p>
            <a:r>
              <a:rPr lang="en-US" sz="1800" dirty="0" smtClean="0">
                <a:latin typeface="+mn-lt"/>
              </a:rPr>
              <a:t>Create </a:t>
            </a:r>
            <a:r>
              <a:rPr lang="en-US" sz="1800" dirty="0" smtClean="0">
                <a:latin typeface="Consolas" panose="020B0609020204030204" pitchFamily="49" charset="0"/>
                <a:cs typeface="Consolas" panose="020B0609020204030204" pitchFamily="49" charset="0"/>
              </a:rPr>
              <a:t>Phone</a:t>
            </a:r>
            <a:r>
              <a:rPr lang="en-US" sz="100" dirty="0" smtClean="0">
                <a:latin typeface="Consolas" panose="020B0609020204030204" pitchFamily="49" charset="0"/>
                <a:cs typeface="Consolas" panose="020B0609020204030204" pitchFamily="49" charset="0"/>
              </a:rPr>
              <a:t> </a:t>
            </a:r>
            <a:r>
              <a:rPr lang="en-US" sz="1800" dirty="0" smtClean="0">
                <a:latin typeface="Consolas" panose="020B0609020204030204" pitchFamily="49" charset="0"/>
                <a:cs typeface="Consolas" panose="020B0609020204030204" pitchFamily="49" charset="0"/>
              </a:rPr>
              <a:t>Number</a:t>
            </a:r>
            <a:r>
              <a:rPr lang="en-US" sz="1800" dirty="0" smtClean="0">
                <a:latin typeface="+mn-lt"/>
              </a:rPr>
              <a:t>, </a:t>
            </a:r>
            <a:r>
              <a:rPr lang="en-US" sz="1800" dirty="0" smtClean="0">
                <a:latin typeface="Consolas" panose="020B0609020204030204" pitchFamily="49" charset="0"/>
                <a:cs typeface="Consolas" panose="020B0609020204030204" pitchFamily="49" charset="0"/>
              </a:rPr>
              <a:t>Date</a:t>
            </a:r>
            <a:r>
              <a:rPr lang="en-US" sz="1800" dirty="0" smtClean="0">
                <a:latin typeface="+mn-lt"/>
              </a:rPr>
              <a:t> and </a:t>
            </a:r>
            <a:r>
              <a:rPr lang="en-US" sz="1800" dirty="0" smtClean="0">
                <a:latin typeface="Consolas" panose="020B0609020204030204" pitchFamily="49" charset="0"/>
                <a:cs typeface="Consolas" panose="020B0609020204030204" pitchFamily="49" charset="0"/>
              </a:rPr>
              <a:t>Array</a:t>
            </a:r>
            <a:r>
              <a:rPr lang="en-US" sz="1800" b="1" dirty="0" smtClean="0">
                <a:latin typeface="+mn-lt"/>
              </a:rPr>
              <a:t> </a:t>
            </a:r>
            <a:r>
              <a:rPr lang="en-US" sz="1800" dirty="0" smtClean="0">
                <a:latin typeface="+mn-lt"/>
              </a:rPr>
              <a:t>classes that provide overloaded operators.</a:t>
            </a:r>
          </a:p>
          <a:p>
            <a:r>
              <a:rPr lang="en-US" sz="1800" dirty="0">
                <a:latin typeface="+mn-lt"/>
              </a:rPr>
              <a:t>Perform dynamic memory allocation with </a:t>
            </a:r>
            <a:r>
              <a:rPr lang="en-US" sz="1800" dirty="0">
                <a:latin typeface="Consolas" panose="020B0609020204030204" pitchFamily="49" charset="0"/>
                <a:cs typeface="Consolas" panose="020B0609020204030204" pitchFamily="49" charset="0"/>
              </a:rPr>
              <a:t>new</a:t>
            </a:r>
            <a:r>
              <a:rPr lang="en-US" sz="1800" b="1" dirty="0">
                <a:latin typeface="+mn-lt"/>
              </a:rPr>
              <a:t> </a:t>
            </a:r>
            <a:r>
              <a:rPr lang="en-US" sz="1800" dirty="0">
                <a:latin typeface="+mn-lt"/>
              </a:rPr>
              <a:t>and </a:t>
            </a:r>
            <a:r>
              <a:rPr lang="en-US" sz="1800" dirty="0">
                <a:latin typeface="Consolas" panose="020B0609020204030204" pitchFamily="49" charset="0"/>
                <a:cs typeface="Consolas" panose="020B0609020204030204" pitchFamily="49" charset="0"/>
              </a:rPr>
              <a:t>delete</a:t>
            </a:r>
            <a:r>
              <a:rPr lang="en-US" sz="1800" dirty="0">
                <a:latin typeface="+mn-lt"/>
              </a:rPr>
              <a:t>.</a:t>
            </a:r>
          </a:p>
          <a:p>
            <a:r>
              <a:rPr lang="en-US" sz="1800" dirty="0">
                <a:latin typeface="+mn-lt"/>
              </a:rPr>
              <a:t>Use keyword </a:t>
            </a:r>
            <a:r>
              <a:rPr lang="en-US" sz="1800" dirty="0">
                <a:latin typeface="Consolas" panose="020B0609020204030204" pitchFamily="49" charset="0"/>
                <a:cs typeface="Consolas" panose="020B0609020204030204" pitchFamily="49" charset="0"/>
              </a:rPr>
              <a:t>explicit</a:t>
            </a:r>
            <a:r>
              <a:rPr lang="en-US" sz="1800" dirty="0">
                <a:latin typeface="+mn-lt"/>
              </a:rPr>
              <a:t> to indicate that a constructor cannot be used for implicit conversions.</a:t>
            </a:r>
          </a:p>
          <a:p>
            <a:r>
              <a:rPr lang="en-US" sz="1800" dirty="0">
                <a:latin typeface="+mn-lt"/>
              </a:rPr>
              <a:t>Experience a “light-bulb moment” when you’ll truly appreciate the elegance and beauty of the class concept</a:t>
            </a:r>
            <a:r>
              <a:rPr lang="en-US" sz="1800" dirty="0" smtClean="0">
                <a:latin typeface="+mn-lt"/>
              </a:rPr>
              <a:t>.</a:t>
            </a:r>
            <a:endParaRPr lang="en-US" sz="1800" dirty="0">
              <a:latin typeface="+mn-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Outline </a:t>
            </a:r>
            <a:r>
              <a:rPr lang="en-IN" sz="2000" b="0" dirty="0" smtClean="0"/>
              <a:t>(1 of 2)</a:t>
            </a:r>
            <a:endParaRPr lang="en-US" sz="2000" b="0" dirty="0"/>
          </a:p>
        </p:txBody>
      </p:sp>
      <p:sp>
        <p:nvSpPr>
          <p:cNvPr id="3" name="Text Placeholder 2"/>
          <p:cNvSpPr>
            <a:spLocks noGrp="1"/>
          </p:cNvSpPr>
          <p:nvPr>
            <p:ph type="body" idx="1"/>
          </p:nvPr>
        </p:nvSpPr>
        <p:spPr/>
        <p:txBody>
          <a:bodyPr/>
          <a:lstStyle/>
          <a:p>
            <a:pPr marL="0" indent="0">
              <a:buNone/>
            </a:pPr>
            <a:r>
              <a:rPr lang="en-US" sz="1800" b="1" dirty="0" smtClean="0">
                <a:solidFill>
                  <a:schemeClr val="tx2"/>
                </a:solidFill>
                <a:latin typeface="+mn-lt"/>
              </a:rPr>
              <a:t>18.1</a:t>
            </a:r>
            <a:r>
              <a:rPr lang="en-US" sz="1800" dirty="0" smtClean="0">
                <a:latin typeface="+mn-lt"/>
              </a:rPr>
              <a:t> Introduction</a:t>
            </a:r>
          </a:p>
          <a:p>
            <a:pPr marL="0" indent="0">
              <a:buNone/>
            </a:pPr>
            <a:r>
              <a:rPr lang="en-US" sz="1800" b="1" dirty="0" smtClean="0">
                <a:solidFill>
                  <a:schemeClr val="tx2"/>
                </a:solidFill>
                <a:latin typeface="+mn-lt"/>
              </a:rPr>
              <a:t>1</a:t>
            </a:r>
            <a:r>
              <a:rPr lang="en-US" sz="1800" b="1" dirty="0">
                <a:solidFill>
                  <a:schemeClr val="tx2"/>
                </a:solidFill>
                <a:latin typeface="+mn-lt"/>
              </a:rPr>
              <a:t>8</a:t>
            </a:r>
            <a:r>
              <a:rPr lang="en-US" sz="1800" b="1" dirty="0" smtClean="0">
                <a:solidFill>
                  <a:schemeClr val="tx2"/>
                </a:solidFill>
                <a:latin typeface="+mn-lt"/>
              </a:rPr>
              <a:t>.2</a:t>
            </a:r>
            <a:r>
              <a:rPr lang="en-US" sz="1800" dirty="0" smtClean="0">
                <a:latin typeface="+mn-lt"/>
              </a:rPr>
              <a:t> Using </a:t>
            </a:r>
            <a:r>
              <a:rPr lang="en-US" sz="1800" dirty="0">
                <a:latin typeface="+mn-lt"/>
              </a:rPr>
              <a:t>the Overloaded </a:t>
            </a:r>
            <a:r>
              <a:rPr lang="en-US" sz="1800" dirty="0" smtClean="0">
                <a:latin typeface="+mn-lt"/>
              </a:rPr>
              <a:t>Operators of </a:t>
            </a:r>
            <a:r>
              <a:rPr lang="en-US" sz="1800" dirty="0">
                <a:latin typeface="+mn-lt"/>
              </a:rPr>
              <a:t>Standard Library Class </a:t>
            </a:r>
            <a:r>
              <a:rPr lang="en-US" sz="1800" dirty="0" smtClean="0">
                <a:latin typeface="+mn-lt"/>
                <a:cs typeface="Consolas" panose="020B0609020204030204" pitchFamily="49" charset="0"/>
              </a:rPr>
              <a:t>string</a:t>
            </a:r>
          </a:p>
          <a:p>
            <a:pPr marL="0" indent="0">
              <a:buNone/>
            </a:pPr>
            <a:r>
              <a:rPr lang="en-US" sz="1800" b="1" dirty="0" smtClean="0">
                <a:solidFill>
                  <a:schemeClr val="tx2"/>
                </a:solidFill>
                <a:latin typeface="+mn-lt"/>
              </a:rPr>
              <a:t>1</a:t>
            </a:r>
            <a:r>
              <a:rPr lang="en-US" sz="1800" b="1" dirty="0">
                <a:solidFill>
                  <a:schemeClr val="tx2"/>
                </a:solidFill>
                <a:latin typeface="+mn-lt"/>
              </a:rPr>
              <a:t>8</a:t>
            </a:r>
            <a:r>
              <a:rPr lang="en-US" sz="1800" b="1" dirty="0" smtClean="0">
                <a:solidFill>
                  <a:schemeClr val="tx2"/>
                </a:solidFill>
                <a:latin typeface="+mn-lt"/>
              </a:rPr>
              <a:t>.3</a:t>
            </a:r>
            <a:r>
              <a:rPr lang="en-US" sz="1800" dirty="0" smtClean="0">
                <a:latin typeface="+mn-lt"/>
              </a:rPr>
              <a:t> Fundamentals </a:t>
            </a:r>
            <a:r>
              <a:rPr lang="en-US" sz="1800" dirty="0">
                <a:latin typeface="+mn-lt"/>
              </a:rPr>
              <a:t>of </a:t>
            </a:r>
            <a:r>
              <a:rPr lang="en-US" sz="1800" dirty="0" smtClean="0">
                <a:latin typeface="+mn-lt"/>
              </a:rPr>
              <a:t>Operator Overloading</a:t>
            </a:r>
          </a:p>
          <a:p>
            <a:pPr marL="0" indent="0">
              <a:buNone/>
            </a:pPr>
            <a:r>
              <a:rPr lang="en-US" sz="1800" b="1" dirty="0" smtClean="0">
                <a:solidFill>
                  <a:schemeClr val="tx2"/>
                </a:solidFill>
                <a:latin typeface="+mn-lt"/>
              </a:rPr>
              <a:t>1</a:t>
            </a:r>
            <a:r>
              <a:rPr lang="en-US" sz="1800" b="1" dirty="0">
                <a:solidFill>
                  <a:schemeClr val="tx2"/>
                </a:solidFill>
                <a:latin typeface="+mn-lt"/>
              </a:rPr>
              <a:t>8</a:t>
            </a:r>
            <a:r>
              <a:rPr lang="en-US" sz="1800" b="1" dirty="0" smtClean="0">
                <a:solidFill>
                  <a:schemeClr val="tx2"/>
                </a:solidFill>
                <a:latin typeface="+mn-lt"/>
              </a:rPr>
              <a:t>.4</a:t>
            </a:r>
            <a:r>
              <a:rPr lang="en-US" sz="1800" dirty="0" smtClean="0">
                <a:latin typeface="+mn-lt"/>
              </a:rPr>
              <a:t> Overloading </a:t>
            </a:r>
            <a:r>
              <a:rPr lang="en-US" sz="1800" dirty="0">
                <a:latin typeface="+mn-lt"/>
              </a:rPr>
              <a:t>Binary </a:t>
            </a:r>
            <a:r>
              <a:rPr lang="en-US" sz="1800" dirty="0" smtClean="0">
                <a:latin typeface="+mn-lt"/>
              </a:rPr>
              <a:t>Operators</a:t>
            </a:r>
          </a:p>
          <a:p>
            <a:pPr marL="0" indent="0">
              <a:buNone/>
            </a:pPr>
            <a:r>
              <a:rPr lang="en-US" sz="1800" b="1" dirty="0" smtClean="0">
                <a:solidFill>
                  <a:schemeClr val="tx2"/>
                </a:solidFill>
                <a:latin typeface="+mn-lt"/>
              </a:rPr>
              <a:t>1</a:t>
            </a:r>
            <a:r>
              <a:rPr lang="en-US" sz="1800" b="1" dirty="0">
                <a:solidFill>
                  <a:schemeClr val="tx2"/>
                </a:solidFill>
                <a:latin typeface="+mn-lt"/>
              </a:rPr>
              <a:t>8</a:t>
            </a:r>
            <a:r>
              <a:rPr lang="en-US" sz="1800" b="1" dirty="0" smtClean="0">
                <a:solidFill>
                  <a:schemeClr val="tx2"/>
                </a:solidFill>
                <a:latin typeface="+mn-lt"/>
              </a:rPr>
              <a:t>.5</a:t>
            </a:r>
            <a:r>
              <a:rPr lang="en-US" sz="1800" dirty="0" smtClean="0">
                <a:latin typeface="+mn-lt"/>
              </a:rPr>
              <a:t> Overloading </a:t>
            </a:r>
            <a:r>
              <a:rPr lang="en-US" sz="1800" dirty="0">
                <a:latin typeface="+mn-lt"/>
              </a:rPr>
              <a:t>the Binary </a:t>
            </a:r>
            <a:r>
              <a:rPr lang="en-US" sz="1800" dirty="0" smtClean="0">
                <a:latin typeface="+mn-lt"/>
              </a:rPr>
              <a:t>Stream </a:t>
            </a:r>
            <a:r>
              <a:rPr lang="en-US" sz="1800" dirty="0">
                <a:latin typeface="+mn-lt"/>
              </a:rPr>
              <a:t>Insertion and Stream </a:t>
            </a:r>
            <a:r>
              <a:rPr lang="en-US" sz="1800" dirty="0" smtClean="0">
                <a:latin typeface="+mn-lt"/>
              </a:rPr>
              <a:t>Extraction Operators</a:t>
            </a:r>
          </a:p>
          <a:p>
            <a:pPr marL="0" indent="0">
              <a:buNone/>
            </a:pPr>
            <a:r>
              <a:rPr lang="en-US" sz="1800" b="1" dirty="0">
                <a:solidFill>
                  <a:schemeClr val="tx2"/>
                </a:solidFill>
              </a:rPr>
              <a:t>18.6</a:t>
            </a:r>
            <a:r>
              <a:rPr lang="en-US" sz="1800" dirty="0"/>
              <a:t> Overloading Unary Operators</a:t>
            </a:r>
          </a:p>
          <a:p>
            <a:pPr marL="0" indent="0">
              <a:buNone/>
            </a:pPr>
            <a:r>
              <a:rPr lang="en-US" sz="1800" b="1" dirty="0">
                <a:solidFill>
                  <a:schemeClr val="tx2"/>
                </a:solidFill>
              </a:rPr>
              <a:t>18.7</a:t>
            </a:r>
            <a:r>
              <a:rPr lang="en-US" sz="1800" dirty="0"/>
              <a:t> Overloading the Unary Prefix and </a:t>
            </a:r>
            <a:r>
              <a:rPr lang="en-US" sz="1800" dirty="0" smtClean="0"/>
              <a:t>Postfix</a:t>
            </a:r>
            <a:endParaRPr lang="en-US" sz="1800" dirty="0"/>
          </a:p>
        </p:txBody>
      </p:sp>
      <p:graphicFrame>
        <p:nvGraphicFramePr>
          <p:cNvPr id="4" name="Object 1" descr="plus plus and minus minus Operators"/>
          <p:cNvGraphicFramePr>
            <a:graphicFrameLocks noChangeAspect="1"/>
          </p:cNvGraphicFramePr>
          <p:nvPr>
            <p:extLst>
              <p:ext uri="{D42A27DB-BD31-4B8C-83A1-F6EECF244321}">
                <p14:modId xmlns:p14="http://schemas.microsoft.com/office/powerpoint/2010/main" val="3892333612"/>
              </p:ext>
            </p:extLst>
          </p:nvPr>
        </p:nvGraphicFramePr>
        <p:xfrm>
          <a:off x="5210054" y="4475379"/>
          <a:ext cx="2195950" cy="311387"/>
        </p:xfrm>
        <a:graphic>
          <a:graphicData uri="http://schemas.openxmlformats.org/presentationml/2006/ole">
            <mc:AlternateContent xmlns:mc="http://schemas.openxmlformats.org/markup-compatibility/2006">
              <mc:Choice xmlns:v="urn:schemas-microsoft-com:vml" Requires="v">
                <p:oleObj spid="_x0000_s26820" name="Equation" r:id="rId3" imgW="1434960" imgH="203040" progId="Equation.DSMT4">
                  <p:embed/>
                </p:oleObj>
              </mc:Choice>
              <mc:Fallback>
                <p:oleObj name="Equation" r:id="rId3" imgW="1434960" imgH="203040" progId="Equation.DSMT4">
                  <p:embed/>
                  <p:pic>
                    <p:nvPicPr>
                      <p:cNvPr id="9" name="Object 1" descr="plus plus and minus minus Operators"/>
                      <p:cNvPicPr/>
                      <p:nvPr/>
                    </p:nvPicPr>
                    <p:blipFill>
                      <a:blip r:embed="rId4"/>
                      <a:stretch>
                        <a:fillRect/>
                      </a:stretch>
                    </p:blipFill>
                    <p:spPr>
                      <a:xfrm>
                        <a:off x="5210054" y="4475379"/>
                        <a:ext cx="2195950" cy="311387"/>
                      </a:xfrm>
                      <a:prstGeom prst="rect">
                        <a:avLst/>
                      </a:prstGeom>
                    </p:spPr>
                  </p:pic>
                </p:oleObj>
              </mc:Fallback>
            </mc:AlternateContent>
          </a:graphicData>
        </a:graphic>
      </p:graphicFrame>
      <p:sp>
        <p:nvSpPr>
          <p:cNvPr id="5" name="Text Placeholder 4"/>
          <p:cNvSpPr>
            <a:spLocks noGrp="1"/>
          </p:cNvSpPr>
          <p:nvPr>
            <p:ph type="body" idx="2"/>
          </p:nvPr>
        </p:nvSpPr>
        <p:spPr>
          <a:xfrm>
            <a:off x="457200" y="4817659"/>
            <a:ext cx="8229600" cy="887106"/>
          </a:xfrm>
        </p:spPr>
        <p:txBody>
          <a:bodyPr/>
          <a:lstStyle/>
          <a:p>
            <a:pPr marL="0" indent="0">
              <a:buNone/>
            </a:pPr>
            <a:r>
              <a:rPr lang="en-US" sz="1800" b="1" dirty="0">
                <a:solidFill>
                  <a:schemeClr val="tx2"/>
                </a:solidFill>
                <a:latin typeface="+mn-lt"/>
              </a:rPr>
              <a:t>18.8</a:t>
            </a:r>
            <a:r>
              <a:rPr lang="en-US" sz="1800" dirty="0">
                <a:latin typeface="+mn-lt"/>
              </a:rPr>
              <a:t> Case Study: </a:t>
            </a:r>
            <a:r>
              <a:rPr lang="en-US" sz="1800" dirty="0">
                <a:latin typeface="Consolas" panose="020B0609020204030204" pitchFamily="49" charset="0"/>
              </a:rPr>
              <a:t>A </a:t>
            </a:r>
            <a:r>
              <a:rPr lang="en-US" sz="1800" dirty="0">
                <a:latin typeface="Consolas" panose="020B0609020204030204" pitchFamily="49" charset="0"/>
                <a:cs typeface="Consolas" panose="020B0609020204030204" pitchFamily="49" charset="0"/>
              </a:rPr>
              <a:t>Date</a:t>
            </a:r>
            <a:r>
              <a:rPr lang="en-US" sz="1800" dirty="0">
                <a:latin typeface="+mn-lt"/>
              </a:rPr>
              <a:t> Class</a:t>
            </a:r>
          </a:p>
          <a:p>
            <a:pPr marL="0" indent="0">
              <a:buNone/>
            </a:pPr>
            <a:r>
              <a:rPr lang="en-US" sz="1800" b="1" dirty="0">
                <a:solidFill>
                  <a:schemeClr val="tx2"/>
                </a:solidFill>
                <a:latin typeface="+mn-lt"/>
              </a:rPr>
              <a:t>18.9</a:t>
            </a:r>
            <a:r>
              <a:rPr lang="en-US" sz="1800" dirty="0">
                <a:latin typeface="+mn-lt"/>
              </a:rPr>
              <a:t> Dynamic Memory Management</a:t>
            </a:r>
          </a:p>
        </p:txBody>
      </p:sp>
    </p:spTree>
    <p:extLst>
      <p:ext uri="{BB962C8B-B14F-4D97-AF65-F5344CB8AC3E}">
        <p14:creationId xmlns:p14="http://schemas.microsoft.com/office/powerpoint/2010/main" val="22122456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Outline </a:t>
            </a:r>
            <a:r>
              <a:rPr lang="en-IN" sz="2000" b="0" dirty="0" smtClean="0"/>
              <a:t>(2 of 2)</a:t>
            </a:r>
            <a:endParaRPr lang="en-US" sz="2000" b="0" dirty="0"/>
          </a:p>
        </p:txBody>
      </p:sp>
      <p:sp>
        <p:nvSpPr>
          <p:cNvPr id="3" name="Text Placeholder 2"/>
          <p:cNvSpPr>
            <a:spLocks noGrp="1"/>
          </p:cNvSpPr>
          <p:nvPr>
            <p:ph type="body" idx="1"/>
          </p:nvPr>
        </p:nvSpPr>
        <p:spPr>
          <a:xfrm>
            <a:off x="457200" y="1600201"/>
            <a:ext cx="8229600" cy="3517710"/>
          </a:xfrm>
        </p:spPr>
        <p:txBody>
          <a:bodyPr/>
          <a:lstStyle/>
          <a:p>
            <a:pPr marL="0" indent="0">
              <a:buNone/>
            </a:pPr>
            <a:r>
              <a:rPr lang="en-US" sz="1800" b="1" dirty="0">
                <a:solidFill>
                  <a:schemeClr val="tx2"/>
                </a:solidFill>
                <a:latin typeface="+mn-lt"/>
              </a:rPr>
              <a:t>18.10</a:t>
            </a:r>
            <a:r>
              <a:rPr lang="en-US" sz="1800" dirty="0">
                <a:latin typeface="+mn-lt"/>
              </a:rPr>
              <a:t> Case Study: </a:t>
            </a:r>
            <a:r>
              <a:rPr lang="en-US" sz="1800" dirty="0">
                <a:latin typeface="Consolas" panose="020B0609020204030204" pitchFamily="49" charset="0"/>
                <a:cs typeface="Consolas" panose="020B0609020204030204" pitchFamily="49" charset="0"/>
              </a:rPr>
              <a:t>Array</a:t>
            </a:r>
            <a:r>
              <a:rPr lang="en-US" sz="1800" dirty="0">
                <a:latin typeface="+mn-lt"/>
              </a:rPr>
              <a:t> Class</a:t>
            </a:r>
          </a:p>
          <a:p>
            <a:pPr marL="457200" lvl="1" indent="0">
              <a:buNone/>
            </a:pPr>
            <a:r>
              <a:rPr lang="en-US" sz="1800" dirty="0">
                <a:solidFill>
                  <a:schemeClr val="tx2"/>
                </a:solidFill>
                <a:latin typeface="+mn-lt"/>
              </a:rPr>
              <a:t>18.10.1</a:t>
            </a:r>
            <a:r>
              <a:rPr lang="en-US" sz="1800" b="1" dirty="0">
                <a:latin typeface="+mn-lt"/>
              </a:rPr>
              <a:t> </a:t>
            </a:r>
            <a:r>
              <a:rPr lang="en-US" sz="1800" dirty="0">
                <a:latin typeface="+mn-lt"/>
              </a:rPr>
              <a:t>Using the </a:t>
            </a:r>
            <a:r>
              <a:rPr lang="en-US" sz="1800" dirty="0">
                <a:latin typeface="Consolas" panose="020B0609020204030204" pitchFamily="49" charset="0"/>
                <a:cs typeface="Consolas" panose="020B0609020204030204" pitchFamily="49" charset="0"/>
              </a:rPr>
              <a:t>Array</a:t>
            </a:r>
            <a:r>
              <a:rPr lang="en-US" sz="1800" dirty="0">
                <a:latin typeface="+mn-lt"/>
              </a:rPr>
              <a:t> Class</a:t>
            </a:r>
          </a:p>
          <a:p>
            <a:pPr marL="457200" lvl="1" indent="0">
              <a:buNone/>
            </a:pPr>
            <a:r>
              <a:rPr lang="en-US" sz="1800" dirty="0">
                <a:solidFill>
                  <a:schemeClr val="tx2"/>
                </a:solidFill>
                <a:latin typeface="+mn-lt"/>
              </a:rPr>
              <a:t>18.10.2</a:t>
            </a:r>
            <a:r>
              <a:rPr lang="en-US" sz="1800" b="1" dirty="0">
                <a:latin typeface="+mn-lt"/>
              </a:rPr>
              <a:t> </a:t>
            </a:r>
            <a:r>
              <a:rPr lang="en-US" sz="1800" dirty="0">
                <a:latin typeface="Consolas" panose="020B0609020204030204" pitchFamily="49" charset="0"/>
              </a:rPr>
              <a:t>Array</a:t>
            </a:r>
            <a:r>
              <a:rPr lang="en-US" sz="1800" dirty="0">
                <a:latin typeface="+mn-lt"/>
              </a:rPr>
              <a:t> Class </a:t>
            </a:r>
            <a:r>
              <a:rPr lang="en-US" sz="1800" dirty="0" smtClean="0">
                <a:latin typeface="+mn-lt"/>
              </a:rPr>
              <a:t>Definition</a:t>
            </a:r>
            <a:endParaRPr lang="en-US" sz="1800" dirty="0">
              <a:latin typeface="+mn-lt"/>
            </a:endParaRPr>
          </a:p>
          <a:p>
            <a:pPr marL="0" indent="0">
              <a:buNone/>
            </a:pPr>
            <a:r>
              <a:rPr lang="en-US" sz="1800" b="1" dirty="0">
                <a:solidFill>
                  <a:schemeClr val="tx2"/>
                </a:solidFill>
                <a:latin typeface="+mn-lt"/>
              </a:rPr>
              <a:t>1</a:t>
            </a:r>
            <a:r>
              <a:rPr lang="en-US" sz="1800" b="1" dirty="0">
                <a:solidFill>
                  <a:schemeClr val="tx2"/>
                </a:solidFill>
                <a:latin typeface="+mn-lt"/>
                <a:sym typeface="Arial" panose="020B0604020202020204" pitchFamily="34" charset="0"/>
              </a:rPr>
              <a:t>8</a:t>
            </a:r>
            <a:r>
              <a:rPr lang="en-US" sz="1800" b="1" dirty="0">
                <a:solidFill>
                  <a:schemeClr val="tx2"/>
                </a:solidFill>
                <a:latin typeface="+mn-lt"/>
              </a:rPr>
              <a:t>.11</a:t>
            </a:r>
            <a:r>
              <a:rPr lang="en-US" sz="1800" dirty="0">
                <a:latin typeface="+mn-lt"/>
              </a:rPr>
              <a:t> Operators as Member v</a:t>
            </a:r>
            <a:r>
              <a:rPr lang="en-US" sz="100" dirty="0">
                <a:solidFill>
                  <a:schemeClr val="bg1"/>
                </a:solidFill>
                <a:latin typeface="+mn-lt"/>
              </a:rPr>
              <a:t>ersu</a:t>
            </a:r>
            <a:r>
              <a:rPr lang="en-US" sz="1800" dirty="0">
                <a:latin typeface="+mn-lt"/>
              </a:rPr>
              <a:t>s. Non-Member Functions</a:t>
            </a:r>
          </a:p>
          <a:p>
            <a:pPr marL="0" indent="0">
              <a:buNone/>
            </a:pPr>
            <a:r>
              <a:rPr lang="en-US" sz="1800" b="1" dirty="0">
                <a:solidFill>
                  <a:schemeClr val="tx2"/>
                </a:solidFill>
                <a:latin typeface="+mn-lt"/>
              </a:rPr>
              <a:t>1</a:t>
            </a:r>
            <a:r>
              <a:rPr lang="en-US" sz="1800" b="1" dirty="0">
                <a:solidFill>
                  <a:schemeClr val="tx2"/>
                </a:solidFill>
                <a:latin typeface="+mn-lt"/>
                <a:sym typeface="Arial" panose="020B0604020202020204" pitchFamily="34" charset="0"/>
              </a:rPr>
              <a:t>8</a:t>
            </a:r>
            <a:r>
              <a:rPr lang="en-US" sz="1800" b="1" dirty="0">
                <a:solidFill>
                  <a:schemeClr val="tx2"/>
                </a:solidFill>
                <a:latin typeface="+mn-lt"/>
              </a:rPr>
              <a:t>.12</a:t>
            </a:r>
            <a:r>
              <a:rPr lang="en-US" sz="1800" dirty="0">
                <a:latin typeface="+mn-lt"/>
              </a:rPr>
              <a:t> Converting Between Types</a:t>
            </a:r>
          </a:p>
          <a:p>
            <a:pPr marL="0" indent="0">
              <a:buNone/>
            </a:pPr>
            <a:r>
              <a:rPr lang="en-US" sz="1800" b="1" dirty="0">
                <a:solidFill>
                  <a:schemeClr val="tx2"/>
                </a:solidFill>
                <a:latin typeface="+mn-lt"/>
              </a:rPr>
              <a:t>1</a:t>
            </a:r>
            <a:r>
              <a:rPr lang="en-US" sz="1800" b="1" dirty="0">
                <a:solidFill>
                  <a:schemeClr val="tx2"/>
                </a:solidFill>
                <a:latin typeface="+mn-lt"/>
                <a:sym typeface="Arial" panose="020B0604020202020204" pitchFamily="34" charset="0"/>
              </a:rPr>
              <a:t>8</a:t>
            </a:r>
            <a:r>
              <a:rPr lang="en-US" sz="1800" b="1" dirty="0">
                <a:solidFill>
                  <a:schemeClr val="tx2"/>
                </a:solidFill>
                <a:latin typeface="+mn-lt"/>
              </a:rPr>
              <a:t>.13</a:t>
            </a:r>
            <a:r>
              <a:rPr lang="en-US" sz="1800" dirty="0">
                <a:latin typeface="+mn-lt"/>
              </a:rPr>
              <a:t> </a:t>
            </a:r>
            <a:r>
              <a:rPr lang="en-US" sz="1800" dirty="0">
                <a:latin typeface="Consolas" panose="020B0609020204030204" pitchFamily="49" charset="0"/>
                <a:cs typeface="Consolas" panose="020B0609020204030204" pitchFamily="49" charset="0"/>
              </a:rPr>
              <a:t>explicit</a:t>
            </a:r>
            <a:r>
              <a:rPr lang="en-US" sz="1800" dirty="0">
                <a:latin typeface="+mn-lt"/>
              </a:rPr>
              <a:t> Constructors and Conversion Operators</a:t>
            </a:r>
          </a:p>
          <a:p>
            <a:pPr marL="0" indent="0">
              <a:buNone/>
            </a:pPr>
            <a:r>
              <a:rPr lang="en-US" sz="1800" b="1" dirty="0">
                <a:solidFill>
                  <a:schemeClr val="tx2"/>
                </a:solidFill>
                <a:latin typeface="+mn-lt"/>
              </a:rPr>
              <a:t>1</a:t>
            </a:r>
            <a:r>
              <a:rPr lang="en-US" sz="1800" b="1" dirty="0">
                <a:solidFill>
                  <a:schemeClr val="tx2"/>
                </a:solidFill>
                <a:latin typeface="+mn-lt"/>
                <a:sym typeface="Arial" panose="020B0604020202020204" pitchFamily="34" charset="0"/>
              </a:rPr>
              <a:t>8</a:t>
            </a:r>
            <a:r>
              <a:rPr lang="en-US" sz="1800" b="1" dirty="0">
                <a:solidFill>
                  <a:schemeClr val="tx2"/>
                </a:solidFill>
                <a:latin typeface="+mn-lt"/>
              </a:rPr>
              <a:t>.14</a:t>
            </a:r>
            <a:r>
              <a:rPr lang="en-US" sz="1800" b="1" dirty="0">
                <a:latin typeface="+mn-lt"/>
              </a:rPr>
              <a:t> </a:t>
            </a:r>
            <a:r>
              <a:rPr lang="en-US" sz="1800" dirty="0">
                <a:latin typeface="+mn-lt"/>
              </a:rPr>
              <a:t>Overloading the Function Call Operator </a:t>
            </a:r>
            <a:r>
              <a:rPr lang="en-US" sz="1800" dirty="0">
                <a:latin typeface="Consolas" panose="020B0609020204030204" pitchFamily="49" charset="0"/>
                <a:cs typeface="Consolas" panose="020B0609020204030204" pitchFamily="49" charset="0"/>
              </a:rPr>
              <a:t>()</a:t>
            </a:r>
          </a:p>
          <a:p>
            <a:pPr marL="0" indent="0">
              <a:buNone/>
            </a:pPr>
            <a:r>
              <a:rPr lang="en-US" sz="1800" b="1" dirty="0">
                <a:solidFill>
                  <a:schemeClr val="tx2"/>
                </a:solidFill>
                <a:latin typeface="+mn-lt"/>
              </a:rPr>
              <a:t>1</a:t>
            </a:r>
            <a:r>
              <a:rPr lang="en-US" sz="1800" b="1" dirty="0">
                <a:solidFill>
                  <a:schemeClr val="tx2"/>
                </a:solidFill>
                <a:latin typeface="+mn-lt"/>
                <a:sym typeface="Arial" panose="020B0604020202020204" pitchFamily="34" charset="0"/>
              </a:rPr>
              <a:t>8</a:t>
            </a:r>
            <a:r>
              <a:rPr lang="en-US" sz="1800" b="1" dirty="0">
                <a:solidFill>
                  <a:schemeClr val="tx2"/>
                </a:solidFill>
                <a:latin typeface="+mn-lt"/>
              </a:rPr>
              <a:t>.15</a:t>
            </a:r>
            <a:r>
              <a:rPr lang="en-US" sz="1800" b="1" dirty="0">
                <a:latin typeface="+mn-lt"/>
              </a:rPr>
              <a:t> </a:t>
            </a:r>
            <a:r>
              <a:rPr lang="en-US" sz="1800" dirty="0" smtClean="0">
                <a:latin typeface="+mn-lt"/>
              </a:rPr>
              <a:t>Wrap-Up</a:t>
            </a:r>
            <a:endParaRPr lang="en-US" sz="1800" dirty="0">
              <a:latin typeface="+mn-lt"/>
            </a:endParaRPr>
          </a:p>
        </p:txBody>
      </p:sp>
    </p:spTree>
    <p:extLst>
      <p:ext uri="{BB962C8B-B14F-4D97-AF65-F5344CB8AC3E}">
        <p14:creationId xmlns:p14="http://schemas.microsoft.com/office/powerpoint/2010/main" val="22626058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 Introduction</a:t>
            </a:r>
            <a:endParaRPr lang="en-US" altLang="en-US" sz="200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1"/>
            <a:ext cx="8229600" cy="1392659"/>
          </a:xfrm>
        </p:spPr>
        <p:txBody>
          <a:bodyPr wrap="square">
            <a:spAutoFit/>
          </a:bodyPr>
          <a:lstStyle/>
          <a:p>
            <a:pPr marL="255651" indent="-255651" eaLnBrk="1" hangingPunct="1">
              <a:defRPr/>
            </a:pPr>
            <a:r>
              <a:rPr lang="en-US" altLang="en-US" sz="2200" kern="1200" dirty="0">
                <a:solidFill>
                  <a:srgbClr val="000000"/>
                </a:solidFill>
                <a:latin typeface="Arial (Body)"/>
              </a:rPr>
              <a:t>This chapter shows how to enable C++’s operators to work with objects—a process called </a:t>
            </a:r>
            <a:r>
              <a:rPr lang="en-US" altLang="en-US" sz="2200" b="1" kern="1200" dirty="0">
                <a:solidFill>
                  <a:srgbClr val="000000"/>
                </a:solidFill>
                <a:latin typeface="Arial (Body)"/>
              </a:rPr>
              <a:t>operator overloading</a:t>
            </a:r>
            <a:r>
              <a:rPr lang="en-US" altLang="en-US" sz="2200" kern="1200" dirty="0" smtClean="0">
                <a:solidFill>
                  <a:srgbClr val="000000"/>
                </a:solidFill>
                <a:latin typeface="Arial (Body)"/>
              </a:rPr>
              <a:t>.</a:t>
            </a:r>
          </a:p>
          <a:p>
            <a:pPr marL="255651" indent="-255651" eaLnBrk="1" hangingPunct="1">
              <a:defRPr/>
            </a:pPr>
            <a:r>
              <a:rPr lang="en-US" altLang="en-US" sz="2200" kern="1200" dirty="0">
                <a:latin typeface="Arial (Body)"/>
              </a:rPr>
              <a:t>One example of an overloaded operator built into C++ is</a:t>
            </a:r>
            <a:r>
              <a:rPr lang="en-US" altLang="en-US" sz="2200" kern="1200" dirty="0" smtClean="0">
                <a:latin typeface="Arial (Body)"/>
              </a:rPr>
              <a:t>,</a:t>
            </a:r>
            <a:endParaRPr lang="en-US" sz="2200" dirty="0"/>
          </a:p>
        </p:txBody>
      </p:sp>
      <p:graphicFrame>
        <p:nvGraphicFramePr>
          <p:cNvPr id="20" name="Object 1" descr="left angle bracket left angle bracket"/>
          <p:cNvGraphicFramePr>
            <a:graphicFrameLocks noGrp="1" noChangeAspect="1"/>
          </p:cNvGraphicFramePr>
          <p:nvPr>
            <p:ph sz="quarter" idx="14"/>
            <p:extLst>
              <p:ext uri="{D42A27DB-BD31-4B8C-83A1-F6EECF244321}">
                <p14:modId xmlns:p14="http://schemas.microsoft.com/office/powerpoint/2010/main" val="693273537"/>
              </p:ext>
            </p:extLst>
          </p:nvPr>
        </p:nvGraphicFramePr>
        <p:xfrm>
          <a:off x="7850505" y="2602646"/>
          <a:ext cx="383099" cy="300445"/>
        </p:xfrm>
        <a:graphic>
          <a:graphicData uri="http://schemas.openxmlformats.org/presentationml/2006/ole">
            <mc:AlternateContent xmlns:mc="http://schemas.openxmlformats.org/markup-compatibility/2006">
              <mc:Choice xmlns:v="urn:schemas-microsoft-com:vml" Requires="v">
                <p:oleObj spid="_x0000_s24838" name="Equation" r:id="rId3" imgW="203040" imgH="152280" progId="Equation.DSMT4">
                  <p:embed/>
                </p:oleObj>
              </mc:Choice>
              <mc:Fallback>
                <p:oleObj name="Equation" r:id="rId3" imgW="203040" imgH="152280" progId="Equation.DSMT4">
                  <p:embed/>
                  <p:pic>
                    <p:nvPicPr>
                      <p:cNvPr id="0" name=""/>
                      <p:cNvPicPr/>
                      <p:nvPr/>
                    </p:nvPicPr>
                    <p:blipFill>
                      <a:blip r:embed="rId4"/>
                      <a:stretch>
                        <a:fillRect/>
                      </a:stretch>
                    </p:blipFill>
                    <p:spPr>
                      <a:xfrm>
                        <a:off x="7850505" y="2602646"/>
                        <a:ext cx="383099" cy="300445"/>
                      </a:xfrm>
                      <a:prstGeom prst="rect">
                        <a:avLst/>
                      </a:prstGeom>
                    </p:spPr>
                  </p:pic>
                </p:oleObj>
              </mc:Fallback>
            </mc:AlternateContent>
          </a:graphicData>
        </a:graphic>
      </p:graphicFrame>
      <p:sp>
        <p:nvSpPr>
          <p:cNvPr id="14" name="Content Placeholder 13"/>
          <p:cNvSpPr>
            <a:spLocks noGrp="1"/>
          </p:cNvSpPr>
          <p:nvPr>
            <p:ph sz="quarter" idx="16"/>
          </p:nvPr>
        </p:nvSpPr>
        <p:spPr>
          <a:xfrm>
            <a:off x="457200" y="2788924"/>
            <a:ext cx="8229600" cy="3478526"/>
          </a:xfrm>
        </p:spPr>
        <p:txBody>
          <a:bodyPr/>
          <a:lstStyle/>
          <a:p>
            <a:pPr marL="255600" indent="0"/>
            <a:r>
              <a:rPr lang="en-US" altLang="en-US" sz="2200" kern="1200" dirty="0">
                <a:latin typeface="Arial (Body)"/>
              </a:rPr>
              <a:t>which is used </a:t>
            </a:r>
            <a:r>
              <a:rPr lang="en-US" altLang="en-US" sz="2200" b="1" kern="1200" dirty="0">
                <a:latin typeface="Arial (Body)"/>
              </a:rPr>
              <a:t>both</a:t>
            </a:r>
            <a:r>
              <a:rPr lang="en-US" altLang="en-US" sz="2200" kern="1200" dirty="0">
                <a:latin typeface="Arial (Body)"/>
              </a:rPr>
              <a:t> as the stream insertion operator and as the bitwise left-shift operator</a:t>
            </a:r>
            <a:r>
              <a:rPr lang="en-US" altLang="en-US" sz="2200" kern="1200" dirty="0" smtClean="0">
                <a:latin typeface="Arial (Body)"/>
              </a:rPr>
              <a:t>.</a:t>
            </a:r>
          </a:p>
          <a:p>
            <a:pPr marL="255600" indent="-255600" eaLnBrk="1" hangingPunct="1">
              <a:spcBef>
                <a:spcPts val="1500"/>
              </a:spcBef>
              <a:buClr>
                <a:schemeClr val="tx2"/>
              </a:buClr>
              <a:buFont typeface="Arial" panose="020B0604020202020204" pitchFamily="34" charset="0"/>
              <a:buChar char="•"/>
              <a:tabLst/>
              <a:defRPr/>
            </a:pPr>
            <a:r>
              <a:rPr lang="en-US" altLang="en-US" sz="2200" kern="1200" dirty="0">
                <a:latin typeface="Arial (Body)"/>
              </a:rPr>
              <a:t>C++ overloads the addition operator (</a:t>
            </a:r>
            <a:r>
              <a:rPr lang="en-US" altLang="en-US" sz="2200" kern="1200" dirty="0">
                <a:latin typeface="Consolas" panose="020B0609020204030204" pitchFamily="49" charset="0"/>
                <a:cs typeface="Consolas" panose="020B0609020204030204" pitchFamily="49" charset="0"/>
              </a:rPr>
              <a:t>+</a:t>
            </a:r>
            <a:r>
              <a:rPr lang="en-US" altLang="en-US" sz="2200" kern="1200" dirty="0">
                <a:latin typeface="Arial (Body)"/>
              </a:rPr>
              <a:t>) and the subtraction operator (</a:t>
            </a:r>
            <a:r>
              <a:rPr lang="en-US" altLang="en-US" sz="2200" kern="1200" dirty="0">
                <a:latin typeface="Consolas" panose="020B0609020204030204" pitchFamily="49" charset="0"/>
                <a:cs typeface="Consolas" panose="020B0609020204030204" pitchFamily="49" charset="0"/>
              </a:rPr>
              <a:t>−</a:t>
            </a:r>
            <a:r>
              <a:rPr lang="en-US" altLang="en-US" sz="2200" kern="1200" dirty="0">
                <a:latin typeface="Arial (Body)"/>
              </a:rPr>
              <a:t>) to perform differently, depending on their context in integer, floating-point and pointer arithmetic with data of fundamental types.</a:t>
            </a:r>
          </a:p>
          <a:p>
            <a:pPr marL="255600" indent="-255600" eaLnBrk="1" hangingPunct="1">
              <a:spcBef>
                <a:spcPts val="1500"/>
              </a:spcBef>
              <a:buClr>
                <a:schemeClr val="tx2"/>
              </a:buClr>
              <a:buFont typeface="Arial" panose="020B0604020202020204" pitchFamily="34" charset="0"/>
              <a:buChar char="•"/>
              <a:tabLst/>
              <a:defRPr/>
            </a:pPr>
            <a:r>
              <a:rPr lang="en-US" altLang="en-US" sz="2200" kern="1200" dirty="0">
                <a:latin typeface="Arial (Body)"/>
              </a:rPr>
              <a:t>You can overload most operators to be used with class objects—the compiler generates the appropriate code based on the types of the operands.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18.2 Using the Overloaded Operators of Standard Library Class </a:t>
            </a:r>
            <a:r>
              <a:rPr lang="en-US" altLang="en-US" kern="1200" dirty="0" smtClean="0">
                <a:latin typeface="Consolas" panose="020B0609020204030204" pitchFamily="49" charset="0"/>
                <a:ea typeface="+mj-ea"/>
                <a:cs typeface="Consolas" panose="020B0609020204030204" pitchFamily="49" charset="0"/>
              </a:rPr>
              <a:t>string</a:t>
            </a:r>
            <a:r>
              <a:rPr lang="en-US" altLang="en-US" kern="1200" dirty="0" smtClean="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(1 of 4)</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893343"/>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Figure </a:t>
            </a:r>
            <a:r>
              <a:rPr lang="en-US" altLang="en-US" sz="2400" kern="1200" dirty="0" smtClean="0">
                <a:solidFill>
                  <a:srgbClr val="000000"/>
                </a:solidFill>
                <a:latin typeface="Arial (Body)"/>
                <a:ea typeface="+mn-ea"/>
                <a:cs typeface="+mn-cs"/>
              </a:rPr>
              <a:t>18.1 </a:t>
            </a:r>
            <a:r>
              <a:rPr lang="en-US" altLang="en-US" sz="2400" kern="1200" dirty="0">
                <a:solidFill>
                  <a:srgbClr val="000000"/>
                </a:solidFill>
                <a:latin typeface="Arial (Body)"/>
                <a:ea typeface="+mn-ea"/>
                <a:cs typeface="+mn-cs"/>
              </a:rPr>
              <a:t>demonstrates many of class </a:t>
            </a:r>
            <a:r>
              <a:rPr lang="en-US" altLang="en-US" sz="2400" kern="1200" dirty="0">
                <a:solidFill>
                  <a:srgbClr val="000000"/>
                </a:solidFill>
                <a:latin typeface="Consolas" panose="020B0609020204030204" pitchFamily="49" charset="0"/>
                <a:ea typeface="+mn-ea"/>
                <a:cs typeface="Consolas" panose="020B0609020204030204" pitchFamily="49" charset="0"/>
              </a:rPr>
              <a:t>string</a:t>
            </a:r>
            <a:r>
              <a:rPr lang="en-US" altLang="en-US" sz="2400" kern="1200" dirty="0">
                <a:solidFill>
                  <a:srgbClr val="000000"/>
                </a:solidFill>
                <a:latin typeface="Arial (Body)"/>
                <a:ea typeface="+mn-ea"/>
                <a:cs typeface="+mn-cs"/>
              </a:rPr>
              <a:t>’s overloaded operators and several other useful member functions, including </a:t>
            </a:r>
            <a:r>
              <a:rPr lang="en-US" altLang="en-US" sz="2400" kern="1200" dirty="0">
                <a:solidFill>
                  <a:srgbClr val="000000"/>
                </a:solidFill>
                <a:latin typeface="Consolas" panose="020B0609020204030204" pitchFamily="49" charset="0"/>
                <a:ea typeface="+mn-ea"/>
                <a:cs typeface="Consolas" panose="020B0609020204030204" pitchFamily="49" charset="0"/>
              </a:rPr>
              <a:t>empty</a:t>
            </a:r>
            <a:r>
              <a:rPr lang="en-US" altLang="en-US" sz="2400" kern="1200" dirty="0">
                <a:solidFill>
                  <a:srgbClr val="000000"/>
                </a:solidFill>
                <a:latin typeface="Arial (Body)"/>
                <a:ea typeface="+mn-ea"/>
                <a:cs typeface="+mn-cs"/>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sub</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s</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t</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r</a:t>
            </a:r>
            <a:r>
              <a:rPr lang="en-US" altLang="en-US" sz="2400" b="1" kern="1200" dirty="0" smtClean="0">
                <a:solidFill>
                  <a:srgbClr val="000000"/>
                </a:solidFill>
                <a:latin typeface="Arial (Body)"/>
                <a:ea typeface="+mn-ea"/>
                <a:cs typeface="+mn-cs"/>
              </a:rPr>
              <a:t> </a:t>
            </a:r>
            <a:r>
              <a:rPr lang="en-US" altLang="en-US" sz="2400" kern="1200" dirty="0">
                <a:solidFill>
                  <a:srgbClr val="000000"/>
                </a:solidFill>
                <a:latin typeface="Arial (Body)"/>
                <a:ea typeface="+mn-ea"/>
                <a:cs typeface="+mn-cs"/>
              </a:rPr>
              <a:t>and </a:t>
            </a:r>
            <a:r>
              <a:rPr lang="en-US" altLang="en-US" sz="2400" kern="1200" dirty="0" smtClean="0">
                <a:solidFill>
                  <a:srgbClr val="000000"/>
                </a:solidFill>
                <a:latin typeface="Consolas" panose="020B0609020204030204" pitchFamily="49" charset="0"/>
                <a:ea typeface="+mn-ea"/>
                <a:cs typeface="Consolas" panose="020B0609020204030204" pitchFamily="49" charset="0"/>
              </a:rPr>
              <a:t>at</a:t>
            </a:r>
            <a:r>
              <a:rPr lang="en-US" altLang="en-US" sz="2400" kern="1200" dirty="0" smtClean="0">
                <a:solidFill>
                  <a:srgbClr val="000000"/>
                </a:solidFill>
                <a:latin typeface="Arial (Body)"/>
                <a:ea typeface="+mn-ea"/>
                <a:cs typeface="+mn-cs"/>
              </a:rPr>
              <a:t>.</a:t>
            </a:r>
            <a:endParaRPr lang="en-US" altLang="en-US" sz="2400" kern="1200" dirty="0">
              <a:solidFill>
                <a:srgbClr val="000000"/>
              </a:solidFill>
              <a:latin typeface="Arial (Body)"/>
              <a:ea typeface="+mn-ea"/>
              <a:cs typeface="+mn-cs"/>
            </a:endParaRPr>
          </a:p>
          <a:p>
            <a:pPr marL="255651" indent="-255651" eaLnBrk="1" hangingPunct="1">
              <a:tabLst/>
              <a:defRPr/>
            </a:pPr>
            <a:r>
              <a:rPr lang="en-US" altLang="en-US" sz="2400" kern="1200" dirty="0">
                <a:solidFill>
                  <a:srgbClr val="000000"/>
                </a:solidFill>
                <a:latin typeface="Arial (Body)"/>
                <a:ea typeface="+mn-ea"/>
                <a:cs typeface="+mn-cs"/>
              </a:rPr>
              <a:t>Function </a:t>
            </a:r>
            <a:r>
              <a:rPr lang="en-US" altLang="en-US" sz="2400" kern="1200" dirty="0">
                <a:solidFill>
                  <a:srgbClr val="000000"/>
                </a:solidFill>
                <a:latin typeface="Consolas" panose="020B0609020204030204" pitchFamily="49" charset="0"/>
                <a:ea typeface="+mn-ea"/>
                <a:cs typeface="Consolas" panose="020B0609020204030204" pitchFamily="49" charset="0"/>
              </a:rPr>
              <a:t>empty</a:t>
            </a:r>
            <a:r>
              <a:rPr lang="en-US" altLang="en-US" sz="2400" b="1" kern="1200" dirty="0">
                <a:solidFill>
                  <a:srgbClr val="000000"/>
                </a:solidFill>
                <a:latin typeface="Arial (Body)"/>
                <a:ea typeface="+mn-ea"/>
                <a:cs typeface="+mn-cs"/>
              </a:rPr>
              <a:t> </a:t>
            </a:r>
            <a:r>
              <a:rPr lang="en-US" altLang="en-US" sz="2400" kern="1200" dirty="0">
                <a:solidFill>
                  <a:srgbClr val="000000"/>
                </a:solidFill>
                <a:latin typeface="Arial (Body)"/>
                <a:ea typeface="+mn-ea"/>
                <a:cs typeface="+mn-cs"/>
              </a:rPr>
              <a:t>determines whether a </a:t>
            </a:r>
            <a:r>
              <a:rPr lang="en-US" altLang="en-US" sz="2400" kern="1200" dirty="0">
                <a:solidFill>
                  <a:srgbClr val="000000"/>
                </a:solidFill>
                <a:latin typeface="Consolas" panose="020B0609020204030204" pitchFamily="49" charset="0"/>
                <a:ea typeface="+mn-ea"/>
                <a:cs typeface="Consolas" panose="020B0609020204030204" pitchFamily="49" charset="0"/>
              </a:rPr>
              <a:t>string</a:t>
            </a:r>
            <a:r>
              <a:rPr lang="en-US" altLang="en-US" sz="2400" b="1" kern="1200" dirty="0">
                <a:solidFill>
                  <a:srgbClr val="000000"/>
                </a:solidFill>
                <a:latin typeface="Arial (Body)"/>
                <a:ea typeface="+mn-ea"/>
                <a:cs typeface="+mn-cs"/>
              </a:rPr>
              <a:t> </a:t>
            </a:r>
            <a:r>
              <a:rPr lang="en-US" altLang="en-US" sz="2400" kern="1200" dirty="0">
                <a:solidFill>
                  <a:srgbClr val="000000"/>
                </a:solidFill>
                <a:latin typeface="Arial (Body)"/>
                <a:ea typeface="+mn-ea"/>
                <a:cs typeface="+mn-cs"/>
              </a:rPr>
              <a:t>is empty, function </a:t>
            </a:r>
            <a:r>
              <a:rPr lang="en-US" altLang="en-US" sz="2400" kern="1200" dirty="0" smtClean="0">
                <a:solidFill>
                  <a:srgbClr val="000000"/>
                </a:solidFill>
                <a:latin typeface="Consolas" panose="020B0609020204030204" pitchFamily="49" charset="0"/>
                <a:ea typeface="+mn-ea"/>
                <a:cs typeface="Consolas" panose="020B0609020204030204" pitchFamily="49" charset="0"/>
              </a:rPr>
              <a:t>sub</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s</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t</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r</a:t>
            </a:r>
            <a:r>
              <a:rPr lang="en-US" altLang="en-US" sz="2400" b="1" kern="1200" dirty="0" smtClean="0">
                <a:solidFill>
                  <a:srgbClr val="000000"/>
                </a:solidFill>
                <a:latin typeface="Arial (Body)"/>
                <a:ea typeface="+mn-ea"/>
                <a:cs typeface="+mn-cs"/>
              </a:rPr>
              <a:t> </a:t>
            </a:r>
            <a:r>
              <a:rPr lang="en-US" altLang="en-US" sz="2400" kern="1200" dirty="0">
                <a:solidFill>
                  <a:srgbClr val="000000"/>
                </a:solidFill>
                <a:latin typeface="Arial (Body)"/>
                <a:ea typeface="+mn-ea"/>
                <a:cs typeface="+mn-cs"/>
              </a:rPr>
              <a:t>returns a </a:t>
            </a:r>
            <a:r>
              <a:rPr lang="en-US" altLang="en-US" sz="2400" kern="1200" dirty="0">
                <a:solidFill>
                  <a:srgbClr val="000000"/>
                </a:solidFill>
                <a:latin typeface="Consolas" panose="020B0609020204030204" pitchFamily="49" charset="0"/>
                <a:ea typeface="+mn-ea"/>
                <a:cs typeface="Consolas" panose="020B0609020204030204" pitchFamily="49" charset="0"/>
              </a:rPr>
              <a:t>string</a:t>
            </a:r>
            <a:r>
              <a:rPr lang="en-US" altLang="en-US" sz="2400" b="1" kern="1200" dirty="0">
                <a:solidFill>
                  <a:srgbClr val="000000"/>
                </a:solidFill>
                <a:latin typeface="Arial (Body)"/>
                <a:ea typeface="+mn-ea"/>
                <a:cs typeface="+mn-cs"/>
              </a:rPr>
              <a:t> </a:t>
            </a:r>
            <a:r>
              <a:rPr lang="en-US" altLang="en-US" sz="2400" kern="1200" dirty="0">
                <a:solidFill>
                  <a:srgbClr val="000000"/>
                </a:solidFill>
                <a:latin typeface="Arial (Body)"/>
                <a:ea typeface="+mn-ea"/>
                <a:cs typeface="+mn-cs"/>
              </a:rPr>
              <a:t>that represents a portion of an existing </a:t>
            </a:r>
            <a:r>
              <a:rPr lang="en-US" altLang="en-US" sz="2400" kern="1200" dirty="0">
                <a:solidFill>
                  <a:srgbClr val="000000"/>
                </a:solidFill>
                <a:latin typeface="Consolas" panose="020B0609020204030204" pitchFamily="49" charset="0"/>
                <a:ea typeface="+mn-ea"/>
                <a:cs typeface="Consolas" panose="020B0609020204030204" pitchFamily="49" charset="0"/>
              </a:rPr>
              <a:t>string</a:t>
            </a:r>
            <a:r>
              <a:rPr lang="en-US" altLang="en-US" sz="2400" b="1" kern="1200" dirty="0">
                <a:solidFill>
                  <a:srgbClr val="000000"/>
                </a:solidFill>
                <a:latin typeface="Arial (Body)"/>
                <a:ea typeface="+mn-ea"/>
                <a:cs typeface="+mn-cs"/>
              </a:rPr>
              <a:t> </a:t>
            </a:r>
            <a:r>
              <a:rPr lang="en-US" altLang="en-US" sz="2400" kern="1200" dirty="0">
                <a:solidFill>
                  <a:srgbClr val="000000"/>
                </a:solidFill>
                <a:latin typeface="Arial (Body)"/>
                <a:ea typeface="+mn-ea"/>
                <a:cs typeface="+mn-cs"/>
              </a:rPr>
              <a:t>and function </a:t>
            </a:r>
            <a:r>
              <a:rPr lang="en-US" altLang="en-US" sz="2400" kern="1200" dirty="0">
                <a:solidFill>
                  <a:srgbClr val="000000"/>
                </a:solidFill>
                <a:latin typeface="Consolas" panose="020B0609020204030204" pitchFamily="49" charset="0"/>
                <a:ea typeface="+mn-ea"/>
                <a:cs typeface="Consolas" panose="020B0609020204030204" pitchFamily="49" charset="0"/>
              </a:rPr>
              <a:t>at</a:t>
            </a:r>
            <a:r>
              <a:rPr lang="en-US" altLang="en-US" sz="2400" b="1" kern="1200" dirty="0">
                <a:solidFill>
                  <a:srgbClr val="000000"/>
                </a:solidFill>
                <a:latin typeface="Arial (Body)"/>
                <a:ea typeface="+mn-ea"/>
                <a:cs typeface="+mn-cs"/>
              </a:rPr>
              <a:t> </a:t>
            </a:r>
            <a:r>
              <a:rPr lang="en-US" altLang="en-US" sz="2400" kern="1200" dirty="0">
                <a:solidFill>
                  <a:srgbClr val="000000"/>
                </a:solidFill>
                <a:latin typeface="Arial (Body)"/>
                <a:ea typeface="+mn-ea"/>
                <a:cs typeface="+mn-cs"/>
              </a:rPr>
              <a:t>returns the character at a specific index in a </a:t>
            </a:r>
            <a:r>
              <a:rPr lang="en-US" altLang="en-US" sz="2400" kern="1200" dirty="0">
                <a:solidFill>
                  <a:srgbClr val="000000"/>
                </a:solidFill>
                <a:latin typeface="Consolas" panose="020B0609020204030204" pitchFamily="49" charset="0"/>
                <a:ea typeface="+mn-ea"/>
                <a:cs typeface="Consolas" panose="020B0609020204030204" pitchFamily="49" charset="0"/>
              </a:rPr>
              <a:t>string</a:t>
            </a:r>
            <a:r>
              <a:rPr lang="en-US" altLang="en-US" sz="2400" b="1" kern="1200" dirty="0">
                <a:solidFill>
                  <a:srgbClr val="000000"/>
                </a:solidFill>
                <a:latin typeface="Arial (Body)"/>
                <a:ea typeface="+mn-ea"/>
                <a:cs typeface="+mn-cs"/>
              </a:rPr>
              <a:t> </a:t>
            </a:r>
            <a:r>
              <a:rPr lang="en-US" altLang="en-US" sz="2400" kern="1200" dirty="0">
                <a:solidFill>
                  <a:srgbClr val="000000"/>
                </a:solidFill>
                <a:latin typeface="Arial (Body)"/>
                <a:ea typeface="+mn-ea"/>
                <a:cs typeface="+mn-cs"/>
              </a:rPr>
              <a:t>(after checking that the index is in </a:t>
            </a:r>
            <a:r>
              <a:rPr lang="en-US" altLang="en-US" sz="2400" kern="1200" dirty="0" smtClean="0">
                <a:solidFill>
                  <a:srgbClr val="000000"/>
                </a:solidFill>
                <a:latin typeface="Arial (Body)"/>
                <a:ea typeface="+mn-ea"/>
                <a:cs typeface="+mn-cs"/>
              </a:rPr>
              <a:t>range).</a:t>
            </a:r>
            <a:endParaRPr lang="en-US" altLang="en-US" sz="2400" kern="1200" dirty="0">
              <a:solidFill>
                <a:srgbClr val="000000"/>
              </a:solidFill>
              <a:latin typeface="Arial (Body)"/>
              <a:ea typeface="+mn-ea"/>
              <a:cs typeface="+mn-cs"/>
            </a:endParaRPr>
          </a:p>
          <a:p>
            <a:pPr marL="255651" indent="-255651" eaLnBrk="1" hangingPunct="1">
              <a:tabLst/>
              <a:defRPr/>
            </a:pPr>
            <a:r>
              <a:rPr lang="en-US" altLang="en-US" sz="2400" kern="1200" dirty="0">
                <a:solidFill>
                  <a:srgbClr val="000000"/>
                </a:solidFill>
                <a:latin typeface="Arial (Body)"/>
                <a:ea typeface="+mn-ea"/>
                <a:cs typeface="+mn-cs"/>
              </a:rPr>
              <a:t>Chapter 21 presents class string in detail.</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smtClean="0"/>
              <a:t>Figure 18.1 Standard Library </a:t>
            </a:r>
            <a:r>
              <a:rPr lang="en-US" dirty="0" smtClean="0">
                <a:latin typeface="Consolas" panose="020B0609020204030204" pitchFamily="49" charset="0"/>
                <a:cs typeface="Consolas" panose="020B0609020204030204" pitchFamily="49" charset="0"/>
              </a:rPr>
              <a:t>string</a:t>
            </a:r>
            <a:r>
              <a:rPr lang="en-US" dirty="0" smtClean="0"/>
              <a:t> Class Test Program </a:t>
            </a:r>
            <a:r>
              <a:rPr lang="en-US" sz="2000" b="0" dirty="0" smtClean="0"/>
              <a:t>(1 of 6)</a:t>
            </a:r>
            <a:endParaRPr lang="en-US" sz="2000" b="0" dirty="0"/>
          </a:p>
        </p:txBody>
      </p:sp>
      <p:pic>
        <p:nvPicPr>
          <p:cNvPr id="7" name="Picture 6" descr="The computer code has 79 lines. The lines read as follows. Line 1. forward slash forward slash F i g period 18 period 1 colon f i g 18 underscore 01 period c p p. Line 2. forward slash forward slash Standard Library string class test program period. Line 3. hash include left angle bracket i o stream right angle bracket. Line 4. hash include left angle bracket string right angle bracket. Line 5. using namespace s t d semicolon. Line 6. Blank. Line 7. i n t main left parenthesis right parenthesis. Line 8. left brace. Line 9, indented once. string s 1 left parenthesis double quote happy double quote right parenthesis semicolon. Line 10, indented once. string s 2 left parenthesis double quote birthday double quote right parenthesis semicolon. Line 11, indented once. string s 3 semicolon. Lines 9 to 11 are highlighted. Line 12. Blank. Line 13, indented once. forward slash forward slash test overloaded equality and relational operators. Line 14, indented once. c out left angle bracket left angle bracket double quote s 1 is back slash double quote double quote left angle bracket left angle bracket s 1 left angle bracket left angle bracket double quote back slash double quote semicolon s 2 is back slash double quote double quote left angle bracket left angle bracket s 2. Line 15, indented twice. left angle bracket left angle bracket double quote back slash double quote semicolon s 3 is back slash double quote double quote left angle bracket left angle bracket s 3 left angle bracket left angle bracket single quote back slash double quote single quote. Line 16, indented twice. left angle bracket left angle bracket double quote back slash n back slash n The results of comparing s 2 and s 1 colon double quote. Line 17, indented twice. left angle bracket left angle bracket double quote back slash n s 2 equals equals s 1 yields double quote left angle bracket left angle bracket left parenthesis s2 equals equals s 1 question mark double quote true double quote colon double quote false double quote right parenthesis. Line 18, indented twice. left angle bracket left angle bracket double quote back slash n s 2 exclamation point equals s 1 yields double quote left angle bracket left angle bracket left parenthesis s 2 exclamation point equals s 1 question mark double quote true double quote colon double quote false double quote right parenthesis. Line 19, indented twice. left angle bracket left angle bracket double quote back slash n s 2 right angle bracket s 1 yields double quote left angle bracket left angle bracket left parenthesis s 2 right angle bracket s 1 question mark double quote true double quote colon double quote false double quote right parenthesis. Line 20, indented twice. left angle bracket left angle bracket double quote back slash n s 2 left angle bracket s 1 yields double quote left angle bracket left angle bracket left parenthesis s 2 left angle bracket s 1 question mark double quote true double quote colon double quote false double quote right parenthesis. Line 21, indented twice. left angle bracket left angle bracket double quote back slash n s 2 right angle bracket equals s 1 yields double quote left angle bracket left angle bracket left parenthesis s 2 right angle bracket equals s 1 question mark double quote true double quote colon double quote false double quote right parenthesis. Line 22, indented twice. left angle bracket left angle bracket double quote back slash n s 2 left angle bracket equals s 1 yields double quote left angle bracket left angle bracket left parenthesis s 2 left angle bracket equals s 1 question mark double quote true double quote colon double quote false double quote right parenthesis semicolon. Line 23. Blank."/>
          <p:cNvPicPr>
            <a:picLocks noChangeAspect="1"/>
          </p:cNvPicPr>
          <p:nvPr/>
        </p:nvPicPr>
        <p:blipFill>
          <a:blip r:embed="rId2"/>
          <a:stretch>
            <a:fillRect/>
          </a:stretch>
        </p:blipFill>
        <p:spPr>
          <a:xfrm>
            <a:off x="805070" y="1655975"/>
            <a:ext cx="7533860" cy="4689574"/>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smtClean="0"/>
              <a:t>Figure 18.1 </a:t>
            </a:r>
            <a:r>
              <a:rPr lang="en-US" dirty="0"/>
              <a:t>Standard Library </a:t>
            </a:r>
            <a:r>
              <a:rPr lang="en-US" dirty="0" smtClean="0">
                <a:latin typeface="Consolas" panose="020B0609020204030204" pitchFamily="49" charset="0"/>
                <a:cs typeface="Consolas" panose="020B0609020204030204" pitchFamily="49" charset="0"/>
              </a:rPr>
              <a:t>string</a:t>
            </a:r>
            <a:r>
              <a:rPr lang="en-US" dirty="0" smtClean="0"/>
              <a:t> </a:t>
            </a:r>
            <a:r>
              <a:rPr lang="en-US" dirty="0"/>
              <a:t>Class Test Program</a:t>
            </a:r>
            <a:r>
              <a:rPr lang="en-US" dirty="0" smtClean="0"/>
              <a:t> </a:t>
            </a:r>
            <a:r>
              <a:rPr lang="en-US" sz="2000" b="0" dirty="0" smtClean="0"/>
              <a:t>(2 of 6)</a:t>
            </a:r>
            <a:endParaRPr lang="en-US" sz="2000" b="0" dirty="0"/>
          </a:p>
        </p:txBody>
      </p:sp>
      <p:pic>
        <p:nvPicPr>
          <p:cNvPr id="5" name="Picture 4" descr="The code continues. Line 24, indented once. forward slash forward slash test string member dash function empty. Line 25, indented once. c out left angle bracket left angle bracket double quote back slash n back slash n Testing s3 period empty left parenthesis right parenthesis colon double quote left angle bracket left angle bracket end l semicolon. Line 26. Blank. Line 27, indented once. if left parenthesis s 3 period empty left parenthesis right parenthesis right parenthesis. The words, s 3 period empty left parenthesis right parenthesis, in line 27 is highlighted. Line 28, indented once. left brace. Line 29, indented twice. c out left angle bracket left angle bracket double quote s 3 is empty semicolon assigning s 1 to s 3 semicolon double quote left angle bracket left angle bracket end l semicolon. Line 30, indented twice. s 3 equals s 1 semicolon forward slash forward slash assign s 1 to s 3. Line 31, indented twice. c out left angle bracket left angle bracket double quote s 3 is back slash double quote double quote left angle bracket left angle bracket s 3 left angle bracket left angle bracket double quote back slash double quote double quote semicolon. Line 32, indented once. right brace forward slash forward slash end if. Line 33. Blank. Line 34, indented once. forward slash forward slash test overloaded string concatenation operator. Line 35, indented once. c out left angle bracket left angle bracket double quote back slash n back slash n s 1 plus equals s 2 yields s 1 equals double quote semicolon. Line 36, indented once. s 1 plus equals s 2 semicolon forward slash forward slash test overloaded concatenation. Line 37, indented once. c out left angle bracket left angle bracket s 1 semicolon. Line 38. Blank. Line 39, indented once. forward slash forward slash test overloaded string concatenation operator with a C string. Line 40, indented once. c out left angle bracket left angle bracket double quote back slash n back slash n s 1 plus equals back slash double quote to you back slash double quote yields double quote left angle bracket left angle bracket end l semicolon. Line 41, indented once. s 1 plus equals double quote to you double quote semicolon. Lines 36 and 41 are highlighted. Line 42, indented once. c out left angle bracket left angle bracket double quote s 1 equals double quote left angle bracket left angle bracket s 1 left angle bracket left angle bracket double quote back slash n back slash n double quote semicolon. Line 43. Blank. Line 44, indented once. forward slash forward slash test string member function s u b s t r. Line 45, indented once. c out left angle bracket left angle bracket double quote The substring of s 1 starting at location 0 for back slash n double quote. Line 46, indented twice. left angle bracket left angle bracket double quote 14 characters comma s 1 period s u b s t r left parenthesis 0 comma 14 right parenthesis comma is colon back slash n double quote. Line 47, indented twice. left angle bracket left angle bracket s 1 period s u b s t r left parenthesis 0 comma 14 right parenthesis left angle bracket left angle bracket double quote back slash n back slash n double quote semicolon. The words, s 1 period s u b s t r left parenthesis 0 comma 14 right parenthesis, in line 47 is highlighted."/>
          <p:cNvPicPr>
            <a:picLocks noChangeAspect="1"/>
          </p:cNvPicPr>
          <p:nvPr/>
        </p:nvPicPr>
        <p:blipFill rotWithShape="1">
          <a:blip r:embed="rId2"/>
          <a:srcRect r="6725"/>
          <a:stretch/>
        </p:blipFill>
        <p:spPr>
          <a:xfrm>
            <a:off x="1297056" y="1515242"/>
            <a:ext cx="6549887" cy="4663320"/>
          </a:xfrm>
          <a:prstGeom prst="rect">
            <a:avLst/>
          </a:prstGeom>
        </p:spPr>
      </p:pic>
    </p:spTree>
    <p:extLst>
      <p:ext uri="{BB962C8B-B14F-4D97-AF65-F5344CB8AC3E}">
        <p14:creationId xmlns:p14="http://schemas.microsoft.com/office/powerpoint/2010/main" val="5631271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txBox="1">
            <a:spLocks noGrp="1"/>
          </p:cNvSpPr>
          <p:nvPr>
            <p:ph type="title"/>
          </p:nvPr>
        </p:nvSpPr>
        <p:spPr>
          <a:xfrm>
            <a:off x="457200" y="64323"/>
            <a:ext cx="8229600" cy="1231076"/>
          </a:xfrm>
        </p:spPr>
        <p:txBody>
          <a:bodyPr anchor="b">
            <a:spAutoFit/>
          </a:bodyPr>
          <a:lstStyle/>
          <a:p>
            <a:pPr eaLnBrk="1" hangingPunct="1">
              <a:spcBef>
                <a:spcPct val="0"/>
              </a:spcBef>
            </a:pPr>
            <a:r>
              <a:rPr lang="en-US" dirty="0" smtClean="0"/>
              <a:t>Figure 18.1 </a:t>
            </a:r>
            <a:r>
              <a:rPr lang="en-US" dirty="0"/>
              <a:t>Standard Library </a:t>
            </a:r>
            <a:r>
              <a:rPr lang="en-US" dirty="0" smtClean="0">
                <a:latin typeface="Consolas" panose="020B0609020204030204" pitchFamily="49" charset="0"/>
                <a:cs typeface="Consolas" panose="020B0609020204030204" pitchFamily="49" charset="0"/>
              </a:rPr>
              <a:t>string</a:t>
            </a:r>
            <a:r>
              <a:rPr lang="en-US" dirty="0" smtClean="0"/>
              <a:t> </a:t>
            </a:r>
            <a:r>
              <a:rPr lang="en-US" dirty="0"/>
              <a:t>Class Test Program </a:t>
            </a:r>
            <a:r>
              <a:rPr lang="en-US" sz="2000" b="0" dirty="0" smtClean="0"/>
              <a:t>(3 </a:t>
            </a:r>
            <a:r>
              <a:rPr lang="en-US" sz="2000" b="0" dirty="0"/>
              <a:t>of 6)</a:t>
            </a:r>
            <a:endParaRPr lang="en-US" altLang="en-US" sz="2000" b="0" dirty="0" smtClean="0">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4" name="Picture 3" descr="The code continues. Line 48. Blank. Line 49, indented once. forward slash forward slash test s u b s t r double quote to dash end dash of dash string double quote option. Line 50, indented once. c out left angle bracket left angle bracket double quote The substring of s 1 starting at back slash n double quote. Line 51, indented twice. left angle bracket left angle bracket double quote location 15 comma s 1 period s u b s t r left parenthesis 15 right parenthesis comma is colon back slash n double quote. Line 52, indented twice. left angle bracket left angle bracket s 1 period s u b s t r left parenthesis 15 right parenthesis left angle bracket left angle bracket end l semicolon. Line 53. Blank. Line 54, indented once. forward slash forward slash test copy constructor. Line 55, indented once. string s 4 left parenthesis s 1 right parenthesis semicolon. Line 56, indented once. c out left angle bracket left angle bracket double quote back slash n s 4 equals double quote left angle bracket left angle bracket s 4 left angle bracket left angle bracket double quote back slash n back slash n double quote semicolon. Line 57. Blank. Line 58, indented once. forward slash forward slash test overloaded copy assignment left parenthesis equals right parenthesis operator with self dash assignment. Line 59, indented once. c out left angle bracket left angle bracket double quote assigning s 4 to s 4 double quote left angle bracket left angle bracket end l semicolon. Line 60, indented once. s 4 equals s 4 semicolon. Line 61, indented once. c out left angle bracket left angle bracket double quote s 4 equals double quote left angle bracket left angle bracket s 4 left angle bracket left angle bracket end l semicolon. Line 62. Blank. Line 63, indented once. forward slash forward slash test using overloaded subscript operator to create l value. Line 64, indented once. s 1 left bracket 0 right bracket equals single quote H single quote semicolon. Line 65, indented once. s 1 left bracket 6 right bracket equals single quote B single quote semicolon. Lines 64 and 65 are highlighted. Line 66, indented once. c out left angle bracket left angle bracket double quote back slash n s 1 after s 1 left bracket 0 right bracket equals H single quote and s 1 left bracket 6 right bracket equals single quote B single quote is colon double quote. Line 67, indented once. left angle bracket left angle bracket s 1 left angle bracket left angle bracket double quote back slash n back slash n double quote semicolon. Line 68. Blank."/>
          <p:cNvPicPr>
            <a:picLocks noChangeAspect="1"/>
          </p:cNvPicPr>
          <p:nvPr/>
        </p:nvPicPr>
        <p:blipFill>
          <a:blip r:embed="rId2"/>
          <a:stretch>
            <a:fillRect/>
          </a:stretch>
        </p:blipFill>
        <p:spPr>
          <a:xfrm>
            <a:off x="592562" y="1636981"/>
            <a:ext cx="7958875" cy="4506914"/>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txBox="1">
            <a:spLocks noGrp="1"/>
          </p:cNvSpPr>
          <p:nvPr>
            <p:ph type="title"/>
          </p:nvPr>
        </p:nvSpPr>
        <p:spPr>
          <a:xfrm>
            <a:off x="457200" y="64323"/>
            <a:ext cx="8229600" cy="1231076"/>
          </a:xfrm>
        </p:spPr>
        <p:txBody>
          <a:bodyPr anchor="b">
            <a:spAutoFit/>
          </a:bodyPr>
          <a:lstStyle/>
          <a:p>
            <a:pPr eaLnBrk="1" hangingPunct="1">
              <a:spcBef>
                <a:spcPct val="0"/>
              </a:spcBef>
            </a:pPr>
            <a:r>
              <a:rPr lang="en-US" dirty="0" smtClean="0"/>
              <a:t>Figure 18.1 </a:t>
            </a:r>
            <a:r>
              <a:rPr lang="en-US" dirty="0"/>
              <a:t>Standard Library </a:t>
            </a:r>
            <a:r>
              <a:rPr lang="en-US" dirty="0" smtClean="0">
                <a:latin typeface="Consolas" panose="020B0609020204030204" pitchFamily="49" charset="0"/>
                <a:cs typeface="Consolas" panose="020B0609020204030204" pitchFamily="49" charset="0"/>
              </a:rPr>
              <a:t>string</a:t>
            </a:r>
            <a:r>
              <a:rPr lang="en-US" dirty="0" smtClean="0"/>
              <a:t> </a:t>
            </a:r>
            <a:r>
              <a:rPr lang="en-US" dirty="0"/>
              <a:t>Class Test Program </a:t>
            </a:r>
            <a:r>
              <a:rPr lang="en-US" sz="2000" b="0" dirty="0" smtClean="0"/>
              <a:t>(4 </a:t>
            </a:r>
            <a:r>
              <a:rPr lang="en-US" sz="2000" b="0" dirty="0"/>
              <a:t>of 6)</a:t>
            </a:r>
            <a:endParaRPr lang="en-US" altLang="en-US" sz="2000" b="0" dirty="0" smtClean="0">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5" name="Picture 4" descr="The code continues. Line 69, indented once. forward slash forward slash test subscript out of range with string member function double quote at double quote. Line 70, indented once. try. Line 71, indented once. left brace. Line 72, indented twice. c out left angle bracket left angle bracket double quote Attempt to assign 'd' to s 1 period at left parenthesis 30 right parenthesis yields colon double quote left angle bracket left angle bracket end l semicolon. Line 73, indented twice. s 1 period at left parenthesis 30 right parenthesis equals 'd' semicolon forward slash forward slash ERROR colon subscript out of range. Line 74, indented once. right brace forward slash forward slash end try. Line 75, indented once. catch left parenthesis out underscore of underscore range ampersand ex right parenthesis. Line 76, indented once. left brace. Line 77, indented twice. c out left angle bracket left angle bracket double quote An exception occurred colon double quote left angle bracket left angle bracket ex period what left parenthesis right parenthesis left angle bracket left angle bracket end l semicolon. Line 78, indented once. right brace forward slash forward slash end catch. Line 79. right brace forward slash forward slash end main. The code output has 27 lines. The lines read as follows. Line 1. s 1 is double quote happy double quote semicolon s 2 is double quote birthday double quote semicolon s 3 is double quote double quote. Line 2. The results of comparing s 2 and s 1 colon. Line 3. s 2 equals equals s 1 yields false. Line 4. s 2 exclamation point equals s 1 yields true. Line 5. s 2 greater than sign s 1 yields false. Line 6. s 2 less than sign s 1 yields true. "/>
          <p:cNvPicPr>
            <a:picLocks noChangeAspect="1"/>
          </p:cNvPicPr>
          <p:nvPr/>
        </p:nvPicPr>
        <p:blipFill>
          <a:blip r:embed="rId2"/>
          <a:stretch>
            <a:fillRect/>
          </a:stretch>
        </p:blipFill>
        <p:spPr>
          <a:xfrm>
            <a:off x="557083" y="1581918"/>
            <a:ext cx="8029834" cy="4367932"/>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txBox="1">
            <a:spLocks noGrp="1"/>
          </p:cNvSpPr>
          <p:nvPr>
            <p:ph type="title"/>
          </p:nvPr>
        </p:nvSpPr>
        <p:spPr>
          <a:xfrm>
            <a:off x="457200" y="64323"/>
            <a:ext cx="8229600" cy="1231076"/>
          </a:xfrm>
        </p:spPr>
        <p:txBody>
          <a:bodyPr anchor="b">
            <a:spAutoFit/>
          </a:bodyPr>
          <a:lstStyle/>
          <a:p>
            <a:pPr eaLnBrk="1" hangingPunct="1">
              <a:spcBef>
                <a:spcPct val="0"/>
              </a:spcBef>
            </a:pPr>
            <a:r>
              <a:rPr lang="en-US" dirty="0" smtClean="0"/>
              <a:t>Figure 18.1 </a:t>
            </a:r>
            <a:r>
              <a:rPr lang="en-US" dirty="0"/>
              <a:t>Standard Library </a:t>
            </a:r>
            <a:r>
              <a:rPr lang="en-US" dirty="0" smtClean="0">
                <a:latin typeface="Consolas" panose="020B0609020204030204" pitchFamily="49" charset="0"/>
                <a:cs typeface="Consolas" panose="020B0609020204030204" pitchFamily="49" charset="0"/>
              </a:rPr>
              <a:t>string</a:t>
            </a:r>
            <a:r>
              <a:rPr lang="en-US" dirty="0" smtClean="0"/>
              <a:t> </a:t>
            </a:r>
            <a:r>
              <a:rPr lang="en-US" dirty="0"/>
              <a:t>Class Test Program </a:t>
            </a:r>
            <a:r>
              <a:rPr lang="en-US" sz="2000" b="0" dirty="0" smtClean="0"/>
              <a:t>(5 </a:t>
            </a:r>
            <a:r>
              <a:rPr lang="en-US" sz="2000" b="0" dirty="0"/>
              <a:t>of 6)</a:t>
            </a:r>
            <a:endParaRPr lang="en-US" altLang="en-US" sz="2000" b="0" dirty="0" smtClean="0">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4" name="Picture 3" descr="The code continues. Line 7. a r g u s 2. Line 8. greater than sign equals s 1 yields false. Line 9. s 2 less than sign equals s 1 yields true. Line 10. Testing s 3 period empty left parenthesis right parenthesis colon. Line 11. s 3 is empty semicolon assigning s 1 to s 3 semicolon. Line 12. s 3 is double quote happy double quote. Line 13. s 1 plus equals s 2 yields s 1 equals happy birthday. Line 14. s 1 plus equals double quote to you double quote yields. Line 15. s 1 equals happy birthday to you. Line 16. The substring of s 1 starting at location 0 for. Line 17. 14 characters comma s1 period s u b s t r left parenthesis 0 comma 14 right parenthesis comma is colon. Line 18. happy birthday. Line 19. The substring of s 1 starting at. Line 20. location 15 comma s 1 period s u b s t r left parenthesis 15 right parenthesis comma is colon. Line 21. to you. "/>
          <p:cNvPicPr>
            <a:picLocks noChangeAspect="1"/>
          </p:cNvPicPr>
          <p:nvPr/>
        </p:nvPicPr>
        <p:blipFill>
          <a:blip r:embed="rId2"/>
          <a:stretch>
            <a:fillRect/>
          </a:stretch>
        </p:blipFill>
        <p:spPr>
          <a:xfrm>
            <a:off x="427348" y="1669551"/>
            <a:ext cx="8259452" cy="4155896"/>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txBox="1">
            <a:spLocks noGrp="1"/>
          </p:cNvSpPr>
          <p:nvPr>
            <p:ph type="title"/>
          </p:nvPr>
        </p:nvSpPr>
        <p:spPr>
          <a:xfrm>
            <a:off x="457200" y="64323"/>
            <a:ext cx="8229600" cy="1231076"/>
          </a:xfrm>
        </p:spPr>
        <p:txBody>
          <a:bodyPr anchor="b">
            <a:spAutoFit/>
          </a:bodyPr>
          <a:lstStyle/>
          <a:p>
            <a:pPr eaLnBrk="1" hangingPunct="1">
              <a:spcBef>
                <a:spcPct val="0"/>
              </a:spcBef>
            </a:pPr>
            <a:r>
              <a:rPr lang="en-US" dirty="0" smtClean="0"/>
              <a:t>Figure 18.1 </a:t>
            </a:r>
            <a:r>
              <a:rPr lang="en-US" dirty="0"/>
              <a:t>Standard Library </a:t>
            </a:r>
            <a:r>
              <a:rPr lang="en-US" dirty="0" smtClean="0">
                <a:latin typeface="Consolas" panose="020B0609020204030204" pitchFamily="49" charset="0"/>
                <a:cs typeface="Consolas" panose="020B0609020204030204" pitchFamily="49" charset="0"/>
              </a:rPr>
              <a:t>string</a:t>
            </a:r>
            <a:r>
              <a:rPr lang="en-US" dirty="0" smtClean="0"/>
              <a:t> </a:t>
            </a:r>
            <a:r>
              <a:rPr lang="en-US" dirty="0"/>
              <a:t>Class Test Program </a:t>
            </a:r>
            <a:r>
              <a:rPr lang="en-US" sz="2000" b="0" dirty="0" smtClean="0"/>
              <a:t>(6 </a:t>
            </a:r>
            <a:r>
              <a:rPr lang="en-US" sz="2000" b="0" dirty="0"/>
              <a:t>of 6)</a:t>
            </a:r>
            <a:endParaRPr lang="en-US" altLang="en-US" sz="2000" b="0" dirty="0" smtClean="0">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4" name="Picture 3" descr="The code continues. Line 22. s 4 equals happy birthday to you. Line 23. assigning s 4 to s 4. Line 24. s 4 equals happy birthday to you. Line 25. s 1 after s 1 left bracket 0 right bracket equals 'H' and s 1 left bracket 6 right bracket equals single quote B single quote is colon Happy Birthday to you. Line 26. Attempt to assign single quote d single quote to s 1 period at left parenthesis 30 right parenthesis yields colon. Line 27. An exception occurred colon invalid string position."/>
          <p:cNvPicPr>
            <a:picLocks noChangeAspect="1"/>
          </p:cNvPicPr>
          <p:nvPr/>
        </p:nvPicPr>
        <p:blipFill>
          <a:blip r:embed="rId2"/>
          <a:stretch>
            <a:fillRect/>
          </a:stretch>
        </p:blipFill>
        <p:spPr>
          <a:xfrm>
            <a:off x="516962" y="2303457"/>
            <a:ext cx="8110076" cy="2251086"/>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sz="3200" kern="1200" dirty="0" smtClean="0">
                <a:latin typeface="Times New Roman" panose="02020603050405020304" pitchFamily="18" charset="0"/>
              </a:rPr>
              <a:t>18.2 </a:t>
            </a:r>
            <a:r>
              <a:rPr lang="en-US" altLang="en-US" sz="3200" kern="1200" dirty="0">
                <a:latin typeface="Times New Roman" panose="02020603050405020304" pitchFamily="18" charset="0"/>
              </a:rPr>
              <a:t>Using the Overloaded Operators of Standard Library Class </a:t>
            </a:r>
            <a:r>
              <a:rPr lang="en-US" altLang="en-US" sz="3200" kern="1200" dirty="0" smtClean="0">
                <a:latin typeface="Consolas" panose="020B0609020204030204" pitchFamily="49" charset="0"/>
                <a:cs typeface="Consolas" panose="020B0609020204030204" pitchFamily="49" charset="0"/>
              </a:rPr>
              <a:t>string</a:t>
            </a:r>
            <a:r>
              <a:rPr lang="en-US" altLang="en-US" sz="3200" kern="1200" dirty="0" smtClean="0">
                <a:latin typeface="Times New Roman" panose="02020603050405020304" pitchFamily="18" charset="0"/>
              </a:rPr>
              <a:t> </a:t>
            </a:r>
            <a:r>
              <a:rPr lang="en-US" altLang="en-US" sz="2000" b="0" kern="1200" dirty="0" smtClean="0">
                <a:latin typeface="Times New Roman" panose="02020603050405020304" pitchFamily="18" charset="0"/>
              </a:rPr>
              <a:t>(2 </a:t>
            </a:r>
            <a:r>
              <a:rPr lang="en-US" altLang="en-US" sz="2000" b="0" kern="1200" dirty="0">
                <a:latin typeface="Times New Roman" panose="02020603050405020304" pitchFamily="18" charset="0"/>
              </a:rPr>
              <a:t>of </a:t>
            </a:r>
            <a:r>
              <a:rPr lang="en-US" altLang="en-US" sz="2000" b="0" kern="1200" dirty="0" smtClean="0">
                <a:latin typeface="Times New Roman" panose="02020603050405020304" pitchFamily="18" charset="0"/>
              </a:rPr>
              <a:t>4)</a:t>
            </a:r>
            <a:endParaRPr lang="en-US" altLang="en-US" sz="2400" b="0" kern="1200" dirty="0">
              <a:latin typeface="Times New Roman" panose="02020603050405020304" pitchFamily="18" charset="0"/>
              <a:ea typeface="+mj-ea"/>
              <a:cs typeface="+mj-cs"/>
            </a:endParaRPr>
          </a:p>
        </p:txBody>
      </p:sp>
      <p:sp>
        <p:nvSpPr>
          <p:cNvPr id="4" name="Text Placeholder 3"/>
          <p:cNvSpPr>
            <a:spLocks noGrp="1"/>
          </p:cNvSpPr>
          <p:nvPr>
            <p:ph type="body" idx="1"/>
          </p:nvPr>
        </p:nvSpPr>
        <p:spPr>
          <a:xfrm>
            <a:off x="457200" y="1600200"/>
            <a:ext cx="8229600" cy="3011629"/>
          </a:xfrm>
        </p:spPr>
        <p:txBody>
          <a:bodyPr/>
          <a:lstStyle/>
          <a:p>
            <a:pPr marL="255651" indent="-255651" eaLnBrk="1" hangingPunct="1">
              <a:tabLst/>
              <a:defRPr/>
            </a:pPr>
            <a:r>
              <a:rPr lang="en-US" altLang="en-US" sz="2000" kern="1200" dirty="0">
                <a:solidFill>
                  <a:srgbClr val="000000"/>
                </a:solidFill>
                <a:latin typeface="Arial (Body)"/>
              </a:rPr>
              <a:t>Class </a:t>
            </a:r>
            <a:r>
              <a:rPr lang="en-US" altLang="en-US" sz="2000" kern="1200" dirty="0">
                <a:solidFill>
                  <a:srgbClr val="000000"/>
                </a:solidFill>
                <a:latin typeface="Consolas" panose="020B0609020204030204" pitchFamily="49" charset="0"/>
                <a:cs typeface="Consolas" panose="020B0609020204030204" pitchFamily="49" charset="0"/>
              </a:rPr>
              <a:t>string</a:t>
            </a:r>
            <a:r>
              <a:rPr lang="en-US" altLang="en-US" sz="2000" kern="1200" dirty="0">
                <a:solidFill>
                  <a:srgbClr val="000000"/>
                </a:solidFill>
                <a:latin typeface="Arial (Body)"/>
              </a:rPr>
              <a:t>’s overloaded equality and relational operators perform lexicographical comparisons (i.e., like a dictionary ordering) using the numerical values of the characters (see Appendix B, ASCII Character Set) in each </a:t>
            </a:r>
            <a:r>
              <a:rPr lang="en-US" altLang="en-US" sz="2000" kern="1200" dirty="0">
                <a:solidFill>
                  <a:srgbClr val="000000"/>
                </a:solidFill>
                <a:latin typeface="Consolas" panose="020B0609020204030204" pitchFamily="49" charset="0"/>
                <a:cs typeface="Consolas" panose="020B0609020204030204" pitchFamily="49" charset="0"/>
              </a:rPr>
              <a:t>string</a:t>
            </a:r>
            <a:r>
              <a:rPr lang="en-US" altLang="en-US" sz="2000" kern="1200" dirty="0">
                <a:solidFill>
                  <a:srgbClr val="000000"/>
                </a:solidFill>
                <a:latin typeface="Arial (Body)"/>
              </a:rPr>
              <a:t>.</a:t>
            </a:r>
          </a:p>
          <a:p>
            <a:pPr marL="255651" indent="-255651" eaLnBrk="1" hangingPunct="1">
              <a:tabLst/>
              <a:defRPr/>
            </a:pPr>
            <a:r>
              <a:rPr lang="en-US" altLang="en-US" sz="2000" kern="1200" dirty="0">
                <a:solidFill>
                  <a:srgbClr val="000000"/>
                </a:solidFill>
                <a:latin typeface="Arial (Body)"/>
              </a:rPr>
              <a:t>Class </a:t>
            </a:r>
            <a:r>
              <a:rPr lang="en-US" altLang="en-US" sz="2000" kern="1200" dirty="0">
                <a:solidFill>
                  <a:srgbClr val="000000"/>
                </a:solidFill>
                <a:latin typeface="Consolas" panose="020B0609020204030204" pitchFamily="49" charset="0"/>
              </a:rPr>
              <a:t>string</a:t>
            </a:r>
            <a:r>
              <a:rPr lang="en-US" altLang="en-US" sz="2000" kern="1200" dirty="0">
                <a:solidFill>
                  <a:srgbClr val="000000"/>
                </a:solidFill>
                <a:latin typeface="Arial (Body)"/>
              </a:rPr>
              <a:t> provides member function </a:t>
            </a:r>
            <a:r>
              <a:rPr lang="en-US" altLang="en-US" sz="2000" b="1" kern="1200" dirty="0">
                <a:solidFill>
                  <a:srgbClr val="000000"/>
                </a:solidFill>
                <a:latin typeface="+mn-lt"/>
              </a:rPr>
              <a:t>empty</a:t>
            </a:r>
            <a:r>
              <a:rPr lang="en-US" altLang="en-US" sz="2000" kern="1200" dirty="0">
                <a:solidFill>
                  <a:srgbClr val="000000"/>
                </a:solidFill>
                <a:latin typeface="Arial (Body)"/>
              </a:rPr>
              <a:t> to determine whether a </a:t>
            </a:r>
            <a:r>
              <a:rPr lang="en-US" altLang="en-US" sz="2000" kern="1200" dirty="0">
                <a:solidFill>
                  <a:srgbClr val="000000"/>
                </a:solidFill>
                <a:latin typeface="Consolas" panose="020B0609020204030204" pitchFamily="49" charset="0"/>
                <a:cs typeface="Consolas" panose="020B0609020204030204" pitchFamily="49" charset="0"/>
              </a:rPr>
              <a:t>string</a:t>
            </a:r>
            <a:r>
              <a:rPr lang="en-US" altLang="en-US" sz="2000" kern="1200" dirty="0">
                <a:solidFill>
                  <a:srgbClr val="000000"/>
                </a:solidFill>
                <a:latin typeface="Arial (Body)"/>
              </a:rPr>
              <a:t> is empty, which we demonstrate in line 27.</a:t>
            </a:r>
          </a:p>
          <a:p>
            <a:pPr marL="741553" lvl="1" indent="-284353" eaLnBrk="1" hangingPunct="1">
              <a:buFont typeface="Arial" panose="020B0604020202020204" pitchFamily="34" charset="0"/>
              <a:buChar char="–"/>
              <a:defRPr/>
            </a:pPr>
            <a:r>
              <a:rPr lang="en-US" altLang="en-US" sz="2000" kern="1200" dirty="0">
                <a:solidFill>
                  <a:srgbClr val="000000"/>
                </a:solidFill>
                <a:latin typeface="Arial (Body)"/>
              </a:rPr>
              <a:t>Returns </a:t>
            </a:r>
            <a:r>
              <a:rPr lang="en-US" altLang="en-US" sz="2000" kern="1200" dirty="0">
                <a:solidFill>
                  <a:srgbClr val="000000"/>
                </a:solidFill>
                <a:latin typeface="Consolas" panose="020B0609020204030204" pitchFamily="49" charset="0"/>
              </a:rPr>
              <a:t>true</a:t>
            </a:r>
            <a:r>
              <a:rPr lang="en-US" altLang="en-US" sz="2000" kern="1200" dirty="0">
                <a:solidFill>
                  <a:srgbClr val="000000"/>
                </a:solidFill>
                <a:latin typeface="Arial (Body)"/>
              </a:rPr>
              <a:t> if the </a:t>
            </a:r>
            <a:r>
              <a:rPr lang="en-US" altLang="en-US" sz="2000" kern="1200" dirty="0">
                <a:solidFill>
                  <a:srgbClr val="000000"/>
                </a:solidFill>
                <a:latin typeface="Consolas" panose="020B0609020204030204" pitchFamily="49" charset="0"/>
              </a:rPr>
              <a:t>string</a:t>
            </a:r>
            <a:r>
              <a:rPr lang="en-US" altLang="en-US" sz="2000" kern="1200" dirty="0">
                <a:solidFill>
                  <a:srgbClr val="000000"/>
                </a:solidFill>
                <a:latin typeface="Arial (Body)"/>
              </a:rPr>
              <a:t> is empty; otherwise, it returns </a:t>
            </a:r>
            <a:r>
              <a:rPr lang="en-US" altLang="en-US" sz="2000" kern="1200" dirty="0">
                <a:solidFill>
                  <a:srgbClr val="000000"/>
                </a:solidFill>
                <a:latin typeface="Consolas" panose="020B0609020204030204" pitchFamily="49" charset="0"/>
              </a:rPr>
              <a:t>false</a:t>
            </a:r>
            <a:r>
              <a:rPr lang="en-US" altLang="en-US" sz="2000" kern="1200" dirty="0">
                <a:solidFill>
                  <a:srgbClr val="000000"/>
                </a:solidFill>
                <a:latin typeface="Arial (Body)"/>
              </a:rPr>
              <a:t>.</a:t>
            </a:r>
          </a:p>
          <a:p>
            <a:pPr eaLnBrk="1" hangingPunct="1">
              <a:defRPr/>
            </a:pPr>
            <a:r>
              <a:rPr lang="en-US" altLang="en-US" sz="2000" kern="1200" dirty="0">
                <a:solidFill>
                  <a:srgbClr val="000000"/>
                </a:solidFill>
                <a:latin typeface="Arial (Body)"/>
              </a:rPr>
              <a:t>Line 36 demonstrates class </a:t>
            </a:r>
            <a:r>
              <a:rPr lang="en-US" altLang="en-US" sz="2000" dirty="0">
                <a:solidFill>
                  <a:srgbClr val="000000"/>
                </a:solidFill>
                <a:latin typeface="Consolas" panose="020B0609020204030204" pitchFamily="49" charset="0"/>
              </a:rPr>
              <a:t>string</a:t>
            </a:r>
            <a:r>
              <a:rPr lang="en-US" altLang="en-US" sz="2000" dirty="0">
                <a:solidFill>
                  <a:srgbClr val="000000"/>
                </a:solidFill>
                <a:latin typeface="+mn-lt"/>
              </a:rPr>
              <a:t>’s</a:t>
            </a:r>
            <a:r>
              <a:rPr lang="en-US" altLang="en-US" sz="2000" dirty="0">
                <a:solidFill>
                  <a:srgbClr val="000000"/>
                </a:solidFill>
                <a:latin typeface="Cambria" panose="02040503050406030204" pitchFamily="18" charset="0"/>
              </a:rPr>
              <a:t> </a:t>
            </a:r>
            <a:r>
              <a:rPr lang="en-US" altLang="en-US" sz="2000" kern="1200" dirty="0">
                <a:solidFill>
                  <a:srgbClr val="000000"/>
                </a:solidFill>
                <a:latin typeface="Arial (Body)"/>
              </a:rPr>
              <a:t>overloaded</a:t>
            </a:r>
            <a:endParaRPr lang="en-US" dirty="0"/>
          </a:p>
        </p:txBody>
      </p:sp>
      <p:graphicFrame>
        <p:nvGraphicFramePr>
          <p:cNvPr id="7" name="Object 6" descr="Plus equals."/>
          <p:cNvGraphicFramePr>
            <a:graphicFrameLocks noChangeAspect="1"/>
          </p:cNvGraphicFramePr>
          <p:nvPr>
            <p:extLst>
              <p:ext uri="{D42A27DB-BD31-4B8C-83A1-F6EECF244321}">
                <p14:modId xmlns:p14="http://schemas.microsoft.com/office/powerpoint/2010/main" val="3495687289"/>
              </p:ext>
            </p:extLst>
          </p:nvPr>
        </p:nvGraphicFramePr>
        <p:xfrm>
          <a:off x="6311333" y="4314361"/>
          <a:ext cx="479188" cy="276455"/>
        </p:xfrm>
        <a:graphic>
          <a:graphicData uri="http://schemas.openxmlformats.org/presentationml/2006/ole">
            <mc:AlternateContent xmlns:mc="http://schemas.openxmlformats.org/markup-compatibility/2006">
              <mc:Choice xmlns:v="urn:schemas-microsoft-com:vml" Requires="v">
                <p:oleObj spid="_x0000_s28022" name="Equation" r:id="rId3" imgW="241200" imgH="139680" progId="Equation.DSMT4">
                  <p:embed/>
                </p:oleObj>
              </mc:Choice>
              <mc:Fallback>
                <p:oleObj name="Equation" r:id="rId3" imgW="241200" imgH="139680" progId="Equation.DSMT4">
                  <p:embed/>
                  <p:pic>
                    <p:nvPicPr>
                      <p:cNvPr id="0" name=""/>
                      <p:cNvPicPr/>
                      <p:nvPr/>
                    </p:nvPicPr>
                    <p:blipFill>
                      <a:blip r:embed="rId4"/>
                      <a:stretch>
                        <a:fillRect/>
                      </a:stretch>
                    </p:blipFill>
                    <p:spPr>
                      <a:xfrm>
                        <a:off x="6311333" y="4314361"/>
                        <a:ext cx="479188" cy="276455"/>
                      </a:xfrm>
                      <a:prstGeom prst="rect">
                        <a:avLst/>
                      </a:prstGeom>
                    </p:spPr>
                  </p:pic>
                </p:oleObj>
              </mc:Fallback>
            </mc:AlternateContent>
          </a:graphicData>
        </a:graphic>
      </p:graphicFrame>
      <p:sp>
        <p:nvSpPr>
          <p:cNvPr id="5" name="Content Placeholder 4"/>
          <p:cNvSpPr>
            <a:spLocks noGrp="1"/>
          </p:cNvSpPr>
          <p:nvPr>
            <p:ph sz="quarter" idx="13"/>
          </p:nvPr>
        </p:nvSpPr>
        <p:spPr>
          <a:xfrm>
            <a:off x="457200" y="4200484"/>
            <a:ext cx="8229600" cy="1395098"/>
          </a:xfrm>
        </p:spPr>
        <p:txBody>
          <a:bodyPr/>
          <a:lstStyle/>
          <a:p>
            <a:pPr marL="231775" indent="6059488" eaLnBrk="1" hangingPunct="1">
              <a:tabLst>
                <a:tab pos="6113463" algn="l"/>
              </a:tabLst>
              <a:defRPr/>
            </a:pPr>
            <a:r>
              <a:rPr lang="en-US" altLang="en-US" sz="2000" kern="1200" dirty="0">
                <a:latin typeface="Arial (Body)"/>
              </a:rPr>
              <a:t>operator for string concatenation.</a:t>
            </a:r>
          </a:p>
          <a:p>
            <a:pPr marL="740664" lvl="1" eaLnBrk="1" hangingPunct="1">
              <a:spcBef>
                <a:spcPts val="600"/>
              </a:spcBef>
              <a:buClr>
                <a:schemeClr val="tx2"/>
              </a:buClr>
              <a:buFontTx/>
              <a:buChar char="–"/>
              <a:defRPr/>
            </a:pPr>
            <a:r>
              <a:rPr lang="en-US" altLang="en-US" sz="2000" kern="1200" dirty="0">
                <a:latin typeface="Arial (Body)"/>
              </a:rPr>
              <a:t>Line 41 demonstrates that a string literal can be appended to a </a:t>
            </a:r>
            <a:r>
              <a:rPr lang="en-US" altLang="en-US" sz="2000" dirty="0">
                <a:latin typeface="Consolas" panose="020B0609020204030204" pitchFamily="49" charset="0"/>
              </a:rPr>
              <a:t>string</a:t>
            </a:r>
            <a:r>
              <a:rPr lang="en-US" altLang="en-US" sz="2000" kern="1200" dirty="0">
                <a:latin typeface="Arial (Body)"/>
              </a:rPr>
              <a:t> object by using operator</a:t>
            </a:r>
            <a:endParaRPr lang="en-US" dirty="0"/>
          </a:p>
        </p:txBody>
      </p:sp>
      <p:graphicFrame>
        <p:nvGraphicFramePr>
          <p:cNvPr id="8" name="Object 7" descr="Plus equals."/>
          <p:cNvGraphicFramePr>
            <a:graphicFrameLocks noChangeAspect="1"/>
          </p:cNvGraphicFramePr>
          <p:nvPr>
            <p:extLst>
              <p:ext uri="{D42A27DB-BD31-4B8C-83A1-F6EECF244321}">
                <p14:modId xmlns:p14="http://schemas.microsoft.com/office/powerpoint/2010/main" val="3700198400"/>
              </p:ext>
            </p:extLst>
          </p:nvPr>
        </p:nvGraphicFramePr>
        <p:xfrm>
          <a:off x="4924292" y="5310088"/>
          <a:ext cx="605607" cy="277572"/>
        </p:xfrm>
        <a:graphic>
          <a:graphicData uri="http://schemas.openxmlformats.org/presentationml/2006/ole">
            <mc:AlternateContent xmlns:mc="http://schemas.openxmlformats.org/markup-compatibility/2006">
              <mc:Choice xmlns:v="urn:schemas-microsoft-com:vml" Requires="v">
                <p:oleObj spid="_x0000_s28023" name="Equation" r:id="rId5" imgW="304560" imgH="139680" progId="Equation.DSMT4">
                  <p:embed/>
                </p:oleObj>
              </mc:Choice>
              <mc:Fallback>
                <p:oleObj name="Equation" r:id="rId5" imgW="304560" imgH="139680" progId="Equation.DSMT4">
                  <p:embed/>
                  <p:pic>
                    <p:nvPicPr>
                      <p:cNvPr id="0" name=""/>
                      <p:cNvPicPr/>
                      <p:nvPr/>
                    </p:nvPicPr>
                    <p:blipFill>
                      <a:blip r:embed="rId6"/>
                      <a:stretch>
                        <a:fillRect/>
                      </a:stretch>
                    </p:blipFill>
                    <p:spPr>
                      <a:xfrm>
                        <a:off x="4924292" y="5310088"/>
                        <a:ext cx="605607" cy="277572"/>
                      </a:xfrm>
                      <a:prstGeom prst="rect">
                        <a:avLst/>
                      </a:prstGeom>
                    </p:spPr>
                  </p:pic>
                </p:oleObj>
              </mc:Fallback>
            </mc:AlternateContent>
          </a:graphicData>
        </a:graphic>
      </p:graphicFrame>
      <p:sp>
        <p:nvSpPr>
          <p:cNvPr id="6" name="Content Placeholder 5"/>
          <p:cNvSpPr>
            <a:spLocks noGrp="1"/>
          </p:cNvSpPr>
          <p:nvPr>
            <p:ph sz="quarter" idx="14"/>
          </p:nvPr>
        </p:nvSpPr>
        <p:spPr>
          <a:xfrm>
            <a:off x="5438323" y="5183886"/>
            <a:ext cx="3340053" cy="609600"/>
          </a:xfrm>
        </p:spPr>
        <p:txBody>
          <a:bodyPr/>
          <a:lstStyle/>
          <a:p>
            <a:pPr lvl="1" eaLnBrk="1" hangingPunct="1">
              <a:defRPr/>
            </a:pPr>
            <a:r>
              <a:rPr lang="en-US" altLang="en-US" sz="2000" kern="1200" dirty="0">
                <a:latin typeface="Arial (Body)"/>
              </a:rPr>
              <a:t>Line 42 displays the result.</a:t>
            </a:r>
          </a:p>
        </p:txBody>
      </p:sp>
    </p:spTree>
    <p:extLst>
      <p:ext uri="{BB962C8B-B14F-4D97-AF65-F5344CB8AC3E}">
        <p14:creationId xmlns:p14="http://schemas.microsoft.com/office/powerpoint/2010/main" val="36050627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129"/>
            <a:ext cx="8229600" cy="1169521"/>
          </a:xfrm>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18.2 Using the Overloaded Operators of Standard Library Class </a:t>
            </a:r>
            <a:r>
              <a:rPr lang="en-US" altLang="en-US" sz="3200" kern="1200" dirty="0" smtClean="0">
                <a:latin typeface="Consolas" panose="020B0609020204030204" pitchFamily="49" charset="0"/>
                <a:ea typeface="+mj-ea"/>
                <a:cs typeface="Consolas" panose="020B0609020204030204" pitchFamily="49" charset="0"/>
              </a:rPr>
              <a:t>string</a:t>
            </a:r>
            <a:r>
              <a:rPr lang="en-US" altLang="en-US" sz="3200" kern="1200" dirty="0" smtClean="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(3 of 4)</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285758"/>
          </a:xfrm>
        </p:spPr>
        <p:txBody>
          <a:bodyPr wrap="square">
            <a:spAutoFit/>
          </a:bodyPr>
          <a:lstStyle/>
          <a:p>
            <a:pPr marL="255651" indent="-255651" eaLnBrk="1" hangingPunct="1">
              <a:tabLst/>
              <a:defRPr/>
            </a:pPr>
            <a:r>
              <a:rPr lang="en-US" altLang="en-US" sz="1800" kern="1200" dirty="0">
                <a:solidFill>
                  <a:srgbClr val="000000"/>
                </a:solidFill>
                <a:latin typeface="Arial (Body)"/>
                <a:ea typeface="+mn-ea"/>
                <a:cs typeface="+mn-cs"/>
              </a:rPr>
              <a:t>Class </a:t>
            </a:r>
            <a:r>
              <a:rPr lang="en-US" altLang="en-US" sz="1800" kern="1200" dirty="0">
                <a:solidFill>
                  <a:srgbClr val="000000"/>
                </a:solidFill>
                <a:latin typeface="Consolas" panose="020B0609020204030204" pitchFamily="49" charset="0"/>
                <a:ea typeface="+mn-ea"/>
                <a:cs typeface="Consolas" panose="020B0609020204030204" pitchFamily="49" charset="0"/>
              </a:rPr>
              <a:t>string</a:t>
            </a:r>
            <a:r>
              <a:rPr lang="en-US" altLang="en-US" sz="1800" kern="1200" dirty="0">
                <a:solidFill>
                  <a:srgbClr val="000000"/>
                </a:solidFill>
                <a:latin typeface="Arial (Body)"/>
                <a:ea typeface="+mn-ea"/>
                <a:cs typeface="+mn-cs"/>
              </a:rPr>
              <a:t> provides member function </a:t>
            </a:r>
            <a:r>
              <a:rPr lang="en-US" altLang="en-US" sz="1800" b="1" kern="1200" dirty="0" smtClean="0">
                <a:solidFill>
                  <a:srgbClr val="000000"/>
                </a:solidFill>
                <a:latin typeface="Consolas" panose="020B0609020204030204" pitchFamily="49" charset="0"/>
                <a:ea typeface="+mn-ea"/>
                <a:cs typeface="Consolas" panose="020B0609020204030204" pitchFamily="49" charset="0"/>
              </a:rPr>
              <a:t>substr</a:t>
            </a:r>
            <a:r>
              <a:rPr lang="en-US" altLang="en-US" sz="1800" kern="1200" dirty="0" smtClean="0">
                <a:solidFill>
                  <a:srgbClr val="000000"/>
                </a:solidFill>
                <a:latin typeface="Arial (Body)"/>
                <a:ea typeface="+mn-ea"/>
                <a:cs typeface="+mn-cs"/>
              </a:rPr>
              <a:t> </a:t>
            </a:r>
            <a:r>
              <a:rPr lang="en-US" altLang="en-US" sz="1800" kern="1200" dirty="0">
                <a:solidFill>
                  <a:srgbClr val="000000"/>
                </a:solidFill>
                <a:latin typeface="Arial (Body)"/>
                <a:ea typeface="+mn-ea"/>
                <a:cs typeface="+mn-cs"/>
              </a:rPr>
              <a:t>(lines 47 and 52) to return a </a:t>
            </a:r>
            <a:r>
              <a:rPr lang="en-US" altLang="en-US" sz="1800" b="1" kern="1200" dirty="0">
                <a:solidFill>
                  <a:srgbClr val="000000"/>
                </a:solidFill>
                <a:latin typeface="Arial (Body)"/>
                <a:ea typeface="+mn-ea"/>
                <a:cs typeface="+mn-cs"/>
              </a:rPr>
              <a:t>portion</a:t>
            </a:r>
            <a:r>
              <a:rPr lang="en-US" altLang="en-US" sz="1800" kern="1200" dirty="0">
                <a:solidFill>
                  <a:srgbClr val="000000"/>
                </a:solidFill>
                <a:latin typeface="Arial (Body)"/>
                <a:ea typeface="+mn-ea"/>
                <a:cs typeface="+mn-cs"/>
              </a:rPr>
              <a:t> of a string as a </a:t>
            </a:r>
            <a:r>
              <a:rPr lang="en-US" altLang="en-US" sz="1800" kern="1200" dirty="0">
                <a:solidFill>
                  <a:srgbClr val="000000"/>
                </a:solidFill>
                <a:latin typeface="Consolas" panose="020B0609020204030204" pitchFamily="49" charset="0"/>
                <a:ea typeface="+mn-ea"/>
                <a:cs typeface="Consolas" panose="020B0609020204030204" pitchFamily="49" charset="0"/>
              </a:rPr>
              <a:t>string</a:t>
            </a:r>
            <a:r>
              <a:rPr lang="en-US" altLang="en-US" sz="1800" kern="1200" dirty="0">
                <a:solidFill>
                  <a:srgbClr val="000000"/>
                </a:solidFill>
                <a:latin typeface="Arial (Body)"/>
                <a:ea typeface="+mn-ea"/>
                <a:cs typeface="+mn-cs"/>
              </a:rPr>
              <a:t> object.</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ea typeface="+mn-ea"/>
                <a:cs typeface="+mn-cs"/>
              </a:rPr>
              <a:t>The call to </a:t>
            </a:r>
            <a:r>
              <a:rPr lang="en-US" altLang="en-US" sz="1800" kern="1200" dirty="0">
                <a:solidFill>
                  <a:srgbClr val="000000"/>
                </a:solidFill>
                <a:latin typeface="Consolas" panose="020B0609020204030204" pitchFamily="49" charset="0"/>
                <a:ea typeface="+mn-ea"/>
                <a:cs typeface="Consolas" panose="020B0609020204030204" pitchFamily="49" charset="0"/>
              </a:rPr>
              <a:t>substr</a:t>
            </a:r>
            <a:r>
              <a:rPr lang="en-US" altLang="en-US" sz="1800" kern="1200" dirty="0">
                <a:solidFill>
                  <a:srgbClr val="000000"/>
                </a:solidFill>
                <a:latin typeface="Arial (Body)"/>
                <a:ea typeface="+mn-ea"/>
                <a:cs typeface="+mn-cs"/>
              </a:rPr>
              <a:t> in line 47 obtains a 14-character substring (specified by the second argument) of </a:t>
            </a:r>
            <a:r>
              <a:rPr lang="en-US" altLang="en-US" sz="1800" kern="1200" dirty="0">
                <a:solidFill>
                  <a:srgbClr val="000000"/>
                </a:solidFill>
                <a:latin typeface="Consolas" panose="020B0609020204030204" pitchFamily="49" charset="0"/>
                <a:ea typeface="+mn-ea"/>
                <a:cs typeface="Consolas" panose="020B0609020204030204" pitchFamily="49" charset="0"/>
              </a:rPr>
              <a:t>s1</a:t>
            </a:r>
            <a:r>
              <a:rPr lang="en-US" altLang="en-US" sz="1800" kern="1200" dirty="0">
                <a:solidFill>
                  <a:srgbClr val="000000"/>
                </a:solidFill>
                <a:latin typeface="Arial (Body)"/>
                <a:ea typeface="+mn-ea"/>
                <a:cs typeface="+mn-cs"/>
              </a:rPr>
              <a:t> starting at position 0 (specified by the first argument).</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ea typeface="+mn-ea"/>
                <a:cs typeface="+mn-cs"/>
              </a:rPr>
              <a:t>The call to </a:t>
            </a:r>
            <a:r>
              <a:rPr lang="en-US" altLang="en-US" sz="1800" kern="1200" dirty="0">
                <a:solidFill>
                  <a:srgbClr val="000000"/>
                </a:solidFill>
                <a:latin typeface="Consolas" panose="020B0609020204030204" pitchFamily="49" charset="0"/>
                <a:ea typeface="+mn-ea"/>
                <a:cs typeface="Consolas" panose="020B0609020204030204" pitchFamily="49" charset="0"/>
              </a:rPr>
              <a:t>substr</a:t>
            </a:r>
            <a:r>
              <a:rPr lang="en-US" altLang="en-US" sz="1800" kern="1200" dirty="0">
                <a:solidFill>
                  <a:srgbClr val="000000"/>
                </a:solidFill>
                <a:latin typeface="Arial (Body)"/>
                <a:ea typeface="+mn-ea"/>
                <a:cs typeface="+mn-cs"/>
              </a:rPr>
              <a:t> in line 52 obtains a substring starting from position 15 of </a:t>
            </a:r>
            <a:r>
              <a:rPr lang="en-US" altLang="en-US" sz="1800" kern="1200" dirty="0">
                <a:solidFill>
                  <a:srgbClr val="000000"/>
                </a:solidFill>
                <a:latin typeface="Consolas" panose="020B0609020204030204" pitchFamily="49" charset="0"/>
                <a:ea typeface="+mn-ea"/>
                <a:cs typeface="Consolas" panose="020B0609020204030204" pitchFamily="49" charset="0"/>
              </a:rPr>
              <a:t>s1</a:t>
            </a:r>
            <a:r>
              <a:rPr lang="en-US" altLang="en-US" sz="1800" kern="1200" dirty="0">
                <a:solidFill>
                  <a:srgbClr val="000000"/>
                </a:solidFill>
                <a:latin typeface="Arial (Body)"/>
                <a:ea typeface="+mn-ea"/>
                <a:cs typeface="+mn-cs"/>
              </a:rPr>
              <a:t>.</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ea typeface="+mn-ea"/>
                <a:cs typeface="+mn-cs"/>
              </a:rPr>
              <a:t>When the second argument is not specified, </a:t>
            </a:r>
            <a:r>
              <a:rPr lang="en-US" altLang="en-US" sz="1800" kern="1200" dirty="0" smtClean="0">
                <a:solidFill>
                  <a:srgbClr val="000000"/>
                </a:solidFill>
                <a:latin typeface="Consolas" panose="020B0609020204030204" pitchFamily="49" charset="0"/>
                <a:ea typeface="+mn-ea"/>
                <a:cs typeface="Consolas" panose="020B0609020204030204" pitchFamily="49" charset="0"/>
              </a:rPr>
              <a:t>substr</a:t>
            </a:r>
            <a:r>
              <a:rPr lang="en-US" altLang="en-US" sz="1800" kern="1200" dirty="0" smtClean="0">
                <a:solidFill>
                  <a:srgbClr val="000000"/>
                </a:solidFill>
                <a:latin typeface="Arial (Body)"/>
                <a:ea typeface="+mn-ea"/>
                <a:cs typeface="+mn-cs"/>
              </a:rPr>
              <a:t> </a:t>
            </a:r>
            <a:r>
              <a:rPr lang="en-US" altLang="en-US" sz="1800" kern="1200" dirty="0">
                <a:solidFill>
                  <a:srgbClr val="000000"/>
                </a:solidFill>
                <a:latin typeface="Arial (Body)"/>
                <a:ea typeface="+mn-ea"/>
                <a:cs typeface="+mn-cs"/>
              </a:rPr>
              <a:t>returns the </a:t>
            </a:r>
            <a:r>
              <a:rPr lang="en-US" altLang="en-US" sz="1800" b="1" kern="1200" dirty="0">
                <a:solidFill>
                  <a:srgbClr val="000000"/>
                </a:solidFill>
                <a:latin typeface="Arial (Body)"/>
                <a:ea typeface="+mn-ea"/>
                <a:cs typeface="+mn-cs"/>
              </a:rPr>
              <a:t>remainder</a:t>
            </a:r>
            <a:r>
              <a:rPr lang="en-US" altLang="en-US" sz="1800" kern="1200" dirty="0">
                <a:solidFill>
                  <a:srgbClr val="000000"/>
                </a:solidFill>
                <a:latin typeface="Arial (Body)"/>
                <a:ea typeface="+mn-ea"/>
                <a:cs typeface="+mn-cs"/>
              </a:rPr>
              <a:t> of the </a:t>
            </a:r>
            <a:r>
              <a:rPr lang="en-US" altLang="en-US" sz="1800" kern="1200" dirty="0">
                <a:solidFill>
                  <a:srgbClr val="000000"/>
                </a:solidFill>
                <a:latin typeface="Consolas" panose="020B0609020204030204" pitchFamily="49" charset="0"/>
                <a:ea typeface="+mn-ea"/>
                <a:cs typeface="Consolas" panose="020B0609020204030204" pitchFamily="49" charset="0"/>
              </a:rPr>
              <a:t>string</a:t>
            </a:r>
            <a:r>
              <a:rPr lang="en-US" altLang="en-US" sz="1800" kern="1200" dirty="0">
                <a:solidFill>
                  <a:srgbClr val="000000"/>
                </a:solidFill>
                <a:latin typeface="Arial (Body)"/>
                <a:ea typeface="+mn-ea"/>
                <a:cs typeface="+mn-cs"/>
              </a:rPr>
              <a:t> on which it’s called</a:t>
            </a:r>
            <a:r>
              <a:rPr lang="en-US" altLang="en-US" sz="1800" kern="1200" dirty="0" smtClean="0">
                <a:solidFill>
                  <a:srgbClr val="000000"/>
                </a:solidFill>
                <a:latin typeface="Arial (Body)"/>
                <a:ea typeface="+mn-ea"/>
                <a:cs typeface="+mn-cs"/>
              </a:rPr>
              <a:t>.</a:t>
            </a:r>
          </a:p>
          <a:p>
            <a:pPr marL="255651" indent="-255651" eaLnBrk="1" hangingPunct="1">
              <a:tabLst/>
              <a:defRPr/>
            </a:pPr>
            <a:r>
              <a:rPr lang="en-US" altLang="en-US" sz="1800" kern="1200" dirty="0">
                <a:solidFill>
                  <a:srgbClr val="000000"/>
                </a:solidFill>
                <a:latin typeface="Arial (Body)"/>
              </a:rPr>
              <a:t>Lines 64-65 use class </a:t>
            </a:r>
            <a:r>
              <a:rPr lang="en-US" altLang="en-US" sz="1800" kern="1200" dirty="0">
                <a:solidFill>
                  <a:srgbClr val="000000"/>
                </a:solidFill>
                <a:latin typeface="Consolas" panose="020B0609020204030204" pitchFamily="49" charset="0"/>
                <a:cs typeface="Consolas" panose="020B0609020204030204" pitchFamily="49" charset="0"/>
              </a:rPr>
              <a:t>string</a:t>
            </a:r>
            <a:r>
              <a:rPr lang="en-US" altLang="en-US" sz="1800" kern="1200" dirty="0">
                <a:solidFill>
                  <a:srgbClr val="000000"/>
                </a:solidFill>
                <a:latin typeface="Arial (Body)"/>
              </a:rPr>
              <a:t>’s overloaded </a:t>
            </a:r>
            <a:r>
              <a:rPr lang="en-US" altLang="en-US" sz="1800" kern="1200" dirty="0">
                <a:solidFill>
                  <a:srgbClr val="000000"/>
                </a:solidFill>
                <a:latin typeface="Consolas" panose="020B0609020204030204" pitchFamily="49" charset="0"/>
                <a:cs typeface="Consolas" panose="020B0609020204030204" pitchFamily="49" charset="0"/>
              </a:rPr>
              <a:t>[]</a:t>
            </a:r>
            <a:r>
              <a:rPr lang="en-US" altLang="en-US" sz="1800" kern="1200" dirty="0">
                <a:solidFill>
                  <a:srgbClr val="000000"/>
                </a:solidFill>
                <a:latin typeface="Arial (Body)"/>
              </a:rPr>
              <a:t> operator can create </a:t>
            </a:r>
            <a:r>
              <a:rPr lang="en-US" altLang="en-US" sz="1800" b="1" kern="1200" dirty="0" smtClean="0">
                <a:solidFill>
                  <a:srgbClr val="000000"/>
                </a:solidFill>
                <a:latin typeface="Arial (Body)"/>
              </a:rPr>
              <a:t>l</a:t>
            </a:r>
            <a:r>
              <a:rPr lang="en-US" altLang="en-US" sz="100" b="1" kern="1200" dirty="0" smtClean="0">
                <a:solidFill>
                  <a:srgbClr val="000000"/>
                </a:solidFill>
                <a:latin typeface="Arial (Body)"/>
              </a:rPr>
              <a:t> </a:t>
            </a:r>
            <a:r>
              <a:rPr lang="en-US" altLang="en-US" sz="1800" b="1" kern="1200" dirty="0" smtClean="0">
                <a:solidFill>
                  <a:srgbClr val="000000"/>
                </a:solidFill>
                <a:latin typeface="Arial (Body)"/>
              </a:rPr>
              <a:t>values </a:t>
            </a:r>
            <a:r>
              <a:rPr lang="en-US" altLang="en-US" sz="1800" kern="1200" dirty="0">
                <a:solidFill>
                  <a:srgbClr val="000000"/>
                </a:solidFill>
                <a:latin typeface="Arial (Body)"/>
              </a:rPr>
              <a:t>that enable new characters to replace existing characters in </a:t>
            </a:r>
            <a:r>
              <a:rPr lang="en-US" altLang="en-US" sz="1800" kern="1200" dirty="0">
                <a:solidFill>
                  <a:srgbClr val="000000"/>
                </a:solidFill>
                <a:latin typeface="Consolas" panose="020B0609020204030204" pitchFamily="49" charset="0"/>
                <a:ea typeface="+mn-ea"/>
                <a:cs typeface="Consolas" panose="020B0609020204030204" pitchFamily="49" charset="0"/>
              </a:rPr>
              <a:t>s1</a:t>
            </a:r>
            <a:r>
              <a:rPr lang="en-US" altLang="en-US" sz="1800" kern="1200" dirty="0">
                <a:solidFill>
                  <a:srgbClr val="000000"/>
                </a:solidFill>
                <a:latin typeface="Arial (Body)"/>
              </a:rPr>
              <a:t>.</a:t>
            </a:r>
          </a:p>
          <a:p>
            <a:pPr marL="741553" lvl="1" indent="-284353" eaLnBrk="1" hangingPunct="1">
              <a:buFont typeface="Arial" panose="020B0604020202020204" pitchFamily="34" charset="0"/>
              <a:buChar char="–"/>
              <a:defRPr/>
            </a:pPr>
            <a:r>
              <a:rPr lang="en-US" altLang="en-US" sz="1800" b="1" kern="1200" dirty="0">
                <a:solidFill>
                  <a:srgbClr val="000000"/>
                </a:solidFill>
                <a:latin typeface="Arial (Body)"/>
              </a:rPr>
              <a:t>Class </a:t>
            </a:r>
            <a:r>
              <a:rPr lang="en-US" altLang="en-US" sz="1800" b="1" kern="1200" dirty="0">
                <a:solidFill>
                  <a:srgbClr val="000000"/>
                </a:solidFill>
                <a:latin typeface="Consolas" panose="020B0609020204030204" pitchFamily="49" charset="0"/>
                <a:cs typeface="Consolas" panose="020B0609020204030204" pitchFamily="49" charset="0"/>
              </a:rPr>
              <a:t>string</a:t>
            </a:r>
            <a:r>
              <a:rPr lang="en-US" altLang="en-US" sz="1800" b="1" kern="1200" dirty="0">
                <a:solidFill>
                  <a:srgbClr val="000000"/>
                </a:solidFill>
                <a:latin typeface="Arial (Body)"/>
              </a:rPr>
              <a:t>’s overloaded </a:t>
            </a:r>
            <a:r>
              <a:rPr lang="en-US" altLang="en-US" sz="1800" b="1" kern="1200" dirty="0">
                <a:solidFill>
                  <a:srgbClr val="000000"/>
                </a:solidFill>
                <a:latin typeface="Consolas" panose="020B0609020204030204" pitchFamily="49" charset="0"/>
                <a:cs typeface="Consolas" panose="020B0609020204030204" pitchFamily="49" charset="0"/>
              </a:rPr>
              <a:t>[]</a:t>
            </a:r>
            <a:r>
              <a:rPr lang="en-US" altLang="en-US" sz="1800" b="1" kern="1200" dirty="0">
                <a:solidFill>
                  <a:srgbClr val="000000"/>
                </a:solidFill>
                <a:latin typeface="Arial (Body)"/>
              </a:rPr>
              <a:t> operator does not perform any bounds checking.</a:t>
            </a:r>
            <a:endParaRPr lang="en-US" altLang="en-US" sz="1800" b="1"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129"/>
            <a:ext cx="8229600" cy="1169521"/>
          </a:xfrm>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18.2 Using the Overloaded Operators of Standard Library Class </a:t>
            </a:r>
            <a:r>
              <a:rPr lang="en-US" altLang="en-US" sz="3200" kern="1200" dirty="0" smtClean="0">
                <a:latin typeface="Consolas" panose="020B0609020204030204" pitchFamily="49" charset="0"/>
                <a:ea typeface="+mj-ea"/>
                <a:cs typeface="Consolas" panose="020B0609020204030204" pitchFamily="49" charset="0"/>
              </a:rPr>
              <a:t>string</a:t>
            </a:r>
            <a:r>
              <a:rPr lang="en-US" altLang="en-US" sz="3200" kern="1200" dirty="0" smtClean="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(4 of 4)</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7717809" cy="3216235"/>
          </a:xfrm>
        </p:spPr>
        <p:txBody>
          <a:bodyPr wrap="square">
            <a:spAutoFit/>
          </a:bodyPr>
          <a:lstStyle/>
          <a:p>
            <a:pPr marL="255651" indent="-255651" eaLnBrk="1" hangingPunct="1">
              <a:tabLst/>
              <a:defRPr/>
            </a:pPr>
            <a:r>
              <a:rPr lang="en-US" altLang="en-US" sz="2400" kern="1200" dirty="0">
                <a:solidFill>
                  <a:srgbClr val="000000"/>
                </a:solidFill>
                <a:latin typeface="Arial (Body)"/>
                <a:ea typeface="+mn-ea"/>
                <a:cs typeface="+mn-cs"/>
              </a:rPr>
              <a:t>Class </a:t>
            </a:r>
            <a:r>
              <a:rPr lang="en-US" altLang="en-US" sz="2400" kern="1200" dirty="0">
                <a:solidFill>
                  <a:srgbClr val="000000"/>
                </a:solidFill>
                <a:latin typeface="Consolas" panose="020B0609020204030204" pitchFamily="49" charset="0"/>
                <a:ea typeface="+mn-ea"/>
                <a:cs typeface="Consolas" panose="020B0609020204030204" pitchFamily="49" charset="0"/>
              </a:rPr>
              <a:t>string</a:t>
            </a:r>
            <a:r>
              <a:rPr lang="en-US" altLang="en-US" sz="2400" kern="1200" dirty="0">
                <a:solidFill>
                  <a:srgbClr val="000000"/>
                </a:solidFill>
                <a:latin typeface="Arial (Body)"/>
                <a:ea typeface="+mn-ea"/>
                <a:cs typeface="+mn-cs"/>
              </a:rPr>
              <a:t> does provide bounds checking in its member function </a:t>
            </a:r>
            <a:r>
              <a:rPr lang="en-US" altLang="en-US" sz="2400" b="1" kern="1200" dirty="0">
                <a:solidFill>
                  <a:srgbClr val="000000"/>
                </a:solidFill>
                <a:latin typeface="Consolas" panose="020B0609020204030204" pitchFamily="49" charset="0"/>
                <a:ea typeface="+mn-ea"/>
                <a:cs typeface="Consolas" panose="020B0609020204030204" pitchFamily="49" charset="0"/>
              </a:rPr>
              <a:t>at</a:t>
            </a:r>
            <a:r>
              <a:rPr lang="en-US" altLang="en-US" sz="2400" kern="1200" dirty="0">
                <a:solidFill>
                  <a:srgbClr val="000000"/>
                </a:solidFill>
                <a:latin typeface="Arial (Body)"/>
                <a:ea typeface="+mn-ea"/>
                <a:cs typeface="+mn-cs"/>
              </a:rPr>
              <a:t>, which throws an exception if its argument is an invalid subscript.</a:t>
            </a:r>
          </a:p>
          <a:p>
            <a:pPr marL="741553" lvl="1" indent="-284353" eaLnBrk="1" hangingPunct="1">
              <a:buFont typeface="Arial" panose="020B0604020202020204" pitchFamily="34" charset="0"/>
              <a:buChar char="–"/>
              <a:defRPr/>
            </a:pPr>
            <a:r>
              <a:rPr lang="en-US" altLang="en-US" sz="2400" kern="1200" dirty="0">
                <a:solidFill>
                  <a:srgbClr val="000000"/>
                </a:solidFill>
                <a:latin typeface="Arial (Body)"/>
                <a:ea typeface="+mn-ea"/>
                <a:cs typeface="+mn-cs"/>
              </a:rPr>
              <a:t>If the subscript is valid, function at returns the character at the specified location as a modifiable </a:t>
            </a:r>
            <a:r>
              <a:rPr lang="en-US" altLang="en-US" sz="2400" b="1" kern="1200" dirty="0" smtClean="0">
                <a:solidFill>
                  <a:srgbClr val="000000"/>
                </a:solidFill>
                <a:latin typeface="Arial (Body)"/>
                <a:ea typeface="+mn-ea"/>
                <a:cs typeface="+mn-cs"/>
              </a:rPr>
              <a:t>l</a:t>
            </a:r>
            <a:r>
              <a:rPr lang="en-US" altLang="en-US" sz="100" b="1" kern="1200" dirty="0" smtClean="0">
                <a:solidFill>
                  <a:srgbClr val="000000"/>
                </a:solidFill>
                <a:latin typeface="Arial (Body)"/>
                <a:ea typeface="+mn-ea"/>
                <a:cs typeface="+mn-cs"/>
              </a:rPr>
              <a:t> </a:t>
            </a:r>
            <a:r>
              <a:rPr lang="en-US" altLang="en-US" sz="2400" b="1" kern="1200" dirty="0" smtClean="0">
                <a:solidFill>
                  <a:srgbClr val="000000"/>
                </a:solidFill>
                <a:latin typeface="Arial (Body)"/>
                <a:ea typeface="+mn-ea"/>
                <a:cs typeface="+mn-cs"/>
              </a:rPr>
              <a:t>value </a:t>
            </a:r>
            <a:r>
              <a:rPr lang="en-US" altLang="en-US" sz="2400" kern="1200" dirty="0">
                <a:solidFill>
                  <a:srgbClr val="000000"/>
                </a:solidFill>
                <a:latin typeface="Arial (Body)"/>
                <a:ea typeface="+mn-ea"/>
                <a:cs typeface="+mn-cs"/>
              </a:rPr>
              <a:t>or a nonmodifiable </a:t>
            </a:r>
            <a:r>
              <a:rPr lang="en-US" altLang="en-US" sz="2400" b="1" kern="1200" dirty="0" smtClean="0">
                <a:solidFill>
                  <a:srgbClr val="000000"/>
                </a:solidFill>
                <a:latin typeface="Arial (Body)"/>
                <a:ea typeface="+mn-ea"/>
                <a:cs typeface="+mn-cs"/>
              </a:rPr>
              <a:t>l</a:t>
            </a:r>
            <a:r>
              <a:rPr lang="en-US" altLang="en-US" sz="100" b="1" kern="1200" dirty="0" smtClean="0">
                <a:solidFill>
                  <a:srgbClr val="000000"/>
                </a:solidFill>
                <a:latin typeface="Arial (Body)"/>
                <a:ea typeface="+mn-ea"/>
                <a:cs typeface="+mn-cs"/>
              </a:rPr>
              <a:t> </a:t>
            </a:r>
            <a:r>
              <a:rPr lang="en-US" altLang="en-US" sz="2400" b="1" kern="1200" dirty="0" smtClean="0">
                <a:solidFill>
                  <a:srgbClr val="000000"/>
                </a:solidFill>
                <a:latin typeface="Arial (Body)"/>
                <a:ea typeface="+mn-ea"/>
                <a:cs typeface="+mn-cs"/>
              </a:rPr>
              <a:t>value </a:t>
            </a:r>
            <a:r>
              <a:rPr lang="en-US" altLang="en-US" sz="2400" kern="1200" dirty="0">
                <a:solidFill>
                  <a:srgbClr val="000000"/>
                </a:solidFill>
                <a:latin typeface="Arial (Body)"/>
                <a:ea typeface="+mn-ea"/>
                <a:cs typeface="+mn-cs"/>
              </a:rPr>
              <a:t>(e.g., a </a:t>
            </a:r>
            <a:r>
              <a:rPr lang="en-US" altLang="en-US" sz="2400" kern="1200" dirty="0">
                <a:solidFill>
                  <a:srgbClr val="000000"/>
                </a:solidFill>
                <a:latin typeface="Consolas" panose="020B0609020204030204" pitchFamily="49" charset="0"/>
                <a:ea typeface="+mn-ea"/>
                <a:cs typeface="Consolas" panose="020B0609020204030204" pitchFamily="49" charset="0"/>
              </a:rPr>
              <a:t>const</a:t>
            </a:r>
            <a:r>
              <a:rPr lang="en-US" altLang="en-US" sz="2400" b="1" kern="1200" dirty="0">
                <a:solidFill>
                  <a:srgbClr val="000000"/>
                </a:solidFill>
                <a:latin typeface="Arial (Body)"/>
                <a:ea typeface="+mn-ea"/>
                <a:cs typeface="+mn-cs"/>
              </a:rPr>
              <a:t> </a:t>
            </a:r>
            <a:r>
              <a:rPr lang="en-US" altLang="en-US" sz="2400" kern="1200" dirty="0">
                <a:solidFill>
                  <a:srgbClr val="000000"/>
                </a:solidFill>
                <a:latin typeface="Arial (Body)"/>
                <a:ea typeface="+mn-ea"/>
                <a:cs typeface="+mn-cs"/>
              </a:rPr>
              <a:t>reference), depending on the context in which the call appears.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18.3 Fundamentals of Operator Overloading</a:t>
            </a:r>
            <a:r>
              <a:rPr lang="en-US" altLang="en-US" kern="1200" dirty="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(1 of 7)</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524011"/>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As you saw in </a:t>
            </a:r>
            <a:r>
              <a:rPr lang="en-US" altLang="en-US" sz="2400" kern="1200" dirty="0" smtClean="0">
                <a:solidFill>
                  <a:srgbClr val="000000"/>
                </a:solidFill>
                <a:latin typeface="Arial (Body)"/>
                <a:ea typeface="+mn-ea"/>
                <a:cs typeface="+mn-cs"/>
              </a:rPr>
              <a:t>Figure 18.1 (see slides 7-12), </a:t>
            </a:r>
            <a:r>
              <a:rPr lang="en-US" altLang="en-US" sz="2400" kern="1200" dirty="0">
                <a:solidFill>
                  <a:srgbClr val="000000"/>
                </a:solidFill>
                <a:latin typeface="Arial (Body)"/>
                <a:ea typeface="+mn-ea"/>
                <a:cs typeface="+mn-cs"/>
              </a:rPr>
              <a:t>operators provide a concise notation for manipulating string objects.</a:t>
            </a:r>
          </a:p>
          <a:p>
            <a:pPr marL="255651" indent="-255651" eaLnBrk="1" hangingPunct="1">
              <a:tabLst/>
              <a:defRPr/>
            </a:pPr>
            <a:r>
              <a:rPr lang="en-US" altLang="en-US" sz="2400" kern="1200" dirty="0">
                <a:solidFill>
                  <a:srgbClr val="000000"/>
                </a:solidFill>
                <a:latin typeface="Arial (Body)"/>
                <a:ea typeface="+mn-ea"/>
                <a:cs typeface="+mn-cs"/>
              </a:rPr>
              <a:t>You can use operators with your own user-defined types as well.</a:t>
            </a:r>
          </a:p>
          <a:p>
            <a:pPr marL="255651" indent="-255651" eaLnBrk="1" hangingPunct="1">
              <a:tabLst/>
              <a:defRPr/>
            </a:pPr>
            <a:r>
              <a:rPr lang="en-US" altLang="en-US" sz="2400" kern="1200" dirty="0">
                <a:solidFill>
                  <a:srgbClr val="000000"/>
                </a:solidFill>
                <a:latin typeface="Arial (Body)"/>
                <a:ea typeface="+mn-ea"/>
                <a:cs typeface="+mn-cs"/>
              </a:rPr>
              <a:t>Although </a:t>
            </a:r>
            <a:r>
              <a:rPr lang="en-US" altLang="en-US" sz="2400" kern="1200" dirty="0">
                <a:solidFill>
                  <a:srgbClr val="000000"/>
                </a:solidFill>
                <a:latin typeface="+mn-lt"/>
                <a:ea typeface="+mn-ea"/>
                <a:cs typeface="+mn-cs"/>
              </a:rPr>
              <a:t>C++ </a:t>
            </a:r>
            <a:r>
              <a:rPr lang="en-US" altLang="en-US" sz="2400" kern="1200" dirty="0">
                <a:solidFill>
                  <a:srgbClr val="000000"/>
                </a:solidFill>
                <a:latin typeface="Arial (Body)"/>
                <a:ea typeface="+mn-ea"/>
                <a:cs typeface="+mn-cs"/>
              </a:rPr>
              <a:t>does not allow new operators to be created, it does allow most existing operators to be overloaded so that, when they’re used with objects, they have meaning appropriate to those objects.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rPr>
              <a:t>18.3 </a:t>
            </a:r>
            <a:r>
              <a:rPr lang="en-US" altLang="en-US" kern="1200" dirty="0">
                <a:latin typeface="Times New Roman" panose="02020603050405020304" pitchFamily="18" charset="0"/>
              </a:rPr>
              <a:t>Fundamentals of Operator Overloading </a:t>
            </a:r>
            <a:r>
              <a:rPr lang="en-US" altLang="en-US" sz="2000" b="0" kern="1200" dirty="0" smtClean="0">
                <a:latin typeface="Times New Roman" panose="02020603050405020304" pitchFamily="18" charset="0"/>
              </a:rPr>
              <a:t>(2 </a:t>
            </a:r>
            <a:r>
              <a:rPr lang="en-US" altLang="en-US" sz="2000" b="0" kern="1200" dirty="0">
                <a:latin typeface="Times New Roman" panose="02020603050405020304" pitchFamily="18" charset="0"/>
              </a:rPr>
              <a:t>of </a:t>
            </a:r>
            <a:r>
              <a:rPr lang="en-US" altLang="en-US" sz="2000" b="0" kern="1200" dirty="0" smtClean="0">
                <a:latin typeface="Times New Roman" panose="02020603050405020304" pitchFamily="18" charset="0"/>
              </a:rPr>
              <a:t>7)</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spAutoFit/>
          </a:bodyPr>
          <a:lstStyle/>
          <a:p>
            <a:pPr marL="255651" indent="-255651" eaLnBrk="1" hangingPunct="1">
              <a:tabLst/>
              <a:defRPr/>
            </a:pPr>
            <a:r>
              <a:rPr lang="en-US" altLang="en-US" sz="2400" kern="1200" dirty="0">
                <a:solidFill>
                  <a:srgbClr val="000000"/>
                </a:solidFill>
                <a:latin typeface="+mn-lt"/>
                <a:ea typeface="+mn-ea"/>
                <a:cs typeface="Consolas" panose="020B0609020204030204" pitchFamily="49" charset="0"/>
              </a:rPr>
              <a:t>Operator</a:t>
            </a:r>
            <a:r>
              <a:rPr lang="en-US" altLang="en-US" sz="2400" kern="1200" dirty="0">
                <a:solidFill>
                  <a:srgbClr val="000000"/>
                </a:solidFill>
                <a:latin typeface="Arial (Body)"/>
                <a:ea typeface="+mn-ea"/>
                <a:cs typeface="+mn-cs"/>
              </a:rPr>
              <a:t> overloading is not </a:t>
            </a:r>
            <a:r>
              <a:rPr lang="en-US" altLang="en-US" sz="2400" kern="1200" dirty="0" smtClean="0">
                <a:solidFill>
                  <a:srgbClr val="000000"/>
                </a:solidFill>
                <a:latin typeface="Arial (Body)"/>
                <a:ea typeface="+mn-ea"/>
                <a:cs typeface="+mn-cs"/>
              </a:rPr>
              <a:t>automatic—you </a:t>
            </a:r>
            <a:r>
              <a:rPr lang="en-US" altLang="en-US" sz="2400" kern="1200" dirty="0">
                <a:solidFill>
                  <a:srgbClr val="000000"/>
                </a:solidFill>
                <a:latin typeface="Arial (Body)"/>
                <a:ea typeface="+mn-ea"/>
                <a:cs typeface="+mn-cs"/>
              </a:rPr>
              <a:t>must write operator-overloading functions to perform the desired </a:t>
            </a:r>
            <a:r>
              <a:rPr lang="en-US" altLang="en-US" sz="2400" kern="1200" dirty="0" smtClean="0">
                <a:solidFill>
                  <a:srgbClr val="000000"/>
                </a:solidFill>
                <a:latin typeface="Arial (Body)"/>
                <a:ea typeface="+mn-ea"/>
                <a:cs typeface="+mn-cs"/>
              </a:rPr>
              <a:t>operations.</a:t>
            </a:r>
            <a:endParaRPr lang="en-US" altLang="en-US" sz="2400" kern="1200" dirty="0">
              <a:solidFill>
                <a:srgbClr val="000000"/>
              </a:solidFill>
              <a:latin typeface="Arial (Body)"/>
              <a:ea typeface="+mn-ea"/>
              <a:cs typeface="+mn-cs"/>
            </a:endParaRPr>
          </a:p>
          <a:p>
            <a:pPr marL="255651" indent="-255651" eaLnBrk="1" hangingPunct="1">
              <a:tabLst/>
              <a:defRPr/>
            </a:pPr>
            <a:r>
              <a:rPr lang="en-US" altLang="en-US" sz="2400" kern="1200" dirty="0">
                <a:solidFill>
                  <a:srgbClr val="000000"/>
                </a:solidFill>
                <a:latin typeface="Arial (Body)"/>
                <a:ea typeface="+mn-ea"/>
                <a:cs typeface="+mn-cs"/>
              </a:rPr>
              <a:t>An </a:t>
            </a:r>
            <a:r>
              <a:rPr lang="en-US" altLang="en-US" sz="2400" kern="1200" dirty="0">
                <a:solidFill>
                  <a:srgbClr val="000000"/>
                </a:solidFill>
                <a:latin typeface="+mn-lt"/>
                <a:ea typeface="+mn-ea"/>
                <a:cs typeface="+mn-cs"/>
              </a:rPr>
              <a:t>operator</a:t>
            </a:r>
            <a:r>
              <a:rPr lang="en-US" altLang="en-US" sz="2400" kern="1200" dirty="0">
                <a:solidFill>
                  <a:srgbClr val="000000"/>
                </a:solidFill>
                <a:latin typeface="Arial (Body)"/>
                <a:ea typeface="+mn-ea"/>
                <a:cs typeface="+mn-cs"/>
              </a:rPr>
              <a:t> is overloaded by writing a non-</a:t>
            </a:r>
            <a:r>
              <a:rPr lang="en-US" altLang="en-US" sz="2400" kern="1200" dirty="0">
                <a:solidFill>
                  <a:srgbClr val="000000"/>
                </a:solidFill>
                <a:latin typeface="Consolas" panose="020B0609020204030204" pitchFamily="49" charset="0"/>
                <a:ea typeface="+mn-ea"/>
                <a:cs typeface="Consolas" panose="020B0609020204030204" pitchFamily="49" charset="0"/>
              </a:rPr>
              <a:t>static</a:t>
            </a:r>
            <a:r>
              <a:rPr lang="en-US" altLang="en-US" sz="2400" kern="1200" dirty="0">
                <a:solidFill>
                  <a:srgbClr val="000000"/>
                </a:solidFill>
                <a:latin typeface="Arial (Body)"/>
                <a:ea typeface="+mn-ea"/>
                <a:cs typeface="+mn-cs"/>
              </a:rPr>
              <a:t> member function definition or non-member function definition as you normally would, except that the function name starts with the keyword </a:t>
            </a:r>
            <a:r>
              <a:rPr lang="en-US" altLang="en-US" sz="2400" kern="1200" dirty="0">
                <a:solidFill>
                  <a:srgbClr val="000000"/>
                </a:solidFill>
                <a:latin typeface="Consolas" panose="020B0609020204030204" pitchFamily="49" charset="0"/>
                <a:ea typeface="+mn-ea"/>
                <a:cs typeface="Consolas" panose="020B0609020204030204" pitchFamily="49" charset="0"/>
              </a:rPr>
              <a:t>operator</a:t>
            </a:r>
            <a:r>
              <a:rPr lang="en-US" altLang="en-US" sz="2400" kern="1200" dirty="0">
                <a:solidFill>
                  <a:srgbClr val="000000"/>
                </a:solidFill>
                <a:latin typeface="Arial (Body)"/>
                <a:ea typeface="+mn-ea"/>
                <a:cs typeface="+mn-cs"/>
              </a:rPr>
              <a:t> followed by the symbol for the operator being overloaded.</a:t>
            </a:r>
          </a:p>
          <a:p>
            <a:pPr marL="741553" lvl="1" indent="-284353" eaLnBrk="1" hangingPunct="1">
              <a:buFont typeface="Arial" panose="020B0604020202020204" pitchFamily="34" charset="0"/>
              <a:buChar char="–"/>
              <a:defRPr/>
            </a:pPr>
            <a:r>
              <a:rPr lang="en-US" altLang="en-US" sz="2400" kern="1200" dirty="0">
                <a:solidFill>
                  <a:srgbClr val="000000"/>
                </a:solidFill>
                <a:latin typeface="Arial (Body)"/>
                <a:ea typeface="+mn-ea"/>
                <a:cs typeface="+mn-cs"/>
              </a:rPr>
              <a:t>For example, the function name </a:t>
            </a:r>
            <a:r>
              <a:rPr lang="en-US" altLang="en-US" sz="2400" kern="1200" dirty="0" smtClean="0">
                <a:solidFill>
                  <a:srgbClr val="000000"/>
                </a:solidFill>
                <a:latin typeface="Consolas" panose="020B0609020204030204" pitchFamily="49" charset="0"/>
                <a:ea typeface="+mn-ea"/>
                <a:cs typeface="Consolas" panose="020B0609020204030204" pitchFamily="49" charset="0"/>
              </a:rPr>
              <a:t>operator</a:t>
            </a:r>
            <a:r>
              <a:rPr lang="en-US" altLang="en-US" sz="2400" kern="1200" dirty="0">
                <a:solidFill>
                  <a:srgbClr val="000000"/>
                </a:solidFill>
                <a:latin typeface="Consolas" panose="020B0609020204030204" pitchFamily="49" charset="0"/>
                <a:cs typeface="Consolas" panose="020B0609020204030204" pitchFamily="49" charset="0"/>
              </a:rPr>
              <a:t>+</a:t>
            </a:r>
            <a:r>
              <a:rPr lang="en-US" altLang="en-US" sz="2400" kern="1200" dirty="0" smtClean="0">
                <a:solidFill>
                  <a:srgbClr val="000000"/>
                </a:solidFill>
                <a:latin typeface="Arial (Body)"/>
                <a:ea typeface="+mn-ea"/>
                <a:cs typeface="+mn-cs"/>
              </a:rPr>
              <a:t> </a:t>
            </a:r>
            <a:r>
              <a:rPr lang="en-US" altLang="en-US" sz="2400" kern="1200" dirty="0">
                <a:solidFill>
                  <a:srgbClr val="000000"/>
                </a:solidFill>
                <a:latin typeface="Arial (Body)"/>
                <a:ea typeface="+mn-ea"/>
                <a:cs typeface="+mn-cs"/>
              </a:rPr>
              <a:t>would be used to overload the addition operator </a:t>
            </a:r>
            <a:r>
              <a:rPr lang="en-US" altLang="en-US" sz="2400" kern="1200" dirty="0">
                <a:solidFill>
                  <a:srgbClr val="000000"/>
                </a:solidFill>
                <a:latin typeface="+mn-lt"/>
                <a:ea typeface="+mn-ea"/>
                <a:cs typeface="+mn-cs"/>
              </a:rPr>
              <a:t>(</a:t>
            </a:r>
            <a:r>
              <a:rPr lang="en-US" altLang="en-US" sz="2400" kern="1200" dirty="0">
                <a:solidFill>
                  <a:srgbClr val="000000"/>
                </a:solidFill>
                <a:latin typeface="Consolas" panose="020B0609020204030204" pitchFamily="49" charset="0"/>
                <a:ea typeface="+mn-ea"/>
                <a:cs typeface="Consolas" panose="020B0609020204030204" pitchFamily="49" charset="0"/>
              </a:rPr>
              <a:t>+</a:t>
            </a:r>
            <a:r>
              <a:rPr lang="en-US" altLang="en-US" sz="2400" kern="1200" dirty="0">
                <a:solidFill>
                  <a:srgbClr val="000000"/>
                </a:solidFill>
                <a:latin typeface="+mn-lt"/>
                <a:ea typeface="+mn-ea"/>
                <a:cs typeface="+mn-cs"/>
              </a:rPr>
              <a:t>)</a:t>
            </a:r>
            <a:r>
              <a:rPr lang="en-US" altLang="en-US" sz="2400" kern="1200" dirty="0">
                <a:solidFill>
                  <a:srgbClr val="000000"/>
                </a:solidFill>
                <a:latin typeface="Arial (Body)"/>
                <a:ea typeface="+mn-ea"/>
                <a:cs typeface="+mn-cs"/>
              </a:rPr>
              <a:t> for use with objects of a particular class </a:t>
            </a:r>
            <a:r>
              <a:rPr lang="en-US" altLang="en-US" sz="2400" kern="1200" dirty="0">
                <a:solidFill>
                  <a:srgbClr val="000000"/>
                </a:solidFill>
                <a:latin typeface="+mn-lt"/>
                <a:ea typeface="+mn-ea"/>
                <a:cs typeface="+mn-cs"/>
              </a:rPr>
              <a:t>(or </a:t>
            </a:r>
            <a:r>
              <a:rPr lang="en-US" altLang="en-US" sz="2400" kern="1200" dirty="0">
                <a:solidFill>
                  <a:srgbClr val="000000"/>
                </a:solidFill>
                <a:latin typeface="Consolas" panose="020B0609020204030204" pitchFamily="49" charset="0"/>
                <a:ea typeface="+mn-ea"/>
                <a:cs typeface="Consolas" panose="020B0609020204030204" pitchFamily="49" charset="0"/>
              </a:rPr>
              <a:t>enum</a:t>
            </a:r>
            <a:r>
              <a:rPr lang="en-US" altLang="en-US" sz="2400" kern="1200" dirty="0">
                <a:solidFill>
                  <a:srgbClr val="000000"/>
                </a:solidFill>
                <a:latin typeface="+mn-lt"/>
                <a:ea typeface="+mn-ea"/>
                <a:cs typeface="+mn-cs"/>
              </a:rPr>
              <a: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rPr>
              <a:t>18.3 </a:t>
            </a:r>
            <a:r>
              <a:rPr lang="en-US" altLang="en-US" kern="1200" dirty="0">
                <a:latin typeface="Times New Roman" panose="02020603050405020304" pitchFamily="18" charset="0"/>
              </a:rPr>
              <a:t>Fundamentals of Operator Overloading</a:t>
            </a:r>
            <a:r>
              <a:rPr lang="en-US" altLang="en-US" kern="1200" dirty="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(3 of 7)</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199" y="1600200"/>
            <a:ext cx="8229601" cy="5001339"/>
          </a:xfrm>
        </p:spPr>
        <p:txBody>
          <a:bodyPr wrap="square">
            <a:spAutoFit/>
          </a:bodyPr>
          <a:lstStyle/>
          <a:p>
            <a:pPr marL="255651" indent="-255651" eaLnBrk="1" hangingPunct="1">
              <a:spcBef>
                <a:spcPts val="600"/>
              </a:spcBef>
              <a:tabLst/>
              <a:defRPr/>
            </a:pPr>
            <a:r>
              <a:rPr lang="en-US" altLang="en-US" sz="1800" kern="1200" dirty="0">
                <a:solidFill>
                  <a:srgbClr val="000000"/>
                </a:solidFill>
                <a:latin typeface="Arial (Body)"/>
                <a:ea typeface="+mn-ea"/>
                <a:cs typeface="+mn-cs"/>
              </a:rPr>
              <a:t>When operators are overloaded as member functions, they must be non-</a:t>
            </a:r>
            <a:r>
              <a:rPr lang="en-US" altLang="en-US" sz="1800" kern="1200" dirty="0">
                <a:solidFill>
                  <a:srgbClr val="000000"/>
                </a:solidFill>
                <a:latin typeface="Consolas" panose="020B0609020204030204" pitchFamily="49" charset="0"/>
                <a:ea typeface="+mn-ea"/>
                <a:cs typeface="Consolas" panose="020B0609020204030204" pitchFamily="49" charset="0"/>
              </a:rPr>
              <a:t>static</a:t>
            </a:r>
            <a:r>
              <a:rPr lang="en-US" altLang="en-US" sz="1800" kern="1200" dirty="0">
                <a:solidFill>
                  <a:srgbClr val="000000"/>
                </a:solidFill>
                <a:latin typeface="Arial (Body)"/>
                <a:ea typeface="+mn-ea"/>
                <a:cs typeface="+mn-cs"/>
              </a:rPr>
              <a:t>, because </a:t>
            </a:r>
            <a:r>
              <a:rPr lang="en-US" altLang="en-US" sz="1800" b="1" kern="1200" dirty="0">
                <a:solidFill>
                  <a:srgbClr val="000000"/>
                </a:solidFill>
                <a:latin typeface="Arial (Body)"/>
                <a:ea typeface="+mn-ea"/>
                <a:cs typeface="+mn-cs"/>
              </a:rPr>
              <a:t>they must be called on an object of the class </a:t>
            </a:r>
            <a:r>
              <a:rPr lang="en-US" altLang="en-US" sz="1800" kern="1200" dirty="0">
                <a:solidFill>
                  <a:srgbClr val="000000"/>
                </a:solidFill>
                <a:latin typeface="Arial (Body)"/>
                <a:ea typeface="+mn-ea"/>
                <a:cs typeface="+mn-cs"/>
              </a:rPr>
              <a:t>and operate on that object.</a:t>
            </a:r>
          </a:p>
          <a:p>
            <a:pPr marL="255651" indent="-255651" eaLnBrk="1" hangingPunct="1">
              <a:spcBef>
                <a:spcPts val="600"/>
              </a:spcBef>
              <a:tabLst/>
              <a:defRPr/>
            </a:pPr>
            <a:r>
              <a:rPr lang="en-US" altLang="en-US" sz="1800" kern="1200" dirty="0">
                <a:solidFill>
                  <a:srgbClr val="000000"/>
                </a:solidFill>
                <a:latin typeface="Arial (Body)"/>
                <a:ea typeface="+mn-ea"/>
                <a:cs typeface="+mn-cs"/>
              </a:rPr>
              <a:t>To use an operator on class objects, you must define overloaded operator functions for that class—with three exceptions.</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ea typeface="+mn-ea"/>
                <a:cs typeface="+mn-cs"/>
              </a:rPr>
              <a:t>The </a:t>
            </a:r>
            <a:r>
              <a:rPr lang="en-US" altLang="en-US" sz="1800" b="1" kern="1200" dirty="0">
                <a:solidFill>
                  <a:srgbClr val="000000"/>
                </a:solidFill>
                <a:latin typeface="Arial (Body)"/>
                <a:ea typeface="+mn-ea"/>
                <a:cs typeface="+mn-cs"/>
              </a:rPr>
              <a:t>assignment operator (</a:t>
            </a:r>
            <a:r>
              <a:rPr lang="en-US" altLang="en-US" sz="1800" b="1" kern="1200" dirty="0">
                <a:solidFill>
                  <a:srgbClr val="000000"/>
                </a:solidFill>
                <a:latin typeface="Consolas" panose="020B0609020204030204" pitchFamily="49" charset="0"/>
                <a:ea typeface="+mn-ea"/>
                <a:cs typeface="Consolas" panose="020B0609020204030204" pitchFamily="49" charset="0"/>
              </a:rPr>
              <a:t>=</a:t>
            </a:r>
            <a:r>
              <a:rPr lang="en-US" altLang="en-US" sz="1800" b="1" kern="1200" dirty="0">
                <a:solidFill>
                  <a:srgbClr val="000000"/>
                </a:solidFill>
                <a:latin typeface="Arial (Body)"/>
                <a:ea typeface="+mn-ea"/>
                <a:cs typeface="+mn-cs"/>
              </a:rPr>
              <a:t>) </a:t>
            </a:r>
            <a:r>
              <a:rPr lang="en-US" altLang="en-US" sz="1800" kern="1200" dirty="0">
                <a:solidFill>
                  <a:srgbClr val="000000"/>
                </a:solidFill>
                <a:latin typeface="Arial (Body)"/>
                <a:ea typeface="+mn-ea"/>
                <a:cs typeface="+mn-cs"/>
              </a:rPr>
              <a:t>may be used with </a:t>
            </a:r>
            <a:r>
              <a:rPr lang="en-US" altLang="en-US" sz="1800" b="1" kern="1200" dirty="0">
                <a:solidFill>
                  <a:srgbClr val="000000"/>
                </a:solidFill>
                <a:latin typeface="Arial (Body)"/>
                <a:ea typeface="+mn-ea"/>
                <a:cs typeface="+mn-cs"/>
              </a:rPr>
              <a:t>most </a:t>
            </a:r>
            <a:r>
              <a:rPr lang="en-US" altLang="en-US" sz="1800" kern="1200" dirty="0">
                <a:solidFill>
                  <a:srgbClr val="000000"/>
                </a:solidFill>
                <a:latin typeface="Arial (Body)"/>
                <a:ea typeface="+mn-ea"/>
                <a:cs typeface="+mn-cs"/>
              </a:rPr>
              <a:t>classes to perform </a:t>
            </a:r>
            <a:r>
              <a:rPr lang="en-US" altLang="en-US" sz="1800" b="1" kern="1200" dirty="0" smtClean="0">
                <a:solidFill>
                  <a:srgbClr val="000000"/>
                </a:solidFill>
                <a:latin typeface="Arial (Body)"/>
                <a:ea typeface="+mn-ea"/>
                <a:cs typeface="+mn-cs"/>
              </a:rPr>
              <a:t>member</a:t>
            </a:r>
            <a:r>
              <a:rPr lang="en-US" altLang="en-US" sz="100" b="1" kern="1200" dirty="0" smtClean="0">
                <a:solidFill>
                  <a:srgbClr val="000000"/>
                </a:solidFill>
                <a:latin typeface="Arial (Body)"/>
                <a:ea typeface="+mn-ea"/>
                <a:cs typeface="+mn-cs"/>
              </a:rPr>
              <a:t> </a:t>
            </a:r>
            <a:r>
              <a:rPr lang="en-US" altLang="en-US" sz="1800" b="1" kern="1200" dirty="0" smtClean="0">
                <a:solidFill>
                  <a:srgbClr val="000000"/>
                </a:solidFill>
                <a:latin typeface="Arial (Body)"/>
                <a:ea typeface="+mn-ea"/>
                <a:cs typeface="+mn-cs"/>
              </a:rPr>
              <a:t>wise </a:t>
            </a:r>
            <a:r>
              <a:rPr lang="en-US" altLang="en-US" sz="1800" b="1" kern="1200" dirty="0">
                <a:solidFill>
                  <a:srgbClr val="000000"/>
                </a:solidFill>
                <a:latin typeface="Arial (Body)"/>
                <a:ea typeface="+mn-ea"/>
                <a:cs typeface="+mn-cs"/>
              </a:rPr>
              <a:t>assignment </a:t>
            </a:r>
            <a:r>
              <a:rPr lang="en-US" altLang="en-US" sz="1800" kern="1200" dirty="0">
                <a:solidFill>
                  <a:srgbClr val="000000"/>
                </a:solidFill>
                <a:latin typeface="Arial (Body)"/>
                <a:ea typeface="+mn-ea"/>
                <a:cs typeface="+mn-cs"/>
              </a:rPr>
              <a:t>of the data members—each data member is assigned from the assignment’s “source” object (on the right) to the “target” object (on the </a:t>
            </a:r>
            <a:r>
              <a:rPr lang="en-US" altLang="en-US" sz="1800" kern="1200" dirty="0" smtClean="0">
                <a:solidFill>
                  <a:srgbClr val="000000"/>
                </a:solidFill>
                <a:latin typeface="Arial (Body)"/>
                <a:ea typeface="+mn-ea"/>
                <a:cs typeface="+mn-cs"/>
              </a:rPr>
              <a:t>left).</a:t>
            </a:r>
            <a:endParaRPr lang="en-US" altLang="en-US" sz="1800" kern="1200" dirty="0">
              <a:solidFill>
                <a:srgbClr val="000000"/>
              </a:solidFill>
              <a:latin typeface="Arial (Body)"/>
              <a:ea typeface="+mn-ea"/>
              <a:cs typeface="+mn-cs"/>
            </a:endParaRPr>
          </a:p>
          <a:p>
            <a:pPr lvl="2" eaLnBrk="1" hangingPunct="1">
              <a:buFontTx/>
              <a:buChar char="▪"/>
              <a:defRPr/>
            </a:pPr>
            <a:r>
              <a:rPr lang="en-US" altLang="en-US" sz="1800" b="1" kern="1200" dirty="0" smtClean="0">
                <a:solidFill>
                  <a:srgbClr val="000000"/>
                </a:solidFill>
                <a:latin typeface="Arial (Body)"/>
              </a:rPr>
              <a:t>Member</a:t>
            </a:r>
            <a:r>
              <a:rPr lang="en-US" altLang="en-US" sz="100" b="1" kern="1200" dirty="0" smtClean="0">
                <a:solidFill>
                  <a:srgbClr val="000000"/>
                </a:solidFill>
                <a:latin typeface="Arial (Body)"/>
              </a:rPr>
              <a:t> </a:t>
            </a:r>
            <a:r>
              <a:rPr lang="en-US" altLang="en-US" sz="1800" b="1" kern="1200" dirty="0" smtClean="0">
                <a:solidFill>
                  <a:srgbClr val="000000"/>
                </a:solidFill>
                <a:latin typeface="Arial (Body)"/>
              </a:rPr>
              <a:t>wise </a:t>
            </a:r>
            <a:r>
              <a:rPr lang="en-US" altLang="en-US" sz="1800" b="1" kern="1200" dirty="0">
                <a:solidFill>
                  <a:srgbClr val="000000"/>
                </a:solidFill>
                <a:latin typeface="Arial (Body)"/>
              </a:rPr>
              <a:t>assignment is dangerous for classes with pointer members</a:t>
            </a:r>
            <a:r>
              <a:rPr lang="en-US" altLang="en-US" sz="1800" kern="1200" dirty="0">
                <a:solidFill>
                  <a:srgbClr val="000000"/>
                </a:solidFill>
                <a:latin typeface="Arial (Body)"/>
              </a:rPr>
              <a:t>, so we’ll explicitly overload the assignment operator for such classes.</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rPr>
              <a:t>The </a:t>
            </a:r>
            <a:r>
              <a:rPr lang="en-US" altLang="en-US" sz="1800" b="1" kern="1200" dirty="0">
                <a:solidFill>
                  <a:srgbClr val="000000"/>
                </a:solidFill>
                <a:latin typeface="Arial (Body)"/>
              </a:rPr>
              <a:t>address operator (</a:t>
            </a:r>
            <a:r>
              <a:rPr lang="en-US" altLang="en-US" sz="1800" b="1" kern="1200" dirty="0">
                <a:solidFill>
                  <a:srgbClr val="000000"/>
                </a:solidFill>
                <a:latin typeface="Consolas" panose="020B0609020204030204" pitchFamily="49" charset="0"/>
                <a:cs typeface="Consolas" panose="020B0609020204030204" pitchFamily="49" charset="0"/>
              </a:rPr>
              <a:t>&amp;</a:t>
            </a:r>
            <a:r>
              <a:rPr lang="en-US" altLang="en-US" sz="1800" b="1" kern="1200" dirty="0">
                <a:solidFill>
                  <a:srgbClr val="000000"/>
                </a:solidFill>
                <a:latin typeface="Arial (Body)"/>
              </a:rPr>
              <a:t>) </a:t>
            </a:r>
            <a:r>
              <a:rPr lang="en-US" altLang="en-US" sz="1800" kern="1200" dirty="0">
                <a:solidFill>
                  <a:srgbClr val="000000"/>
                </a:solidFill>
                <a:latin typeface="Arial (Body)"/>
              </a:rPr>
              <a:t>returns a pointer to the object; this operator also can be overloaded.</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rPr>
              <a:t>The </a:t>
            </a:r>
            <a:r>
              <a:rPr lang="en-US" altLang="en-US" sz="1800" b="1" kern="1200" dirty="0">
                <a:solidFill>
                  <a:srgbClr val="000000"/>
                </a:solidFill>
                <a:latin typeface="Arial (Body)"/>
              </a:rPr>
              <a:t>comma operator </a:t>
            </a:r>
            <a:r>
              <a:rPr lang="en-US" altLang="en-US" sz="1800" kern="1200" dirty="0">
                <a:solidFill>
                  <a:srgbClr val="000000"/>
                </a:solidFill>
                <a:latin typeface="Arial (Body)"/>
              </a:rPr>
              <a:t>evaluates the expression to its left then the expression to its right, and returns the value of the latter expression</a:t>
            </a:r>
            <a:r>
              <a:rPr lang="en-US" altLang="en-US" sz="1800" kern="1200" dirty="0" smtClean="0">
                <a:solidFill>
                  <a:srgbClr val="000000"/>
                </a:solidFill>
                <a:latin typeface="Arial (Body)"/>
              </a:rPr>
              <a:t>.</a:t>
            </a:r>
            <a:endParaRPr lang="en-US" altLang="en-US" sz="18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18.3 Fundamentals of Operator Overloading</a:t>
            </a:r>
            <a:r>
              <a:rPr lang="en-US" altLang="en-US" kern="1200" dirty="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(4 of 7)</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Most of C++’s operators can be overloaded.</a:t>
            </a:r>
          </a:p>
          <a:p>
            <a:pPr marL="255651" indent="-255651" eaLnBrk="1" hangingPunct="1">
              <a:tabLst/>
              <a:defRPr/>
            </a:pPr>
            <a:r>
              <a:rPr lang="en-US" altLang="en-US" sz="2400" kern="1200" dirty="0">
                <a:solidFill>
                  <a:srgbClr val="000000"/>
                </a:solidFill>
                <a:latin typeface="Arial (Body)"/>
                <a:ea typeface="+mn-ea"/>
                <a:cs typeface="+mn-cs"/>
              </a:rPr>
              <a:t>Figure </a:t>
            </a:r>
            <a:r>
              <a:rPr lang="en-US" altLang="en-US" sz="2400" kern="1200" dirty="0" smtClean="0">
                <a:solidFill>
                  <a:srgbClr val="000000"/>
                </a:solidFill>
                <a:latin typeface="Arial (Body)"/>
                <a:ea typeface="+mn-ea"/>
                <a:cs typeface="+mn-cs"/>
              </a:rPr>
              <a:t>18.2 shows </a:t>
            </a:r>
            <a:r>
              <a:rPr lang="en-US" altLang="en-US" sz="2400" kern="1200" dirty="0">
                <a:solidFill>
                  <a:srgbClr val="000000"/>
                </a:solidFill>
                <a:latin typeface="Arial (Body)"/>
                <a:ea typeface="+mn-ea"/>
                <a:cs typeface="+mn-cs"/>
              </a:rPr>
              <a:t>the operators that cannot be overloaded</a:t>
            </a:r>
            <a:r>
              <a:rPr lang="en-US" altLang="en-US" sz="2400" kern="1200" dirty="0" smtClean="0">
                <a:solidFill>
                  <a:srgbClr val="000000"/>
                </a:solidFill>
                <a:latin typeface="Arial (Body)"/>
                <a:ea typeface="+mn-ea"/>
                <a:cs typeface="+mn-cs"/>
              </a:rPr>
              <a:t>.</a:t>
            </a:r>
            <a:endParaRPr lang="en-US" altLang="en-US" sz="24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txBox="1">
            <a:spLocks noGrp="1"/>
          </p:cNvSpPr>
          <p:nvPr>
            <p:ph type="title"/>
          </p:nvPr>
        </p:nvSpPr>
        <p:spPr/>
        <p:txBody>
          <a:bodyPr>
            <a:spAutoFit/>
          </a:bodyPr>
          <a:lstStyle/>
          <a:p>
            <a:pPr eaLnBrk="1" hangingPunct="1">
              <a:spcBef>
                <a:spcPct val="0"/>
              </a:spcBef>
            </a:pPr>
            <a:r>
              <a:rPr lang="en-US" dirty="0"/>
              <a:t>Figure </a:t>
            </a:r>
            <a:r>
              <a:rPr lang="en-US" dirty="0" smtClean="0"/>
              <a:t>18.2 </a:t>
            </a:r>
            <a:r>
              <a:rPr lang="en-US" dirty="0"/>
              <a:t>Operators That Cannot Be Overloaded</a:t>
            </a:r>
            <a:endParaRPr lang="en-US" altLang="en-US" dirty="0" smtClean="0">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4" name="Picture 1" descr="Operators that cannot be overloaded are given below. The operators are, period, period asterisk (pointer to member), colon colon, question mark colon."/>
          <p:cNvPicPr>
            <a:picLocks noGrp="1" noChangeAspect="1"/>
          </p:cNvPicPr>
          <p:nvPr isPhoto="1"/>
        </p:nvPicPr>
        <p:blipFill rotWithShape="1">
          <a:blip r:embed="rId3">
            <a:extLst>
              <a:ext uri="{28A0092B-C50C-407E-A947-70E740481C1C}">
                <a14:useLocalDpi xmlns:a14="http://schemas.microsoft.com/office/drawing/2010/main" val="0"/>
              </a:ext>
            </a:extLst>
          </a:blip>
          <a:srcRect l="24348" t="6151" r="24348" b="78452"/>
          <a:stretch/>
        </p:blipFill>
        <p:spPr bwMode="auto">
          <a:xfrm>
            <a:off x="825065" y="2779236"/>
            <a:ext cx="7431917" cy="1354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18.3 Fundamentals of Operator Overloading</a:t>
            </a:r>
            <a:r>
              <a:rPr lang="en-US" altLang="en-US" kern="1200" dirty="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(5 of 7)</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124176"/>
          </a:xfrm>
        </p:spPr>
        <p:txBody>
          <a:bodyPr wrap="square">
            <a:spAutoFit/>
          </a:bodyPr>
          <a:lstStyle/>
          <a:p>
            <a:pPr marL="255651" indent="-255651" eaLnBrk="1" hangingPunct="1">
              <a:tabLst/>
              <a:defRPr/>
            </a:pPr>
            <a:r>
              <a:rPr lang="en-US" altLang="en-US" sz="1800" kern="1200" dirty="0">
                <a:solidFill>
                  <a:srgbClr val="000000"/>
                </a:solidFill>
                <a:latin typeface="Arial (Body)"/>
                <a:ea typeface="+mn-ea"/>
                <a:cs typeface="+mn-cs"/>
              </a:rPr>
              <a:t>The </a:t>
            </a:r>
            <a:r>
              <a:rPr lang="en-US" altLang="en-US" sz="1800" b="1" kern="1200" dirty="0">
                <a:solidFill>
                  <a:srgbClr val="000000"/>
                </a:solidFill>
                <a:latin typeface="Arial (Body)"/>
                <a:ea typeface="+mn-ea"/>
                <a:cs typeface="+mn-cs"/>
              </a:rPr>
              <a:t>precedence of an operator cannot be changed by </a:t>
            </a:r>
            <a:r>
              <a:rPr lang="en-US" altLang="en-US" sz="1800" b="1" kern="1200" dirty="0" smtClean="0">
                <a:solidFill>
                  <a:srgbClr val="000000"/>
                </a:solidFill>
                <a:latin typeface="Arial (Body)"/>
                <a:ea typeface="+mn-ea"/>
                <a:cs typeface="+mn-cs"/>
              </a:rPr>
              <a:t>overloading</a:t>
            </a:r>
            <a:r>
              <a:rPr lang="en-US" altLang="en-US" sz="1800" kern="1200" dirty="0" smtClean="0">
                <a:solidFill>
                  <a:srgbClr val="000000"/>
                </a:solidFill>
                <a:latin typeface="Arial (Body)"/>
                <a:ea typeface="+mn-ea"/>
                <a:cs typeface="+mn-cs"/>
              </a:rPr>
              <a:t>.</a:t>
            </a:r>
            <a:endParaRPr lang="en-US" altLang="en-US" sz="1800" kern="1200" dirty="0">
              <a:solidFill>
                <a:srgbClr val="000000"/>
              </a:solidFill>
              <a:latin typeface="Arial (Body)"/>
              <a:ea typeface="+mn-ea"/>
              <a:cs typeface="+mn-cs"/>
            </a:endParaRP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ea typeface="+mn-ea"/>
                <a:cs typeface="+mn-cs"/>
              </a:rPr>
              <a:t>However, parentheses can be used to force the order of evaluation of overloaded operators in an </a:t>
            </a:r>
            <a:r>
              <a:rPr lang="en-US" altLang="en-US" sz="1800" kern="1200" dirty="0" smtClean="0">
                <a:solidFill>
                  <a:srgbClr val="000000"/>
                </a:solidFill>
                <a:latin typeface="Arial (Body)"/>
                <a:ea typeface="+mn-ea"/>
                <a:cs typeface="+mn-cs"/>
              </a:rPr>
              <a:t>expression.</a:t>
            </a:r>
            <a:endParaRPr lang="en-US" altLang="en-US" sz="1800" kern="1200" dirty="0">
              <a:solidFill>
                <a:srgbClr val="000000"/>
              </a:solidFill>
              <a:latin typeface="Arial (Body)"/>
              <a:ea typeface="+mn-ea"/>
              <a:cs typeface="+mn-cs"/>
            </a:endParaRPr>
          </a:p>
          <a:p>
            <a:pPr marL="255651" indent="-255651" eaLnBrk="1" hangingPunct="1">
              <a:tabLst/>
              <a:defRPr/>
            </a:pPr>
            <a:r>
              <a:rPr lang="en-US" altLang="en-US" sz="1800" b="1" kern="1200" dirty="0">
                <a:solidFill>
                  <a:srgbClr val="000000"/>
                </a:solidFill>
                <a:latin typeface="Arial (Body)"/>
                <a:ea typeface="+mn-ea"/>
                <a:cs typeface="+mn-cs"/>
              </a:rPr>
              <a:t>The associativity of an operator cannot be changed by overloading</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ea typeface="+mn-ea"/>
                <a:cs typeface="+mn-cs"/>
              </a:rPr>
              <a:t>if an operator normally associates from left to right, then so do all of its overloaded versions</a:t>
            </a:r>
            <a:r>
              <a:rPr lang="en-US" altLang="en-US" sz="1800" kern="1200" dirty="0" smtClean="0">
                <a:solidFill>
                  <a:srgbClr val="000000"/>
                </a:solidFill>
                <a:latin typeface="Arial (Body)"/>
                <a:ea typeface="+mn-ea"/>
                <a:cs typeface="+mn-cs"/>
              </a:rPr>
              <a:t>.</a:t>
            </a:r>
          </a:p>
          <a:p>
            <a:pPr marL="255651" indent="-255651" eaLnBrk="1" hangingPunct="1">
              <a:tabLst/>
              <a:defRPr/>
            </a:pPr>
            <a:r>
              <a:rPr lang="en-US" altLang="en-US" sz="1800" b="1" kern="1200" dirty="0">
                <a:solidFill>
                  <a:srgbClr val="000000"/>
                </a:solidFill>
              </a:rPr>
              <a:t>You cannot change the “arity” of an operator </a:t>
            </a:r>
            <a:r>
              <a:rPr lang="en-US" altLang="en-US" sz="1800" kern="1200" dirty="0">
                <a:solidFill>
                  <a:srgbClr val="000000"/>
                </a:solidFill>
              </a:rPr>
              <a:t>(that is, the number of operands an operator takes)</a:t>
            </a:r>
          </a:p>
          <a:p>
            <a:pPr marL="741553" lvl="1" indent="-284353" eaLnBrk="1" hangingPunct="1">
              <a:buFont typeface="Arial" panose="020B0604020202020204" pitchFamily="34" charset="0"/>
              <a:buChar char="–"/>
              <a:defRPr/>
            </a:pPr>
            <a:r>
              <a:rPr lang="en-US" altLang="en-US" sz="1800" kern="1200" dirty="0">
                <a:solidFill>
                  <a:srgbClr val="000000"/>
                </a:solidFill>
                <a:latin typeface="+mn-lt"/>
              </a:rPr>
              <a:t>overloaded unary operators remain unary operators; overloaded binary operators remain binary operators. Operators</a:t>
            </a:r>
            <a:r>
              <a:rPr lang="en-US" altLang="en-US" sz="1800" kern="1200" dirty="0">
                <a:solidFill>
                  <a:srgbClr val="000000"/>
                </a:solidFill>
              </a:rPr>
              <a:t> </a:t>
            </a:r>
            <a:r>
              <a:rPr lang="en-US" altLang="en-US" sz="1800" kern="1200" dirty="0">
                <a:solidFill>
                  <a:srgbClr val="000000"/>
                </a:solidFill>
                <a:latin typeface="Consolas" panose="020B0609020204030204" pitchFamily="49" charset="0"/>
                <a:cs typeface="Consolas" panose="020B0609020204030204" pitchFamily="49" charset="0"/>
              </a:rPr>
              <a:t>&amp;</a:t>
            </a:r>
            <a:r>
              <a:rPr lang="en-US" altLang="en-US" sz="1800" kern="1200" dirty="0">
                <a:solidFill>
                  <a:srgbClr val="000000"/>
                </a:solidFill>
                <a:latin typeface="+mn-lt"/>
              </a:rPr>
              <a:t>,</a:t>
            </a:r>
            <a:r>
              <a:rPr lang="en-US" altLang="en-US" sz="1800" kern="1200" dirty="0">
                <a:solidFill>
                  <a:srgbClr val="000000"/>
                </a:solidFill>
              </a:rPr>
              <a:t> </a:t>
            </a:r>
            <a:r>
              <a:rPr lang="en-US" altLang="en-US" sz="1800" kern="1200" dirty="0">
                <a:solidFill>
                  <a:srgbClr val="000000"/>
                </a:solidFill>
                <a:latin typeface="Consolas" panose="020B0609020204030204" pitchFamily="49" charset="0"/>
                <a:cs typeface="Consolas" panose="020B0609020204030204" pitchFamily="49" charset="0"/>
              </a:rPr>
              <a:t>*</a:t>
            </a:r>
            <a:r>
              <a:rPr lang="en-US" altLang="en-US" sz="1800" kern="1200" dirty="0">
                <a:solidFill>
                  <a:srgbClr val="000000"/>
                </a:solidFill>
                <a:latin typeface="+mn-lt"/>
              </a:rPr>
              <a:t>,</a:t>
            </a:r>
            <a:r>
              <a:rPr lang="en-US" altLang="en-US" sz="1800" kern="1200" dirty="0">
                <a:solidFill>
                  <a:srgbClr val="000000"/>
                </a:solidFill>
              </a:rPr>
              <a:t> </a:t>
            </a:r>
            <a:r>
              <a:rPr lang="en-US" altLang="en-US" sz="1800" kern="1200" dirty="0">
                <a:solidFill>
                  <a:srgbClr val="000000"/>
                </a:solidFill>
                <a:latin typeface="Consolas" panose="020B0609020204030204" pitchFamily="49" charset="0"/>
                <a:cs typeface="Consolas" panose="020B0609020204030204" pitchFamily="49" charset="0"/>
              </a:rPr>
              <a:t>+</a:t>
            </a:r>
            <a:r>
              <a:rPr lang="en-US" altLang="en-US" sz="1800" kern="1200" dirty="0">
                <a:solidFill>
                  <a:srgbClr val="000000"/>
                </a:solidFill>
              </a:rPr>
              <a:t> </a:t>
            </a:r>
            <a:r>
              <a:rPr lang="en-US" altLang="en-US" sz="1800" kern="1200" dirty="0">
                <a:solidFill>
                  <a:srgbClr val="000000"/>
                </a:solidFill>
                <a:latin typeface="+mn-lt"/>
              </a:rPr>
              <a:t>and</a:t>
            </a:r>
            <a:r>
              <a:rPr lang="en-US" altLang="en-US" sz="1800" kern="1200" dirty="0">
                <a:solidFill>
                  <a:srgbClr val="000000"/>
                </a:solidFill>
              </a:rPr>
              <a:t> </a:t>
            </a:r>
            <a:r>
              <a:rPr lang="en-US" sz="1800" dirty="0">
                <a:latin typeface="Consolas" panose="020B0609020204030204" pitchFamily="49" charset="0"/>
                <a:cs typeface="Consolas" panose="020B0609020204030204" pitchFamily="49" charset="0"/>
              </a:rPr>
              <a:t>−</a:t>
            </a:r>
            <a:r>
              <a:rPr lang="en-US" altLang="en-US" sz="1800" kern="1200" dirty="0">
                <a:solidFill>
                  <a:srgbClr val="000000"/>
                </a:solidFill>
              </a:rPr>
              <a:t> </a:t>
            </a:r>
            <a:r>
              <a:rPr lang="en-US" altLang="en-US" sz="1800" kern="1200" dirty="0">
                <a:solidFill>
                  <a:srgbClr val="000000"/>
                </a:solidFill>
                <a:latin typeface="+mn-lt"/>
              </a:rPr>
              <a:t>all have both unary and binary versions; these unary and binary versions can be separately overloaded</a:t>
            </a:r>
            <a:r>
              <a:rPr lang="en-US" altLang="en-US" sz="1800" kern="1200" dirty="0" smtClean="0">
                <a:solidFill>
                  <a:srgbClr val="000000"/>
                </a:solidFill>
                <a:latin typeface="+mn-lt"/>
              </a:rPr>
              <a:t>.</a:t>
            </a:r>
            <a:endParaRPr lang="en-US" altLang="en-US" sz="1800" b="1" kern="1200" dirty="0">
              <a:solidFill>
                <a:srgbClr val="000000"/>
              </a:solidFill>
              <a:latin typeface="+mn-lt"/>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18.3 Fundamentals of Operator Overloading</a:t>
            </a:r>
            <a:r>
              <a:rPr lang="en-US" altLang="en-US" kern="1200" dirty="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(6 of 7)</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147259"/>
          </a:xfrm>
        </p:spPr>
        <p:txBody>
          <a:bodyPr>
            <a:spAutoFit/>
          </a:bodyPr>
          <a:lstStyle/>
          <a:p>
            <a:pPr marL="255651" indent="-255651" eaLnBrk="1" hangingPunct="1">
              <a:tabLst/>
              <a:defRPr/>
            </a:pPr>
            <a:r>
              <a:rPr lang="en-US" altLang="en-US" sz="2400" b="1" kern="1200" dirty="0">
                <a:solidFill>
                  <a:srgbClr val="000000"/>
                </a:solidFill>
                <a:latin typeface="Arial (Body)"/>
                <a:ea typeface="+mn-ea"/>
                <a:cs typeface="+mn-cs"/>
              </a:rPr>
              <a:t>You cannot create new operators; only existing operators can be overloaded.</a:t>
            </a:r>
          </a:p>
          <a:p>
            <a:pPr marL="255651" indent="-255651" eaLnBrk="1" hangingPunct="1">
              <a:tabLst/>
              <a:defRPr/>
            </a:pPr>
            <a:r>
              <a:rPr lang="en-US" altLang="en-US" sz="2400" kern="1200" dirty="0" smtClean="0">
                <a:solidFill>
                  <a:srgbClr val="000000"/>
                </a:solidFill>
                <a:latin typeface="Arial (Body)"/>
                <a:ea typeface="+mn-ea"/>
                <a:cs typeface="+mn-cs"/>
              </a:rPr>
              <a:t>The </a:t>
            </a:r>
            <a:r>
              <a:rPr lang="en-US" altLang="en-US" sz="2400" kern="1200" dirty="0">
                <a:solidFill>
                  <a:srgbClr val="000000"/>
                </a:solidFill>
                <a:latin typeface="Arial (Body)"/>
                <a:ea typeface="+mn-ea"/>
                <a:cs typeface="+mn-cs"/>
              </a:rPr>
              <a:t>meaning of how an operator works on values of fundamental types </a:t>
            </a:r>
            <a:r>
              <a:rPr lang="en-US" altLang="en-US" sz="2400" b="1" kern="1200" dirty="0">
                <a:solidFill>
                  <a:srgbClr val="000000"/>
                </a:solidFill>
                <a:latin typeface="Arial (Body)"/>
                <a:ea typeface="+mn-ea"/>
                <a:cs typeface="+mn-cs"/>
              </a:rPr>
              <a:t>cannot</a:t>
            </a:r>
            <a:r>
              <a:rPr lang="en-US" altLang="en-US" sz="2400" kern="1200" dirty="0">
                <a:solidFill>
                  <a:srgbClr val="000000"/>
                </a:solidFill>
                <a:latin typeface="Arial (Body)"/>
                <a:ea typeface="+mn-ea"/>
                <a:cs typeface="+mn-cs"/>
              </a:rPr>
              <a:t> be changed by operator </a:t>
            </a:r>
            <a:r>
              <a:rPr lang="en-US" altLang="en-US" sz="2400" kern="1200" dirty="0" smtClean="0">
                <a:solidFill>
                  <a:srgbClr val="000000"/>
                </a:solidFill>
                <a:latin typeface="Arial (Body)"/>
                <a:ea typeface="+mn-ea"/>
                <a:cs typeface="+mn-cs"/>
              </a:rPr>
              <a:t>overloading.</a:t>
            </a:r>
            <a:endParaRPr lang="en-US" altLang="en-US" sz="2400" kern="1200" dirty="0">
              <a:solidFill>
                <a:srgbClr val="000000"/>
              </a:solidFill>
              <a:latin typeface="Arial (Body)"/>
              <a:ea typeface="+mn-ea"/>
              <a:cs typeface="+mn-cs"/>
            </a:endParaRPr>
          </a:p>
          <a:p>
            <a:pPr marL="741553" lvl="1" indent="-284353" eaLnBrk="1" hangingPunct="1">
              <a:buFont typeface="Arial" panose="020B0604020202020204" pitchFamily="34" charset="0"/>
              <a:buChar char="–"/>
              <a:defRPr/>
            </a:pPr>
            <a:r>
              <a:rPr lang="en-US" altLang="en-US" sz="2400" kern="1200" dirty="0">
                <a:solidFill>
                  <a:srgbClr val="000000"/>
                </a:solidFill>
                <a:latin typeface="Arial (Body)"/>
                <a:ea typeface="+mn-ea"/>
                <a:cs typeface="+mn-cs"/>
              </a:rPr>
              <a:t>For example, you cannot make the </a:t>
            </a:r>
            <a:r>
              <a:rPr lang="en-US" altLang="en-US" sz="2400" kern="1200" dirty="0">
                <a:solidFill>
                  <a:srgbClr val="000000"/>
                </a:solidFill>
                <a:latin typeface="Consolas" panose="020B0609020204030204" pitchFamily="49" charset="0"/>
                <a:ea typeface="+mn-ea"/>
                <a:cs typeface="Consolas" panose="020B0609020204030204" pitchFamily="49" charset="0"/>
              </a:rPr>
              <a:t>+</a:t>
            </a:r>
            <a:r>
              <a:rPr lang="en-US" altLang="en-US" sz="2400" kern="1200" dirty="0">
                <a:solidFill>
                  <a:srgbClr val="000000"/>
                </a:solidFill>
                <a:latin typeface="Arial (Body)"/>
                <a:ea typeface="+mn-ea"/>
                <a:cs typeface="+mn-cs"/>
              </a:rPr>
              <a:t> operator subtract two </a:t>
            </a:r>
            <a:r>
              <a:rPr lang="en-US" altLang="en-US" sz="2400" kern="1200" dirty="0">
                <a:solidFill>
                  <a:srgbClr val="000000"/>
                </a:solidFill>
                <a:latin typeface="Consolas" panose="020B0609020204030204" pitchFamily="49" charset="0"/>
                <a:ea typeface="+mn-ea"/>
                <a:cs typeface="+mn-cs"/>
              </a:rPr>
              <a:t>int</a:t>
            </a:r>
            <a:r>
              <a:rPr lang="en-US" altLang="en-US" sz="2400" kern="1200" dirty="0">
                <a:solidFill>
                  <a:srgbClr val="000000"/>
                </a:solidFill>
                <a:latin typeface="+mn-lt"/>
                <a:ea typeface="+mn-ea"/>
                <a:cs typeface="+mn-cs"/>
              </a:rPr>
              <a:t>s.</a:t>
            </a:r>
            <a:r>
              <a:rPr lang="en-US" altLang="en-US" sz="2400" kern="1200" dirty="0">
                <a:solidFill>
                  <a:srgbClr val="000000"/>
                </a:solidFill>
                <a:latin typeface="Arial (Body)"/>
                <a:ea typeface="+mn-ea"/>
                <a:cs typeface="+mn-cs"/>
              </a:rPr>
              <a:t> Operator overloading works only with </a:t>
            </a:r>
            <a:r>
              <a:rPr lang="en-US" altLang="en-US" sz="2400" b="1" kern="1200" dirty="0">
                <a:solidFill>
                  <a:srgbClr val="000000"/>
                </a:solidFill>
                <a:latin typeface="Arial (Body)"/>
                <a:ea typeface="+mn-ea"/>
                <a:cs typeface="+mn-cs"/>
              </a:rPr>
              <a:t>objects of user-defined types or with a mixture of an object of a user-defined type and an object of a fundamental </a:t>
            </a:r>
            <a:r>
              <a:rPr lang="en-US" altLang="en-US" sz="2400" b="1" kern="1200" dirty="0" smtClean="0">
                <a:solidFill>
                  <a:srgbClr val="000000"/>
                </a:solidFill>
                <a:latin typeface="Arial (Body)"/>
                <a:ea typeface="+mn-ea"/>
                <a:cs typeface="+mn-cs"/>
              </a:rPr>
              <a:t>type.</a:t>
            </a:r>
            <a:endParaRPr lang="en-US" altLang="en-US" sz="2400" b="1"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18.3 Fundamentals of Operator Overloading</a:t>
            </a:r>
            <a:r>
              <a:rPr lang="en-US" altLang="en-US" kern="1200" dirty="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(7 of 7)</a:t>
            </a:r>
            <a:endParaRPr lang="en-US" altLang="en-US" sz="2000" b="0" kern="1200" dirty="0">
              <a:latin typeface="Times New Roman" panose="02020603050405020304" pitchFamily="18" charset="0"/>
              <a:ea typeface="+mj-ea"/>
              <a:cs typeface="+mj-cs"/>
            </a:endParaRPr>
          </a:p>
        </p:txBody>
      </p:sp>
      <p:sp>
        <p:nvSpPr>
          <p:cNvPr id="4" name="Text Placeholder 3"/>
          <p:cNvSpPr>
            <a:spLocks noGrp="1"/>
          </p:cNvSpPr>
          <p:nvPr>
            <p:ph type="body" idx="1"/>
          </p:nvPr>
        </p:nvSpPr>
        <p:spPr>
          <a:xfrm>
            <a:off x="457200" y="1600201"/>
            <a:ext cx="4374107" cy="533400"/>
          </a:xfrm>
        </p:spPr>
        <p:txBody>
          <a:bodyPr/>
          <a:lstStyle/>
          <a:p>
            <a:r>
              <a:rPr lang="en-US" altLang="en-US" sz="2400" kern="1200" dirty="0">
                <a:solidFill>
                  <a:srgbClr val="000000"/>
                </a:solidFill>
                <a:latin typeface="+mn-lt"/>
              </a:rPr>
              <a:t>Related operators, </a:t>
            </a:r>
            <a:r>
              <a:rPr lang="en-US" altLang="en-US" sz="2400" kern="1200" dirty="0" smtClean="0">
                <a:solidFill>
                  <a:srgbClr val="000000"/>
                </a:solidFill>
                <a:latin typeface="+mn-lt"/>
              </a:rPr>
              <a:t>like </a:t>
            </a:r>
            <a:r>
              <a:rPr lang="en-US" altLang="en-US" sz="2400" kern="1200" dirty="0" smtClean="0">
                <a:solidFill>
                  <a:srgbClr val="000000"/>
                </a:solidFill>
                <a:latin typeface="Consolas" panose="020B0609020204030204" pitchFamily="49" charset="0"/>
              </a:rPr>
              <a:t>+</a:t>
            </a:r>
            <a:r>
              <a:rPr lang="en-US" altLang="en-US" sz="2400" kern="1200" dirty="0" smtClean="0">
                <a:solidFill>
                  <a:srgbClr val="000000"/>
                </a:solidFill>
                <a:latin typeface="+mn-lt"/>
              </a:rPr>
              <a:t> and</a:t>
            </a:r>
            <a:endParaRPr lang="en-US" sz="2400" dirty="0">
              <a:latin typeface="+mn-lt"/>
            </a:endParaRPr>
          </a:p>
        </p:txBody>
      </p:sp>
      <p:graphicFrame>
        <p:nvGraphicFramePr>
          <p:cNvPr id="7" name="Object 6" descr="Plus equals."/>
          <p:cNvGraphicFramePr>
            <a:graphicFrameLocks noChangeAspect="1"/>
          </p:cNvGraphicFramePr>
          <p:nvPr>
            <p:extLst>
              <p:ext uri="{D42A27DB-BD31-4B8C-83A1-F6EECF244321}">
                <p14:modId xmlns:p14="http://schemas.microsoft.com/office/powerpoint/2010/main" val="4224197707"/>
              </p:ext>
            </p:extLst>
          </p:nvPr>
        </p:nvGraphicFramePr>
        <p:xfrm>
          <a:off x="4738452" y="1760426"/>
          <a:ext cx="540557" cy="334632"/>
        </p:xfrm>
        <a:graphic>
          <a:graphicData uri="http://schemas.openxmlformats.org/presentationml/2006/ole">
            <mc:AlternateContent xmlns:mc="http://schemas.openxmlformats.org/markup-compatibility/2006">
              <mc:Choice xmlns:v="urn:schemas-microsoft-com:vml" Requires="v">
                <p:oleObj spid="_x0000_s29015" name="Equation" r:id="rId3" imgW="266400" imgH="164880" progId="Equation.DSMT4">
                  <p:embed/>
                </p:oleObj>
              </mc:Choice>
              <mc:Fallback>
                <p:oleObj name="Equation" r:id="rId3" imgW="266400" imgH="164880" progId="Equation.DSMT4">
                  <p:embed/>
                  <p:pic>
                    <p:nvPicPr>
                      <p:cNvPr id="0" name=""/>
                      <p:cNvPicPr/>
                      <p:nvPr/>
                    </p:nvPicPr>
                    <p:blipFill>
                      <a:blip r:embed="rId4"/>
                      <a:stretch>
                        <a:fillRect/>
                      </a:stretch>
                    </p:blipFill>
                    <p:spPr>
                      <a:xfrm>
                        <a:off x="4738452" y="1760426"/>
                        <a:ext cx="540557" cy="334632"/>
                      </a:xfrm>
                      <a:prstGeom prst="rect">
                        <a:avLst/>
                      </a:prstGeom>
                    </p:spPr>
                  </p:pic>
                </p:oleObj>
              </mc:Fallback>
            </mc:AlternateContent>
          </a:graphicData>
        </a:graphic>
      </p:graphicFrame>
      <p:sp>
        <p:nvSpPr>
          <p:cNvPr id="5" name="Content Placeholder 4"/>
          <p:cNvSpPr>
            <a:spLocks noGrp="1"/>
          </p:cNvSpPr>
          <p:nvPr>
            <p:ph sz="quarter" idx="13"/>
          </p:nvPr>
        </p:nvSpPr>
        <p:spPr>
          <a:xfrm>
            <a:off x="457200" y="1600201"/>
            <a:ext cx="8229600" cy="558800"/>
          </a:xfrm>
        </p:spPr>
        <p:txBody>
          <a:bodyPr/>
          <a:lstStyle/>
          <a:p>
            <a:pPr marL="231775" indent="4518025"/>
            <a:r>
              <a:rPr lang="en-US" altLang="en-US" sz="2400" dirty="0">
                <a:latin typeface="+mn-lt"/>
              </a:rPr>
              <a:t>must be overloaded separately.</a:t>
            </a:r>
          </a:p>
          <a:p>
            <a:pPr marL="256032" indent="-256032">
              <a:spcBef>
                <a:spcPts val="1500"/>
              </a:spcBef>
              <a:buClr>
                <a:schemeClr val="tx2"/>
              </a:buClr>
              <a:buFont typeface="Arial" panose="020B0604020202020204" pitchFamily="34" charset="0"/>
              <a:buChar char="•"/>
            </a:pPr>
            <a:r>
              <a:rPr lang="en-US" altLang="en-US" sz="2400" dirty="0">
                <a:latin typeface="+mn-lt"/>
              </a:rPr>
              <a:t>When overloading</a:t>
            </a:r>
            <a:endParaRPr lang="en-US" sz="2400" dirty="0">
              <a:latin typeface="+mn-lt"/>
            </a:endParaRPr>
          </a:p>
        </p:txBody>
      </p:sp>
      <p:graphicFrame>
        <p:nvGraphicFramePr>
          <p:cNvPr id="8" name="Object 7" descr="Left parenthesis right parenthesis comma left bracket right bracket comma right pointing arrow."/>
          <p:cNvGraphicFramePr>
            <a:graphicFrameLocks noChangeAspect="1"/>
          </p:cNvGraphicFramePr>
          <p:nvPr>
            <p:extLst>
              <p:ext uri="{D42A27DB-BD31-4B8C-83A1-F6EECF244321}">
                <p14:modId xmlns:p14="http://schemas.microsoft.com/office/powerpoint/2010/main" val="1474820439"/>
              </p:ext>
            </p:extLst>
          </p:nvPr>
        </p:nvGraphicFramePr>
        <p:xfrm>
          <a:off x="3333447" y="2532781"/>
          <a:ext cx="1194219" cy="454946"/>
        </p:xfrm>
        <a:graphic>
          <a:graphicData uri="http://schemas.openxmlformats.org/presentationml/2006/ole">
            <mc:AlternateContent xmlns:mc="http://schemas.openxmlformats.org/markup-compatibility/2006">
              <mc:Choice xmlns:v="urn:schemas-microsoft-com:vml" Requires="v">
                <p:oleObj spid="_x0000_s29016" name="Equation" r:id="rId5" imgW="533160" imgH="203040" progId="Equation.DSMT4">
                  <p:embed/>
                </p:oleObj>
              </mc:Choice>
              <mc:Fallback>
                <p:oleObj name="Equation" r:id="rId5" imgW="533160" imgH="203040" progId="Equation.DSMT4">
                  <p:embed/>
                  <p:pic>
                    <p:nvPicPr>
                      <p:cNvPr id="0" name=""/>
                      <p:cNvPicPr/>
                      <p:nvPr/>
                    </p:nvPicPr>
                    <p:blipFill>
                      <a:blip r:embed="rId6"/>
                      <a:stretch>
                        <a:fillRect/>
                      </a:stretch>
                    </p:blipFill>
                    <p:spPr>
                      <a:xfrm>
                        <a:off x="3333447" y="2532781"/>
                        <a:ext cx="1194219" cy="454946"/>
                      </a:xfrm>
                      <a:prstGeom prst="rect">
                        <a:avLst/>
                      </a:prstGeom>
                    </p:spPr>
                  </p:pic>
                </p:oleObj>
              </mc:Fallback>
            </mc:AlternateContent>
          </a:graphicData>
        </a:graphic>
      </p:graphicFrame>
      <p:sp>
        <p:nvSpPr>
          <p:cNvPr id="6" name="Content Placeholder 5"/>
          <p:cNvSpPr>
            <a:spLocks noGrp="1"/>
          </p:cNvSpPr>
          <p:nvPr>
            <p:ph sz="quarter" idx="14"/>
          </p:nvPr>
        </p:nvSpPr>
        <p:spPr>
          <a:xfrm>
            <a:off x="334370" y="2498258"/>
            <a:ext cx="8232775" cy="609600"/>
          </a:xfrm>
        </p:spPr>
        <p:txBody>
          <a:bodyPr/>
          <a:lstStyle/>
          <a:p>
            <a:pPr marL="341313" indent="3835400"/>
            <a:r>
              <a:rPr lang="en-US" altLang="en-US" sz="2400" dirty="0">
                <a:latin typeface="+mn-lt"/>
              </a:rPr>
              <a:t>or any of the assignment operators, the operator overloading function must be declared as a class member</a:t>
            </a:r>
            <a:r>
              <a:rPr lang="en-US" altLang="en-US" sz="2400" dirty="0" smtClean="0">
                <a:latin typeface="+mn-lt"/>
              </a:rPr>
              <a:t>.</a:t>
            </a:r>
            <a:endParaRPr lang="en-US" altLang="en-US" sz="2400" dirty="0">
              <a:latin typeface="+mn-lt"/>
            </a:endParaRPr>
          </a:p>
          <a:p>
            <a:pPr marL="740664" indent="-283464">
              <a:spcBef>
                <a:spcPts val="600"/>
              </a:spcBef>
              <a:spcAft>
                <a:spcPts val="0"/>
              </a:spcAft>
              <a:buClr>
                <a:schemeClr val="tx2"/>
              </a:buClr>
              <a:buFont typeface="Arial" panose="020B0604020202020204" pitchFamily="34" charset="0"/>
              <a:buChar char="–"/>
            </a:pPr>
            <a:r>
              <a:rPr lang="en-US" altLang="en-US" sz="2400" dirty="0">
                <a:latin typeface="+mn-lt"/>
              </a:rPr>
              <a:t>For all other overloadable operators, the operator overloading functions can be member functions or non-member functions.</a:t>
            </a:r>
            <a:endParaRPr lang="en-US" sz="2400" dirty="0">
              <a:latin typeface="+mn-lt"/>
            </a:endParaRPr>
          </a:p>
        </p:txBody>
      </p:sp>
    </p:spTree>
    <p:extLst>
      <p:ext uri="{BB962C8B-B14F-4D97-AF65-F5344CB8AC3E}">
        <p14:creationId xmlns:p14="http://schemas.microsoft.com/office/powerpoint/2010/main" val="417147088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Observation </a:t>
            </a:r>
            <a:r>
              <a:rPr lang="en-US" dirty="0" smtClean="0"/>
              <a:t>18.1</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Overload operators for class types so they work as closely as possible to the way </a:t>
            </a:r>
            <a:r>
              <a:rPr lang="en-US" sz="2400" dirty="0" smtClean="0">
                <a:latin typeface="+mn-lt"/>
              </a:rPr>
              <a:t>built-in operators </a:t>
            </a:r>
            <a:r>
              <a:rPr lang="en-US" sz="2400" dirty="0">
                <a:latin typeface="+mn-lt"/>
              </a:rPr>
              <a:t>work on fundamental types.</a:t>
            </a:r>
          </a:p>
        </p:txBody>
      </p:sp>
    </p:spTree>
    <p:extLst>
      <p:ext uri="{BB962C8B-B14F-4D97-AF65-F5344CB8AC3E}">
        <p14:creationId xmlns:p14="http://schemas.microsoft.com/office/powerpoint/2010/main" val="22084628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18.4 Overloading Binary Operators</a:t>
            </a:r>
            <a:endParaRPr lang="en-US" alt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A binary operator can be overloaded as a non-</a:t>
            </a:r>
            <a:r>
              <a:rPr lang="en-US" altLang="en-US" sz="2400" kern="1200" dirty="0">
                <a:solidFill>
                  <a:srgbClr val="000000"/>
                </a:solidFill>
                <a:latin typeface="Consolas" panose="020B0609020204030204" pitchFamily="49" charset="0"/>
                <a:ea typeface="+mn-ea"/>
                <a:cs typeface="Consolas" panose="020B0609020204030204" pitchFamily="49" charset="0"/>
              </a:rPr>
              <a:t>static</a:t>
            </a:r>
            <a:r>
              <a:rPr lang="en-US" altLang="en-US" sz="2400" b="1" kern="1200" dirty="0">
                <a:solidFill>
                  <a:srgbClr val="000000"/>
                </a:solidFill>
                <a:latin typeface="Arial (Body)"/>
                <a:ea typeface="+mn-ea"/>
                <a:cs typeface="+mn-cs"/>
              </a:rPr>
              <a:t> </a:t>
            </a:r>
            <a:r>
              <a:rPr lang="en-US" altLang="en-US" sz="2400" kern="1200" dirty="0">
                <a:solidFill>
                  <a:srgbClr val="000000"/>
                </a:solidFill>
                <a:latin typeface="Arial (Body)"/>
                <a:ea typeface="+mn-ea"/>
                <a:cs typeface="+mn-cs"/>
              </a:rPr>
              <a:t>member function with one parameter or as a non-member function with two parameters (one of those parameters must be either a class object or a reference to a class object).</a:t>
            </a:r>
          </a:p>
          <a:p>
            <a:pPr marL="255651" indent="-255651" eaLnBrk="1" hangingPunct="1">
              <a:tabLst/>
              <a:defRPr/>
            </a:pPr>
            <a:r>
              <a:rPr lang="en-US" altLang="en-US" sz="2400" kern="1200" dirty="0">
                <a:solidFill>
                  <a:srgbClr val="000000"/>
                </a:solidFill>
                <a:latin typeface="Arial (Body)"/>
                <a:ea typeface="+mn-ea"/>
                <a:cs typeface="+mn-cs"/>
              </a:rPr>
              <a:t>As a non-member function, binary operator </a:t>
            </a:r>
            <a:r>
              <a:rPr lang="en-US" altLang="en-US" sz="2400" kern="1200" dirty="0" smtClean="0">
                <a:solidFill>
                  <a:srgbClr val="000000"/>
                </a:solidFill>
                <a:latin typeface="Consolas" panose="020B0609020204030204" pitchFamily="49" charset="0"/>
                <a:ea typeface="+mn-ea"/>
                <a:cs typeface="Consolas" panose="020B0609020204030204" pitchFamily="49" charset="0"/>
              </a:rPr>
              <a:t>&lt;</a:t>
            </a:r>
            <a:r>
              <a:rPr lang="en-US" altLang="en-US" sz="2400" kern="1200" dirty="0" smtClean="0">
                <a:solidFill>
                  <a:srgbClr val="000000"/>
                </a:solidFill>
                <a:latin typeface="Arial (Body)"/>
                <a:ea typeface="+mn-ea"/>
                <a:cs typeface="+mn-cs"/>
              </a:rPr>
              <a:t> </a:t>
            </a:r>
            <a:r>
              <a:rPr lang="en-US" altLang="en-US" sz="2400" kern="1200" dirty="0">
                <a:solidFill>
                  <a:srgbClr val="000000"/>
                </a:solidFill>
                <a:latin typeface="Arial (Body)"/>
                <a:ea typeface="+mn-ea"/>
                <a:cs typeface="+mn-cs"/>
              </a:rPr>
              <a:t>must take two </a:t>
            </a:r>
            <a:r>
              <a:rPr lang="en-US" altLang="en-US" sz="2400" kern="1200" dirty="0" smtClean="0">
                <a:solidFill>
                  <a:srgbClr val="000000"/>
                </a:solidFill>
                <a:latin typeface="Arial (Body)"/>
                <a:ea typeface="+mn-ea"/>
                <a:cs typeface="+mn-cs"/>
              </a:rPr>
              <a:t>arguments—one </a:t>
            </a:r>
            <a:r>
              <a:rPr lang="en-US" altLang="en-US" sz="2400" kern="1200" dirty="0">
                <a:solidFill>
                  <a:srgbClr val="000000"/>
                </a:solidFill>
                <a:latin typeface="Arial (Body)"/>
                <a:ea typeface="+mn-ea"/>
                <a:cs typeface="+mn-cs"/>
              </a:rPr>
              <a:t>of which must be an object (or a reference to an object) of the class.</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129"/>
            <a:ext cx="8229600" cy="1169521"/>
          </a:xfrm>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18.5 Overloading the Binary Stream Insertion and Stream Extraction Operators </a:t>
            </a:r>
            <a:r>
              <a:rPr lang="en-US" altLang="en-US" sz="2000" b="0" kern="1200" dirty="0" smtClean="0">
                <a:latin typeface="Times New Roman" panose="02020603050405020304" pitchFamily="18" charset="0"/>
                <a:ea typeface="+mj-ea"/>
                <a:cs typeface="+mj-cs"/>
              </a:rPr>
              <a:t>(1 of 6)</a:t>
            </a:r>
            <a:endParaRPr lang="en-US" altLang="en-US" sz="2000" b="0" kern="1200" dirty="0">
              <a:latin typeface="Times New Roman" panose="02020603050405020304" pitchFamily="18" charset="0"/>
              <a:ea typeface="+mj-ea"/>
              <a:cs typeface="+mj-cs"/>
            </a:endParaRPr>
          </a:p>
        </p:txBody>
      </p:sp>
      <p:sp>
        <p:nvSpPr>
          <p:cNvPr id="7" name="Text Placeholder 6"/>
          <p:cNvSpPr>
            <a:spLocks noGrp="1"/>
          </p:cNvSpPr>
          <p:nvPr>
            <p:ph type="body" idx="1"/>
          </p:nvPr>
        </p:nvSpPr>
        <p:spPr>
          <a:xfrm>
            <a:off x="457200" y="1600201"/>
            <a:ext cx="8229600" cy="856396"/>
          </a:xfrm>
        </p:spPr>
        <p:txBody>
          <a:bodyPr/>
          <a:lstStyle/>
          <a:p>
            <a:r>
              <a:rPr lang="en-US" altLang="en-US" sz="2200" kern="1200" dirty="0">
                <a:solidFill>
                  <a:srgbClr val="000000"/>
                </a:solidFill>
                <a:latin typeface="Arial (Body)"/>
              </a:rPr>
              <a:t>You can input and output fundamental-type data using the stream extraction operator</a:t>
            </a:r>
            <a:endParaRPr lang="en-US" sz="2200" dirty="0"/>
          </a:p>
        </p:txBody>
      </p:sp>
      <p:graphicFrame>
        <p:nvGraphicFramePr>
          <p:cNvPr id="11" name="Object 10" descr="Right angle bracket right angle bracket"/>
          <p:cNvGraphicFramePr>
            <a:graphicFrameLocks noChangeAspect="1"/>
          </p:cNvGraphicFramePr>
          <p:nvPr>
            <p:extLst>
              <p:ext uri="{D42A27DB-BD31-4B8C-83A1-F6EECF244321}">
                <p14:modId xmlns:p14="http://schemas.microsoft.com/office/powerpoint/2010/main" val="2961611717"/>
              </p:ext>
            </p:extLst>
          </p:nvPr>
        </p:nvGraphicFramePr>
        <p:xfrm>
          <a:off x="4127408" y="2099392"/>
          <a:ext cx="424721" cy="249840"/>
        </p:xfrm>
        <a:graphic>
          <a:graphicData uri="http://schemas.openxmlformats.org/presentationml/2006/ole">
            <mc:AlternateContent xmlns:mc="http://schemas.openxmlformats.org/markup-compatibility/2006">
              <mc:Choice xmlns:v="urn:schemas-microsoft-com:vml" Requires="v">
                <p:oleObj spid="_x0000_s30033" name="Equation" r:id="rId3" imgW="215640" imgH="126720" progId="Equation.DSMT4">
                  <p:embed/>
                </p:oleObj>
              </mc:Choice>
              <mc:Fallback>
                <p:oleObj name="Equation" r:id="rId3" imgW="215640" imgH="126720" progId="Equation.DSMT4">
                  <p:embed/>
                  <p:pic>
                    <p:nvPicPr>
                      <p:cNvPr id="0" name=""/>
                      <p:cNvPicPr/>
                      <p:nvPr/>
                    </p:nvPicPr>
                    <p:blipFill>
                      <a:blip r:embed="rId4"/>
                      <a:stretch>
                        <a:fillRect/>
                      </a:stretch>
                    </p:blipFill>
                    <p:spPr>
                      <a:xfrm>
                        <a:off x="4127408" y="2099392"/>
                        <a:ext cx="424721" cy="249840"/>
                      </a:xfrm>
                      <a:prstGeom prst="rect">
                        <a:avLst/>
                      </a:prstGeom>
                    </p:spPr>
                  </p:pic>
                </p:oleObj>
              </mc:Fallback>
            </mc:AlternateContent>
          </a:graphicData>
        </a:graphic>
      </p:graphicFrame>
      <p:sp>
        <p:nvSpPr>
          <p:cNvPr id="8" name="Content Placeholder 7"/>
          <p:cNvSpPr>
            <a:spLocks noGrp="1"/>
          </p:cNvSpPr>
          <p:nvPr>
            <p:ph sz="quarter" idx="13"/>
          </p:nvPr>
        </p:nvSpPr>
        <p:spPr>
          <a:xfrm>
            <a:off x="457200" y="1940772"/>
            <a:ext cx="8229600" cy="558800"/>
          </a:xfrm>
        </p:spPr>
        <p:txBody>
          <a:bodyPr/>
          <a:lstStyle/>
          <a:p>
            <a:pPr marL="290513" indent="3773488"/>
            <a:r>
              <a:rPr lang="en-US" altLang="en-US" sz="2200" dirty="0">
                <a:latin typeface="+mn-lt"/>
              </a:rPr>
              <a:t>and the </a:t>
            </a:r>
            <a:r>
              <a:rPr lang="en-US" altLang="en-US" sz="2200" dirty="0" smtClean="0">
                <a:latin typeface="+mn-lt"/>
              </a:rPr>
              <a:t>stream insertion operator</a:t>
            </a:r>
            <a:endParaRPr lang="en-US" sz="2200" dirty="0">
              <a:latin typeface="+mn-lt"/>
            </a:endParaRPr>
          </a:p>
        </p:txBody>
      </p:sp>
      <p:graphicFrame>
        <p:nvGraphicFramePr>
          <p:cNvPr id="12" name="Object 11" descr="Left angle bracket left angle bracket."/>
          <p:cNvGraphicFramePr>
            <a:graphicFrameLocks noChangeAspect="1"/>
          </p:cNvGraphicFramePr>
          <p:nvPr>
            <p:extLst>
              <p:ext uri="{D42A27DB-BD31-4B8C-83A1-F6EECF244321}">
                <p14:modId xmlns:p14="http://schemas.microsoft.com/office/powerpoint/2010/main" val="2885997728"/>
              </p:ext>
            </p:extLst>
          </p:nvPr>
        </p:nvGraphicFramePr>
        <p:xfrm>
          <a:off x="1929094" y="2417097"/>
          <a:ext cx="554158" cy="252157"/>
        </p:xfrm>
        <a:graphic>
          <a:graphicData uri="http://schemas.openxmlformats.org/presentationml/2006/ole">
            <mc:AlternateContent xmlns:mc="http://schemas.openxmlformats.org/markup-compatibility/2006">
              <mc:Choice xmlns:v="urn:schemas-microsoft-com:vml" Requires="v">
                <p:oleObj spid="_x0000_s30034" name="Equation" r:id="rId5" imgW="279360" imgH="126720" progId="Equation.DSMT4">
                  <p:embed/>
                </p:oleObj>
              </mc:Choice>
              <mc:Fallback>
                <p:oleObj name="Equation" r:id="rId5" imgW="279360" imgH="126720" progId="Equation.DSMT4">
                  <p:embed/>
                  <p:pic>
                    <p:nvPicPr>
                      <p:cNvPr id="0" name=""/>
                      <p:cNvPicPr/>
                      <p:nvPr/>
                    </p:nvPicPr>
                    <p:blipFill>
                      <a:blip r:embed="rId6"/>
                      <a:stretch>
                        <a:fillRect/>
                      </a:stretch>
                    </p:blipFill>
                    <p:spPr>
                      <a:xfrm>
                        <a:off x="1929094" y="2417097"/>
                        <a:ext cx="554158" cy="252157"/>
                      </a:xfrm>
                      <a:prstGeom prst="rect">
                        <a:avLst/>
                      </a:prstGeom>
                    </p:spPr>
                  </p:pic>
                </p:oleObj>
              </mc:Fallback>
            </mc:AlternateContent>
          </a:graphicData>
        </a:graphic>
      </p:graphicFrame>
      <p:sp>
        <p:nvSpPr>
          <p:cNvPr id="9" name="Content Placeholder 8"/>
          <p:cNvSpPr>
            <a:spLocks noGrp="1"/>
          </p:cNvSpPr>
          <p:nvPr>
            <p:ph sz="quarter" idx="14"/>
          </p:nvPr>
        </p:nvSpPr>
        <p:spPr>
          <a:xfrm>
            <a:off x="454025" y="2689888"/>
            <a:ext cx="8232775" cy="3145128"/>
          </a:xfrm>
        </p:spPr>
        <p:txBody>
          <a:bodyPr/>
          <a:lstStyle/>
          <a:p>
            <a:pPr marL="256032" indent="-256032">
              <a:spcBef>
                <a:spcPts val="1500"/>
              </a:spcBef>
              <a:buClr>
                <a:schemeClr val="tx2"/>
              </a:buClr>
              <a:buFont typeface="Arial" panose="020B0604020202020204" pitchFamily="34" charset="0"/>
              <a:buChar char="•"/>
            </a:pPr>
            <a:r>
              <a:rPr lang="en-US" altLang="en-US" sz="2200" kern="1200" dirty="0">
                <a:latin typeface="+mn-lt"/>
              </a:rPr>
              <a:t>The C++ class libraries overload these binary operators for each fundamental type, including pointers and char * strings</a:t>
            </a:r>
            <a:r>
              <a:rPr lang="en-US" altLang="en-US" sz="2200" kern="1200" dirty="0" smtClean="0">
                <a:latin typeface="+mn-lt"/>
              </a:rPr>
              <a:t>.</a:t>
            </a:r>
          </a:p>
          <a:p>
            <a:pPr marL="256032" indent="-256032" eaLnBrk="1" hangingPunct="1">
              <a:spcBef>
                <a:spcPts val="1500"/>
              </a:spcBef>
              <a:buClr>
                <a:schemeClr val="tx2"/>
              </a:buClr>
              <a:buFont typeface="Arial" panose="020B0604020202020204" pitchFamily="34" charset="0"/>
              <a:buChar char="•"/>
              <a:tabLst/>
              <a:defRPr/>
            </a:pPr>
            <a:r>
              <a:rPr lang="en-US" altLang="en-US" sz="2200" kern="1200" dirty="0">
                <a:latin typeface="+mn-lt"/>
              </a:rPr>
              <a:t>You can also overload these operators to perform input and output for your own types.</a:t>
            </a:r>
          </a:p>
          <a:p>
            <a:pPr marL="256032" indent="-256032" eaLnBrk="1" hangingPunct="1">
              <a:spcBef>
                <a:spcPts val="1500"/>
              </a:spcBef>
              <a:buClr>
                <a:schemeClr val="tx2"/>
              </a:buClr>
              <a:buFont typeface="Arial" panose="020B0604020202020204" pitchFamily="34" charset="0"/>
              <a:buChar char="•"/>
              <a:tabLst/>
              <a:defRPr/>
            </a:pPr>
            <a:r>
              <a:rPr lang="en-US" altLang="en-US" sz="2200" kern="1200" dirty="0">
                <a:latin typeface="+mn-lt"/>
              </a:rPr>
              <a:t>The program of Figures </a:t>
            </a:r>
            <a:r>
              <a:rPr lang="en-US" altLang="en-US" sz="2200" kern="1200" dirty="0" smtClean="0">
                <a:latin typeface="+mn-lt"/>
              </a:rPr>
              <a:t>18.3 –18.5 overloads </a:t>
            </a:r>
            <a:r>
              <a:rPr lang="en-US" altLang="en-US" sz="2200" kern="1200" dirty="0">
                <a:latin typeface="+mn-lt"/>
              </a:rPr>
              <a:t>these operators to input and output </a:t>
            </a:r>
            <a:r>
              <a:rPr lang="en-US" altLang="en-US" sz="2200" kern="1200" dirty="0" smtClean="0">
                <a:latin typeface="+mn-lt"/>
                <a:cs typeface="Consolas" panose="020B0609020204030204" pitchFamily="49" charset="0"/>
              </a:rPr>
              <a:t>PhoneNumber</a:t>
            </a:r>
            <a:r>
              <a:rPr lang="en-US" altLang="en-US" sz="2200" kern="1200" dirty="0" smtClean="0">
                <a:latin typeface="+mn-lt"/>
              </a:rPr>
              <a:t> </a:t>
            </a:r>
            <a:r>
              <a:rPr lang="en-US" altLang="en-US" sz="2200" kern="1200" dirty="0">
                <a:latin typeface="+mn-lt"/>
              </a:rPr>
              <a:t>objects in the format “</a:t>
            </a:r>
            <a:r>
              <a:rPr lang="en-US" altLang="en-US" sz="2200" kern="1200" dirty="0">
                <a:latin typeface="+mn-lt"/>
                <a:cs typeface="Consolas" panose="020B0609020204030204" pitchFamily="49" charset="0"/>
              </a:rPr>
              <a:t>(000) 000-0000</a:t>
            </a:r>
            <a:r>
              <a:rPr lang="en-US" altLang="en-US" sz="2200" kern="1200" dirty="0">
                <a:latin typeface="+mn-lt"/>
              </a:rPr>
              <a:t>.” The program assumes telephone numbers are input correctly.</a:t>
            </a:r>
            <a:endParaRPr lang="en-US" sz="2200" dirty="0">
              <a:latin typeface="+mn-lt"/>
            </a:endParaRPr>
          </a:p>
        </p:txBody>
      </p:sp>
    </p:spTree>
    <p:extLst>
      <p:ext uri="{BB962C8B-B14F-4D97-AF65-F5344CB8AC3E}">
        <p14:creationId xmlns:p14="http://schemas.microsoft.com/office/powerpoint/2010/main" val="51277775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466029"/>
          </a:xfrm>
        </p:spPr>
        <p:txBody>
          <a:bodyPr anchor="b"/>
          <a:lstStyle/>
          <a:p>
            <a:r>
              <a:rPr lang="en-US" sz="2800" dirty="0" smtClean="0"/>
              <a:t>Figure 18.3 </a:t>
            </a:r>
            <a:r>
              <a:rPr lang="en-US" sz="2800" dirty="0">
                <a:latin typeface="Consolas" panose="020B0609020204030204" pitchFamily="49" charset="0"/>
                <a:cs typeface="Consolas" panose="020B0609020204030204" pitchFamily="49" charset="0"/>
              </a:rPr>
              <a:t>PhoneNumber</a:t>
            </a:r>
            <a:r>
              <a:rPr lang="en-US" sz="2800" dirty="0"/>
              <a:t> Class with Overloaded Stream Insertion and Stream Extraction Operators as F</a:t>
            </a:r>
            <a:r>
              <a:rPr lang="en-US" sz="2800" dirty="0" smtClean="0">
                <a:latin typeface="Consolas" panose="020B0609020204030204" pitchFamily="49" charset="0"/>
                <a:cs typeface="Consolas" panose="020B0609020204030204" pitchFamily="49" charset="0"/>
              </a:rPr>
              <a:t>riend</a:t>
            </a:r>
            <a:r>
              <a:rPr lang="en-US" sz="2800" dirty="0" smtClean="0"/>
              <a:t> </a:t>
            </a:r>
            <a:r>
              <a:rPr lang="en-US" sz="2800" dirty="0"/>
              <a:t>Functions</a:t>
            </a:r>
          </a:p>
        </p:txBody>
      </p:sp>
      <p:pic>
        <p:nvPicPr>
          <p:cNvPr id="5" name="Picture 4" descr="The computer code has 19 lines. The lines read as follows. Line 1. forward slash forward slash F i g period 18 period 3 colon Phone Number period h. Line 2. forward slash forward slash Phone Number class definition. Line 3. hash if n d e f PHONE NUMBER underscore H. Line 4. hash define PHONE NUMBER underscore H. Line 5. Blank. Line 6. hash include left angle bracket i o stream right angle bracket. Line 7. hash include less than sign string greater than sign. Line 8. Blank. Line 9. class Phone Number. Line 10. left brace. Line 11, indented once. friend s t d colon colon o stream ampersand operator left angle bracket left angle bracket left parenthesis s t d colon colon o stream ampersand comma c o n s t Phone Number ampersand right parenthesis semicolon. Line 12, indented once. friend s t d colon colon i stream ampersand operator right angle bracket right angle bracket left parenthesis s t d colon colon i stream ampersand comma Phone Number ampersand right parenthesis semicolon. Lines 11 and 12 are highlighted. Line 13. private colon. Line 14, indented once. s t d colon colon string area Code semicolon forward slash forward slash 3 dash digit area code. Line 15, indented once. s t d colon colon string exchange semicolon forward slash forward slash 3 dash digit exchange. Line 16, indented once. s t d colon colon string line semicolon forward slash forward slash 4 dash digit line. Line 17. right brace semicolon forward slash forward slash end class Phone Number. Line 18. Blank. Line 19. hash end if."/>
          <p:cNvPicPr>
            <a:picLocks noChangeAspect="1"/>
          </p:cNvPicPr>
          <p:nvPr/>
        </p:nvPicPr>
        <p:blipFill>
          <a:blip r:embed="rId2"/>
          <a:stretch>
            <a:fillRect/>
          </a:stretch>
        </p:blipFill>
        <p:spPr>
          <a:xfrm>
            <a:off x="457202" y="1694629"/>
            <a:ext cx="8229598" cy="436710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353457"/>
          </a:xfrm>
        </p:spPr>
        <p:txBody>
          <a:bodyPr anchor="b"/>
          <a:lstStyle/>
          <a:p>
            <a:r>
              <a:rPr lang="en-US" sz="2800" dirty="0" smtClean="0"/>
              <a:t>Figure 18.4 Overloaded Stream Insertion and Stream Extraction Operators for Class </a:t>
            </a:r>
            <a:r>
              <a:rPr lang="en-US" sz="2800" dirty="0" smtClean="0">
                <a:latin typeface="Consolas" panose="020B0609020204030204" pitchFamily="49" charset="0"/>
                <a:cs typeface="Consolas" panose="020B0609020204030204" pitchFamily="49" charset="0"/>
              </a:rPr>
              <a:t>PhoneNumber</a:t>
            </a:r>
            <a:r>
              <a:rPr lang="en-US" sz="2800" dirty="0" smtClean="0"/>
              <a:t> </a:t>
            </a:r>
            <a:r>
              <a:rPr lang="en-US" sz="2000" b="0" dirty="0" smtClean="0"/>
              <a:t>(1 of 2)</a:t>
            </a:r>
            <a:endParaRPr lang="en-US" sz="2000" b="0" dirty="0"/>
          </a:p>
        </p:txBody>
      </p:sp>
      <p:pic>
        <p:nvPicPr>
          <p:cNvPr id="5" name="Picture 4" descr="The computer code has 30 lines. The lines read as follows. Line 1. forward slash forward slash F i g period 18 period 4 colon Phone Number period c p p. Line 2. forward slash forward slash Overloaded stream insertion and stream extraction operators. Line 3. forward slash forward slash for class Phone Number period. Line 4. hash include less than sign i o man i p greater than sign. Line 5. hash include double quote Phone Number period h double quote. Line 6. using name space s t d semicolon. Line 8. forward slash forward slash overloaded stream insertion operator semicolon cannot be. Line 9. forward slash forward slash a member function if we would like to invoke it with. Line 10. forward slash forward slash c out left angle bracket left angle bracket some Phone Number semicolon. Line 11. o stream ampersand operator left angle bracket left angle bracket left parenthesis o stream ampersand output comma c o n s t Phone Number ampersand number right parenthesis. Line 12. left brace. Line 13, indented once. output left angle bracket left angle bracket double quote left parenthesis double quote left angle bracket left angle bracket number period area Code left angle bracket left angle bracket double quote right parenthesis double quote. Line 14, indented twice. left angle bracket left angle bracket number period exchange left angle bracket left angle bracket double quote dash double quote left angle bracket left angle bracket number period line semicolon. Line 15, indented once. return output semicolon forward slash forward slash enables c out left angle bracket left angle bracket a left angle bracket left angle bracket b left angle bracket left angle bracket c semicolon. Line 16. right brace forward slash forward slash end function operator left angle bracket left angle bracket. Line 17. Blank."/>
          <p:cNvPicPr>
            <a:picLocks noChangeAspect="1"/>
          </p:cNvPicPr>
          <p:nvPr/>
        </p:nvPicPr>
        <p:blipFill>
          <a:blip r:embed="rId2"/>
          <a:stretch>
            <a:fillRect/>
          </a:stretch>
        </p:blipFill>
        <p:spPr>
          <a:xfrm>
            <a:off x="431425" y="1984800"/>
            <a:ext cx="8281152" cy="3818842"/>
          </a:xfrm>
          <a:prstGeom prst="rect">
            <a:avLst/>
          </a:prstGeom>
        </p:spPr>
      </p:pic>
    </p:spTree>
    <p:extLst>
      <p:ext uri="{BB962C8B-B14F-4D97-AF65-F5344CB8AC3E}">
        <p14:creationId xmlns:p14="http://schemas.microsoft.com/office/powerpoint/2010/main" val="33305719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353457"/>
          </a:xfrm>
        </p:spPr>
        <p:txBody>
          <a:bodyPr anchor="b"/>
          <a:lstStyle/>
          <a:p>
            <a:r>
              <a:rPr lang="en-US" sz="2800" dirty="0" smtClean="0"/>
              <a:t>Figure 18.4 Overloaded Stream Insertion and Stream Extraction Operators for Class </a:t>
            </a:r>
            <a:r>
              <a:rPr lang="en-US" sz="2800" dirty="0" smtClean="0">
                <a:latin typeface="Consolas" panose="020B0609020204030204" pitchFamily="49" charset="0"/>
                <a:cs typeface="Consolas" panose="020B0609020204030204" pitchFamily="49" charset="0"/>
              </a:rPr>
              <a:t>PhoneNumber</a:t>
            </a:r>
            <a:r>
              <a:rPr lang="en-US" sz="2800" dirty="0" smtClean="0"/>
              <a:t> </a:t>
            </a:r>
            <a:r>
              <a:rPr lang="en-US" sz="2000" b="0" dirty="0" smtClean="0"/>
              <a:t>(2 of 2)</a:t>
            </a:r>
            <a:endParaRPr lang="en-US" sz="2000" b="0" dirty="0"/>
          </a:p>
        </p:txBody>
      </p:sp>
      <p:pic>
        <p:nvPicPr>
          <p:cNvPr id="4" name="Picture 3" descr="The code continues. Line 18. forward slash forward slash overloaded stream extraction operator semicolon cannot be. Line 19. forward slash forward slash a member function if we would like to invoke it with. Line 20. forward slash forward slash c in right angle bracket right angle bracket some Phone Number semicolon. Line 21. i stream ampersand operator right angle bracket right angle bracket left parenthesis i stream ampersand input comma Phone Number ampersand number right parenthesis. Line 22. left brace. Line 23, indented once. input period ignore left parenthesis right parenthesis semicolon forward slash forward slash skip left parenthesis. Line 24, indented once. input right angle bracket right angle bracket set w left parenthesis 3 right parenthesis right angle bracket right angle bracket number period area Code semicolon forward slash forward slash input area code. Line 25, indented once. input period ignore left parenthesis 2 right parenthesis semicolon forward slash forward slash skip right parenthesis and space. Line 26, indented once. input right angle bracket right angle bracket set w left parenthesis 3 right parenthesis right angle bracket right angle bracket number period exchange semicolon forward slash forward slash input exchange. Line 27, indented once. input period ignore left parenthesis right parenthesis semicolon forward slash forward slash skip dash left parenthesis dash right parenthesis. Line 28, indented once. input right angle bracket right angle bracket set w left parenthesis 4 right parenthesis right angle bracket right angle bracket number period line semicolon forward slash forward slash input line. Line 29, indented once. return input semicolon forward slash forward slash enables c in right angle bracket right angle bracket a right angle bracket right angle bracket b right angle bracket right angle bracket c semicolon. Line 30. right brace forward slash forward slash end function operator right angle bracket right angle bracket. Lines 18 to 30 are highlighted."/>
          <p:cNvPicPr>
            <a:picLocks noChangeAspect="1"/>
          </p:cNvPicPr>
          <p:nvPr/>
        </p:nvPicPr>
        <p:blipFill rotWithShape="1">
          <a:blip r:embed="rId2"/>
          <a:srcRect r="3161"/>
          <a:stretch/>
        </p:blipFill>
        <p:spPr>
          <a:xfrm>
            <a:off x="564136" y="2013956"/>
            <a:ext cx="8015728" cy="3100786"/>
          </a:xfrm>
          <a:prstGeom prst="rect">
            <a:avLst/>
          </a:prstGeom>
        </p:spPr>
      </p:pic>
    </p:spTree>
    <p:extLst>
      <p:ext uri="{BB962C8B-B14F-4D97-AF65-F5344CB8AC3E}">
        <p14:creationId xmlns:p14="http://schemas.microsoft.com/office/powerpoint/2010/main" val="226844082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sz="3200" dirty="0" smtClean="0"/>
              <a:t>Figure 18.5 </a:t>
            </a:r>
            <a:r>
              <a:rPr lang="en-US" sz="3200" dirty="0"/>
              <a:t>Overloaded Stream Insertion and Stream Extraction </a:t>
            </a:r>
            <a:r>
              <a:rPr lang="en-US" sz="3200" dirty="0" smtClean="0"/>
              <a:t>Operators </a:t>
            </a:r>
            <a:r>
              <a:rPr lang="en-US" sz="2000" b="0" dirty="0" smtClean="0"/>
              <a:t>(1 </a:t>
            </a:r>
            <a:r>
              <a:rPr lang="en-US" sz="2000" b="0" dirty="0"/>
              <a:t>of </a:t>
            </a:r>
            <a:r>
              <a:rPr lang="en-US" sz="2000" b="0" dirty="0" smtClean="0"/>
              <a:t>2)</a:t>
            </a:r>
            <a:endParaRPr lang="en-US" sz="2000" b="0" dirty="0"/>
          </a:p>
        </p:txBody>
      </p:sp>
      <p:pic>
        <p:nvPicPr>
          <p:cNvPr id="6" name="Picture 5" descr="The computer code has 23 lines. The lines read as follows. Line 1. forward slash forward slash F i g period 18 period 5 colon f i g 18 underscore 05 period c p p. Line 2. forward slash forward slash Demonstrating class Phone Number's overloaded stream insertion. Line 3. forward slash forward slash and stream extraction operators period. Line 4. hash include left angle bracket i o stream right angle bracket. Line 5. hash include double quote Phone Number period h double quote. Line 6. using namespace s t d semicolon. Line 7. Blank. Line 8. i n t main left parenthesis right parenthesis. Line 9. left brace. Line 10, indented once. Phone Number phone semicolon forward slash forward slash create object phone. Line 11. Blank. Line 12, indented once. c out left angle bracket left angle bracket double quote Enter phone number in the form left parenthesis 123 right parenthesis 456 dash 7890 colon double quote left angle bracket left angle bracket end l semicolon. Line 14, indented once. forward slash forward slash c in right angle bracket right angle bracket phone invokes operator right angle bracket right angle bracket by implicitly issuing. Line 15, indented once. forward slash forward slash the non dash member function call operator right angle bracket right angle bracket left parenthesis c in comma phone right parenthesis. Line 16, indented once. c in right angle bracket right angle bracket phone semicolon. Lines 14 to 16 are highlighted. Line 17. Blank. Line 18, indented once. c out left angle bracket left angle bracket double quote The phone number entered was colon double quote semicolon. Line 19. Blank. Line 20, indented once. forward slash forward slash c out left angle bracket left angle bracket phone invokes operator left angle bracket left angle bracket by implicitly issuing. Line 21, indented once. forward slash forward slash the non dash member function call operator left angle bracket left angle bracket left parenthesis c out comma phone right parenthesis. Line 22, indented once. c out left angle bracket left angle bracket phone left angle bracket left angle bracket end l semicolon. Lines 20 to 22 are highlighted. Line 23. right brace forward slash forward slash end main."/>
          <p:cNvPicPr>
            <a:picLocks noChangeAspect="1"/>
          </p:cNvPicPr>
          <p:nvPr/>
        </p:nvPicPr>
        <p:blipFill rotWithShape="1">
          <a:blip r:embed="rId2"/>
          <a:srcRect b="3522"/>
          <a:stretch/>
        </p:blipFill>
        <p:spPr>
          <a:xfrm>
            <a:off x="857568" y="1574052"/>
            <a:ext cx="7428864" cy="4677458"/>
          </a:xfrm>
          <a:prstGeom prst="rect">
            <a:avLst/>
          </a:prstGeom>
        </p:spPr>
      </p:pic>
    </p:spTree>
    <p:extLst>
      <p:ext uri="{BB962C8B-B14F-4D97-AF65-F5344CB8AC3E}">
        <p14:creationId xmlns:p14="http://schemas.microsoft.com/office/powerpoint/2010/main" val="11902959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sz="3200" dirty="0" smtClean="0"/>
              <a:t>Figure 18.5 </a:t>
            </a:r>
            <a:r>
              <a:rPr lang="en-US" sz="3200" dirty="0"/>
              <a:t>Overloaded Stream Insertion and Stream Extraction </a:t>
            </a:r>
            <a:r>
              <a:rPr lang="en-US" sz="3200" dirty="0" smtClean="0"/>
              <a:t>Operators </a:t>
            </a:r>
            <a:r>
              <a:rPr lang="en-US" sz="2000" b="0" dirty="0" smtClean="0"/>
              <a:t>(2 </a:t>
            </a:r>
            <a:r>
              <a:rPr lang="en-US" sz="2000" b="0" dirty="0"/>
              <a:t>of </a:t>
            </a:r>
            <a:r>
              <a:rPr lang="en-US" sz="2000" b="0" dirty="0" smtClean="0"/>
              <a:t>2)</a:t>
            </a:r>
            <a:endParaRPr lang="en-US" sz="2000" b="0" dirty="0"/>
          </a:p>
        </p:txBody>
      </p:sp>
      <p:pic>
        <p:nvPicPr>
          <p:cNvPr id="5" name="Picture 4" descr="The computer code output has 3lines. The lines read as follows. Line 1. Enter phone number in the form left parenthesis 1 2 3 right parenthesis 4 5 6 dash 7 8 9 0 colon. Line 2. left parenthesis 8 0 0 right parenthesis 5 5 5 dash 1 2 1 2. Line 3. The phone number entered was colon left parenthesis 8 0 0 right parenthesis 5 5 5 dash 1 2 1 2."/>
          <p:cNvPicPr>
            <a:picLocks noChangeAspect="1"/>
          </p:cNvPicPr>
          <p:nvPr/>
        </p:nvPicPr>
        <p:blipFill>
          <a:blip r:embed="rId2"/>
          <a:stretch>
            <a:fillRect/>
          </a:stretch>
        </p:blipFill>
        <p:spPr>
          <a:xfrm>
            <a:off x="679777" y="2759289"/>
            <a:ext cx="7784445" cy="1010238"/>
          </a:xfrm>
          <a:prstGeom prst="rect">
            <a:avLst/>
          </a:prstGeom>
        </p:spPr>
      </p:pic>
    </p:spTree>
    <p:extLst>
      <p:ext uri="{BB962C8B-B14F-4D97-AF65-F5344CB8AC3E}">
        <p14:creationId xmlns:p14="http://schemas.microsoft.com/office/powerpoint/2010/main" val="90456732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129"/>
            <a:ext cx="8229600" cy="1169521"/>
          </a:xfrm>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18.5 Overloading the Binary Stream Insertion and Stream Extraction Operators </a:t>
            </a:r>
            <a:r>
              <a:rPr lang="en-US" altLang="en-US" sz="2000" b="0" kern="1200" dirty="0" smtClean="0">
                <a:latin typeface="Times New Roman" panose="02020603050405020304" pitchFamily="18" charset="0"/>
                <a:ea typeface="+mj-ea"/>
                <a:cs typeface="+mj-cs"/>
              </a:rPr>
              <a:t>(2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spAutoFit/>
          </a:bodyPr>
          <a:lstStyle/>
          <a:p>
            <a:pPr marL="0" indent="0" eaLnBrk="1" hangingPunct="1">
              <a:buNone/>
              <a:tabLst/>
              <a:defRPr/>
            </a:pPr>
            <a:r>
              <a:rPr lang="en-US" sz="1800" b="1" kern="1200" dirty="0" smtClean="0">
                <a:solidFill>
                  <a:srgbClr val="000000"/>
                </a:solidFill>
                <a:latin typeface="Arial (Body)"/>
                <a:ea typeface="+mn-ea"/>
                <a:cs typeface="+mn-cs"/>
              </a:rPr>
              <a:t>Overloading the Stream Extraction</a:t>
            </a:r>
            <a:endParaRPr lang="en-US" sz="1800" kern="1200" dirty="0">
              <a:solidFill>
                <a:srgbClr val="000000"/>
              </a:solidFill>
              <a:latin typeface="Arial (Body)"/>
              <a:ea typeface="+mn-ea"/>
              <a:cs typeface="+mn-cs"/>
            </a:endParaRPr>
          </a:p>
        </p:txBody>
      </p:sp>
      <p:graphicFrame>
        <p:nvGraphicFramePr>
          <p:cNvPr id="8" name="Object 7" descr="Left parenthesis right angle bracket right angle bracket right parenthesis Operator."/>
          <p:cNvGraphicFramePr>
            <a:graphicFrameLocks noChangeAspect="1"/>
          </p:cNvGraphicFramePr>
          <p:nvPr>
            <p:extLst>
              <p:ext uri="{D42A27DB-BD31-4B8C-83A1-F6EECF244321}">
                <p14:modId xmlns:p14="http://schemas.microsoft.com/office/powerpoint/2010/main" val="3698976645"/>
              </p:ext>
            </p:extLst>
          </p:nvPr>
        </p:nvGraphicFramePr>
        <p:xfrm>
          <a:off x="4337396" y="1711371"/>
          <a:ext cx="1520318" cy="312565"/>
        </p:xfrm>
        <a:graphic>
          <a:graphicData uri="http://schemas.openxmlformats.org/presentationml/2006/ole">
            <mc:AlternateContent xmlns:mc="http://schemas.openxmlformats.org/markup-compatibility/2006">
              <mc:Choice xmlns:v="urn:schemas-microsoft-com:vml" Requires="v">
                <p:oleObj spid="_x0000_s21390" name="Equation" r:id="rId3" imgW="990360" imgH="203040" progId="Equation.DSMT4">
                  <p:embed/>
                </p:oleObj>
              </mc:Choice>
              <mc:Fallback>
                <p:oleObj name="Equation" r:id="rId3" imgW="990360" imgH="203040" progId="Equation.DSMT4">
                  <p:embed/>
                  <p:pic>
                    <p:nvPicPr>
                      <p:cNvPr id="0" name=""/>
                      <p:cNvPicPr/>
                      <p:nvPr/>
                    </p:nvPicPr>
                    <p:blipFill>
                      <a:blip r:embed="rId4"/>
                      <a:stretch>
                        <a:fillRect/>
                      </a:stretch>
                    </p:blipFill>
                    <p:spPr>
                      <a:xfrm>
                        <a:off x="4337396" y="1711371"/>
                        <a:ext cx="1520318" cy="312565"/>
                      </a:xfrm>
                      <a:prstGeom prst="rect">
                        <a:avLst/>
                      </a:prstGeom>
                    </p:spPr>
                  </p:pic>
                </p:oleObj>
              </mc:Fallback>
            </mc:AlternateContent>
          </a:graphicData>
        </a:graphic>
      </p:graphicFrame>
      <p:sp>
        <p:nvSpPr>
          <p:cNvPr id="5" name="Content Placeholder 4"/>
          <p:cNvSpPr>
            <a:spLocks noGrp="1"/>
          </p:cNvSpPr>
          <p:nvPr>
            <p:ph sz="quarter" idx="13"/>
          </p:nvPr>
        </p:nvSpPr>
        <p:spPr>
          <a:xfrm>
            <a:off x="457199" y="1994399"/>
            <a:ext cx="8229600" cy="558800"/>
          </a:xfrm>
        </p:spPr>
        <p:txBody>
          <a:bodyPr/>
          <a:lstStyle/>
          <a:p>
            <a:pPr marL="255600">
              <a:spcBef>
                <a:spcPts val="1500"/>
              </a:spcBef>
              <a:buClr>
                <a:schemeClr val="tx2"/>
              </a:buClr>
              <a:buFont typeface="Arial" panose="020B0604020202020204" pitchFamily="34" charset="0"/>
              <a:buChar char="•"/>
            </a:pPr>
            <a:r>
              <a:rPr lang="en-US" sz="1800" kern="1200" dirty="0" smtClean="0">
                <a:latin typeface="Arial (Body)"/>
              </a:rPr>
              <a:t>The stream extraction operator function</a:t>
            </a:r>
            <a:endParaRPr lang="en-US" sz="1800" dirty="0"/>
          </a:p>
        </p:txBody>
      </p:sp>
      <p:graphicFrame>
        <p:nvGraphicFramePr>
          <p:cNvPr id="9" name="Object 8" descr="Operator right angle bracket right angle bracket."/>
          <p:cNvGraphicFramePr>
            <a:graphicFrameLocks noChangeAspect="1"/>
          </p:cNvGraphicFramePr>
          <p:nvPr>
            <p:extLst>
              <p:ext uri="{D42A27DB-BD31-4B8C-83A1-F6EECF244321}">
                <p14:modId xmlns:p14="http://schemas.microsoft.com/office/powerpoint/2010/main" val="1900991327"/>
              </p:ext>
            </p:extLst>
          </p:nvPr>
        </p:nvGraphicFramePr>
        <p:xfrm>
          <a:off x="4827665" y="2098406"/>
          <a:ext cx="1425752" cy="305519"/>
        </p:xfrm>
        <a:graphic>
          <a:graphicData uri="http://schemas.openxmlformats.org/presentationml/2006/ole">
            <mc:AlternateContent xmlns:mc="http://schemas.openxmlformats.org/markup-compatibility/2006">
              <mc:Choice xmlns:v="urn:schemas-microsoft-com:vml" Requires="v">
                <p:oleObj spid="_x0000_s21391" name="Equation" r:id="rId5" imgW="888840" imgH="190440" progId="Equation.DSMT4">
                  <p:embed/>
                </p:oleObj>
              </mc:Choice>
              <mc:Fallback>
                <p:oleObj name="Equation" r:id="rId5" imgW="888840" imgH="190440" progId="Equation.DSMT4">
                  <p:embed/>
                  <p:pic>
                    <p:nvPicPr>
                      <p:cNvPr id="0" name=""/>
                      <p:cNvPicPr/>
                      <p:nvPr/>
                    </p:nvPicPr>
                    <p:blipFill>
                      <a:blip r:embed="rId6"/>
                      <a:stretch>
                        <a:fillRect/>
                      </a:stretch>
                    </p:blipFill>
                    <p:spPr>
                      <a:xfrm>
                        <a:off x="4827665" y="2098406"/>
                        <a:ext cx="1425752" cy="305519"/>
                      </a:xfrm>
                      <a:prstGeom prst="rect">
                        <a:avLst/>
                      </a:prstGeom>
                    </p:spPr>
                  </p:pic>
                </p:oleObj>
              </mc:Fallback>
            </mc:AlternateContent>
          </a:graphicData>
        </a:graphic>
      </p:graphicFrame>
      <p:sp>
        <p:nvSpPr>
          <p:cNvPr id="6" name="Content Placeholder 5"/>
          <p:cNvSpPr>
            <a:spLocks noGrp="1"/>
          </p:cNvSpPr>
          <p:nvPr>
            <p:ph sz="quarter" idx="14"/>
          </p:nvPr>
        </p:nvSpPr>
        <p:spPr>
          <a:xfrm>
            <a:off x="454024" y="1981301"/>
            <a:ext cx="8232775" cy="609600"/>
          </a:xfrm>
        </p:spPr>
        <p:txBody>
          <a:bodyPr/>
          <a:lstStyle/>
          <a:p>
            <a:pPr indent="5462588" eaLnBrk="1" hangingPunct="1">
              <a:tabLst/>
              <a:defRPr/>
            </a:pPr>
            <a:r>
              <a:rPr lang="en-US" sz="1800" kern="1200" dirty="0" smtClean="0">
                <a:latin typeface="Arial (Body)"/>
              </a:rPr>
              <a:t>(Figure 18.4 </a:t>
            </a:r>
            <a:r>
              <a:rPr lang="en-US" sz="1800" dirty="0" smtClean="0">
                <a:solidFill>
                  <a:srgbClr val="000000"/>
                </a:solidFill>
                <a:effectLst/>
                <a:latin typeface="+mn-lt"/>
                <a:sym typeface="Arial" panose="020B0604020202020204" pitchFamily="34" charset="0"/>
              </a:rPr>
              <a:t>(see slide 29)</a:t>
            </a:r>
            <a:r>
              <a:rPr lang="en-US" sz="1800" kern="1200" dirty="0" smtClean="0">
                <a:latin typeface="+mn-lt"/>
              </a:rPr>
              <a:t>,</a:t>
            </a:r>
            <a:r>
              <a:rPr lang="en-US" sz="1800" kern="1200" dirty="0" smtClean="0">
                <a:latin typeface="Arial (Body)"/>
              </a:rPr>
              <a:t> lines 21–30) takes </a:t>
            </a:r>
            <a:r>
              <a:rPr lang="en-US" sz="1800" kern="1200" dirty="0" smtClean="0">
                <a:latin typeface="Consolas" panose="020B0609020204030204" pitchFamily="49" charset="0"/>
                <a:cs typeface="Consolas" panose="020B0609020204030204" pitchFamily="49" charset="0"/>
              </a:rPr>
              <a:t>i</a:t>
            </a:r>
            <a:r>
              <a:rPr lang="en-US" sz="100" kern="1200" dirty="0" smtClean="0">
                <a:latin typeface="Consolas" panose="020B0609020204030204" pitchFamily="49" charset="0"/>
                <a:cs typeface="Consolas" panose="020B0609020204030204" pitchFamily="49" charset="0"/>
              </a:rPr>
              <a:t> </a:t>
            </a:r>
            <a:r>
              <a:rPr lang="en-US" sz="1800" kern="1200" dirty="0" smtClean="0">
                <a:latin typeface="Consolas" panose="020B0609020204030204" pitchFamily="49" charset="0"/>
                <a:cs typeface="Consolas" panose="020B0609020204030204" pitchFamily="49" charset="0"/>
              </a:rPr>
              <a:t>stream</a:t>
            </a:r>
            <a:r>
              <a:rPr lang="en-US" sz="1800" kern="1200" dirty="0" smtClean="0">
                <a:latin typeface="Arial (Body)"/>
              </a:rPr>
              <a:t> reference </a:t>
            </a:r>
            <a:r>
              <a:rPr lang="en-US" sz="1800" kern="1200" dirty="0" smtClean="0">
                <a:latin typeface="Consolas" panose="020B0609020204030204" pitchFamily="49" charset="0"/>
                <a:cs typeface="Consolas" panose="020B0609020204030204" pitchFamily="49" charset="0"/>
              </a:rPr>
              <a:t>input</a:t>
            </a:r>
            <a:r>
              <a:rPr lang="en-US" sz="1800" kern="1200" dirty="0" smtClean="0">
                <a:latin typeface="Arial (Body)"/>
              </a:rPr>
              <a:t> and </a:t>
            </a:r>
            <a:r>
              <a:rPr lang="en-US" sz="1800" kern="1200" dirty="0" smtClean="0">
                <a:latin typeface="Consolas" panose="020B0609020204030204" pitchFamily="49" charset="0"/>
                <a:cs typeface="Consolas" panose="020B0609020204030204" pitchFamily="49" charset="0"/>
              </a:rPr>
              <a:t>Phone</a:t>
            </a:r>
            <a:r>
              <a:rPr lang="en-US" sz="100" kern="1200" dirty="0" smtClean="0">
                <a:latin typeface="Consolas" panose="020B0609020204030204" pitchFamily="49" charset="0"/>
                <a:cs typeface="Consolas" panose="020B0609020204030204" pitchFamily="49" charset="0"/>
              </a:rPr>
              <a:t> </a:t>
            </a:r>
            <a:r>
              <a:rPr lang="en-US" sz="1800" kern="1200" dirty="0" smtClean="0">
                <a:latin typeface="Consolas" panose="020B0609020204030204" pitchFamily="49" charset="0"/>
                <a:cs typeface="Consolas" panose="020B0609020204030204" pitchFamily="49" charset="0"/>
              </a:rPr>
              <a:t>Number</a:t>
            </a:r>
            <a:r>
              <a:rPr lang="en-US" sz="1800" kern="1200" dirty="0" smtClean="0">
                <a:latin typeface="Arial (Body)"/>
              </a:rPr>
              <a:t> reference </a:t>
            </a:r>
            <a:r>
              <a:rPr lang="en-US" sz="1800" kern="1200" dirty="0" smtClean="0">
                <a:latin typeface="Consolas" panose="020B0609020204030204" pitchFamily="49" charset="0"/>
                <a:cs typeface="Consolas" panose="020B0609020204030204" pitchFamily="49" charset="0"/>
              </a:rPr>
              <a:t>number</a:t>
            </a:r>
            <a:r>
              <a:rPr lang="en-US" sz="1800" kern="1200" dirty="0" smtClean="0">
                <a:latin typeface="Arial (Body)"/>
              </a:rPr>
              <a:t> as arguments and returns an </a:t>
            </a:r>
            <a:r>
              <a:rPr lang="en-US" sz="1800" kern="1200" dirty="0" smtClean="0">
                <a:latin typeface="Consolas" panose="020B0609020204030204" pitchFamily="49" charset="0"/>
                <a:cs typeface="Consolas" panose="020B0609020204030204" pitchFamily="49" charset="0"/>
              </a:rPr>
              <a:t>i</a:t>
            </a:r>
            <a:r>
              <a:rPr lang="en-US" sz="100" kern="1200" dirty="0" smtClean="0">
                <a:latin typeface="Consolas" panose="020B0609020204030204" pitchFamily="49" charset="0"/>
                <a:cs typeface="Consolas" panose="020B0609020204030204" pitchFamily="49" charset="0"/>
              </a:rPr>
              <a:t> </a:t>
            </a:r>
            <a:r>
              <a:rPr lang="en-US" sz="1800" kern="1200" dirty="0" smtClean="0">
                <a:latin typeface="Consolas" panose="020B0609020204030204" pitchFamily="49" charset="0"/>
                <a:cs typeface="Consolas" panose="020B0609020204030204" pitchFamily="49" charset="0"/>
              </a:rPr>
              <a:t>stream</a:t>
            </a:r>
            <a:r>
              <a:rPr lang="en-US" sz="1800" kern="1200" dirty="0" smtClean="0">
                <a:latin typeface="Arial (Body)"/>
              </a:rPr>
              <a:t> reference.</a:t>
            </a:r>
          </a:p>
          <a:p>
            <a:pPr marL="255600" eaLnBrk="1" hangingPunct="1">
              <a:spcBef>
                <a:spcPts val="1500"/>
              </a:spcBef>
              <a:buClr>
                <a:schemeClr val="tx2"/>
              </a:buClr>
              <a:buFont typeface="Arial" panose="020B0604020202020204" pitchFamily="34" charset="0"/>
              <a:buChar char="•"/>
              <a:tabLst/>
              <a:defRPr/>
            </a:pPr>
            <a:r>
              <a:rPr lang="en-US" sz="1800" kern="1200" dirty="0" smtClean="0">
                <a:latin typeface="Arial (Body)"/>
              </a:rPr>
              <a:t>Operator function</a:t>
            </a:r>
            <a:endParaRPr lang="en-US" sz="1800" dirty="0"/>
          </a:p>
        </p:txBody>
      </p:sp>
      <p:graphicFrame>
        <p:nvGraphicFramePr>
          <p:cNvPr id="10" name="Object 9" descr="Operator right angle bracket right angle bracket."/>
          <p:cNvGraphicFramePr>
            <a:graphicFrameLocks noChangeAspect="1"/>
          </p:cNvGraphicFramePr>
          <p:nvPr>
            <p:extLst>
              <p:ext uri="{D42A27DB-BD31-4B8C-83A1-F6EECF244321}">
                <p14:modId xmlns:p14="http://schemas.microsoft.com/office/powerpoint/2010/main" val="2354494794"/>
              </p:ext>
            </p:extLst>
          </p:nvPr>
        </p:nvGraphicFramePr>
        <p:xfrm>
          <a:off x="2624127" y="3100402"/>
          <a:ext cx="1468954" cy="314777"/>
        </p:xfrm>
        <a:graphic>
          <a:graphicData uri="http://schemas.openxmlformats.org/presentationml/2006/ole">
            <mc:AlternateContent xmlns:mc="http://schemas.openxmlformats.org/markup-compatibility/2006">
              <mc:Choice xmlns:v="urn:schemas-microsoft-com:vml" Requires="v">
                <p:oleObj spid="_x0000_s21392" name="Equation" r:id="rId7" imgW="888840" imgH="190440" progId="Equation.DSMT4">
                  <p:embed/>
                </p:oleObj>
              </mc:Choice>
              <mc:Fallback>
                <p:oleObj name="Equation" r:id="rId7" imgW="888840" imgH="190440" progId="Equation.DSMT4">
                  <p:embed/>
                  <p:pic>
                    <p:nvPicPr>
                      <p:cNvPr id="9" name="Object 8"/>
                      <p:cNvPicPr/>
                      <p:nvPr/>
                    </p:nvPicPr>
                    <p:blipFill>
                      <a:blip r:embed="rId6"/>
                      <a:stretch>
                        <a:fillRect/>
                      </a:stretch>
                    </p:blipFill>
                    <p:spPr>
                      <a:xfrm>
                        <a:off x="2624127" y="3100402"/>
                        <a:ext cx="1468954" cy="314777"/>
                      </a:xfrm>
                      <a:prstGeom prst="rect">
                        <a:avLst/>
                      </a:prstGeom>
                    </p:spPr>
                  </p:pic>
                </p:oleObj>
              </mc:Fallback>
            </mc:AlternateContent>
          </a:graphicData>
        </a:graphic>
      </p:graphicFrame>
      <p:sp>
        <p:nvSpPr>
          <p:cNvPr id="7" name="Content Placeholder 6"/>
          <p:cNvSpPr>
            <a:spLocks noGrp="1"/>
          </p:cNvSpPr>
          <p:nvPr>
            <p:ph sz="quarter" idx="15"/>
          </p:nvPr>
        </p:nvSpPr>
        <p:spPr>
          <a:xfrm>
            <a:off x="457200" y="3008089"/>
            <a:ext cx="8229600" cy="550863"/>
          </a:xfrm>
        </p:spPr>
        <p:txBody>
          <a:bodyPr/>
          <a:lstStyle/>
          <a:p>
            <a:pPr indent="3343275" eaLnBrk="1" hangingPunct="1">
              <a:tabLst/>
              <a:defRPr/>
            </a:pPr>
            <a:r>
              <a:rPr lang="en-US" sz="1800" kern="1200" dirty="0" smtClean="0">
                <a:latin typeface="Arial (Body)"/>
              </a:rPr>
              <a:t>inputs phone numbers of the form</a:t>
            </a:r>
          </a:p>
          <a:p>
            <a:pPr marL="741600" lvl="1" indent="-284400" eaLnBrk="1" hangingPunct="1">
              <a:spcBef>
                <a:spcPts val="600"/>
              </a:spcBef>
              <a:buClr>
                <a:schemeClr val="tx2"/>
              </a:buClr>
              <a:buFontTx/>
              <a:buChar char="–"/>
              <a:defRPr/>
            </a:pPr>
            <a:r>
              <a:rPr lang="en-US" sz="1800" kern="1200" dirty="0" smtClean="0">
                <a:latin typeface="Consolas" panose="020B0609020204030204" pitchFamily="49" charset="0"/>
                <a:cs typeface="Consolas" panose="020B0609020204030204" pitchFamily="49" charset="0"/>
              </a:rPr>
              <a:t>(800) 555-1212</a:t>
            </a:r>
          </a:p>
          <a:p>
            <a:pPr marL="255600" indent="-255600" eaLnBrk="1" hangingPunct="1">
              <a:spcBef>
                <a:spcPts val="1500"/>
              </a:spcBef>
              <a:buClr>
                <a:schemeClr val="tx2"/>
              </a:buClr>
              <a:buFont typeface="Arial" panose="020B0604020202020204" pitchFamily="34" charset="0"/>
              <a:buChar char="•"/>
              <a:tabLst/>
              <a:defRPr/>
            </a:pPr>
            <a:r>
              <a:rPr lang="en-US" sz="1800" kern="1200" dirty="0" smtClean="0">
                <a:latin typeface="Arial (Body)"/>
              </a:rPr>
              <a:t>When the compiler sees the expression</a:t>
            </a:r>
          </a:p>
          <a:p>
            <a:pPr marL="741600" lvl="1" indent="-284400" eaLnBrk="1" hangingPunct="1">
              <a:spcBef>
                <a:spcPts val="600"/>
              </a:spcBef>
              <a:buClr>
                <a:schemeClr val="tx2"/>
              </a:buClr>
              <a:buFontTx/>
              <a:buChar char="–"/>
              <a:defRPr/>
            </a:pPr>
            <a:r>
              <a:rPr lang="en-US" sz="1800" kern="1200" dirty="0" smtClean="0">
                <a:latin typeface="Arial (Body)"/>
              </a:rPr>
              <a:t> </a:t>
            </a:r>
            <a:endParaRPr lang="en-US" sz="1800" kern="1200" dirty="0">
              <a:latin typeface="Arial (Body)"/>
            </a:endParaRPr>
          </a:p>
        </p:txBody>
      </p:sp>
      <p:pic>
        <p:nvPicPr>
          <p:cNvPr id="11" name="Picture 10" descr="The computer reads as follows. c in right angle bracket right angle bracket phone."/>
          <p:cNvPicPr>
            <a:picLocks noChangeAspect="1"/>
          </p:cNvPicPr>
          <p:nvPr/>
        </p:nvPicPr>
        <p:blipFill rotWithShape="1">
          <a:blip r:embed="rId8"/>
          <a:srcRect t="16503" b="24713"/>
          <a:stretch/>
        </p:blipFill>
        <p:spPr>
          <a:xfrm>
            <a:off x="1158768" y="4278054"/>
            <a:ext cx="1786283" cy="290287"/>
          </a:xfrm>
          <a:prstGeom prst="rect">
            <a:avLst/>
          </a:prstGeom>
        </p:spPr>
      </p:pic>
      <p:sp>
        <p:nvSpPr>
          <p:cNvPr id="22" name="Content Placeholder 21"/>
          <p:cNvSpPr>
            <a:spLocks noGrp="1"/>
          </p:cNvSpPr>
          <p:nvPr>
            <p:ph sz="quarter" idx="16"/>
          </p:nvPr>
        </p:nvSpPr>
        <p:spPr/>
        <p:txBody>
          <a:bodyPr/>
          <a:lstStyle/>
          <a:p>
            <a:pPr marL="256032" indent="-256032">
              <a:spcBef>
                <a:spcPts val="1500"/>
              </a:spcBef>
              <a:buClr>
                <a:schemeClr val="tx2"/>
              </a:buClr>
              <a:buFont typeface="Arial" panose="020B0604020202020204" pitchFamily="34" charset="0"/>
              <a:buChar char="•"/>
            </a:pPr>
            <a:r>
              <a:rPr lang="en-US" sz="1800" dirty="0">
                <a:latin typeface="+mn-lt"/>
              </a:rPr>
              <a:t>In line 16 of </a:t>
            </a:r>
            <a:r>
              <a:rPr lang="en-US" sz="1800" dirty="0" smtClean="0">
                <a:latin typeface="+mn-lt"/>
              </a:rPr>
              <a:t>Figure 18.5</a:t>
            </a:r>
            <a:r>
              <a:rPr lang="en-US" sz="1800" dirty="0">
                <a:latin typeface="+mn-lt"/>
              </a:rPr>
              <a:t>, the compiler generates the </a:t>
            </a:r>
            <a:r>
              <a:rPr lang="en-US" sz="1800" b="1" dirty="0">
                <a:latin typeface="+mn-lt"/>
              </a:rPr>
              <a:t>non-member function </a:t>
            </a:r>
            <a:r>
              <a:rPr lang="en-US" sz="1800" b="1" dirty="0" smtClean="0">
                <a:latin typeface="+mn-lt"/>
              </a:rPr>
              <a:t>call</a:t>
            </a:r>
          </a:p>
          <a:p>
            <a:pPr marL="740664" lvl="1" indent="-283464">
              <a:spcBef>
                <a:spcPts val="600"/>
              </a:spcBef>
              <a:buClr>
                <a:schemeClr val="tx2"/>
              </a:buClr>
              <a:buFont typeface="Arial" panose="020B0604020202020204" pitchFamily="34" charset="0"/>
              <a:buChar char="–"/>
            </a:pPr>
            <a:r>
              <a:rPr lang="en-US" sz="1800" b="1" dirty="0" smtClean="0">
                <a:latin typeface="+mn-lt"/>
              </a:rPr>
              <a:t> </a:t>
            </a:r>
            <a:endParaRPr lang="en-US" sz="1800" b="1" dirty="0">
              <a:latin typeface="+mn-lt"/>
            </a:endParaRPr>
          </a:p>
        </p:txBody>
      </p:sp>
      <p:pic>
        <p:nvPicPr>
          <p:cNvPr id="24" name="Picture 23" descr="Operator right angle bracket right angle bracket left parenthesis c in comma phone right parenthesis semi colon"/>
          <p:cNvPicPr>
            <a:picLocks noChangeAspect="1"/>
          </p:cNvPicPr>
          <p:nvPr/>
        </p:nvPicPr>
        <p:blipFill rotWithShape="1">
          <a:blip r:embed="rId9"/>
          <a:srcRect t="16821" b="22377"/>
          <a:stretch/>
        </p:blipFill>
        <p:spPr>
          <a:xfrm>
            <a:off x="1063232" y="5296680"/>
            <a:ext cx="3414056" cy="300251"/>
          </a:xfrm>
          <a:prstGeom prst="rect">
            <a:avLst/>
          </a:prstGeom>
        </p:spPr>
      </p:pic>
      <p:sp>
        <p:nvSpPr>
          <p:cNvPr id="23" name="Content Placeholder 22"/>
          <p:cNvSpPr>
            <a:spLocks noGrp="1"/>
          </p:cNvSpPr>
          <p:nvPr>
            <p:ph sz="quarter" idx="17"/>
          </p:nvPr>
        </p:nvSpPr>
        <p:spPr>
          <a:xfrm>
            <a:off x="454024" y="5537207"/>
            <a:ext cx="8229601" cy="918184"/>
          </a:xfrm>
        </p:spPr>
        <p:txBody>
          <a:bodyPr/>
          <a:lstStyle/>
          <a:p>
            <a:pPr marL="256032" indent="-256032">
              <a:spcBef>
                <a:spcPts val="1500"/>
              </a:spcBef>
              <a:buClr>
                <a:schemeClr val="tx2"/>
              </a:buClr>
              <a:buFont typeface="Arial" panose="020B0604020202020204" pitchFamily="34" charset="0"/>
              <a:buChar char="•"/>
            </a:pPr>
            <a:r>
              <a:rPr lang="en-US" sz="1800" dirty="0">
                <a:latin typeface="+mn-lt"/>
              </a:rPr>
              <a:t>When this call executes, reference parameter input (</a:t>
            </a:r>
            <a:r>
              <a:rPr lang="en-US" sz="1800" dirty="0" smtClean="0">
                <a:latin typeface="+mn-lt"/>
              </a:rPr>
              <a:t>Figure 18.4 </a:t>
            </a:r>
            <a:r>
              <a:rPr lang="en-US" sz="1800" dirty="0" smtClean="0">
                <a:solidFill>
                  <a:srgbClr val="000000"/>
                </a:solidFill>
                <a:effectLst/>
                <a:latin typeface="+mn-lt"/>
                <a:sym typeface="Arial" panose="020B0604020202020204" pitchFamily="34" charset="0"/>
              </a:rPr>
              <a:t>(see slide 29)</a:t>
            </a:r>
            <a:r>
              <a:rPr lang="en-US" sz="1800" dirty="0" smtClean="0">
                <a:latin typeface="+mn-lt"/>
              </a:rPr>
              <a:t>, </a:t>
            </a:r>
            <a:r>
              <a:rPr lang="en-US" sz="1800" dirty="0">
                <a:latin typeface="+mn-lt"/>
              </a:rPr>
              <a:t>line </a:t>
            </a:r>
            <a:r>
              <a:rPr lang="en-US" sz="1800" dirty="0" smtClean="0">
                <a:latin typeface="+mn-lt"/>
              </a:rPr>
              <a:t>21) </a:t>
            </a:r>
            <a:r>
              <a:rPr lang="en-US" sz="1800" dirty="0">
                <a:latin typeface="+mn-lt"/>
              </a:rPr>
              <a:t>becomes an alias for cin and reference parameter number becomes an alias for phone.</a:t>
            </a:r>
          </a:p>
        </p:txBody>
      </p:sp>
    </p:spTree>
    <p:extLst>
      <p:ext uri="{BB962C8B-B14F-4D97-AF65-F5344CB8AC3E}">
        <p14:creationId xmlns:p14="http://schemas.microsoft.com/office/powerpoint/2010/main" val="32568716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129"/>
            <a:ext cx="8229600" cy="1169521"/>
          </a:xfrm>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18.5 Overloading the Binary Stream Insertion and Stream Extraction Operators </a:t>
            </a:r>
            <a:r>
              <a:rPr lang="en-US" altLang="en-US" sz="2000" b="0" kern="1200" dirty="0" smtClean="0">
                <a:latin typeface="Times New Roman" panose="02020603050405020304" pitchFamily="18" charset="0"/>
                <a:ea typeface="+mj-ea"/>
                <a:cs typeface="+mj-cs"/>
              </a:rPr>
              <a:t>(3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632007"/>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The operator function reads as </a:t>
            </a:r>
            <a:r>
              <a:rPr lang="en-US" altLang="en-US" sz="2400" kern="1200" dirty="0">
                <a:solidFill>
                  <a:srgbClr val="000000"/>
                </a:solidFill>
                <a:latin typeface="Consolas" panose="020B0609020204030204" pitchFamily="49" charset="0"/>
                <a:ea typeface="+mn-ea"/>
                <a:cs typeface="Consolas" panose="020B0609020204030204" pitchFamily="49" charset="0"/>
              </a:rPr>
              <a:t>string</a:t>
            </a:r>
            <a:r>
              <a:rPr lang="en-US" altLang="en-US" sz="2400" kern="1200" dirty="0">
                <a:solidFill>
                  <a:srgbClr val="000000"/>
                </a:solidFill>
                <a:latin typeface="+mn-lt"/>
                <a:ea typeface="+mn-ea"/>
                <a:cs typeface="Consolas" panose="020B0609020204030204" pitchFamily="49" charset="0"/>
              </a:rPr>
              <a:t>s</a:t>
            </a:r>
            <a:r>
              <a:rPr lang="en-US" altLang="en-US" sz="2400" kern="1200" dirty="0">
                <a:solidFill>
                  <a:srgbClr val="000000"/>
                </a:solidFill>
                <a:latin typeface="Arial (Body)"/>
                <a:ea typeface="+mn-ea"/>
                <a:cs typeface="+mn-cs"/>
              </a:rPr>
              <a:t> the three parts of the telephone number into the </a:t>
            </a:r>
            <a:r>
              <a:rPr lang="en-US" altLang="en-US" sz="2400" kern="1200" dirty="0" smtClean="0">
                <a:solidFill>
                  <a:srgbClr val="000000"/>
                </a:solidFill>
                <a:latin typeface="Consolas" panose="020B0609020204030204" pitchFamily="49" charset="0"/>
                <a:ea typeface="+mn-ea"/>
                <a:cs typeface="Consolas" panose="020B0609020204030204" pitchFamily="49" charset="0"/>
              </a:rPr>
              <a:t>area</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Code</a:t>
            </a:r>
            <a:r>
              <a:rPr lang="en-US" altLang="en-US" sz="2400" kern="1200" dirty="0" smtClean="0">
                <a:solidFill>
                  <a:srgbClr val="000000"/>
                </a:solidFill>
                <a:latin typeface="Arial (Body)"/>
                <a:ea typeface="+mn-ea"/>
                <a:cs typeface="+mn-cs"/>
              </a:rPr>
              <a:t> </a:t>
            </a:r>
            <a:r>
              <a:rPr lang="en-US" altLang="en-US" sz="2400" kern="1200" dirty="0">
                <a:solidFill>
                  <a:srgbClr val="000000"/>
                </a:solidFill>
                <a:latin typeface="Arial (Body)"/>
                <a:ea typeface="+mn-ea"/>
                <a:cs typeface="+mn-cs"/>
              </a:rPr>
              <a:t>(line 24), </a:t>
            </a:r>
            <a:r>
              <a:rPr lang="en-US" altLang="en-US" sz="2400" kern="1200" dirty="0">
                <a:solidFill>
                  <a:srgbClr val="000000"/>
                </a:solidFill>
                <a:latin typeface="Consolas" panose="020B0609020204030204" pitchFamily="49" charset="0"/>
                <a:ea typeface="+mn-ea"/>
                <a:cs typeface="Consolas" panose="020B0609020204030204" pitchFamily="49" charset="0"/>
              </a:rPr>
              <a:t>exchange</a:t>
            </a:r>
            <a:r>
              <a:rPr lang="en-US" altLang="en-US" sz="2400" kern="1200" dirty="0">
                <a:solidFill>
                  <a:srgbClr val="000000"/>
                </a:solidFill>
                <a:latin typeface="Arial (Body)"/>
                <a:ea typeface="+mn-ea"/>
                <a:cs typeface="+mn-cs"/>
              </a:rPr>
              <a:t> (Line 26) and </a:t>
            </a:r>
            <a:r>
              <a:rPr lang="en-US" altLang="en-US" sz="2400" kern="1200" dirty="0">
                <a:solidFill>
                  <a:srgbClr val="000000"/>
                </a:solidFill>
                <a:latin typeface="Consolas" panose="020B0609020204030204" pitchFamily="49" charset="0"/>
                <a:ea typeface="+mn-ea"/>
                <a:cs typeface="Consolas" panose="020B0609020204030204" pitchFamily="49" charset="0"/>
              </a:rPr>
              <a:t>line</a:t>
            </a:r>
            <a:r>
              <a:rPr lang="en-US" altLang="en-US" sz="2400" kern="1200" dirty="0">
                <a:solidFill>
                  <a:srgbClr val="000000"/>
                </a:solidFill>
                <a:latin typeface="Arial (Body)"/>
                <a:ea typeface="+mn-ea"/>
                <a:cs typeface="+mn-cs"/>
              </a:rPr>
              <a:t> (line 28) members of the </a:t>
            </a:r>
            <a:r>
              <a:rPr lang="en-US" altLang="en-US" sz="2400" kern="1200" dirty="0" smtClean="0">
                <a:solidFill>
                  <a:srgbClr val="000000"/>
                </a:solidFill>
                <a:latin typeface="Consolas" panose="020B0609020204030204" pitchFamily="49" charset="0"/>
                <a:ea typeface="+mn-ea"/>
                <a:cs typeface="Consolas" panose="020B0609020204030204" pitchFamily="49" charset="0"/>
              </a:rPr>
              <a:t>Phone</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Number</a:t>
            </a:r>
            <a:r>
              <a:rPr lang="en-US" altLang="en-US" sz="2400" kern="1200" dirty="0" smtClean="0">
                <a:solidFill>
                  <a:srgbClr val="000000"/>
                </a:solidFill>
                <a:latin typeface="Arial (Body)"/>
                <a:ea typeface="+mn-ea"/>
                <a:cs typeface="+mn-cs"/>
              </a:rPr>
              <a:t> </a:t>
            </a:r>
            <a:r>
              <a:rPr lang="en-US" altLang="en-US" sz="2400" kern="1200" dirty="0">
                <a:solidFill>
                  <a:srgbClr val="000000"/>
                </a:solidFill>
                <a:latin typeface="Arial (Body)"/>
                <a:ea typeface="+mn-ea"/>
                <a:cs typeface="+mn-cs"/>
              </a:rPr>
              <a:t>object referenced by parameter </a:t>
            </a:r>
            <a:r>
              <a:rPr lang="en-US" altLang="en-US" sz="2400" kern="1200" dirty="0">
                <a:solidFill>
                  <a:srgbClr val="000000"/>
                </a:solidFill>
                <a:latin typeface="Consolas" panose="020B0609020204030204" pitchFamily="49" charset="0"/>
                <a:ea typeface="+mn-ea"/>
                <a:cs typeface="Consolas" panose="020B0609020204030204" pitchFamily="49" charset="0"/>
              </a:rPr>
              <a:t>Number</a:t>
            </a:r>
            <a:r>
              <a:rPr lang="en-US" altLang="en-US" sz="2400" kern="1200" dirty="0">
                <a:solidFill>
                  <a:srgbClr val="000000"/>
                </a:solidFill>
                <a:latin typeface="Arial (Body)"/>
                <a:ea typeface="+mn-ea"/>
                <a:cs typeface="+mn-cs"/>
              </a:rPr>
              <a:t>.</a:t>
            </a:r>
          </a:p>
          <a:p>
            <a:pPr marL="255651" indent="-255651" eaLnBrk="1" hangingPunct="1">
              <a:tabLst/>
              <a:defRPr/>
            </a:pPr>
            <a:r>
              <a:rPr lang="en-US" altLang="en-US" sz="2400" kern="1200" dirty="0">
                <a:solidFill>
                  <a:srgbClr val="000000"/>
                </a:solidFill>
                <a:latin typeface="Arial (Body)"/>
                <a:ea typeface="+mn-ea"/>
                <a:cs typeface="+mn-cs"/>
              </a:rPr>
              <a:t>Stream manipulator </a:t>
            </a:r>
            <a:r>
              <a:rPr lang="en-US" altLang="en-US" sz="2400" kern="1200" dirty="0" smtClean="0">
                <a:solidFill>
                  <a:srgbClr val="000000"/>
                </a:solidFill>
                <a:latin typeface="Consolas" panose="020B0609020204030204" pitchFamily="49" charset="0"/>
                <a:ea typeface="+mn-ea"/>
                <a:cs typeface="Consolas" panose="020B0609020204030204" pitchFamily="49" charset="0"/>
              </a:rPr>
              <a:t>set</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w</a:t>
            </a:r>
            <a:r>
              <a:rPr lang="en-US" altLang="en-US" sz="2400" kern="1200" dirty="0" smtClean="0">
                <a:solidFill>
                  <a:srgbClr val="000000"/>
                </a:solidFill>
                <a:latin typeface="Arial (Body)"/>
                <a:ea typeface="+mn-ea"/>
                <a:cs typeface="+mn-cs"/>
              </a:rPr>
              <a:t> </a:t>
            </a:r>
            <a:r>
              <a:rPr lang="en-US" altLang="en-US" sz="2400" kern="1200" dirty="0">
                <a:solidFill>
                  <a:srgbClr val="000000"/>
                </a:solidFill>
                <a:latin typeface="Arial (Body)"/>
                <a:ea typeface="+mn-ea"/>
                <a:cs typeface="+mn-cs"/>
              </a:rPr>
              <a:t>limits the number of characters read into each </a:t>
            </a:r>
            <a:r>
              <a:rPr lang="en-US" altLang="en-US" sz="2400" kern="1200" dirty="0">
                <a:solidFill>
                  <a:srgbClr val="000000"/>
                </a:solidFill>
                <a:latin typeface="Consolas" panose="020B0609020204030204" pitchFamily="49" charset="0"/>
                <a:ea typeface="+mn-ea"/>
                <a:cs typeface="Consolas" panose="020B0609020204030204" pitchFamily="49" charset="0"/>
              </a:rPr>
              <a:t>string</a:t>
            </a:r>
            <a:r>
              <a:rPr lang="en-US" altLang="en-US" sz="2400" kern="1200" dirty="0">
                <a:solidFill>
                  <a:srgbClr val="000000"/>
                </a:solidFill>
                <a:latin typeface="Arial (Body)"/>
                <a:ea typeface="+mn-ea"/>
                <a:cs typeface="+mn-cs"/>
              </a:rPr>
              <a:t>.</a:t>
            </a:r>
          </a:p>
          <a:p>
            <a:pPr marL="255651" indent="-255651" eaLnBrk="1" hangingPunct="1">
              <a:tabLst/>
              <a:defRPr/>
            </a:pPr>
            <a:r>
              <a:rPr lang="en-US" altLang="en-US" sz="2400" kern="1200" dirty="0">
                <a:solidFill>
                  <a:srgbClr val="000000"/>
                </a:solidFill>
                <a:latin typeface="Arial (Body)"/>
                <a:ea typeface="+mn-ea"/>
                <a:cs typeface="+mn-cs"/>
              </a:rPr>
              <a:t>The parentheses, space and dash characters are skipped by calling </a:t>
            </a:r>
            <a:r>
              <a:rPr lang="en-US" altLang="en-US" sz="2400" kern="1200" dirty="0" smtClean="0">
                <a:solidFill>
                  <a:srgbClr val="000000"/>
                </a:solidFill>
                <a:latin typeface="Consolas" panose="020B0609020204030204" pitchFamily="49" charset="0"/>
                <a:ea typeface="+mn-ea"/>
                <a:cs typeface="Consolas" panose="020B0609020204030204" pitchFamily="49" charset="0"/>
              </a:rPr>
              <a:t>i</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stream</a:t>
            </a:r>
            <a:r>
              <a:rPr lang="en-US" altLang="en-US" sz="2400" kern="1200" dirty="0" smtClean="0">
                <a:solidFill>
                  <a:srgbClr val="000000"/>
                </a:solidFill>
                <a:latin typeface="Arial (Body)"/>
                <a:ea typeface="+mn-ea"/>
                <a:cs typeface="+mn-cs"/>
              </a:rPr>
              <a:t> </a:t>
            </a:r>
            <a:r>
              <a:rPr lang="en-US" altLang="en-US" sz="2400" kern="1200" dirty="0">
                <a:solidFill>
                  <a:srgbClr val="000000"/>
                </a:solidFill>
                <a:latin typeface="Arial (Body)"/>
                <a:ea typeface="+mn-ea"/>
                <a:cs typeface="+mn-cs"/>
              </a:rPr>
              <a:t>member function </a:t>
            </a:r>
            <a:r>
              <a:rPr lang="en-US" altLang="en-US" sz="2400" kern="1200" dirty="0">
                <a:solidFill>
                  <a:srgbClr val="000000"/>
                </a:solidFill>
                <a:latin typeface="Consolas" panose="020B0609020204030204" pitchFamily="49" charset="0"/>
                <a:ea typeface="+mn-ea"/>
                <a:cs typeface="Consolas" panose="020B0609020204030204" pitchFamily="49" charset="0"/>
              </a:rPr>
              <a:t>ignore</a:t>
            </a:r>
            <a:r>
              <a:rPr lang="en-US" altLang="en-US" sz="2400" kern="1200" dirty="0">
                <a:solidFill>
                  <a:srgbClr val="000000"/>
                </a:solidFill>
                <a:latin typeface="Arial (Body)"/>
                <a:ea typeface="+mn-ea"/>
                <a:cs typeface="Times New Roman" panose="02020603050405020304" pitchFamily="18" charset="0"/>
              </a:rPr>
              <a:t> (</a:t>
            </a:r>
            <a:r>
              <a:rPr lang="en-US" altLang="en-US" sz="2400" kern="1200" dirty="0" smtClean="0">
                <a:solidFill>
                  <a:srgbClr val="000000"/>
                </a:solidFill>
                <a:latin typeface="Arial (Body)"/>
                <a:ea typeface="+mn-ea"/>
                <a:cs typeface="Times New Roman" panose="02020603050405020304" pitchFamily="18" charset="0"/>
              </a:rPr>
              <a:t>Figure 18.4 </a:t>
            </a:r>
            <a:r>
              <a:rPr lang="en-US" altLang="en-US" sz="2400" kern="1200" dirty="0">
                <a:solidFill>
                  <a:srgbClr val="000000"/>
                </a:solidFill>
                <a:latin typeface="Arial (Body)"/>
                <a:cs typeface="Times New Roman" panose="02020603050405020304" pitchFamily="18" charset="0"/>
              </a:rPr>
              <a:t>(see slide 29)</a:t>
            </a:r>
            <a:r>
              <a:rPr lang="en-US" altLang="en-US" sz="2400" kern="1200" dirty="0" smtClean="0">
                <a:solidFill>
                  <a:srgbClr val="000000"/>
                </a:solidFill>
                <a:latin typeface="Arial (Body)"/>
                <a:ea typeface="+mn-ea"/>
                <a:cs typeface="Times New Roman" panose="02020603050405020304" pitchFamily="18" charset="0"/>
              </a:rPr>
              <a:t>, </a:t>
            </a:r>
            <a:r>
              <a:rPr lang="en-US" altLang="en-US" sz="2400" kern="1200" dirty="0">
                <a:solidFill>
                  <a:srgbClr val="000000"/>
                </a:solidFill>
                <a:latin typeface="Arial (Body)"/>
                <a:ea typeface="+mn-ea"/>
                <a:cs typeface="Times New Roman" panose="02020603050405020304" pitchFamily="18" charset="0"/>
              </a:rPr>
              <a:t>lines 23, 25 and 27</a:t>
            </a:r>
            <a:r>
              <a:rPr lang="en-US" altLang="en-US" sz="2400" kern="1200" dirty="0" smtClean="0">
                <a:solidFill>
                  <a:srgbClr val="000000"/>
                </a:solidFill>
                <a:latin typeface="Arial (Body)"/>
                <a:ea typeface="+mn-ea"/>
                <a:cs typeface="Times New Roman" panose="02020603050405020304" pitchFamily="18" charset="0"/>
              </a:rPr>
              <a:t>)</a:t>
            </a:r>
            <a:r>
              <a:rPr lang="en-US" altLang="en-US" sz="2400" kern="1200" dirty="0" smtClean="0">
                <a:solidFill>
                  <a:srgbClr val="000000"/>
                </a:solidFill>
                <a:latin typeface="Arial (Body)"/>
                <a:ea typeface="+mn-ea"/>
                <a:cs typeface="+mn-cs"/>
              </a:rPr>
              <a:t>, </a:t>
            </a:r>
            <a:r>
              <a:rPr lang="en-US" altLang="en-US" sz="2400" kern="1200" dirty="0">
                <a:solidFill>
                  <a:srgbClr val="000000"/>
                </a:solidFill>
                <a:latin typeface="Arial (Body)"/>
                <a:ea typeface="+mn-ea"/>
                <a:cs typeface="+mn-cs"/>
              </a:rPr>
              <a:t>which discards the specified number of characters in the input stream (one character by default).</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18.5 Overloading Stream Insertion and Stream Extraction Operators </a:t>
            </a:r>
            <a:r>
              <a:rPr lang="en-US" altLang="en-US" sz="2000" b="0" kern="1200" dirty="0" smtClean="0">
                <a:latin typeface="Times New Roman" panose="02020603050405020304" pitchFamily="18" charset="0"/>
                <a:ea typeface="+mj-ea"/>
                <a:cs typeface="+mj-cs"/>
              </a:rPr>
              <a:t>(1 of 3)</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553968"/>
          </a:xfrm>
        </p:spPr>
        <p:txBody>
          <a:bodyPr>
            <a:spAutoFit/>
          </a:bodyPr>
          <a:lstStyle/>
          <a:p>
            <a:pPr marL="255651" indent="-255651" eaLnBrk="1" hangingPunct="1">
              <a:tabLst/>
              <a:defRPr/>
            </a:pPr>
            <a:r>
              <a:rPr lang="en-US" altLang="en-US" sz="2400" kern="1200" dirty="0" smtClean="0">
                <a:solidFill>
                  <a:srgbClr val="000000"/>
                </a:solidFill>
                <a:latin typeface="Arial (Body)"/>
                <a:ea typeface="+mn-ea"/>
                <a:cs typeface="+mn-cs"/>
              </a:rPr>
              <a:t>Function</a:t>
            </a:r>
            <a:endParaRPr lang="en-US" altLang="en-US" sz="2400" kern="1200" dirty="0">
              <a:solidFill>
                <a:srgbClr val="000000"/>
              </a:solidFill>
              <a:latin typeface="Arial (Body)"/>
              <a:ea typeface="+mn-ea"/>
              <a:cs typeface="+mn-cs"/>
            </a:endParaRPr>
          </a:p>
        </p:txBody>
      </p:sp>
      <p:graphicFrame>
        <p:nvGraphicFramePr>
          <p:cNvPr id="5" name="Object 4" descr="Operator right angle bracket right angle bracket."/>
          <p:cNvGraphicFramePr>
            <a:graphicFrameLocks noChangeAspect="1"/>
          </p:cNvGraphicFramePr>
          <p:nvPr>
            <p:extLst>
              <p:ext uri="{D42A27DB-BD31-4B8C-83A1-F6EECF244321}">
                <p14:modId xmlns:p14="http://schemas.microsoft.com/office/powerpoint/2010/main" val="2575946501"/>
              </p:ext>
            </p:extLst>
          </p:nvPr>
        </p:nvGraphicFramePr>
        <p:xfrm>
          <a:off x="2043113" y="1734757"/>
          <a:ext cx="1730375" cy="369887"/>
        </p:xfrm>
        <a:graphic>
          <a:graphicData uri="http://schemas.openxmlformats.org/presentationml/2006/ole">
            <mc:AlternateContent xmlns:mc="http://schemas.openxmlformats.org/markup-compatibility/2006">
              <mc:Choice xmlns:v="urn:schemas-microsoft-com:vml" Requires="v">
                <p:oleObj spid="_x0000_s4771" name="Equation" r:id="rId3" imgW="888840" imgH="190440" progId="Equation.DSMT4">
                  <p:embed/>
                </p:oleObj>
              </mc:Choice>
              <mc:Fallback>
                <p:oleObj name="Equation" r:id="rId3" imgW="888840" imgH="190440" progId="Equation.DSMT4">
                  <p:embed/>
                  <p:pic>
                    <p:nvPicPr>
                      <p:cNvPr id="0" name=""/>
                      <p:cNvPicPr/>
                      <p:nvPr/>
                    </p:nvPicPr>
                    <p:blipFill>
                      <a:blip r:embed="rId4"/>
                      <a:stretch>
                        <a:fillRect/>
                      </a:stretch>
                    </p:blipFill>
                    <p:spPr>
                      <a:xfrm>
                        <a:off x="2043113" y="1734757"/>
                        <a:ext cx="1730375" cy="369887"/>
                      </a:xfrm>
                      <a:prstGeom prst="rect">
                        <a:avLst/>
                      </a:prstGeom>
                    </p:spPr>
                  </p:pic>
                </p:oleObj>
              </mc:Fallback>
            </mc:AlternateContent>
          </a:graphicData>
        </a:graphic>
      </p:graphicFrame>
      <p:sp>
        <p:nvSpPr>
          <p:cNvPr id="4" name="Text Placeholder 3"/>
          <p:cNvSpPr>
            <a:spLocks noGrp="1"/>
          </p:cNvSpPr>
          <p:nvPr>
            <p:ph type="body" idx="2"/>
          </p:nvPr>
        </p:nvSpPr>
        <p:spPr>
          <a:xfrm>
            <a:off x="457200" y="1603248"/>
            <a:ext cx="8229600" cy="2163763"/>
          </a:xfrm>
        </p:spPr>
        <p:txBody>
          <a:bodyPr/>
          <a:lstStyle/>
          <a:p>
            <a:pPr marL="255588" indent="3036888" eaLnBrk="1" hangingPunct="1">
              <a:buNone/>
              <a:tabLst/>
              <a:defRPr/>
            </a:pPr>
            <a:r>
              <a:rPr lang="en-US" altLang="en-US" sz="2400" kern="1200" dirty="0">
                <a:solidFill>
                  <a:srgbClr val="000000"/>
                </a:solidFill>
                <a:latin typeface="Arial (Body)"/>
              </a:rPr>
              <a:t>returns </a:t>
            </a:r>
            <a:r>
              <a:rPr lang="en-US" altLang="en-US" sz="2400" kern="1200" dirty="0" smtClean="0">
                <a:solidFill>
                  <a:srgbClr val="000000"/>
                </a:solidFill>
                <a:latin typeface="Consolas" panose="020B0609020204030204" pitchFamily="49" charset="0"/>
              </a:rPr>
              <a:t>i</a:t>
            </a:r>
            <a:r>
              <a:rPr lang="en-US" altLang="en-US" sz="100" kern="1200" dirty="0" smtClean="0">
                <a:solidFill>
                  <a:srgbClr val="000000"/>
                </a:solidFill>
                <a:latin typeface="Consolas" panose="020B0609020204030204" pitchFamily="49" charset="0"/>
              </a:rPr>
              <a:t> </a:t>
            </a:r>
            <a:r>
              <a:rPr lang="en-US" altLang="en-US" sz="2400" kern="1200" dirty="0" smtClean="0">
                <a:solidFill>
                  <a:srgbClr val="000000"/>
                </a:solidFill>
                <a:latin typeface="Consolas" panose="020B0609020204030204" pitchFamily="49" charset="0"/>
              </a:rPr>
              <a:t>stream</a:t>
            </a:r>
            <a:r>
              <a:rPr lang="en-US" altLang="en-US" sz="2400" kern="1200" dirty="0" smtClean="0">
                <a:solidFill>
                  <a:srgbClr val="000000"/>
                </a:solidFill>
                <a:latin typeface="Arial (Body)"/>
              </a:rPr>
              <a:t> </a:t>
            </a:r>
            <a:r>
              <a:rPr lang="en-US" altLang="en-US" sz="2400" kern="1200" dirty="0">
                <a:solidFill>
                  <a:srgbClr val="000000"/>
                </a:solidFill>
                <a:latin typeface="Arial (Body)"/>
              </a:rPr>
              <a:t>reference </a:t>
            </a:r>
            <a:r>
              <a:rPr lang="en-US" altLang="en-US" sz="2400" kern="1200" dirty="0">
                <a:solidFill>
                  <a:srgbClr val="000000"/>
                </a:solidFill>
                <a:latin typeface="Consolas" panose="020B0609020204030204" pitchFamily="49" charset="0"/>
              </a:rPr>
              <a:t>input</a:t>
            </a:r>
            <a:r>
              <a:rPr lang="en-US" altLang="en-US" sz="2400" kern="1200" dirty="0">
                <a:solidFill>
                  <a:srgbClr val="000000"/>
                </a:solidFill>
                <a:latin typeface="Arial (Body)"/>
              </a:rPr>
              <a:t> (i.e., </a:t>
            </a:r>
            <a:r>
              <a:rPr lang="en-US" altLang="en-US" sz="2400" kern="1200" dirty="0" smtClean="0">
                <a:solidFill>
                  <a:srgbClr val="000000"/>
                </a:solidFill>
                <a:latin typeface="Consolas" panose="020B0609020204030204" pitchFamily="49" charset="0"/>
                <a:cs typeface="Consolas" panose="020B0609020204030204" pitchFamily="49" charset="0"/>
              </a:rPr>
              <a:t>c</a:t>
            </a:r>
            <a:r>
              <a:rPr lang="en-US" altLang="en-US" sz="100" kern="1200" dirty="0" smtClean="0">
                <a:solidFill>
                  <a:srgbClr val="000000"/>
                </a:solidFill>
                <a:latin typeface="Consolas" panose="020B0609020204030204" pitchFamily="49" charset="0"/>
                <a:cs typeface="Consolas" panose="020B0609020204030204" pitchFamily="49" charset="0"/>
              </a:rPr>
              <a:t> </a:t>
            </a:r>
            <a:r>
              <a:rPr lang="en-US" altLang="en-US" sz="2400" kern="1200" dirty="0" smtClean="0">
                <a:solidFill>
                  <a:srgbClr val="000000"/>
                </a:solidFill>
                <a:latin typeface="Consolas" panose="020B0609020204030204" pitchFamily="49" charset="0"/>
                <a:cs typeface="Consolas" panose="020B0609020204030204" pitchFamily="49" charset="0"/>
              </a:rPr>
              <a:t>in</a:t>
            </a:r>
            <a:r>
              <a:rPr lang="en-US" altLang="en-US" sz="2400" kern="1200" dirty="0">
                <a:solidFill>
                  <a:srgbClr val="000000"/>
                </a:solidFill>
                <a:latin typeface="Arial (Body)"/>
              </a:rPr>
              <a:t>).</a:t>
            </a:r>
          </a:p>
          <a:p>
            <a:pPr marL="255651" indent="-255651" eaLnBrk="1" hangingPunct="1">
              <a:tabLst/>
              <a:defRPr/>
            </a:pPr>
            <a:r>
              <a:rPr lang="en-US" altLang="en-US" sz="2400" kern="1200" dirty="0">
                <a:solidFill>
                  <a:srgbClr val="000000"/>
                </a:solidFill>
                <a:latin typeface="Arial (Body)"/>
              </a:rPr>
              <a:t>This enables input operations on </a:t>
            </a:r>
            <a:r>
              <a:rPr lang="en-US" altLang="en-US" sz="2400" kern="1200" dirty="0">
                <a:solidFill>
                  <a:srgbClr val="000000"/>
                </a:solidFill>
                <a:latin typeface="Consolas" panose="020B0609020204030204" pitchFamily="49" charset="0"/>
                <a:cs typeface="Consolas" panose="020B0609020204030204" pitchFamily="49" charset="0"/>
              </a:rPr>
              <a:t>PhoneNumber</a:t>
            </a:r>
            <a:r>
              <a:rPr lang="en-US" altLang="en-US" sz="2400" kern="1200" dirty="0">
                <a:solidFill>
                  <a:srgbClr val="000000"/>
                </a:solidFill>
                <a:latin typeface="Arial (Body)"/>
              </a:rPr>
              <a:t> objects to be cascaded with input operations on other </a:t>
            </a:r>
            <a:r>
              <a:rPr lang="en-US" altLang="en-US" sz="2400" kern="1200" dirty="0">
                <a:solidFill>
                  <a:srgbClr val="000000"/>
                </a:solidFill>
                <a:latin typeface="Consolas" panose="020B0609020204030204" pitchFamily="49" charset="0"/>
                <a:cs typeface="Consolas" panose="020B0609020204030204" pitchFamily="49" charset="0"/>
              </a:rPr>
              <a:t>PhoneNumber</a:t>
            </a:r>
            <a:r>
              <a:rPr lang="en-US" altLang="en-US" sz="2400" kern="1200" dirty="0">
                <a:solidFill>
                  <a:srgbClr val="000000"/>
                </a:solidFill>
                <a:latin typeface="Arial (Body)"/>
              </a:rPr>
              <a:t> objects or on objects of other data types.</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Programming Practice </a:t>
            </a:r>
            <a:r>
              <a:rPr lang="en-US" dirty="0" smtClean="0"/>
              <a:t>18.1</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Overloaded operators should mimic the functionality of their built-in counterparts—e.g</a:t>
            </a:r>
            <a:r>
              <a:rPr lang="en-US" sz="2400" dirty="0" smtClean="0">
                <a:latin typeface="+mn-lt"/>
              </a:rPr>
              <a:t>., the </a:t>
            </a:r>
            <a:r>
              <a:rPr lang="en-US" sz="2400" dirty="0">
                <a:latin typeface="Consolas" panose="020B0609020204030204" pitchFamily="49" charset="0"/>
                <a:cs typeface="Consolas" panose="020B0609020204030204" pitchFamily="49" charset="0"/>
              </a:rPr>
              <a:t>+</a:t>
            </a:r>
            <a:r>
              <a:rPr lang="en-US" sz="2400" dirty="0">
                <a:latin typeface="+mn-lt"/>
              </a:rPr>
              <a:t> operator should perform addition, not subtraction. Avoid excessive or </a:t>
            </a:r>
            <a:r>
              <a:rPr lang="en-US" sz="2400" dirty="0" smtClean="0">
                <a:latin typeface="+mn-lt"/>
              </a:rPr>
              <a:t>inconsistent use </a:t>
            </a:r>
            <a:r>
              <a:rPr lang="en-US" sz="2400" dirty="0">
                <a:latin typeface="+mn-lt"/>
              </a:rPr>
              <a:t>of operator overloading, as this can make a program cryptic and difficult to read.</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129"/>
            <a:ext cx="8229600" cy="1169521"/>
          </a:xfrm>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18.5 Overloading Stream Insertion and Stream Extraction Operators</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1"/>
            <a:ext cx="3882788" cy="461635"/>
          </a:xfrm>
        </p:spPr>
        <p:txBody>
          <a:bodyPr wrap="square">
            <a:spAutoFit/>
          </a:bodyPr>
          <a:lstStyle/>
          <a:p>
            <a:pPr marL="0" indent="0" eaLnBrk="1" hangingPunct="1">
              <a:buNone/>
              <a:tabLst/>
              <a:defRPr/>
            </a:pPr>
            <a:r>
              <a:rPr lang="en-US" sz="1800" b="1" kern="1200" dirty="0">
                <a:solidFill>
                  <a:srgbClr val="000000"/>
                </a:solidFill>
                <a:latin typeface="Arial (Body)"/>
                <a:ea typeface="+mn-ea"/>
                <a:cs typeface="+mn-cs"/>
              </a:rPr>
              <a:t>Overloading the Stream </a:t>
            </a:r>
            <a:r>
              <a:rPr lang="en-US" sz="1800" b="1" kern="1200" dirty="0" smtClean="0">
                <a:solidFill>
                  <a:srgbClr val="000000"/>
                </a:solidFill>
                <a:latin typeface="Arial (Body)"/>
                <a:ea typeface="+mn-ea"/>
                <a:cs typeface="+mn-cs"/>
              </a:rPr>
              <a:t>Insertion</a:t>
            </a:r>
            <a:endParaRPr lang="en-US" sz="1800" kern="1200" dirty="0">
              <a:solidFill>
                <a:srgbClr val="000000"/>
              </a:solidFill>
              <a:latin typeface="Arial (Body)"/>
              <a:ea typeface="+mn-ea"/>
              <a:cs typeface="+mn-cs"/>
            </a:endParaRPr>
          </a:p>
        </p:txBody>
      </p:sp>
      <p:graphicFrame>
        <p:nvGraphicFramePr>
          <p:cNvPr id="8" name="Object 7" descr="Left parenthesis right angle bracket right angle bracket right parenthesis Operator."/>
          <p:cNvGraphicFramePr>
            <a:graphicFrameLocks noChangeAspect="1"/>
          </p:cNvGraphicFramePr>
          <p:nvPr>
            <p:extLst>
              <p:ext uri="{D42A27DB-BD31-4B8C-83A1-F6EECF244321}">
                <p14:modId xmlns:p14="http://schemas.microsoft.com/office/powerpoint/2010/main" val="4150313247"/>
              </p:ext>
            </p:extLst>
          </p:nvPr>
        </p:nvGraphicFramePr>
        <p:xfrm>
          <a:off x="4220480" y="1717010"/>
          <a:ext cx="1403988" cy="287997"/>
        </p:xfrm>
        <a:graphic>
          <a:graphicData uri="http://schemas.openxmlformats.org/presentationml/2006/ole">
            <mc:AlternateContent xmlns:mc="http://schemas.openxmlformats.org/markup-compatibility/2006">
              <mc:Choice xmlns:v="urn:schemas-microsoft-com:vml" Requires="v">
                <p:oleObj spid="_x0000_s38269" name="Equation" r:id="rId3" imgW="990360" imgH="203040" progId="Equation.DSMT4">
                  <p:embed/>
                </p:oleObj>
              </mc:Choice>
              <mc:Fallback>
                <p:oleObj name="Equation" r:id="rId3" imgW="990360" imgH="203040" progId="Equation.DSMT4">
                  <p:embed/>
                  <p:pic>
                    <p:nvPicPr>
                      <p:cNvPr id="0" name=""/>
                      <p:cNvPicPr/>
                      <p:nvPr/>
                    </p:nvPicPr>
                    <p:blipFill>
                      <a:blip r:embed="rId4"/>
                      <a:stretch>
                        <a:fillRect/>
                      </a:stretch>
                    </p:blipFill>
                    <p:spPr>
                      <a:xfrm>
                        <a:off x="4220480" y="1717010"/>
                        <a:ext cx="1403988" cy="287997"/>
                      </a:xfrm>
                      <a:prstGeom prst="rect">
                        <a:avLst/>
                      </a:prstGeom>
                    </p:spPr>
                  </p:pic>
                </p:oleObj>
              </mc:Fallback>
            </mc:AlternateContent>
          </a:graphicData>
        </a:graphic>
      </p:graphicFrame>
      <p:sp>
        <p:nvSpPr>
          <p:cNvPr id="5" name="Content Placeholder 4"/>
          <p:cNvSpPr>
            <a:spLocks noGrp="1"/>
          </p:cNvSpPr>
          <p:nvPr>
            <p:ph sz="quarter" idx="13"/>
          </p:nvPr>
        </p:nvSpPr>
        <p:spPr>
          <a:xfrm>
            <a:off x="460375" y="1934779"/>
            <a:ext cx="8229600" cy="981640"/>
          </a:xfrm>
        </p:spPr>
        <p:txBody>
          <a:bodyPr/>
          <a:lstStyle/>
          <a:p>
            <a:pPr marL="255600" eaLnBrk="1" hangingPunct="1">
              <a:spcBef>
                <a:spcPts val="1500"/>
              </a:spcBef>
              <a:buClr>
                <a:schemeClr val="tx2"/>
              </a:buClr>
              <a:buFont typeface="Arial" panose="020B0604020202020204" pitchFamily="34" charset="0"/>
              <a:buChar char="•"/>
              <a:tabLst/>
              <a:defRPr/>
            </a:pPr>
            <a:r>
              <a:rPr lang="en-US" sz="1800" kern="1200" dirty="0">
                <a:latin typeface="Arial (Body)"/>
              </a:rPr>
              <a:t>The stream insertion operator function (Figure 18.4 (see slide 30), lines 11-16) </a:t>
            </a:r>
            <a:r>
              <a:rPr lang="en-US" sz="1800" kern="1200" dirty="0" smtClean="0">
                <a:latin typeface="Arial (Body)"/>
              </a:rPr>
              <a:t>takes </a:t>
            </a:r>
            <a:r>
              <a:rPr lang="en-US" sz="1800" kern="1200" dirty="0">
                <a:latin typeface="Arial (Body)"/>
              </a:rPr>
              <a:t>an </a:t>
            </a:r>
            <a:r>
              <a:rPr lang="en-US" sz="1800" kern="1200" dirty="0" smtClean="0">
                <a:latin typeface="Consolas" panose="020B0609020204030204" pitchFamily="49" charset="0"/>
                <a:cs typeface="Consolas" panose="020B0609020204030204" pitchFamily="49" charset="0"/>
              </a:rPr>
              <a:t>o</a:t>
            </a:r>
            <a:r>
              <a:rPr lang="en-US" sz="100" kern="1200" dirty="0" smtClean="0">
                <a:latin typeface="Consolas" panose="020B0609020204030204" pitchFamily="49" charset="0"/>
                <a:cs typeface="Consolas" panose="020B0609020204030204" pitchFamily="49" charset="0"/>
              </a:rPr>
              <a:t> </a:t>
            </a:r>
            <a:r>
              <a:rPr lang="en-US" sz="1800" kern="1200" dirty="0" smtClean="0">
                <a:latin typeface="Consolas" panose="020B0609020204030204" pitchFamily="49" charset="0"/>
                <a:cs typeface="Consolas" panose="020B0609020204030204" pitchFamily="49" charset="0"/>
              </a:rPr>
              <a:t>stream</a:t>
            </a:r>
            <a:r>
              <a:rPr lang="en-US" sz="1800" kern="1200" dirty="0" smtClean="0">
                <a:latin typeface="Arial (Body)"/>
              </a:rPr>
              <a:t> </a:t>
            </a:r>
            <a:r>
              <a:rPr lang="en-US" sz="1800" kern="1200" dirty="0">
                <a:latin typeface="Arial (Body)"/>
              </a:rPr>
              <a:t>reference (</a:t>
            </a:r>
            <a:r>
              <a:rPr lang="en-US" sz="1800" kern="1200" dirty="0">
                <a:latin typeface="Consolas" panose="020B0609020204030204" pitchFamily="49" charset="0"/>
                <a:cs typeface="Consolas" panose="020B0609020204030204" pitchFamily="49" charset="0"/>
              </a:rPr>
              <a:t>output</a:t>
            </a:r>
            <a:r>
              <a:rPr lang="en-US" sz="1800" kern="1200" dirty="0">
                <a:latin typeface="Arial (Body)"/>
              </a:rPr>
              <a:t>) and a </a:t>
            </a:r>
            <a:r>
              <a:rPr lang="en-US" sz="1800" kern="1200" dirty="0">
                <a:latin typeface="Consolas" panose="020B0609020204030204" pitchFamily="49" charset="0"/>
                <a:cs typeface="Consolas" panose="020B0609020204030204" pitchFamily="49" charset="0"/>
              </a:rPr>
              <a:t>const</a:t>
            </a:r>
            <a:r>
              <a:rPr lang="en-US" sz="1800" kern="1200" dirty="0">
                <a:latin typeface="Arial (Body)"/>
              </a:rPr>
              <a:t> </a:t>
            </a:r>
            <a:r>
              <a:rPr lang="en-US" sz="1800" kern="1200" dirty="0" smtClean="0">
                <a:latin typeface="Consolas" panose="020B0609020204030204" pitchFamily="49" charset="0"/>
                <a:cs typeface="Consolas" panose="020B0609020204030204" pitchFamily="49" charset="0"/>
              </a:rPr>
              <a:t>Phone</a:t>
            </a:r>
            <a:r>
              <a:rPr lang="en-US" sz="100" kern="1200" dirty="0" smtClean="0">
                <a:latin typeface="Consolas" panose="020B0609020204030204" pitchFamily="49" charset="0"/>
                <a:cs typeface="Consolas" panose="020B0609020204030204" pitchFamily="49" charset="0"/>
              </a:rPr>
              <a:t> </a:t>
            </a:r>
            <a:r>
              <a:rPr lang="en-US" sz="1800" kern="1200" dirty="0" smtClean="0">
                <a:latin typeface="Consolas" panose="020B0609020204030204" pitchFamily="49" charset="0"/>
                <a:cs typeface="Consolas" panose="020B0609020204030204" pitchFamily="49" charset="0"/>
              </a:rPr>
              <a:t>Number</a:t>
            </a:r>
            <a:r>
              <a:rPr lang="en-US" sz="1800" kern="1200" dirty="0" smtClean="0">
                <a:latin typeface="Arial (Body)"/>
              </a:rPr>
              <a:t> </a:t>
            </a:r>
            <a:r>
              <a:rPr lang="en-US" sz="1800" kern="1200" dirty="0">
                <a:latin typeface="Arial (Body)"/>
              </a:rPr>
              <a:t>reference (</a:t>
            </a:r>
            <a:r>
              <a:rPr lang="en-US" sz="1800" kern="1200" dirty="0">
                <a:latin typeface="Consolas" panose="020B0609020204030204" pitchFamily="49" charset="0"/>
                <a:cs typeface="Consolas" panose="020B0609020204030204" pitchFamily="49" charset="0"/>
              </a:rPr>
              <a:t>number</a:t>
            </a:r>
            <a:r>
              <a:rPr lang="en-US" sz="1800" kern="1200" dirty="0">
                <a:latin typeface="Arial (Body)"/>
              </a:rPr>
              <a:t>) as arguments and returns an </a:t>
            </a:r>
            <a:r>
              <a:rPr lang="en-US" sz="1800" kern="1200" dirty="0" smtClean="0">
                <a:latin typeface="Consolas" panose="020B0609020204030204" pitchFamily="49" charset="0"/>
                <a:cs typeface="Consolas" panose="020B0609020204030204" pitchFamily="49" charset="0"/>
              </a:rPr>
              <a:t>o</a:t>
            </a:r>
            <a:r>
              <a:rPr lang="en-US" sz="100" kern="1200" dirty="0" smtClean="0">
                <a:latin typeface="Consolas" panose="020B0609020204030204" pitchFamily="49" charset="0"/>
                <a:cs typeface="Consolas" panose="020B0609020204030204" pitchFamily="49" charset="0"/>
              </a:rPr>
              <a:t> </a:t>
            </a:r>
            <a:r>
              <a:rPr lang="en-US" sz="1800" kern="1200" dirty="0" smtClean="0">
                <a:latin typeface="Consolas" panose="020B0609020204030204" pitchFamily="49" charset="0"/>
                <a:cs typeface="Consolas" panose="020B0609020204030204" pitchFamily="49" charset="0"/>
              </a:rPr>
              <a:t>stream</a:t>
            </a:r>
            <a:r>
              <a:rPr lang="en-US" sz="1800" kern="1200" dirty="0" smtClean="0">
                <a:latin typeface="Arial (Body)"/>
              </a:rPr>
              <a:t> </a:t>
            </a:r>
            <a:r>
              <a:rPr lang="en-US" sz="1800" kern="1200" dirty="0">
                <a:latin typeface="Arial (Body)"/>
              </a:rPr>
              <a:t>reference.</a:t>
            </a:r>
          </a:p>
          <a:p>
            <a:pPr marL="255600" eaLnBrk="1" hangingPunct="1">
              <a:spcBef>
                <a:spcPts val="1500"/>
              </a:spcBef>
              <a:buClr>
                <a:schemeClr val="tx2"/>
              </a:buClr>
              <a:buFont typeface="Arial" panose="020B0604020202020204" pitchFamily="34" charset="0"/>
              <a:buChar char="•"/>
              <a:tabLst/>
              <a:defRPr/>
            </a:pPr>
            <a:r>
              <a:rPr lang="en-US" sz="1800" kern="1200" dirty="0">
                <a:latin typeface="Arial (Body)"/>
              </a:rPr>
              <a:t>Function</a:t>
            </a:r>
            <a:endParaRPr lang="en-US" sz="1800" dirty="0"/>
          </a:p>
        </p:txBody>
      </p:sp>
      <p:graphicFrame>
        <p:nvGraphicFramePr>
          <p:cNvPr id="9" name="Object 8" descr="Operator left angle bracket left angle bracket."/>
          <p:cNvGraphicFramePr>
            <a:graphicFrameLocks noChangeAspect="1"/>
          </p:cNvGraphicFramePr>
          <p:nvPr>
            <p:extLst>
              <p:ext uri="{D42A27DB-BD31-4B8C-83A1-F6EECF244321}">
                <p14:modId xmlns:p14="http://schemas.microsoft.com/office/powerpoint/2010/main" val="1583107568"/>
              </p:ext>
            </p:extLst>
          </p:nvPr>
        </p:nvGraphicFramePr>
        <p:xfrm>
          <a:off x="1733034" y="3061868"/>
          <a:ext cx="1350880" cy="289474"/>
        </p:xfrm>
        <a:graphic>
          <a:graphicData uri="http://schemas.openxmlformats.org/presentationml/2006/ole">
            <mc:AlternateContent xmlns:mc="http://schemas.openxmlformats.org/markup-compatibility/2006">
              <mc:Choice xmlns:v="urn:schemas-microsoft-com:vml" Requires="v">
                <p:oleObj spid="_x0000_s38270" name="Equation" r:id="rId5" imgW="888840" imgH="190440" progId="Equation.DSMT4">
                  <p:embed/>
                </p:oleObj>
              </mc:Choice>
              <mc:Fallback>
                <p:oleObj name="Equation" r:id="rId5" imgW="888840" imgH="190440" progId="Equation.DSMT4">
                  <p:embed/>
                  <p:pic>
                    <p:nvPicPr>
                      <p:cNvPr id="0" name=""/>
                      <p:cNvPicPr/>
                      <p:nvPr/>
                    </p:nvPicPr>
                    <p:blipFill>
                      <a:blip r:embed="rId6"/>
                      <a:stretch>
                        <a:fillRect/>
                      </a:stretch>
                    </p:blipFill>
                    <p:spPr>
                      <a:xfrm>
                        <a:off x="1733034" y="3061868"/>
                        <a:ext cx="1350880" cy="289474"/>
                      </a:xfrm>
                      <a:prstGeom prst="rect">
                        <a:avLst/>
                      </a:prstGeom>
                    </p:spPr>
                  </p:pic>
                </p:oleObj>
              </mc:Fallback>
            </mc:AlternateContent>
          </a:graphicData>
        </a:graphic>
      </p:graphicFrame>
      <p:sp>
        <p:nvSpPr>
          <p:cNvPr id="6" name="Content Placeholder 5"/>
          <p:cNvSpPr>
            <a:spLocks noGrp="1"/>
          </p:cNvSpPr>
          <p:nvPr>
            <p:ph sz="quarter" idx="14"/>
          </p:nvPr>
        </p:nvSpPr>
        <p:spPr>
          <a:xfrm>
            <a:off x="460375" y="2971983"/>
            <a:ext cx="8232775" cy="609600"/>
          </a:xfrm>
        </p:spPr>
        <p:txBody>
          <a:bodyPr/>
          <a:lstStyle/>
          <a:p>
            <a:pPr indent="2378075" eaLnBrk="1" hangingPunct="1">
              <a:tabLst/>
              <a:defRPr/>
            </a:pPr>
            <a:r>
              <a:rPr lang="en-US" sz="1800" kern="1200" dirty="0" smtClean="0">
                <a:latin typeface="+mn-lt"/>
              </a:rPr>
              <a:t>displays </a:t>
            </a:r>
            <a:r>
              <a:rPr lang="en-US" sz="1800" kern="1200" dirty="0">
                <a:latin typeface="+mn-lt"/>
              </a:rPr>
              <a:t>objects of type </a:t>
            </a:r>
            <a:r>
              <a:rPr lang="en-US" sz="1800" kern="1200" dirty="0">
                <a:latin typeface="+mn-lt"/>
                <a:cs typeface="Consolas" panose="020B0609020204030204" pitchFamily="49" charset="0"/>
              </a:rPr>
              <a:t>PhoneNumber</a:t>
            </a:r>
            <a:r>
              <a:rPr lang="en-US" sz="1800" kern="1200" dirty="0">
                <a:latin typeface="+mn-lt"/>
              </a:rPr>
              <a:t>.</a:t>
            </a:r>
          </a:p>
          <a:p>
            <a:pPr marL="255600" eaLnBrk="1" hangingPunct="1">
              <a:spcBef>
                <a:spcPts val="1500"/>
              </a:spcBef>
              <a:buClr>
                <a:schemeClr val="tx2"/>
              </a:buClr>
              <a:buFont typeface="Arial" panose="020B0604020202020204" pitchFamily="34" charset="0"/>
              <a:buChar char="•"/>
              <a:tabLst/>
              <a:defRPr/>
            </a:pPr>
            <a:r>
              <a:rPr lang="en-US" sz="1800" kern="1200" dirty="0">
                <a:latin typeface="+mn-lt"/>
              </a:rPr>
              <a:t>When the compiler sees the expression</a:t>
            </a:r>
          </a:p>
          <a:p>
            <a:pPr marL="741600" lvl="1" indent="-284400" eaLnBrk="1" hangingPunct="1">
              <a:spcBef>
                <a:spcPts val="600"/>
              </a:spcBef>
              <a:buClr>
                <a:schemeClr val="tx2"/>
              </a:buClr>
              <a:buFontTx/>
              <a:buChar char="–"/>
              <a:defRPr/>
            </a:pPr>
            <a:r>
              <a:rPr lang="en-US" sz="1800" kern="1200" dirty="0">
                <a:latin typeface="+mn-lt"/>
              </a:rPr>
              <a:t> </a:t>
            </a:r>
          </a:p>
        </p:txBody>
      </p:sp>
      <p:pic>
        <p:nvPicPr>
          <p:cNvPr id="12" name="Picture 11" descr="The computer reads as follows. c out left angle bracket left angle bracket phone."/>
          <p:cNvPicPr>
            <a:picLocks noChangeAspect="1"/>
          </p:cNvPicPr>
          <p:nvPr/>
        </p:nvPicPr>
        <p:blipFill rotWithShape="1">
          <a:blip r:embed="rId7"/>
          <a:srcRect l="20111" t="20413" r="4861" b="21549"/>
          <a:stretch/>
        </p:blipFill>
        <p:spPr>
          <a:xfrm>
            <a:off x="1201003" y="3894485"/>
            <a:ext cx="1678674" cy="286603"/>
          </a:xfrm>
          <a:prstGeom prst="rect">
            <a:avLst/>
          </a:prstGeom>
        </p:spPr>
      </p:pic>
      <p:sp>
        <p:nvSpPr>
          <p:cNvPr id="10" name="Content Placeholder 9"/>
          <p:cNvSpPr>
            <a:spLocks noGrp="1"/>
          </p:cNvSpPr>
          <p:nvPr>
            <p:ph sz="quarter" idx="16"/>
          </p:nvPr>
        </p:nvSpPr>
        <p:spPr>
          <a:xfrm>
            <a:off x="471124" y="4134276"/>
            <a:ext cx="8229600" cy="949301"/>
          </a:xfrm>
        </p:spPr>
        <p:txBody>
          <a:bodyPr/>
          <a:lstStyle/>
          <a:p>
            <a:pPr marL="285750" indent="0"/>
            <a:r>
              <a:rPr lang="en-US" sz="1800" dirty="0">
                <a:latin typeface="+mn-lt"/>
              </a:rPr>
              <a:t>in line 22 if </a:t>
            </a:r>
            <a:r>
              <a:rPr lang="en-US" sz="1800" dirty="0" smtClean="0">
                <a:latin typeface="+mn-lt"/>
              </a:rPr>
              <a:t>Figure 18.5 (see slides 30-31), </a:t>
            </a:r>
            <a:r>
              <a:rPr lang="en-US" sz="1800" dirty="0">
                <a:latin typeface="+mn-lt"/>
              </a:rPr>
              <a:t>the compiler generates the non-member function </a:t>
            </a:r>
            <a:r>
              <a:rPr lang="en-US" sz="1800" dirty="0" smtClean="0">
                <a:latin typeface="+mn-lt"/>
              </a:rPr>
              <a:t>call</a:t>
            </a:r>
          </a:p>
          <a:p>
            <a:pPr marL="740664" indent="-285750">
              <a:spcBef>
                <a:spcPts val="600"/>
              </a:spcBef>
              <a:buClr>
                <a:schemeClr val="tx2"/>
              </a:buClr>
              <a:buFont typeface="Arial" panose="020B0604020202020204" pitchFamily="34" charset="0"/>
              <a:buChar char="–"/>
            </a:pPr>
            <a:r>
              <a:rPr lang="en-US" sz="1800" dirty="0">
                <a:latin typeface="+mn-lt"/>
              </a:rPr>
              <a:t> </a:t>
            </a:r>
          </a:p>
        </p:txBody>
      </p:sp>
      <p:pic>
        <p:nvPicPr>
          <p:cNvPr id="13" name="Picture 12" descr="The computer reads as follows. Operator left angle bracket left angle bracket left parenthesis c out comma phone right parenthesis semicolon."/>
          <p:cNvPicPr>
            <a:picLocks noChangeAspect="1"/>
          </p:cNvPicPr>
          <p:nvPr/>
        </p:nvPicPr>
        <p:blipFill rotWithShape="1">
          <a:blip r:embed="rId8"/>
          <a:srcRect l="11264" t="16100" r="3118" b="22373"/>
          <a:stretch/>
        </p:blipFill>
        <p:spPr>
          <a:xfrm>
            <a:off x="1201003" y="4844938"/>
            <a:ext cx="3429000" cy="314325"/>
          </a:xfrm>
          <a:prstGeom prst="rect">
            <a:avLst/>
          </a:prstGeom>
        </p:spPr>
      </p:pic>
      <p:sp>
        <p:nvSpPr>
          <p:cNvPr id="7" name="Content Placeholder 6"/>
          <p:cNvSpPr>
            <a:spLocks noGrp="1"/>
          </p:cNvSpPr>
          <p:nvPr>
            <p:ph sz="quarter" idx="15"/>
          </p:nvPr>
        </p:nvSpPr>
        <p:spPr>
          <a:xfrm>
            <a:off x="457199" y="5170907"/>
            <a:ext cx="8229600" cy="550863"/>
          </a:xfrm>
        </p:spPr>
        <p:txBody>
          <a:bodyPr/>
          <a:lstStyle/>
          <a:p>
            <a:pPr marL="256032" indent="-256032">
              <a:spcBef>
                <a:spcPts val="1500"/>
              </a:spcBef>
              <a:buClr>
                <a:schemeClr val="tx2"/>
              </a:buClr>
              <a:buFont typeface="Cambria" panose="02040503050406030204" pitchFamily="18" charset="0"/>
              <a:buChar char="•"/>
            </a:pPr>
            <a:r>
              <a:rPr lang="en-US" sz="1800" dirty="0">
                <a:latin typeface="+mn-lt"/>
              </a:rPr>
              <a:t>Function</a:t>
            </a:r>
          </a:p>
        </p:txBody>
      </p:sp>
      <p:graphicFrame>
        <p:nvGraphicFramePr>
          <p:cNvPr id="14" name="Object 13" descr="Operator left angle bracket left angle bracket."/>
          <p:cNvGraphicFramePr>
            <a:graphicFrameLocks noChangeAspect="1"/>
          </p:cNvGraphicFramePr>
          <p:nvPr>
            <p:extLst>
              <p:ext uri="{D42A27DB-BD31-4B8C-83A1-F6EECF244321}">
                <p14:modId xmlns:p14="http://schemas.microsoft.com/office/powerpoint/2010/main" val="3446599952"/>
              </p:ext>
            </p:extLst>
          </p:nvPr>
        </p:nvGraphicFramePr>
        <p:xfrm>
          <a:off x="1726344" y="5278723"/>
          <a:ext cx="1405026" cy="301074"/>
        </p:xfrm>
        <a:graphic>
          <a:graphicData uri="http://schemas.openxmlformats.org/presentationml/2006/ole">
            <mc:AlternateContent xmlns:mc="http://schemas.openxmlformats.org/markup-compatibility/2006">
              <mc:Choice xmlns:v="urn:schemas-microsoft-com:vml" Requires="v">
                <p:oleObj spid="_x0000_s38271" name="Equation" r:id="rId9" imgW="888840" imgH="190440" progId="Equation.DSMT4">
                  <p:embed/>
                </p:oleObj>
              </mc:Choice>
              <mc:Fallback>
                <p:oleObj name="Equation" r:id="rId9" imgW="888840" imgH="190440" progId="Equation.DSMT4">
                  <p:embed/>
                  <p:pic>
                    <p:nvPicPr>
                      <p:cNvPr id="0" name=""/>
                      <p:cNvPicPr/>
                      <p:nvPr/>
                    </p:nvPicPr>
                    <p:blipFill>
                      <a:blip r:embed="rId10"/>
                      <a:stretch>
                        <a:fillRect/>
                      </a:stretch>
                    </p:blipFill>
                    <p:spPr>
                      <a:xfrm>
                        <a:off x="1726344" y="5278723"/>
                        <a:ext cx="1405026" cy="301074"/>
                      </a:xfrm>
                      <a:prstGeom prst="rect">
                        <a:avLst/>
                      </a:prstGeom>
                    </p:spPr>
                  </p:pic>
                </p:oleObj>
              </mc:Fallback>
            </mc:AlternateContent>
          </a:graphicData>
        </a:graphic>
      </p:graphicFrame>
      <p:sp>
        <p:nvSpPr>
          <p:cNvPr id="11" name="Content Placeholder 10"/>
          <p:cNvSpPr>
            <a:spLocks noGrp="1"/>
          </p:cNvSpPr>
          <p:nvPr>
            <p:ph sz="quarter" idx="17"/>
          </p:nvPr>
        </p:nvSpPr>
        <p:spPr>
          <a:xfrm>
            <a:off x="471124" y="5172911"/>
            <a:ext cx="8229601" cy="689882"/>
          </a:xfrm>
        </p:spPr>
        <p:txBody>
          <a:bodyPr/>
          <a:lstStyle/>
          <a:p>
            <a:pPr marL="231775" indent="2401888"/>
            <a:r>
              <a:rPr lang="en-US" sz="1800" dirty="0">
                <a:latin typeface="+mn-lt"/>
              </a:rPr>
              <a:t>displays the parts of the telephone number as </a:t>
            </a:r>
            <a:r>
              <a:rPr lang="en-US" sz="1800" dirty="0">
                <a:latin typeface="Consolas" panose="020B0609020204030204" pitchFamily="49" charset="0"/>
              </a:rPr>
              <a:t>string</a:t>
            </a:r>
            <a:r>
              <a:rPr lang="en-US" sz="1800" dirty="0">
                <a:latin typeface="+mn-lt"/>
              </a:rPr>
              <a:t>s, because they’re stored as </a:t>
            </a:r>
            <a:r>
              <a:rPr lang="en-US" sz="1800" dirty="0">
                <a:latin typeface="Consolas" panose="020B0609020204030204" pitchFamily="49" charset="0"/>
              </a:rPr>
              <a:t>string</a:t>
            </a:r>
            <a:r>
              <a:rPr lang="en-US" sz="1800" dirty="0">
                <a:latin typeface="+mn-lt"/>
              </a:rPr>
              <a:t> objects.</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129"/>
            <a:ext cx="8229600" cy="1169521"/>
          </a:xfrm>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18.5 Overloading the Binary Stream Insertion and Stream Extraction Operators </a:t>
            </a:r>
            <a:r>
              <a:rPr lang="en-US" altLang="en-US" sz="2000" b="0" kern="1200" dirty="0" smtClean="0">
                <a:latin typeface="Times New Roman" panose="02020603050405020304" pitchFamily="18" charset="0"/>
                <a:ea typeface="+mj-ea"/>
                <a:cs typeface="+mj-cs"/>
              </a:rPr>
              <a:t>(4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lstStyle/>
          <a:p>
            <a:pPr marL="0" indent="0">
              <a:buFont typeface="Wingdings 3" panose="05040102010807070707" pitchFamily="18" charset="2"/>
              <a:buNone/>
              <a:defRPr/>
            </a:pPr>
            <a:r>
              <a:rPr lang="en-US" sz="2400" b="1" dirty="0">
                <a:solidFill>
                  <a:srgbClr val="000000"/>
                </a:solidFill>
                <a:latin typeface="+mn-lt"/>
              </a:rPr>
              <a:t>Overloaded Operators as Non-Member </a:t>
            </a:r>
            <a:r>
              <a:rPr lang="en-US" sz="2400" b="1" dirty="0">
                <a:solidFill>
                  <a:srgbClr val="000000"/>
                </a:solidFill>
                <a:latin typeface="Consolas" panose="020B0609020204030204" pitchFamily="49" charset="0"/>
              </a:rPr>
              <a:t>friend</a:t>
            </a:r>
            <a:r>
              <a:rPr lang="en-US" sz="2400" b="1" dirty="0">
                <a:solidFill>
                  <a:srgbClr val="000000"/>
                </a:solidFill>
                <a:latin typeface="+mn-lt"/>
              </a:rPr>
              <a:t> Functions</a:t>
            </a:r>
          </a:p>
          <a:p>
            <a:pPr>
              <a:defRPr/>
            </a:pPr>
            <a:r>
              <a:rPr lang="en-US" sz="2400" dirty="0">
                <a:solidFill>
                  <a:srgbClr val="000000"/>
                </a:solidFill>
                <a:latin typeface="+mn-lt"/>
              </a:rPr>
              <a:t>The </a:t>
            </a:r>
            <a:r>
              <a:rPr lang="en-US" sz="2400" dirty="0" smtClean="0">
                <a:solidFill>
                  <a:srgbClr val="000000"/>
                </a:solidFill>
                <a:latin typeface="+mn-lt"/>
              </a:rPr>
              <a:t>functions</a:t>
            </a:r>
          </a:p>
        </p:txBody>
      </p:sp>
      <p:graphicFrame>
        <p:nvGraphicFramePr>
          <p:cNvPr id="5" name="Object 4" descr="Operator right angle bracket right angle bracket and operator left angle bracket left angle bracket."/>
          <p:cNvGraphicFramePr>
            <a:graphicFrameLocks noChangeAspect="1"/>
          </p:cNvGraphicFramePr>
          <p:nvPr>
            <p:extLst>
              <p:ext uri="{D42A27DB-BD31-4B8C-83A1-F6EECF244321}">
                <p14:modId xmlns:p14="http://schemas.microsoft.com/office/powerpoint/2010/main" val="998302142"/>
              </p:ext>
            </p:extLst>
          </p:nvPr>
        </p:nvGraphicFramePr>
        <p:xfrm>
          <a:off x="2689492" y="2621507"/>
          <a:ext cx="4130776" cy="407978"/>
        </p:xfrm>
        <a:graphic>
          <a:graphicData uri="http://schemas.openxmlformats.org/presentationml/2006/ole">
            <mc:AlternateContent xmlns:mc="http://schemas.openxmlformats.org/markup-compatibility/2006">
              <mc:Choice xmlns:v="urn:schemas-microsoft-com:vml" Requires="v">
                <p:oleObj spid="_x0000_s8800" name="Equation" r:id="rId3" imgW="2057400" imgH="203040" progId="Equation.DSMT4">
                  <p:embed/>
                </p:oleObj>
              </mc:Choice>
              <mc:Fallback>
                <p:oleObj name="Equation" r:id="rId3" imgW="2057400" imgH="203040" progId="Equation.DSMT4">
                  <p:embed/>
                  <p:pic>
                    <p:nvPicPr>
                      <p:cNvPr id="0" name=""/>
                      <p:cNvPicPr/>
                      <p:nvPr/>
                    </p:nvPicPr>
                    <p:blipFill>
                      <a:blip r:embed="rId4"/>
                      <a:stretch>
                        <a:fillRect/>
                      </a:stretch>
                    </p:blipFill>
                    <p:spPr>
                      <a:xfrm>
                        <a:off x="2689492" y="2621507"/>
                        <a:ext cx="4130776" cy="407978"/>
                      </a:xfrm>
                      <a:prstGeom prst="rect">
                        <a:avLst/>
                      </a:prstGeom>
                    </p:spPr>
                  </p:pic>
                </p:oleObj>
              </mc:Fallback>
            </mc:AlternateContent>
          </a:graphicData>
        </a:graphic>
      </p:graphicFrame>
      <p:sp>
        <p:nvSpPr>
          <p:cNvPr id="4" name="Text Placeholder 3"/>
          <p:cNvSpPr>
            <a:spLocks noGrp="1"/>
          </p:cNvSpPr>
          <p:nvPr>
            <p:ph type="body" idx="2"/>
          </p:nvPr>
        </p:nvSpPr>
        <p:spPr>
          <a:xfrm>
            <a:off x="457200" y="2526792"/>
            <a:ext cx="8229600" cy="2163763"/>
          </a:xfrm>
        </p:spPr>
        <p:txBody>
          <a:bodyPr/>
          <a:lstStyle/>
          <a:p>
            <a:pPr marL="255588" indent="6062663">
              <a:buNone/>
              <a:defRPr/>
            </a:pPr>
            <a:r>
              <a:rPr lang="en-US" sz="2400" dirty="0">
                <a:solidFill>
                  <a:srgbClr val="000000"/>
                </a:solidFill>
                <a:latin typeface="+mn-lt"/>
              </a:rPr>
              <a:t>are declared in </a:t>
            </a:r>
            <a:r>
              <a:rPr lang="en-US" sz="2400" dirty="0">
                <a:solidFill>
                  <a:srgbClr val="000000"/>
                </a:solidFill>
                <a:latin typeface="Consolas" panose="020B0609020204030204" pitchFamily="49" charset="0"/>
                <a:cs typeface="Consolas" panose="020B0609020204030204" pitchFamily="49" charset="0"/>
              </a:rPr>
              <a:t>PhoneNumber</a:t>
            </a:r>
            <a:r>
              <a:rPr lang="en-US" sz="2400" dirty="0">
                <a:solidFill>
                  <a:srgbClr val="000000"/>
                </a:solidFill>
                <a:latin typeface="+mn-lt"/>
              </a:rPr>
              <a:t> as non-member, </a:t>
            </a:r>
            <a:r>
              <a:rPr lang="en-US" sz="2400" dirty="0">
                <a:solidFill>
                  <a:srgbClr val="000000"/>
                </a:solidFill>
                <a:latin typeface="Consolas" panose="020B0609020204030204" pitchFamily="49" charset="0"/>
                <a:cs typeface="Consolas" panose="020B0609020204030204" pitchFamily="49" charset="0"/>
              </a:rPr>
              <a:t>friend</a:t>
            </a:r>
            <a:r>
              <a:rPr lang="en-US" sz="2400" dirty="0">
                <a:solidFill>
                  <a:srgbClr val="000000"/>
                </a:solidFill>
                <a:latin typeface="+mn-lt"/>
              </a:rPr>
              <a:t> functions.</a:t>
            </a:r>
          </a:p>
          <a:p>
            <a:pPr>
              <a:defRPr/>
            </a:pPr>
            <a:r>
              <a:rPr lang="en-US" sz="2400" dirty="0">
                <a:solidFill>
                  <a:srgbClr val="000000"/>
                </a:solidFill>
                <a:latin typeface="+mn-lt"/>
              </a:rPr>
              <a:t>They’re </a:t>
            </a:r>
            <a:r>
              <a:rPr lang="en-US" sz="2400" b="1" dirty="0">
                <a:solidFill>
                  <a:srgbClr val="000000"/>
                </a:solidFill>
                <a:latin typeface="+mn-lt"/>
              </a:rPr>
              <a:t>non-member functions </a:t>
            </a:r>
            <a:r>
              <a:rPr lang="en-US" sz="2400" dirty="0">
                <a:solidFill>
                  <a:srgbClr val="000000"/>
                </a:solidFill>
                <a:latin typeface="+mn-lt"/>
              </a:rPr>
              <a:t>because the object of class </a:t>
            </a:r>
            <a:r>
              <a:rPr lang="en-US" sz="2400" dirty="0">
                <a:solidFill>
                  <a:srgbClr val="000000"/>
                </a:solidFill>
                <a:latin typeface="Consolas" panose="020B0609020204030204" pitchFamily="49" charset="0"/>
                <a:cs typeface="Consolas" panose="020B0609020204030204" pitchFamily="49" charset="0"/>
              </a:rPr>
              <a:t>PhoneNumber</a:t>
            </a:r>
            <a:r>
              <a:rPr lang="en-US" sz="2400" dirty="0">
                <a:solidFill>
                  <a:srgbClr val="000000"/>
                </a:solidFill>
                <a:latin typeface="+mn-lt"/>
              </a:rPr>
              <a:t> is the operator’s </a:t>
            </a:r>
            <a:r>
              <a:rPr lang="en-US" sz="2400" b="1" dirty="0">
                <a:solidFill>
                  <a:srgbClr val="000000"/>
                </a:solidFill>
                <a:latin typeface="+mn-lt"/>
              </a:rPr>
              <a:t>right</a:t>
            </a:r>
            <a:r>
              <a:rPr lang="en-US" sz="2400" dirty="0">
                <a:solidFill>
                  <a:srgbClr val="000000"/>
                </a:solidFill>
                <a:latin typeface="+mn-lt"/>
              </a:rPr>
              <a:t> operand.</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Observation </a:t>
            </a:r>
            <a:r>
              <a:rPr lang="en-US" dirty="0" smtClean="0"/>
              <a:t>18.2</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New input/output capabilities for user-defined types are added to C++ without </a:t>
            </a:r>
            <a:r>
              <a:rPr lang="en-US" sz="2400" dirty="0" smtClean="0">
                <a:latin typeface="+mn-lt"/>
              </a:rPr>
              <a:t>modifying standard </a:t>
            </a:r>
            <a:r>
              <a:rPr lang="en-US" sz="2400" dirty="0">
                <a:latin typeface="+mn-lt"/>
              </a:rPr>
              <a:t>input/output library classes. This is another example of C++’s extensibility.</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129"/>
            <a:ext cx="8229600" cy="1169521"/>
          </a:xfrm>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18.5 Overloading the Binary Stream Insertion and Stream Extraction Operators </a:t>
            </a:r>
            <a:r>
              <a:rPr lang="en-US" altLang="en-US" sz="2000" b="0" kern="1200" dirty="0" smtClean="0">
                <a:latin typeface="Times New Roman" panose="02020603050405020304" pitchFamily="18" charset="0"/>
                <a:ea typeface="+mj-ea"/>
                <a:cs typeface="+mj-cs"/>
              </a:rPr>
              <a:t>(5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1"/>
            <a:ext cx="8229600" cy="1854323"/>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Why Overloaded Stream Insertion and Stream Extraction Operators Are Overloaded as Non-Member Functions</a:t>
            </a:r>
          </a:p>
          <a:p>
            <a:pPr marL="255651" indent="-255651" eaLnBrk="1" hangingPunct="1">
              <a:tabLst/>
              <a:defRPr/>
            </a:pPr>
            <a:r>
              <a:rPr lang="en-US" sz="2400" kern="1200" dirty="0">
                <a:solidFill>
                  <a:srgbClr val="000000"/>
                </a:solidFill>
                <a:latin typeface="Arial (Body)"/>
                <a:ea typeface="+mn-ea"/>
                <a:cs typeface="+mn-cs"/>
              </a:rPr>
              <a:t>The overloaded stream </a:t>
            </a:r>
            <a:r>
              <a:rPr lang="en-US" sz="2400" kern="1200" dirty="0" smtClean="0">
                <a:solidFill>
                  <a:srgbClr val="000000"/>
                </a:solidFill>
                <a:latin typeface="Arial (Body)"/>
                <a:ea typeface="+mn-ea"/>
                <a:cs typeface="+mn-cs"/>
              </a:rPr>
              <a:t>insertion</a:t>
            </a:r>
            <a:endParaRPr lang="en-US" sz="2400" kern="1200" dirty="0">
              <a:solidFill>
                <a:srgbClr val="000000"/>
              </a:solidFill>
              <a:latin typeface="Arial (Body)"/>
              <a:ea typeface="+mn-ea"/>
              <a:cs typeface="+mn-cs"/>
            </a:endParaRPr>
          </a:p>
        </p:txBody>
      </p:sp>
      <p:graphicFrame>
        <p:nvGraphicFramePr>
          <p:cNvPr id="6" name="Object 5" descr="Operator left parenthesis left angle bracket left angle bracket right parenthesis."/>
          <p:cNvGraphicFramePr>
            <a:graphicFrameLocks noChangeAspect="1"/>
          </p:cNvGraphicFramePr>
          <p:nvPr>
            <p:extLst>
              <p:ext uri="{D42A27DB-BD31-4B8C-83A1-F6EECF244321}">
                <p14:modId xmlns:p14="http://schemas.microsoft.com/office/powerpoint/2010/main" val="4063431701"/>
              </p:ext>
            </p:extLst>
          </p:nvPr>
        </p:nvGraphicFramePr>
        <p:xfrm>
          <a:off x="5235387" y="2990447"/>
          <a:ext cx="1782187" cy="401619"/>
        </p:xfrm>
        <a:graphic>
          <a:graphicData uri="http://schemas.openxmlformats.org/presentationml/2006/ole">
            <mc:AlternateContent xmlns:mc="http://schemas.openxmlformats.org/markup-compatibility/2006">
              <mc:Choice xmlns:v="urn:schemas-microsoft-com:vml" Requires="v">
                <p:oleObj spid="_x0000_s44181" name="Equation" r:id="rId3" imgW="901440" imgH="203040" progId="Equation.DSMT4">
                  <p:embed/>
                </p:oleObj>
              </mc:Choice>
              <mc:Fallback>
                <p:oleObj name="Equation" r:id="rId3" imgW="901440" imgH="203040" progId="Equation.DSMT4">
                  <p:embed/>
                  <p:pic>
                    <p:nvPicPr>
                      <p:cNvPr id="0" name=""/>
                      <p:cNvPicPr/>
                      <p:nvPr/>
                    </p:nvPicPr>
                    <p:blipFill>
                      <a:blip r:embed="rId4"/>
                      <a:stretch>
                        <a:fillRect/>
                      </a:stretch>
                    </p:blipFill>
                    <p:spPr>
                      <a:xfrm>
                        <a:off x="5235387" y="2990447"/>
                        <a:ext cx="1782187" cy="401619"/>
                      </a:xfrm>
                      <a:prstGeom prst="rect">
                        <a:avLst/>
                      </a:prstGeom>
                    </p:spPr>
                  </p:pic>
                </p:oleObj>
              </mc:Fallback>
            </mc:AlternateContent>
          </a:graphicData>
        </a:graphic>
      </p:graphicFrame>
      <p:sp>
        <p:nvSpPr>
          <p:cNvPr id="4" name="Content Placeholder 3"/>
          <p:cNvSpPr>
            <a:spLocks noGrp="1"/>
          </p:cNvSpPr>
          <p:nvPr>
            <p:ph sz="quarter" idx="13"/>
          </p:nvPr>
        </p:nvSpPr>
        <p:spPr>
          <a:xfrm>
            <a:off x="457200" y="2882089"/>
            <a:ext cx="8311896" cy="1197837"/>
          </a:xfrm>
        </p:spPr>
        <p:txBody>
          <a:bodyPr/>
          <a:lstStyle/>
          <a:p>
            <a:pPr indent="6318250"/>
            <a:r>
              <a:rPr lang="en-US" sz="2400" kern="1200" dirty="0">
                <a:latin typeface="Arial (Body)"/>
              </a:rPr>
              <a:t>is used in an expression in which the left operand has type </a:t>
            </a:r>
            <a:r>
              <a:rPr lang="en-US" sz="2400" kern="1200" dirty="0" smtClean="0">
                <a:latin typeface="Consolas" panose="020B0609020204030204" pitchFamily="49" charset="0"/>
                <a:cs typeface="Consolas" panose="020B0609020204030204" pitchFamily="49" charset="0"/>
              </a:rPr>
              <a:t>o</a:t>
            </a:r>
            <a:r>
              <a:rPr lang="en-US" sz="100" kern="1200" dirty="0" smtClean="0">
                <a:latin typeface="Consolas" panose="020B0609020204030204" pitchFamily="49" charset="0"/>
                <a:cs typeface="Consolas" panose="020B0609020204030204" pitchFamily="49" charset="0"/>
              </a:rPr>
              <a:t> </a:t>
            </a:r>
            <a:r>
              <a:rPr lang="en-US" sz="2400" kern="1200" dirty="0" smtClean="0">
                <a:latin typeface="Consolas" panose="020B0609020204030204" pitchFamily="49" charset="0"/>
                <a:cs typeface="Consolas" panose="020B0609020204030204" pitchFamily="49" charset="0"/>
              </a:rPr>
              <a:t>stream</a:t>
            </a:r>
            <a:r>
              <a:rPr lang="en-US" sz="2400" kern="1200" dirty="0" smtClean="0">
                <a:latin typeface="Arial (Body)"/>
              </a:rPr>
              <a:t> </a:t>
            </a:r>
            <a:r>
              <a:rPr lang="en-US" sz="2400" kern="1200" dirty="0">
                <a:latin typeface="Consolas" panose="020B0609020204030204" pitchFamily="49" charset="0"/>
                <a:cs typeface="Consolas" panose="020B0609020204030204" pitchFamily="49" charset="0"/>
              </a:rPr>
              <a:t>&amp;</a:t>
            </a:r>
            <a:r>
              <a:rPr lang="en-US" sz="2400" kern="1200" dirty="0">
                <a:latin typeface="Arial (Body)"/>
              </a:rPr>
              <a:t>, as in</a:t>
            </a:r>
            <a:endParaRPr lang="en-US" sz="2400" dirty="0"/>
          </a:p>
        </p:txBody>
      </p:sp>
      <p:graphicFrame>
        <p:nvGraphicFramePr>
          <p:cNvPr id="7" name="Object 6" descr="C out left angle bracket left angle bracket class Object."/>
          <p:cNvGraphicFramePr>
            <a:graphicFrameLocks noChangeAspect="1"/>
          </p:cNvGraphicFramePr>
          <p:nvPr>
            <p:extLst>
              <p:ext uri="{D42A27DB-BD31-4B8C-83A1-F6EECF244321}">
                <p14:modId xmlns:p14="http://schemas.microsoft.com/office/powerpoint/2010/main" val="801479619"/>
              </p:ext>
            </p:extLst>
          </p:nvPr>
        </p:nvGraphicFramePr>
        <p:xfrm>
          <a:off x="1832864" y="3713163"/>
          <a:ext cx="3152775" cy="420687"/>
        </p:xfrm>
        <a:graphic>
          <a:graphicData uri="http://schemas.openxmlformats.org/presentationml/2006/ole">
            <mc:AlternateContent xmlns:mc="http://schemas.openxmlformats.org/markup-compatibility/2006">
              <mc:Choice xmlns:v="urn:schemas-microsoft-com:vml" Requires="v">
                <p:oleObj spid="_x0000_s44182" name="Equation" r:id="rId5" imgW="1523880" imgH="203040" progId="Equation.DSMT4">
                  <p:embed/>
                </p:oleObj>
              </mc:Choice>
              <mc:Fallback>
                <p:oleObj name="Equation" r:id="rId5" imgW="1523880" imgH="203040" progId="Equation.DSMT4">
                  <p:embed/>
                  <p:pic>
                    <p:nvPicPr>
                      <p:cNvPr id="0" name=""/>
                      <p:cNvPicPr/>
                      <p:nvPr/>
                    </p:nvPicPr>
                    <p:blipFill>
                      <a:blip r:embed="rId6"/>
                      <a:stretch>
                        <a:fillRect/>
                      </a:stretch>
                    </p:blipFill>
                    <p:spPr>
                      <a:xfrm>
                        <a:off x="1832864" y="3713163"/>
                        <a:ext cx="3152775" cy="420687"/>
                      </a:xfrm>
                      <a:prstGeom prst="rect">
                        <a:avLst/>
                      </a:prstGeom>
                    </p:spPr>
                  </p:pic>
                </p:oleObj>
              </mc:Fallback>
            </mc:AlternateContent>
          </a:graphicData>
        </a:graphic>
      </p:graphicFrame>
      <p:sp>
        <p:nvSpPr>
          <p:cNvPr id="5" name="Content Placeholder 4"/>
          <p:cNvSpPr>
            <a:spLocks noGrp="1"/>
          </p:cNvSpPr>
          <p:nvPr>
            <p:ph sz="quarter" idx="14"/>
          </p:nvPr>
        </p:nvSpPr>
        <p:spPr>
          <a:xfrm>
            <a:off x="457200" y="4178539"/>
            <a:ext cx="8232775" cy="1306734"/>
          </a:xfrm>
        </p:spPr>
        <p:txBody>
          <a:bodyPr/>
          <a:lstStyle/>
          <a:p>
            <a:pPr marL="255600" eaLnBrk="1" hangingPunct="1">
              <a:spcBef>
                <a:spcPts val="1500"/>
              </a:spcBef>
              <a:buClr>
                <a:schemeClr val="tx2"/>
              </a:buClr>
              <a:buFont typeface="Arial" panose="020B0604020202020204" pitchFamily="34" charset="0"/>
              <a:buChar char="•"/>
              <a:tabLst/>
              <a:defRPr/>
            </a:pPr>
            <a:r>
              <a:rPr lang="en-US" sz="2400" kern="1200" dirty="0">
                <a:latin typeface="Arial (Body)"/>
              </a:rPr>
              <a:t>To use the operator in this manner where the </a:t>
            </a:r>
            <a:r>
              <a:rPr lang="en-US" sz="2400" b="1" kern="1200" dirty="0">
                <a:latin typeface="Arial (Body)"/>
              </a:rPr>
              <a:t>right</a:t>
            </a:r>
            <a:r>
              <a:rPr lang="en-US" sz="2400" kern="1200" dirty="0">
                <a:latin typeface="Arial (Body)"/>
              </a:rPr>
              <a:t> operand is an object of a user-defined class, it must be overloaded as a </a:t>
            </a:r>
            <a:r>
              <a:rPr lang="en-US" sz="2400" b="1" kern="1200" dirty="0">
                <a:latin typeface="Arial (Body)"/>
              </a:rPr>
              <a:t>non-member function</a:t>
            </a:r>
            <a:r>
              <a:rPr lang="en-US" sz="2400" kern="1200" dirty="0">
                <a:latin typeface="Arial (Body)"/>
              </a:rPr>
              <a:t>.</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129"/>
            <a:ext cx="8229600" cy="1169521"/>
          </a:xfrm>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18.5 Overloading the Binary Stream Insertion and Stream Extraction Operators </a:t>
            </a:r>
            <a:r>
              <a:rPr lang="en-US" altLang="en-US" sz="2000" b="0" kern="1200" dirty="0" smtClean="0">
                <a:latin typeface="Times New Roman" panose="02020603050405020304" pitchFamily="18" charset="0"/>
                <a:ea typeface="+mj-ea"/>
                <a:cs typeface="+mj-cs"/>
              </a:rPr>
              <a:t>(6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1"/>
            <a:ext cx="8229600" cy="553968"/>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Similarly, the overloaded stream </a:t>
            </a:r>
            <a:r>
              <a:rPr lang="en-US" altLang="en-US" sz="2400" kern="1200" dirty="0" smtClean="0">
                <a:solidFill>
                  <a:srgbClr val="000000"/>
                </a:solidFill>
                <a:latin typeface="Arial (Body)"/>
                <a:ea typeface="+mn-ea"/>
                <a:cs typeface="+mn-cs"/>
              </a:rPr>
              <a:t>extraction</a:t>
            </a:r>
            <a:endParaRPr lang="en-US" altLang="en-US" sz="2400" kern="1200" dirty="0">
              <a:solidFill>
                <a:srgbClr val="000000"/>
              </a:solidFill>
              <a:latin typeface="Arial (Body)"/>
              <a:ea typeface="+mn-ea"/>
              <a:cs typeface="+mn-cs"/>
            </a:endParaRPr>
          </a:p>
        </p:txBody>
      </p:sp>
      <p:graphicFrame>
        <p:nvGraphicFramePr>
          <p:cNvPr id="6" name="Object 5" descr="Operator left parenthesis right angle bracket right angle bracket right parenthesis."/>
          <p:cNvGraphicFramePr>
            <a:graphicFrameLocks noChangeAspect="1"/>
          </p:cNvGraphicFramePr>
          <p:nvPr>
            <p:extLst>
              <p:ext uri="{D42A27DB-BD31-4B8C-83A1-F6EECF244321}">
                <p14:modId xmlns:p14="http://schemas.microsoft.com/office/powerpoint/2010/main" val="1412201935"/>
              </p:ext>
            </p:extLst>
          </p:nvPr>
        </p:nvGraphicFramePr>
        <p:xfrm>
          <a:off x="6602023" y="1716251"/>
          <a:ext cx="1810403" cy="407978"/>
        </p:xfrm>
        <a:graphic>
          <a:graphicData uri="http://schemas.openxmlformats.org/presentationml/2006/ole">
            <mc:AlternateContent xmlns:mc="http://schemas.openxmlformats.org/markup-compatibility/2006">
              <mc:Choice xmlns:v="urn:schemas-microsoft-com:vml" Requires="v">
                <p:oleObj spid="_x0000_s46209" name="Equation" r:id="rId3" imgW="901440" imgH="203040" progId="Equation.DSMT4">
                  <p:embed/>
                </p:oleObj>
              </mc:Choice>
              <mc:Fallback>
                <p:oleObj name="Equation" r:id="rId3" imgW="901440" imgH="203040" progId="Equation.DSMT4">
                  <p:embed/>
                  <p:pic>
                    <p:nvPicPr>
                      <p:cNvPr id="0" name=""/>
                      <p:cNvPicPr/>
                      <p:nvPr/>
                    </p:nvPicPr>
                    <p:blipFill>
                      <a:blip r:embed="rId4"/>
                      <a:stretch>
                        <a:fillRect/>
                      </a:stretch>
                    </p:blipFill>
                    <p:spPr>
                      <a:xfrm>
                        <a:off x="6602023" y="1716251"/>
                        <a:ext cx="1810403" cy="407978"/>
                      </a:xfrm>
                      <a:prstGeom prst="rect">
                        <a:avLst/>
                      </a:prstGeom>
                    </p:spPr>
                  </p:pic>
                </p:oleObj>
              </mc:Fallback>
            </mc:AlternateContent>
          </a:graphicData>
        </a:graphic>
      </p:graphicFrame>
      <p:sp>
        <p:nvSpPr>
          <p:cNvPr id="4" name="Content Placeholder 3"/>
          <p:cNvSpPr>
            <a:spLocks noGrp="1"/>
          </p:cNvSpPr>
          <p:nvPr>
            <p:ph sz="quarter" idx="13"/>
          </p:nvPr>
        </p:nvSpPr>
        <p:spPr>
          <a:xfrm>
            <a:off x="457200" y="1968181"/>
            <a:ext cx="8229600" cy="831092"/>
          </a:xfrm>
        </p:spPr>
        <p:txBody>
          <a:bodyPr/>
          <a:lstStyle/>
          <a:p>
            <a:pPr marL="255600" indent="0"/>
            <a:r>
              <a:rPr lang="en-US" altLang="en-US" sz="2400" kern="1200" dirty="0">
                <a:latin typeface="Arial (Body)"/>
              </a:rPr>
              <a:t>is used in an expression in which the left operand has type </a:t>
            </a:r>
            <a:r>
              <a:rPr lang="en-US" altLang="en-US" sz="2400" kern="1200" dirty="0" smtClean="0">
                <a:latin typeface="Consolas" panose="020B0609020204030204" pitchFamily="49" charset="0"/>
                <a:cs typeface="Consolas" panose="020B0609020204030204" pitchFamily="49" charset="0"/>
              </a:rPr>
              <a:t>i</a:t>
            </a:r>
            <a:r>
              <a:rPr lang="en-US" altLang="en-US" sz="100" kern="1200" dirty="0" smtClean="0">
                <a:latin typeface="Consolas" panose="020B0609020204030204" pitchFamily="49" charset="0"/>
                <a:cs typeface="Consolas" panose="020B0609020204030204" pitchFamily="49" charset="0"/>
              </a:rPr>
              <a:t> </a:t>
            </a:r>
            <a:r>
              <a:rPr lang="en-US" altLang="en-US" sz="2400" kern="1200" dirty="0" smtClean="0">
                <a:latin typeface="Consolas" panose="020B0609020204030204" pitchFamily="49" charset="0"/>
                <a:cs typeface="Consolas" panose="020B0609020204030204" pitchFamily="49" charset="0"/>
              </a:rPr>
              <a:t>stream </a:t>
            </a:r>
            <a:r>
              <a:rPr lang="en-US" altLang="en-US" sz="2400" kern="1200" dirty="0">
                <a:latin typeface="Consolas" panose="020B0609020204030204" pitchFamily="49" charset="0"/>
                <a:cs typeface="Consolas" panose="020B0609020204030204" pitchFamily="49" charset="0"/>
              </a:rPr>
              <a:t>&amp;</a:t>
            </a:r>
            <a:r>
              <a:rPr lang="en-US" altLang="en-US" sz="2400" kern="1200" dirty="0">
                <a:latin typeface="Arial (Body)"/>
              </a:rPr>
              <a:t>, as in</a:t>
            </a:r>
            <a:endParaRPr lang="en-US" sz="2400" dirty="0"/>
          </a:p>
        </p:txBody>
      </p:sp>
      <p:graphicFrame>
        <p:nvGraphicFramePr>
          <p:cNvPr id="7" name="Object 6" descr="C in right angle bracket right angle bracket class Object."/>
          <p:cNvGraphicFramePr>
            <a:graphicFrameLocks noChangeAspect="1"/>
          </p:cNvGraphicFramePr>
          <p:nvPr>
            <p:extLst>
              <p:ext uri="{D42A27DB-BD31-4B8C-83A1-F6EECF244321}">
                <p14:modId xmlns:p14="http://schemas.microsoft.com/office/powerpoint/2010/main" val="2877493850"/>
              </p:ext>
            </p:extLst>
          </p:nvPr>
        </p:nvGraphicFramePr>
        <p:xfrm>
          <a:off x="3855974" y="2421319"/>
          <a:ext cx="2986088" cy="423862"/>
        </p:xfrm>
        <a:graphic>
          <a:graphicData uri="http://schemas.openxmlformats.org/presentationml/2006/ole">
            <mc:AlternateContent xmlns:mc="http://schemas.openxmlformats.org/markup-compatibility/2006">
              <mc:Choice xmlns:v="urn:schemas-microsoft-com:vml" Requires="v">
                <p:oleObj spid="_x0000_s46210" name="Equation" r:id="rId5" imgW="1434960" imgH="203040" progId="Equation.DSMT4">
                  <p:embed/>
                </p:oleObj>
              </mc:Choice>
              <mc:Fallback>
                <p:oleObj name="Equation" r:id="rId5" imgW="1434960" imgH="203040" progId="Equation.DSMT4">
                  <p:embed/>
                  <p:pic>
                    <p:nvPicPr>
                      <p:cNvPr id="0" name=""/>
                      <p:cNvPicPr/>
                      <p:nvPr/>
                    </p:nvPicPr>
                    <p:blipFill>
                      <a:blip r:embed="rId6"/>
                      <a:stretch>
                        <a:fillRect/>
                      </a:stretch>
                    </p:blipFill>
                    <p:spPr>
                      <a:xfrm>
                        <a:off x="3855974" y="2421319"/>
                        <a:ext cx="2986088" cy="423862"/>
                      </a:xfrm>
                      <a:prstGeom prst="rect">
                        <a:avLst/>
                      </a:prstGeom>
                    </p:spPr>
                  </p:pic>
                </p:oleObj>
              </mc:Fallback>
            </mc:AlternateContent>
          </a:graphicData>
        </a:graphic>
      </p:graphicFrame>
      <p:sp>
        <p:nvSpPr>
          <p:cNvPr id="5" name="Content Placeholder 4"/>
          <p:cNvSpPr>
            <a:spLocks noGrp="1"/>
          </p:cNvSpPr>
          <p:nvPr>
            <p:ph sz="quarter" idx="14"/>
          </p:nvPr>
        </p:nvSpPr>
        <p:spPr>
          <a:xfrm>
            <a:off x="457200" y="2332546"/>
            <a:ext cx="8232775" cy="3272726"/>
          </a:xfrm>
        </p:spPr>
        <p:txBody>
          <a:bodyPr/>
          <a:lstStyle/>
          <a:p>
            <a:pPr indent="6099175" eaLnBrk="1" hangingPunct="1">
              <a:tabLst/>
              <a:defRPr/>
            </a:pPr>
            <a:r>
              <a:rPr lang="en-US" altLang="en-US" sz="2400" kern="1200" dirty="0">
                <a:latin typeface="Arial (Body)"/>
              </a:rPr>
              <a:t>and the </a:t>
            </a:r>
            <a:r>
              <a:rPr lang="en-US" altLang="en-US" sz="2400" b="1" kern="1200" dirty="0">
                <a:latin typeface="Arial (Body)"/>
              </a:rPr>
              <a:t>right</a:t>
            </a:r>
            <a:r>
              <a:rPr lang="en-US" altLang="en-US" sz="2400" kern="1200" dirty="0">
                <a:latin typeface="Arial (Body)"/>
              </a:rPr>
              <a:t> operand is an object of a user-defined class, so it, too, must be a non-member function.</a:t>
            </a:r>
          </a:p>
          <a:p>
            <a:pPr marL="255600" eaLnBrk="1" hangingPunct="1">
              <a:spcBef>
                <a:spcPts val="1500"/>
              </a:spcBef>
              <a:buClr>
                <a:schemeClr val="tx2"/>
              </a:buClr>
              <a:buFont typeface="Arial" panose="020B0604020202020204" pitchFamily="34" charset="0"/>
              <a:buChar char="•"/>
              <a:tabLst/>
              <a:defRPr/>
            </a:pPr>
            <a:r>
              <a:rPr lang="en-US" altLang="en-US" sz="2400" kern="1200" dirty="0">
                <a:latin typeface="Arial (Body)"/>
              </a:rPr>
              <a:t>Each of these overloaded operator functions may require access to the </a:t>
            </a:r>
            <a:r>
              <a:rPr lang="en-US" altLang="en-US" sz="2400" kern="1200" dirty="0">
                <a:latin typeface="Consolas" panose="020B0609020204030204" pitchFamily="49" charset="0"/>
                <a:cs typeface="Consolas" panose="020B0609020204030204" pitchFamily="49" charset="0"/>
              </a:rPr>
              <a:t>private</a:t>
            </a:r>
            <a:r>
              <a:rPr lang="en-US" altLang="en-US" sz="2400" kern="1200" dirty="0">
                <a:latin typeface="Arial (Body)"/>
              </a:rPr>
              <a:t> data members of the class object being output or input, so these overloaded operator functions can be made </a:t>
            </a:r>
            <a:r>
              <a:rPr lang="en-US" altLang="en-US" sz="2400" kern="1200" dirty="0">
                <a:latin typeface="Consolas" panose="020B0609020204030204" pitchFamily="49" charset="0"/>
                <a:cs typeface="Consolas" panose="020B0609020204030204" pitchFamily="49" charset="0"/>
              </a:rPr>
              <a:t>friend</a:t>
            </a:r>
            <a:r>
              <a:rPr lang="en-US" altLang="en-US" sz="2400" kern="1200" dirty="0">
                <a:latin typeface="Arial (Body)"/>
              </a:rPr>
              <a:t> functions of the class for performance reasons.</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18.6 Overloading Unary Operators</a:t>
            </a:r>
            <a:endParaRPr lang="en-US" alt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A </a:t>
            </a:r>
            <a:r>
              <a:rPr lang="en-US" altLang="en-US" sz="2400" kern="1200" dirty="0" smtClean="0">
                <a:solidFill>
                  <a:srgbClr val="000000"/>
                </a:solidFill>
                <a:latin typeface="Arial (Body)"/>
                <a:ea typeface="+mn-ea"/>
                <a:cs typeface="+mn-cs"/>
              </a:rPr>
              <a:t>u</a:t>
            </a:r>
            <a:r>
              <a:rPr lang="en-US" altLang="en-US" sz="2400" kern="1200" dirty="0">
                <a:solidFill>
                  <a:srgbClr val="000000"/>
                </a:solidFill>
                <a:latin typeface="Arial (Body)"/>
              </a:rPr>
              <a:t>n</a:t>
            </a:r>
            <a:r>
              <a:rPr lang="en-US" altLang="en-US" sz="2400" kern="1200" dirty="0" smtClean="0">
                <a:solidFill>
                  <a:srgbClr val="000000"/>
                </a:solidFill>
                <a:latin typeface="Arial (Body)"/>
                <a:ea typeface="+mn-ea"/>
                <a:cs typeface="+mn-cs"/>
              </a:rPr>
              <a:t>ary </a:t>
            </a:r>
            <a:r>
              <a:rPr lang="en-US" altLang="en-US" sz="2400" kern="1200" dirty="0">
                <a:solidFill>
                  <a:srgbClr val="000000"/>
                </a:solidFill>
                <a:latin typeface="Arial (Body)"/>
                <a:ea typeface="+mn-ea"/>
                <a:cs typeface="+mn-cs"/>
              </a:rPr>
              <a:t>operator for a class can be overloaded as a non-</a:t>
            </a:r>
            <a:r>
              <a:rPr lang="en-US" altLang="en-US" sz="2400" kern="1200" dirty="0">
                <a:solidFill>
                  <a:srgbClr val="000000"/>
                </a:solidFill>
                <a:latin typeface="Consolas" panose="020B0609020204030204" pitchFamily="49" charset="0"/>
                <a:ea typeface="+mn-ea"/>
                <a:cs typeface="Consolas" panose="020B0609020204030204" pitchFamily="49" charset="0"/>
              </a:rPr>
              <a:t>static</a:t>
            </a:r>
            <a:r>
              <a:rPr lang="en-US" altLang="en-US" sz="2400" kern="1200" dirty="0">
                <a:solidFill>
                  <a:srgbClr val="000000"/>
                </a:solidFill>
                <a:latin typeface="Arial (Body)"/>
                <a:ea typeface="+mn-ea"/>
                <a:cs typeface="+mn-cs"/>
              </a:rPr>
              <a:t> member function with no arguments or as a non-member function with one argument that must be an object (or a reference to an object) of the class.</a:t>
            </a:r>
          </a:p>
          <a:p>
            <a:pPr marL="255651" indent="-255651" eaLnBrk="1" hangingPunct="1">
              <a:tabLst/>
              <a:defRPr/>
            </a:pPr>
            <a:r>
              <a:rPr lang="en-US" altLang="en-US" sz="2400" kern="1200" dirty="0">
                <a:solidFill>
                  <a:srgbClr val="000000"/>
                </a:solidFill>
                <a:latin typeface="Arial (Body)"/>
                <a:ea typeface="+mn-ea"/>
                <a:cs typeface="+mn-cs"/>
              </a:rPr>
              <a:t>A unary operator such as </a:t>
            </a:r>
            <a:r>
              <a:rPr lang="en-US" altLang="en-US" sz="2400" kern="1200" dirty="0">
                <a:solidFill>
                  <a:srgbClr val="000000"/>
                </a:solidFill>
                <a:latin typeface="Consolas" panose="020B0609020204030204" pitchFamily="49" charset="0"/>
                <a:ea typeface="+mn-ea"/>
                <a:cs typeface="Consolas" panose="020B0609020204030204" pitchFamily="49" charset="0"/>
              </a:rPr>
              <a:t>! </a:t>
            </a:r>
            <a:r>
              <a:rPr lang="en-US" altLang="en-US" sz="2400" kern="1200" dirty="0">
                <a:solidFill>
                  <a:srgbClr val="000000"/>
                </a:solidFill>
                <a:latin typeface="Arial (Body)"/>
                <a:ea typeface="+mn-ea"/>
                <a:cs typeface="+mn-cs"/>
              </a:rPr>
              <a:t>may be overloaded as a </a:t>
            </a:r>
            <a:r>
              <a:rPr lang="en-US" altLang="en-US" sz="2400" b="1" kern="1200" dirty="0">
                <a:solidFill>
                  <a:srgbClr val="000000"/>
                </a:solidFill>
                <a:latin typeface="Arial (Body)"/>
                <a:ea typeface="+mn-ea"/>
                <a:cs typeface="+mn-cs"/>
              </a:rPr>
              <a:t>non-member function </a:t>
            </a:r>
            <a:r>
              <a:rPr lang="en-US" altLang="en-US" sz="2400" kern="1200" dirty="0">
                <a:solidFill>
                  <a:srgbClr val="000000"/>
                </a:solidFill>
                <a:latin typeface="Arial (Body)"/>
                <a:ea typeface="+mn-ea"/>
                <a:cs typeface="+mn-cs"/>
              </a:rPr>
              <a:t>with one parameter.</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a:spAutoFit/>
          </a:bodyPr>
          <a:lstStyle/>
          <a:p>
            <a:pPr eaLnBrk="1" hangingPunct="1">
              <a:spcBef>
                <a:spcPct val="0"/>
              </a:spcBef>
              <a:buClrTx/>
              <a:tabLst>
                <a:tab pos="914400" algn="l"/>
                <a:tab pos="968375" algn="l"/>
              </a:tabLst>
              <a:defRPr/>
            </a:pPr>
            <a:r>
              <a:rPr lang="en-US" altLang="en-US" kern="1200" dirty="0" smtClean="0">
                <a:latin typeface="Times New Roman" panose="02020603050405020304" pitchFamily="18" charset="0"/>
                <a:ea typeface="+mj-ea"/>
                <a:cs typeface="+mj-cs"/>
              </a:rPr>
              <a:t>18.7 Overloading the Unary Prefix and ++ and −</a:t>
            </a:r>
            <a:r>
              <a:rPr lang="en-US" altLang="en-US" kern="1200" dirty="0">
                <a:latin typeface="Times New Roman" panose="02020603050405020304" pitchFamily="18" charset="0"/>
              </a:rPr>
              <a:t> − </a:t>
            </a:r>
            <a:r>
              <a:rPr lang="en-US" altLang="en-US" kern="1200" dirty="0" smtClean="0">
                <a:latin typeface="Times New Roman" panose="02020603050405020304" pitchFamily="18" charset="0"/>
                <a:ea typeface="+mj-ea"/>
                <a:cs typeface="+mj-cs"/>
              </a:rPr>
              <a:t> </a:t>
            </a:r>
            <a:r>
              <a:rPr lang="en-US" altLang="en-US" kern="1200" dirty="0" smtClean="0">
                <a:solidFill>
                  <a:schemeClr val="tx2"/>
                </a:solidFill>
                <a:latin typeface="Times New Roman" panose="02020603050405020304" pitchFamily="18" charset="0"/>
                <a:cs typeface="Times New Roman" panose="02020603050405020304" pitchFamily="18" charset="0"/>
              </a:rPr>
              <a:t>Operators</a:t>
            </a:r>
            <a:r>
              <a:rPr lang="en-US" altLang="en-US" kern="1200" dirty="0" smtClean="0">
                <a:solidFill>
                  <a:srgbClr val="000000"/>
                </a:solidFill>
                <a:latin typeface="Arial (Body)"/>
              </a:rPr>
              <a:t> </a:t>
            </a:r>
            <a:r>
              <a:rPr lang="en-US" altLang="en-US" kern="1200" dirty="0" smtClean="0">
                <a:latin typeface="Times New Roman" panose="02020603050405020304" pitchFamily="18" charset="0"/>
                <a:ea typeface="+mj-ea"/>
                <a:cs typeface="+mj-cs"/>
              </a:rPr>
              <a:t>Postfix </a:t>
            </a:r>
            <a:r>
              <a:rPr lang="en-US" altLang="en-US" sz="2000" kern="1200" dirty="0" smtClean="0">
                <a:latin typeface="Times New Roman" panose="02020603050405020304" pitchFamily="18" charset="0"/>
                <a:ea typeface="+mj-ea"/>
                <a:cs typeface="+mj-cs"/>
              </a:rPr>
              <a:t>(</a:t>
            </a:r>
            <a:r>
              <a:rPr lang="en-US" altLang="en-US" sz="2000" b="0" kern="1200" dirty="0" smtClean="0">
                <a:latin typeface="Times New Roman" panose="02020603050405020304" pitchFamily="18" charset="0"/>
                <a:ea typeface="+mj-ea"/>
                <a:cs typeface="+mj-cs"/>
              </a:rPr>
              <a:t>1 of 4)</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962319"/>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The prefix and postfix versions of the increment and decrement operators can all be overloaded.</a:t>
            </a:r>
          </a:p>
          <a:p>
            <a:pPr marL="255651" indent="-255651" eaLnBrk="1" hangingPunct="1">
              <a:tabLst/>
              <a:defRPr/>
            </a:pPr>
            <a:r>
              <a:rPr lang="en-US" altLang="en-US" sz="2400" b="1" kern="1200" dirty="0">
                <a:solidFill>
                  <a:srgbClr val="000000"/>
                </a:solidFill>
                <a:latin typeface="Arial (Body)"/>
                <a:ea typeface="+mn-ea"/>
                <a:cs typeface="+mn-cs"/>
              </a:rPr>
              <a:t>To overload the increment operator to allow both prefix and postfix increment usage, each overloaded operator function must have a distinct signature, so that the compiler will be able to determine </a:t>
            </a:r>
            <a:r>
              <a:rPr lang="en-US" altLang="en-US" sz="2400" b="1" kern="1200" dirty="0" smtClean="0">
                <a:solidFill>
                  <a:srgbClr val="000000"/>
                </a:solidFill>
                <a:latin typeface="Arial (Body)"/>
                <a:ea typeface="+mn-ea"/>
                <a:cs typeface="+mn-cs"/>
              </a:rPr>
              <a:t>which </a:t>
            </a:r>
            <a:r>
              <a:rPr lang="en-US" altLang="en-US" sz="2400" b="1" kern="1200" dirty="0">
                <a:solidFill>
                  <a:srgbClr val="000000"/>
                </a:solidFill>
                <a:latin typeface="Arial (Body)"/>
                <a:ea typeface="+mn-ea"/>
                <a:cs typeface="+mn-cs"/>
              </a:rPr>
              <a:t>version </a:t>
            </a:r>
            <a:r>
              <a:rPr lang="en-US" altLang="en-US" sz="2400" b="1" kern="1200" dirty="0" smtClean="0">
                <a:solidFill>
                  <a:srgbClr val="000000"/>
                </a:solidFill>
                <a:latin typeface="Arial (Body)"/>
                <a:ea typeface="+mn-ea"/>
                <a:cs typeface="+mn-cs"/>
              </a:rPr>
              <a:t>of</a:t>
            </a:r>
            <a:endParaRPr lang="en-US" altLang="en-US" sz="2400" b="1" kern="1200" dirty="0">
              <a:solidFill>
                <a:srgbClr val="000000"/>
              </a:solidFill>
              <a:latin typeface="Arial (Body)"/>
              <a:ea typeface="+mn-ea"/>
              <a:cs typeface="+mn-cs"/>
            </a:endParaRPr>
          </a:p>
        </p:txBody>
      </p:sp>
      <p:graphicFrame>
        <p:nvGraphicFramePr>
          <p:cNvPr id="6" name="Object 5" descr="plus plus"/>
          <p:cNvGraphicFramePr>
            <a:graphicFrameLocks noChangeAspect="1"/>
          </p:cNvGraphicFramePr>
          <p:nvPr>
            <p:extLst>
              <p:ext uri="{D42A27DB-BD31-4B8C-83A1-F6EECF244321}">
                <p14:modId xmlns:p14="http://schemas.microsoft.com/office/powerpoint/2010/main" val="4024465764"/>
              </p:ext>
            </p:extLst>
          </p:nvPr>
        </p:nvGraphicFramePr>
        <p:xfrm>
          <a:off x="7869645" y="3794574"/>
          <a:ext cx="516049" cy="272770"/>
        </p:xfrm>
        <a:graphic>
          <a:graphicData uri="http://schemas.openxmlformats.org/presentationml/2006/ole">
            <mc:AlternateContent xmlns:mc="http://schemas.openxmlformats.org/markup-compatibility/2006">
              <mc:Choice xmlns:v="urn:schemas-microsoft-com:vml" Requires="v">
                <p:oleObj spid="_x0000_s25972" name="Equation" r:id="rId3" imgW="241200" imgH="126720" progId="Equation.DSMT4">
                  <p:embed/>
                </p:oleObj>
              </mc:Choice>
              <mc:Fallback>
                <p:oleObj name="Equation" r:id="rId3" imgW="241200" imgH="126720" progId="Equation.DSMT4">
                  <p:embed/>
                  <p:pic>
                    <p:nvPicPr>
                      <p:cNvPr id="0" name=""/>
                      <p:cNvPicPr/>
                      <p:nvPr/>
                    </p:nvPicPr>
                    <p:blipFill>
                      <a:blip r:embed="rId4"/>
                      <a:stretch>
                        <a:fillRect/>
                      </a:stretch>
                    </p:blipFill>
                    <p:spPr>
                      <a:xfrm>
                        <a:off x="7869645" y="3794574"/>
                        <a:ext cx="516049" cy="272770"/>
                      </a:xfrm>
                      <a:prstGeom prst="rect">
                        <a:avLst/>
                      </a:prstGeom>
                    </p:spPr>
                  </p:pic>
                </p:oleObj>
              </mc:Fallback>
            </mc:AlternateContent>
          </a:graphicData>
        </a:graphic>
      </p:graphicFrame>
      <p:sp>
        <p:nvSpPr>
          <p:cNvPr id="7" name="Text Placeholder 6"/>
          <p:cNvSpPr>
            <a:spLocks noGrp="1"/>
          </p:cNvSpPr>
          <p:nvPr>
            <p:ph type="body" idx="2"/>
          </p:nvPr>
        </p:nvSpPr>
        <p:spPr>
          <a:xfrm>
            <a:off x="457200" y="3978665"/>
            <a:ext cx="8229600" cy="1745434"/>
          </a:xfrm>
        </p:spPr>
        <p:txBody>
          <a:bodyPr/>
          <a:lstStyle/>
          <a:p>
            <a:pPr marL="255588" indent="1573213" eaLnBrk="1" hangingPunct="1">
              <a:buNone/>
              <a:tabLst/>
              <a:defRPr/>
            </a:pPr>
            <a:r>
              <a:rPr lang="en-US" altLang="en-US" sz="2400" b="1" kern="1200" dirty="0">
                <a:solidFill>
                  <a:srgbClr val="000000"/>
                </a:solidFill>
                <a:latin typeface="Arial (Body)"/>
              </a:rPr>
              <a:t>is intended</a:t>
            </a:r>
            <a:r>
              <a:rPr lang="en-US" altLang="en-US" sz="2400" b="1" kern="1200" dirty="0" smtClean="0">
                <a:solidFill>
                  <a:srgbClr val="000000"/>
                </a:solidFill>
                <a:latin typeface="Arial (Body)"/>
              </a:rPr>
              <a:t>.</a:t>
            </a:r>
          </a:p>
          <a:p>
            <a:pPr marL="255651" indent="-255651" eaLnBrk="1" hangingPunct="1">
              <a:tabLst/>
              <a:defRPr/>
            </a:pPr>
            <a:r>
              <a:rPr lang="en-US" altLang="en-US" sz="2400" kern="1200" dirty="0" smtClean="0">
                <a:solidFill>
                  <a:srgbClr val="000000"/>
                </a:solidFill>
                <a:latin typeface="Arial (Body)"/>
              </a:rPr>
              <a:t>The prefix versions are overloaded exactly as any other prefix unary operator would be.</a:t>
            </a:r>
            <a:endParaRPr lang="en-US" altLang="en-US" sz="24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a:spAutoFit/>
          </a:bodyPr>
          <a:lstStyle/>
          <a:p>
            <a:pPr eaLnBrk="1" hangingPunct="1">
              <a:spcBef>
                <a:spcPct val="0"/>
              </a:spcBef>
              <a:buClrTx/>
              <a:tabLst>
                <a:tab pos="3771900" algn="l"/>
              </a:tabLst>
              <a:defRPr/>
            </a:pPr>
            <a:r>
              <a:rPr lang="en-US" altLang="en-US" kern="1200" dirty="0">
                <a:latin typeface="Times New Roman" panose="02020603050405020304" pitchFamily="18" charset="0"/>
              </a:rPr>
              <a:t>18.7 Overloading the Unary Prefix and ++ and − −  </a:t>
            </a:r>
            <a:r>
              <a:rPr lang="en-US" altLang="en-US" kern="1200" dirty="0">
                <a:solidFill>
                  <a:schemeClr val="tx2"/>
                </a:solidFill>
                <a:latin typeface="Times New Roman" panose="02020603050405020304" pitchFamily="18" charset="0"/>
                <a:cs typeface="Times New Roman" panose="02020603050405020304" pitchFamily="18" charset="0"/>
              </a:rPr>
              <a:t>Operators</a:t>
            </a:r>
            <a:r>
              <a:rPr lang="en-US" altLang="en-US" kern="1200" dirty="0">
                <a:solidFill>
                  <a:srgbClr val="000000"/>
                </a:solidFill>
                <a:latin typeface="Arial (Body)"/>
              </a:rPr>
              <a:t> </a:t>
            </a:r>
            <a:r>
              <a:rPr lang="en-US" altLang="en-US" kern="1200" dirty="0">
                <a:latin typeface="Times New Roman" panose="02020603050405020304" pitchFamily="18" charset="0"/>
              </a:rPr>
              <a:t>Postfix </a:t>
            </a:r>
            <a:r>
              <a:rPr lang="en-US" altLang="en-US" sz="2000" kern="1200" dirty="0" smtClean="0">
                <a:latin typeface="Times New Roman" panose="02020603050405020304" pitchFamily="18" charset="0"/>
              </a:rPr>
              <a:t>(</a:t>
            </a:r>
            <a:r>
              <a:rPr lang="en-US" altLang="en-US" sz="2000" b="0" kern="1200" dirty="0" smtClean="0">
                <a:latin typeface="Times New Roman" panose="02020603050405020304" pitchFamily="18" charset="0"/>
              </a:rPr>
              <a:t>2 </a:t>
            </a:r>
            <a:r>
              <a:rPr lang="en-US" altLang="en-US" sz="2000" b="0" kern="1200" dirty="0">
                <a:latin typeface="Times New Roman" panose="02020603050405020304" pitchFamily="18" charset="0"/>
              </a:rPr>
              <a:t>of 4)</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1"/>
            <a:ext cx="8229600" cy="533400"/>
          </a:xfrm>
        </p:spPr>
        <p:txBody>
          <a:bodyPr>
            <a:spAutoFit/>
          </a:bodyPr>
          <a:lstStyle/>
          <a:p>
            <a:pPr marL="255651" indent="-255651" eaLnBrk="1" hangingPunct="1">
              <a:tabLst/>
              <a:defRPr/>
            </a:pPr>
            <a:r>
              <a:rPr lang="en-US" altLang="en-US" sz="2000" kern="1200" dirty="0">
                <a:solidFill>
                  <a:srgbClr val="000000"/>
                </a:solidFill>
                <a:latin typeface="Arial (Body)"/>
                <a:ea typeface="+mn-ea"/>
                <a:cs typeface="+mn-cs"/>
              </a:rPr>
              <a:t>Suppose that we want to add </a:t>
            </a:r>
            <a:r>
              <a:rPr lang="en-US" altLang="en-US" sz="2000" kern="1200" dirty="0">
                <a:solidFill>
                  <a:srgbClr val="000000"/>
                </a:solidFill>
                <a:latin typeface="Consolas" panose="020B0609020204030204" pitchFamily="49" charset="0"/>
                <a:ea typeface="+mn-ea"/>
                <a:cs typeface="Consolas" panose="020B0609020204030204" pitchFamily="49" charset="0"/>
              </a:rPr>
              <a:t>1</a:t>
            </a:r>
            <a:r>
              <a:rPr lang="en-US" altLang="en-US" sz="2000" kern="1200" dirty="0">
                <a:solidFill>
                  <a:srgbClr val="000000"/>
                </a:solidFill>
                <a:latin typeface="Arial (Body)"/>
                <a:ea typeface="+mn-ea"/>
                <a:cs typeface="+mn-cs"/>
              </a:rPr>
              <a:t> to the day in </a:t>
            </a:r>
            <a:r>
              <a:rPr lang="en-US" altLang="en-US" sz="2000" kern="1200" dirty="0">
                <a:solidFill>
                  <a:srgbClr val="000000"/>
                </a:solidFill>
                <a:latin typeface="Consolas" panose="020B0609020204030204" pitchFamily="49" charset="0"/>
                <a:ea typeface="+mn-ea"/>
                <a:cs typeface="Consolas" panose="020B0609020204030204" pitchFamily="49" charset="0"/>
              </a:rPr>
              <a:t>Date</a:t>
            </a:r>
            <a:r>
              <a:rPr lang="en-US" altLang="en-US" sz="2000" kern="1200" dirty="0">
                <a:solidFill>
                  <a:srgbClr val="000000"/>
                </a:solidFill>
                <a:latin typeface="Arial (Body)"/>
                <a:ea typeface="+mn-ea"/>
                <a:cs typeface="+mn-cs"/>
              </a:rPr>
              <a:t> object </a:t>
            </a:r>
            <a:r>
              <a:rPr lang="en-US" altLang="en-US" sz="2000" kern="1200" dirty="0">
                <a:solidFill>
                  <a:srgbClr val="000000"/>
                </a:solidFill>
                <a:latin typeface="Consolas" panose="020B0609020204030204" pitchFamily="49" charset="0"/>
                <a:ea typeface="+mn-ea"/>
                <a:cs typeface="Consolas" panose="020B0609020204030204" pitchFamily="49" charset="0"/>
              </a:rPr>
              <a:t>d1</a:t>
            </a:r>
            <a:r>
              <a:rPr lang="en-US" altLang="en-US" sz="2000" kern="1200" dirty="0">
                <a:solidFill>
                  <a:srgbClr val="000000"/>
                </a:solidFill>
                <a:latin typeface="Arial (Body)"/>
                <a:ea typeface="+mn-ea"/>
                <a:cs typeface="+mn-cs"/>
              </a:rPr>
              <a:t>.</a:t>
            </a:r>
          </a:p>
          <a:p>
            <a:pPr marL="255651" indent="-255651" eaLnBrk="1" hangingPunct="1">
              <a:tabLst/>
              <a:defRPr/>
            </a:pPr>
            <a:r>
              <a:rPr lang="en-US" altLang="en-US" sz="2000" kern="1200" dirty="0">
                <a:solidFill>
                  <a:srgbClr val="000000"/>
                </a:solidFill>
                <a:latin typeface="Arial (Body)"/>
                <a:ea typeface="+mn-ea"/>
                <a:cs typeface="+mn-cs"/>
              </a:rPr>
              <a:t>When the compiler sees the preincrementing expression </a:t>
            </a:r>
            <a:r>
              <a:rPr lang="en-US" altLang="en-US" sz="2000" kern="1200" dirty="0">
                <a:solidFill>
                  <a:srgbClr val="000000"/>
                </a:solidFill>
                <a:latin typeface="Consolas" panose="020B0609020204030204" pitchFamily="49" charset="0"/>
                <a:ea typeface="+mn-ea"/>
                <a:cs typeface="Consolas" panose="020B0609020204030204" pitchFamily="49" charset="0"/>
              </a:rPr>
              <a:t>++d1</a:t>
            </a:r>
            <a:r>
              <a:rPr lang="en-US" altLang="en-US" sz="2000" kern="1200" dirty="0">
                <a:solidFill>
                  <a:srgbClr val="000000"/>
                </a:solidFill>
                <a:latin typeface="Arial (Body)"/>
                <a:ea typeface="+mn-ea"/>
                <a:cs typeface="+mn-cs"/>
              </a:rPr>
              <a:t>, the compiler generates the </a:t>
            </a:r>
            <a:r>
              <a:rPr lang="en-US" altLang="en-US" sz="2000" b="1" kern="1200" dirty="0">
                <a:solidFill>
                  <a:srgbClr val="000000"/>
                </a:solidFill>
                <a:latin typeface="Arial (Body)"/>
                <a:ea typeface="+mn-ea"/>
                <a:cs typeface="+mn-cs"/>
              </a:rPr>
              <a:t>member-function </a:t>
            </a:r>
            <a:r>
              <a:rPr lang="en-US" altLang="en-US" sz="2000" b="1" kern="1200" dirty="0" smtClean="0">
                <a:solidFill>
                  <a:srgbClr val="000000"/>
                </a:solidFill>
                <a:latin typeface="Arial (Body)"/>
                <a:ea typeface="+mn-ea"/>
                <a:cs typeface="+mn-cs"/>
              </a:rPr>
              <a:t>call</a:t>
            </a:r>
          </a:p>
          <a:p>
            <a:pPr marL="743001" lvl="1" indent="-284400" eaLnBrk="1" hangingPunct="1">
              <a:defRPr/>
            </a:pPr>
            <a:r>
              <a:rPr lang="en-US" altLang="en-US" sz="2000" b="1" kern="1200" dirty="0" smtClean="0">
                <a:solidFill>
                  <a:srgbClr val="000000"/>
                </a:solidFill>
                <a:latin typeface="Arial (Body)"/>
                <a:ea typeface="+mn-ea"/>
                <a:cs typeface="+mn-cs"/>
              </a:rPr>
              <a:t> </a:t>
            </a:r>
          </a:p>
        </p:txBody>
      </p:sp>
      <p:pic>
        <p:nvPicPr>
          <p:cNvPr id="10" name="Picture 9" descr="d 1 period operator plus plus left parenthesis right parenthesis"/>
          <p:cNvPicPr>
            <a:picLocks noChangeAspect="1"/>
          </p:cNvPicPr>
          <p:nvPr/>
        </p:nvPicPr>
        <p:blipFill rotWithShape="1">
          <a:blip r:embed="rId2"/>
          <a:srcRect l="17362" b="18521"/>
          <a:stretch/>
        </p:blipFill>
        <p:spPr>
          <a:xfrm>
            <a:off x="1257048" y="2814056"/>
            <a:ext cx="2060556" cy="402358"/>
          </a:xfrm>
          <a:prstGeom prst="rect">
            <a:avLst/>
          </a:prstGeom>
        </p:spPr>
      </p:pic>
      <p:sp>
        <p:nvSpPr>
          <p:cNvPr id="8" name="Content Placeholder 7"/>
          <p:cNvSpPr>
            <a:spLocks noGrp="1"/>
          </p:cNvSpPr>
          <p:nvPr>
            <p:ph sz="quarter" idx="14"/>
          </p:nvPr>
        </p:nvSpPr>
        <p:spPr>
          <a:xfrm>
            <a:off x="457200" y="3077170"/>
            <a:ext cx="8232775" cy="609600"/>
          </a:xfrm>
        </p:spPr>
        <p:txBody>
          <a:bodyPr/>
          <a:lstStyle/>
          <a:p>
            <a:pPr marL="255600">
              <a:buClr>
                <a:schemeClr val="tx2"/>
              </a:buClr>
              <a:buFont typeface="Arial" panose="020B0604020202020204" pitchFamily="34" charset="0"/>
              <a:buChar char="•"/>
            </a:pPr>
            <a:r>
              <a:rPr lang="en-US" altLang="en-US" sz="2000" kern="1200" dirty="0">
                <a:latin typeface="Arial (Body)"/>
              </a:rPr>
              <a:t>The prototype for this operator function would </a:t>
            </a:r>
            <a:r>
              <a:rPr lang="en-US" altLang="en-US" sz="2000" kern="1200" dirty="0" smtClean="0">
                <a:latin typeface="Arial (Body)"/>
              </a:rPr>
              <a:t>be</a:t>
            </a:r>
          </a:p>
          <a:p>
            <a:pPr marL="741600" lvl="1" indent="-284400">
              <a:spcBef>
                <a:spcPts val="600"/>
              </a:spcBef>
              <a:buClr>
                <a:schemeClr val="tx2"/>
              </a:buClr>
              <a:buFontTx/>
              <a:buChar char="–"/>
            </a:pPr>
            <a:r>
              <a:rPr lang="en-US" altLang="en-US" sz="2000" kern="1200" dirty="0">
                <a:latin typeface="Arial (Body)"/>
              </a:rPr>
              <a:t> </a:t>
            </a:r>
            <a:endParaRPr lang="en-US" altLang="en-US" sz="2000" kern="1200" dirty="0" smtClean="0">
              <a:latin typeface="Arial (Body)"/>
            </a:endParaRPr>
          </a:p>
        </p:txBody>
      </p:sp>
      <p:pic>
        <p:nvPicPr>
          <p:cNvPr id="13" name="Picture 12" descr="Date ampersand operator plus plus left parenthesis right parenthesis semicolon."/>
          <p:cNvPicPr>
            <a:picLocks noChangeAspect="1"/>
          </p:cNvPicPr>
          <p:nvPr/>
        </p:nvPicPr>
        <p:blipFill rotWithShape="1">
          <a:blip r:embed="rId3"/>
          <a:srcRect l="14565" b="22224"/>
          <a:stretch/>
        </p:blipFill>
        <p:spPr>
          <a:xfrm>
            <a:off x="1243400" y="3496627"/>
            <a:ext cx="2557401" cy="384070"/>
          </a:xfrm>
          <a:prstGeom prst="rect">
            <a:avLst/>
          </a:prstGeom>
        </p:spPr>
      </p:pic>
      <p:sp>
        <p:nvSpPr>
          <p:cNvPr id="9" name="Content Placeholder 8"/>
          <p:cNvSpPr>
            <a:spLocks noGrp="1"/>
          </p:cNvSpPr>
          <p:nvPr>
            <p:ph sz="quarter" idx="15"/>
          </p:nvPr>
        </p:nvSpPr>
        <p:spPr>
          <a:xfrm>
            <a:off x="457200" y="3884551"/>
            <a:ext cx="8229600" cy="550863"/>
          </a:xfrm>
        </p:spPr>
        <p:txBody>
          <a:bodyPr/>
          <a:lstStyle/>
          <a:p>
            <a:pPr marL="256032" indent="-256032">
              <a:spcBef>
                <a:spcPts val="1500"/>
              </a:spcBef>
              <a:buClr>
                <a:schemeClr val="tx2"/>
              </a:buClr>
              <a:buFont typeface="Arial" panose="020B0604020202020204" pitchFamily="34" charset="0"/>
              <a:buChar char="•"/>
            </a:pPr>
            <a:r>
              <a:rPr lang="en-US" altLang="en-US" sz="2000" kern="1200" dirty="0">
                <a:latin typeface="Arial (Body)"/>
              </a:rPr>
              <a:t>If the prefix increment operator is implemented as a non-member function, then, when the compiler sees the expression </a:t>
            </a:r>
            <a:r>
              <a:rPr lang="en-US" altLang="en-US" sz="2000" kern="1200" dirty="0">
                <a:latin typeface="Consolas" panose="020B0609020204030204" pitchFamily="49" charset="0"/>
                <a:cs typeface="Consolas" panose="020B0609020204030204" pitchFamily="49" charset="0"/>
              </a:rPr>
              <a:t>++d1</a:t>
            </a:r>
            <a:r>
              <a:rPr lang="en-US" altLang="en-US" sz="2000" kern="1200" dirty="0">
                <a:latin typeface="Arial (Body)"/>
              </a:rPr>
              <a:t>, the compiler generates the function </a:t>
            </a:r>
            <a:r>
              <a:rPr lang="en-US" altLang="en-US" sz="2000" kern="1200" dirty="0" smtClean="0">
                <a:latin typeface="Arial (Body)"/>
              </a:rPr>
              <a:t>call</a:t>
            </a:r>
          </a:p>
          <a:p>
            <a:pPr marL="741600" lvl="1" indent="-284400">
              <a:spcBef>
                <a:spcPts val="600"/>
              </a:spcBef>
              <a:buClr>
                <a:schemeClr val="tx2"/>
              </a:buClr>
              <a:buFontTx/>
              <a:buChar char="–"/>
            </a:pPr>
            <a:r>
              <a:rPr lang="en-US" altLang="en-US" sz="2000" kern="1200" dirty="0" smtClean="0">
                <a:latin typeface="Arial (Body)"/>
              </a:rPr>
              <a:t> </a:t>
            </a:r>
            <a:endParaRPr lang="en-US" altLang="en-US" sz="2000" kern="1200" dirty="0">
              <a:latin typeface="Arial (Body)"/>
            </a:endParaRPr>
          </a:p>
        </p:txBody>
      </p:sp>
      <p:pic>
        <p:nvPicPr>
          <p:cNvPr id="6" name="Picture 5" descr="operator plus plus left parenthesis d 1 right parenthesis"/>
          <p:cNvPicPr>
            <a:picLocks noChangeAspect="1"/>
          </p:cNvPicPr>
          <p:nvPr/>
        </p:nvPicPr>
        <p:blipFill rotWithShape="1">
          <a:blip r:embed="rId4"/>
          <a:srcRect l="17090" t="18406" r="4637" b="26320"/>
          <a:stretch/>
        </p:blipFill>
        <p:spPr>
          <a:xfrm>
            <a:off x="1243400" y="5001294"/>
            <a:ext cx="2047165" cy="272955"/>
          </a:xfrm>
          <a:prstGeom prst="rect">
            <a:avLst/>
          </a:prstGeom>
        </p:spPr>
      </p:pic>
      <p:sp>
        <p:nvSpPr>
          <p:cNvPr id="4" name="Content Placeholder 3"/>
          <p:cNvSpPr>
            <a:spLocks noGrp="1"/>
          </p:cNvSpPr>
          <p:nvPr>
            <p:ph sz="quarter" idx="13"/>
          </p:nvPr>
        </p:nvSpPr>
        <p:spPr>
          <a:xfrm>
            <a:off x="460375" y="5287897"/>
            <a:ext cx="8229600" cy="717117"/>
          </a:xfrm>
        </p:spPr>
        <p:txBody>
          <a:bodyPr/>
          <a:lstStyle/>
          <a:p>
            <a:pPr marL="256032" indent="-256032" eaLnBrk="1" hangingPunct="1">
              <a:spcBef>
                <a:spcPts val="1500"/>
              </a:spcBef>
              <a:buClr>
                <a:schemeClr val="tx2"/>
              </a:buClr>
              <a:buFont typeface="Arial" panose="020B0604020202020204" pitchFamily="34" charset="0"/>
              <a:buChar char="•"/>
              <a:tabLst/>
              <a:defRPr/>
            </a:pPr>
            <a:r>
              <a:rPr lang="en-US" altLang="en-US" sz="2000" kern="1200" dirty="0">
                <a:latin typeface="+mn-lt"/>
              </a:rPr>
              <a:t>The prototype for this operator function would be declared in the </a:t>
            </a:r>
            <a:r>
              <a:rPr lang="en-US" altLang="en-US" sz="2000" kern="1200" dirty="0">
                <a:latin typeface="+mn-lt"/>
                <a:cs typeface="Consolas" panose="020B0609020204030204" pitchFamily="49" charset="0"/>
              </a:rPr>
              <a:t>Date</a:t>
            </a:r>
            <a:r>
              <a:rPr lang="en-US" altLang="en-US" sz="2000" kern="1200" dirty="0">
                <a:latin typeface="+mn-lt"/>
              </a:rPr>
              <a:t> class </a:t>
            </a:r>
            <a:r>
              <a:rPr lang="en-US" altLang="en-US" sz="2000" kern="1200" dirty="0" smtClean="0">
                <a:latin typeface="+mn-lt"/>
              </a:rPr>
              <a:t>as</a:t>
            </a:r>
          </a:p>
          <a:p>
            <a:pPr marL="740664" lvl="2" indent="-283464" eaLnBrk="1" hangingPunct="1">
              <a:spcBef>
                <a:spcPts val="600"/>
              </a:spcBef>
              <a:buClr>
                <a:schemeClr val="tx2"/>
              </a:buClr>
              <a:buFont typeface="Arial" panose="020B0604020202020204" pitchFamily="34" charset="0"/>
              <a:buChar char="–"/>
              <a:defRPr/>
            </a:pPr>
            <a:r>
              <a:rPr lang="en-US" altLang="en-US" sz="2000" kern="1200" dirty="0" smtClean="0">
                <a:latin typeface="+mn-lt"/>
              </a:rPr>
              <a:t> </a:t>
            </a:r>
            <a:endParaRPr lang="en-US" altLang="en-US" sz="2000" kern="1200" dirty="0">
              <a:latin typeface="+mn-lt"/>
            </a:endParaRPr>
          </a:p>
        </p:txBody>
      </p:sp>
      <p:pic>
        <p:nvPicPr>
          <p:cNvPr id="5" name="Picture 4" descr="Date ampersand operator plus plus left parenthesis Date ampersand right parenthesis semicolon."/>
          <p:cNvPicPr>
            <a:picLocks noChangeAspect="1"/>
          </p:cNvPicPr>
          <p:nvPr/>
        </p:nvPicPr>
        <p:blipFill rotWithShape="1">
          <a:blip r:embed="rId5"/>
          <a:srcRect l="11379" t="18986" r="3861" b="25739"/>
          <a:stretch/>
        </p:blipFill>
        <p:spPr>
          <a:xfrm>
            <a:off x="1199287" y="6100866"/>
            <a:ext cx="3384645" cy="272956"/>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a:spAutoFit/>
          </a:bodyPr>
          <a:lstStyle/>
          <a:p>
            <a:pPr eaLnBrk="1" hangingPunct="1">
              <a:spcBef>
                <a:spcPct val="0"/>
              </a:spcBef>
              <a:buClrTx/>
              <a:defRPr/>
            </a:pPr>
            <a:r>
              <a:rPr lang="en-US" altLang="en-US" kern="1200" dirty="0">
                <a:latin typeface="Times New Roman" panose="02020603050405020304" pitchFamily="18" charset="0"/>
              </a:rPr>
              <a:t>18.7 Overloading the Unary Prefix and ++ and − −  </a:t>
            </a:r>
            <a:r>
              <a:rPr lang="en-US" altLang="en-US" kern="1200" dirty="0">
                <a:solidFill>
                  <a:schemeClr val="tx2"/>
                </a:solidFill>
                <a:latin typeface="Times New Roman" panose="02020603050405020304" pitchFamily="18" charset="0"/>
                <a:cs typeface="Times New Roman" panose="02020603050405020304" pitchFamily="18" charset="0"/>
              </a:rPr>
              <a:t>Operators</a:t>
            </a:r>
            <a:r>
              <a:rPr lang="en-US" altLang="en-US" kern="1200" dirty="0">
                <a:solidFill>
                  <a:srgbClr val="000000"/>
                </a:solidFill>
                <a:latin typeface="Arial (Body)"/>
              </a:rPr>
              <a:t> </a:t>
            </a:r>
            <a:r>
              <a:rPr lang="en-US" altLang="en-US" kern="1200" dirty="0">
                <a:latin typeface="Times New Roman" panose="02020603050405020304" pitchFamily="18" charset="0"/>
              </a:rPr>
              <a:t>Postfix </a:t>
            </a:r>
            <a:r>
              <a:rPr lang="en-US" altLang="en-US" sz="2000" kern="1200" dirty="0" smtClean="0">
                <a:latin typeface="Times New Roman" panose="02020603050405020304" pitchFamily="18" charset="0"/>
              </a:rPr>
              <a:t>(</a:t>
            </a:r>
            <a:r>
              <a:rPr lang="en-US" altLang="en-US" sz="2000" b="0" kern="1200" dirty="0" smtClean="0">
                <a:latin typeface="Times New Roman" panose="02020603050405020304" pitchFamily="18" charset="0"/>
              </a:rPr>
              <a:t>3 </a:t>
            </a:r>
            <a:r>
              <a:rPr lang="en-US" altLang="en-US" sz="2000" b="0" kern="1200" dirty="0">
                <a:latin typeface="Times New Roman" panose="02020603050405020304" pitchFamily="18" charset="0"/>
              </a:rPr>
              <a:t>of 4)</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1"/>
            <a:ext cx="8229600" cy="2862292"/>
          </a:xfrm>
        </p:spPr>
        <p:txBody>
          <a:bodyPr>
            <a:spAutoFit/>
          </a:bodyPr>
          <a:lstStyle/>
          <a:p>
            <a:pPr marL="0" indent="0">
              <a:buFont typeface="Wingdings 3" panose="05040102010807070707" pitchFamily="18" charset="2"/>
              <a:buNone/>
              <a:defRPr/>
            </a:pPr>
            <a:r>
              <a:rPr lang="en-US" sz="1800" b="1" dirty="0">
                <a:solidFill>
                  <a:srgbClr val="000000"/>
                </a:solidFill>
                <a:latin typeface="+mn-lt"/>
              </a:rPr>
              <a:t>Overloading the Postfix Increment Operator</a:t>
            </a:r>
          </a:p>
          <a:p>
            <a:pPr>
              <a:defRPr/>
            </a:pPr>
            <a:r>
              <a:rPr lang="en-US" sz="1800" dirty="0">
                <a:solidFill>
                  <a:srgbClr val="000000"/>
                </a:solidFill>
                <a:latin typeface="+mn-lt"/>
              </a:rPr>
              <a:t>Overloading the postfix increment operator presents a challenge, because the compiler must be able to distinguish between the signatures of the overloaded prefix and postfix increment operator functions.</a:t>
            </a:r>
            <a:endParaRPr lang="en-US" sz="1800" kern="1200" dirty="0" smtClean="0">
              <a:solidFill>
                <a:srgbClr val="000000"/>
              </a:solidFill>
              <a:latin typeface="+mn-lt"/>
              <a:ea typeface="+mn-ea"/>
              <a:cs typeface="+mn-cs"/>
            </a:endParaRPr>
          </a:p>
          <a:p>
            <a:pPr marL="255651" indent="-255651" eaLnBrk="1" hangingPunct="1">
              <a:tabLst/>
              <a:defRPr/>
            </a:pPr>
            <a:r>
              <a:rPr lang="en-US" sz="1800" kern="1200" dirty="0" smtClean="0">
                <a:solidFill>
                  <a:srgbClr val="000000"/>
                </a:solidFill>
                <a:latin typeface="Arial (Body)"/>
                <a:ea typeface="+mn-ea"/>
                <a:cs typeface="+mn-cs"/>
              </a:rPr>
              <a:t>The </a:t>
            </a:r>
            <a:r>
              <a:rPr lang="en-US" sz="1800" b="1" kern="1200" dirty="0">
                <a:solidFill>
                  <a:srgbClr val="000000"/>
                </a:solidFill>
                <a:latin typeface="Arial (Body)"/>
                <a:ea typeface="+mn-ea"/>
                <a:cs typeface="+mn-cs"/>
              </a:rPr>
              <a:t>convention </a:t>
            </a:r>
            <a:r>
              <a:rPr lang="en-US" sz="1800" kern="1200" dirty="0">
                <a:solidFill>
                  <a:srgbClr val="000000"/>
                </a:solidFill>
                <a:latin typeface="Arial (Body)"/>
                <a:ea typeface="+mn-ea"/>
                <a:cs typeface="+mn-cs"/>
              </a:rPr>
              <a:t>that has been adopted in C++ is that, when the compiler sees the postincrementing expression </a:t>
            </a:r>
            <a:r>
              <a:rPr lang="en-US" sz="1800" kern="1200" dirty="0">
                <a:solidFill>
                  <a:srgbClr val="000000"/>
                </a:solidFill>
                <a:latin typeface="Consolas" panose="020B0609020204030204" pitchFamily="49" charset="0"/>
                <a:ea typeface="+mn-ea"/>
                <a:cs typeface="Consolas" panose="020B0609020204030204" pitchFamily="49" charset="0"/>
              </a:rPr>
              <a:t>d1++</a:t>
            </a:r>
            <a:r>
              <a:rPr lang="en-US" sz="1800" kern="1200" dirty="0">
                <a:solidFill>
                  <a:srgbClr val="000000"/>
                </a:solidFill>
                <a:latin typeface="Arial (Body)"/>
                <a:ea typeface="+mn-ea"/>
                <a:cs typeface="+mn-cs"/>
              </a:rPr>
              <a:t>, it generates the </a:t>
            </a:r>
            <a:r>
              <a:rPr lang="en-US" sz="1800" b="1" kern="1200" dirty="0">
                <a:solidFill>
                  <a:srgbClr val="000000"/>
                </a:solidFill>
                <a:latin typeface="Arial (Body)"/>
                <a:ea typeface="+mn-ea"/>
                <a:cs typeface="+mn-cs"/>
              </a:rPr>
              <a:t>member-function </a:t>
            </a:r>
            <a:r>
              <a:rPr lang="en-US" sz="1800" b="1" kern="1200" dirty="0" smtClean="0">
                <a:solidFill>
                  <a:srgbClr val="000000"/>
                </a:solidFill>
                <a:latin typeface="Arial (Body)"/>
                <a:ea typeface="+mn-ea"/>
                <a:cs typeface="+mn-cs"/>
              </a:rPr>
              <a:t>call</a:t>
            </a:r>
          </a:p>
          <a:p>
            <a:pPr marL="743001" lvl="1" indent="-283464" eaLnBrk="1" hangingPunct="1">
              <a:defRPr/>
            </a:pPr>
            <a:r>
              <a:rPr lang="en-US" sz="1800" b="1" kern="1200" dirty="0">
                <a:solidFill>
                  <a:srgbClr val="000000"/>
                </a:solidFill>
                <a:latin typeface="Arial (Body)"/>
                <a:ea typeface="+mn-ea"/>
                <a:cs typeface="+mn-cs"/>
              </a:rPr>
              <a:t> </a:t>
            </a:r>
            <a:endParaRPr lang="en-US" sz="1800" kern="1200" dirty="0" smtClean="0">
              <a:solidFill>
                <a:srgbClr val="000000"/>
              </a:solidFill>
              <a:latin typeface="Arial (Body)"/>
              <a:ea typeface="+mn-ea"/>
              <a:cs typeface="+mn-cs"/>
            </a:endParaRPr>
          </a:p>
        </p:txBody>
      </p:sp>
      <p:pic>
        <p:nvPicPr>
          <p:cNvPr id="6" name="Picture 5" descr="d 1 period operator plus plus left parenthesis right parenthesis"/>
          <p:cNvPicPr>
            <a:picLocks noChangeAspect="1"/>
          </p:cNvPicPr>
          <p:nvPr/>
        </p:nvPicPr>
        <p:blipFill rotWithShape="1">
          <a:blip r:embed="rId2"/>
          <a:srcRect l="15535" b="17836"/>
          <a:stretch/>
        </p:blipFill>
        <p:spPr>
          <a:xfrm>
            <a:off x="1243584" y="3987216"/>
            <a:ext cx="2420236" cy="405739"/>
          </a:xfrm>
          <a:prstGeom prst="rect">
            <a:avLst/>
          </a:prstGeom>
        </p:spPr>
      </p:pic>
      <p:sp>
        <p:nvSpPr>
          <p:cNvPr id="7" name="Content Placeholder 6"/>
          <p:cNvSpPr>
            <a:spLocks noGrp="1"/>
          </p:cNvSpPr>
          <p:nvPr>
            <p:ph sz="quarter" idx="14"/>
          </p:nvPr>
        </p:nvSpPr>
        <p:spPr>
          <a:xfrm>
            <a:off x="460375" y="4364717"/>
            <a:ext cx="8232775" cy="466528"/>
          </a:xfrm>
        </p:spPr>
        <p:txBody>
          <a:bodyPr/>
          <a:lstStyle/>
          <a:p>
            <a:pPr marL="255600">
              <a:spcBef>
                <a:spcPts val="1500"/>
              </a:spcBef>
              <a:buClr>
                <a:schemeClr val="tx2"/>
              </a:buClr>
              <a:buFont typeface="Arial" panose="020B0604020202020204" pitchFamily="34" charset="0"/>
              <a:buChar char="•"/>
            </a:pPr>
            <a:r>
              <a:rPr lang="en-US" sz="1800" kern="1200" dirty="0">
                <a:latin typeface="Arial (Body)"/>
              </a:rPr>
              <a:t>The prototype for this function </a:t>
            </a:r>
            <a:r>
              <a:rPr lang="en-US" sz="1800" kern="1200" dirty="0" smtClean="0">
                <a:latin typeface="Arial (Body)"/>
              </a:rPr>
              <a:t>is</a:t>
            </a:r>
          </a:p>
          <a:p>
            <a:pPr marL="741600" lvl="1" indent="-284400">
              <a:spcBef>
                <a:spcPts val="600"/>
              </a:spcBef>
              <a:buClr>
                <a:schemeClr val="tx2"/>
              </a:buClr>
              <a:buFontTx/>
              <a:buChar char="–"/>
            </a:pPr>
            <a:r>
              <a:rPr lang="en-US" sz="2000" kern="1200" dirty="0" smtClean="0">
                <a:latin typeface="Arial (Body)"/>
              </a:rPr>
              <a:t> </a:t>
            </a:r>
            <a:endParaRPr lang="en-US" sz="2000" kern="1200" dirty="0">
              <a:latin typeface="Arial (Body)"/>
            </a:endParaRPr>
          </a:p>
        </p:txBody>
      </p:sp>
      <p:pic>
        <p:nvPicPr>
          <p:cNvPr id="11" name="Picture 10" descr="Date operator plus plus left parenthesis i n t right parenthesis."/>
          <p:cNvPicPr>
            <a:picLocks noChangeAspect="1"/>
          </p:cNvPicPr>
          <p:nvPr/>
        </p:nvPicPr>
        <p:blipFill rotWithShape="1">
          <a:blip r:embed="rId3"/>
          <a:srcRect l="13019" b="17564"/>
          <a:stretch/>
        </p:blipFill>
        <p:spPr>
          <a:xfrm>
            <a:off x="1243584" y="4758092"/>
            <a:ext cx="2932468" cy="407087"/>
          </a:xfrm>
          <a:prstGeom prst="rect">
            <a:avLst/>
          </a:prstGeom>
        </p:spPr>
      </p:pic>
      <p:sp>
        <p:nvSpPr>
          <p:cNvPr id="8" name="Content Placeholder 7"/>
          <p:cNvSpPr>
            <a:spLocks noGrp="1"/>
          </p:cNvSpPr>
          <p:nvPr>
            <p:ph sz="quarter" idx="15"/>
          </p:nvPr>
        </p:nvSpPr>
        <p:spPr>
          <a:xfrm>
            <a:off x="460375" y="5070612"/>
            <a:ext cx="8229600" cy="1207415"/>
          </a:xfrm>
        </p:spPr>
        <p:txBody>
          <a:bodyPr/>
          <a:lstStyle/>
          <a:p>
            <a:pPr marL="256032" indent="-256032" eaLnBrk="1" hangingPunct="1">
              <a:spcBef>
                <a:spcPts val="1500"/>
              </a:spcBef>
              <a:buClr>
                <a:schemeClr val="tx2"/>
              </a:buClr>
              <a:buFont typeface="Arial" panose="020B0604020202020204" pitchFamily="34" charset="0"/>
              <a:buChar char="•"/>
              <a:tabLst/>
              <a:defRPr/>
            </a:pPr>
            <a:r>
              <a:rPr lang="en-US" sz="1800" kern="1200" dirty="0">
                <a:latin typeface="Arial (Body)"/>
              </a:rPr>
              <a:t>The argument </a:t>
            </a:r>
            <a:r>
              <a:rPr lang="en-US" sz="1800" kern="1200" dirty="0">
                <a:latin typeface="Consolas" panose="020B0609020204030204" pitchFamily="49" charset="0"/>
                <a:cs typeface="Consolas" panose="020B0609020204030204" pitchFamily="49" charset="0"/>
              </a:rPr>
              <a:t>0</a:t>
            </a:r>
            <a:r>
              <a:rPr lang="en-US" sz="1800" kern="1200" dirty="0">
                <a:latin typeface="Arial (Body)"/>
              </a:rPr>
              <a:t> is strictly a “dummy value” that enables the compiler to distinguish between the prefix and postfix increment operator functions.</a:t>
            </a:r>
          </a:p>
          <a:p>
            <a:pPr marL="256032" indent="-256032" eaLnBrk="1" hangingPunct="1">
              <a:spcBef>
                <a:spcPts val="1500"/>
              </a:spcBef>
              <a:buClr>
                <a:schemeClr val="tx2"/>
              </a:buClr>
              <a:buFont typeface="Arial" panose="020B0604020202020204" pitchFamily="34" charset="0"/>
              <a:buChar char="•"/>
              <a:tabLst/>
              <a:defRPr/>
            </a:pPr>
            <a:r>
              <a:rPr lang="en-US" sz="1800" kern="1200" dirty="0">
                <a:latin typeface="Arial (Body)"/>
              </a:rPr>
              <a:t>The same syntax is used to differentiate between the prefix and postfix decrement operator functions</a:t>
            </a:r>
            <a:r>
              <a:rPr lang="en-US" sz="1800" kern="1200" dirty="0" smtClean="0">
                <a:latin typeface="Arial (Body)"/>
              </a:rPr>
              <a:t>.</a:t>
            </a:r>
            <a:endParaRPr lang="en-US" sz="1800" kern="1200" dirty="0">
              <a:latin typeface="Arial (Body)"/>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a:spAutoFit/>
          </a:bodyPr>
          <a:lstStyle/>
          <a:p>
            <a:pPr eaLnBrk="1" hangingPunct="1">
              <a:spcBef>
                <a:spcPct val="0"/>
              </a:spcBef>
              <a:buClrTx/>
              <a:defRPr/>
            </a:pPr>
            <a:r>
              <a:rPr lang="en-US" altLang="en-US" kern="1200" dirty="0">
                <a:latin typeface="Times New Roman" panose="02020603050405020304" pitchFamily="18" charset="0"/>
              </a:rPr>
              <a:t>18.7 Overloading the Unary Prefix and ++ and − −  </a:t>
            </a:r>
            <a:r>
              <a:rPr lang="en-US" altLang="en-US" kern="1200" dirty="0">
                <a:solidFill>
                  <a:schemeClr val="tx2"/>
                </a:solidFill>
                <a:latin typeface="Times New Roman" panose="02020603050405020304" pitchFamily="18" charset="0"/>
                <a:cs typeface="Times New Roman" panose="02020603050405020304" pitchFamily="18" charset="0"/>
              </a:rPr>
              <a:t>Operators</a:t>
            </a:r>
            <a:r>
              <a:rPr lang="en-US" altLang="en-US" kern="1200" dirty="0">
                <a:solidFill>
                  <a:srgbClr val="000000"/>
                </a:solidFill>
                <a:latin typeface="Arial (Body)"/>
              </a:rPr>
              <a:t> </a:t>
            </a:r>
            <a:r>
              <a:rPr lang="en-US" altLang="en-US" kern="1200" dirty="0">
                <a:latin typeface="Times New Roman" panose="02020603050405020304" pitchFamily="18" charset="0"/>
              </a:rPr>
              <a:t>Postfix </a:t>
            </a:r>
            <a:r>
              <a:rPr lang="en-US" altLang="en-US" sz="2000" kern="1200" dirty="0" smtClean="0">
                <a:latin typeface="Times New Roman" panose="02020603050405020304" pitchFamily="18" charset="0"/>
              </a:rPr>
              <a:t>(</a:t>
            </a:r>
            <a:r>
              <a:rPr lang="en-US" altLang="en-US" sz="2000" b="0" kern="1200" dirty="0" smtClean="0">
                <a:latin typeface="Times New Roman" panose="02020603050405020304" pitchFamily="18" charset="0"/>
              </a:rPr>
              <a:t>4 </a:t>
            </a:r>
            <a:r>
              <a:rPr lang="en-US" altLang="en-US" sz="2000" b="0" kern="1200" dirty="0">
                <a:latin typeface="Times New Roman" panose="02020603050405020304" pitchFamily="18" charset="0"/>
              </a:rPr>
              <a:t>of 4)</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1"/>
            <a:ext cx="8229600" cy="1369575"/>
          </a:xfrm>
        </p:spPr>
        <p:txBody>
          <a:bodyPr>
            <a:spAutoFit/>
          </a:bodyPr>
          <a:lstStyle/>
          <a:p>
            <a:pPr marL="255651" indent="-255651" eaLnBrk="1" hangingPunct="1">
              <a:tabLst/>
              <a:defRPr/>
            </a:pPr>
            <a:r>
              <a:rPr lang="en-US" altLang="en-US" sz="1800" kern="1200" dirty="0">
                <a:solidFill>
                  <a:srgbClr val="000000"/>
                </a:solidFill>
                <a:latin typeface="Arial (Body)"/>
                <a:ea typeface="+mn-ea"/>
                <a:cs typeface="+mn-cs"/>
              </a:rPr>
              <a:t>If the postfix increment is implemented as a non-member function, then, when the compiler sees the expression </a:t>
            </a:r>
            <a:r>
              <a:rPr lang="en-US" altLang="en-US" sz="1800" kern="1200" dirty="0">
                <a:solidFill>
                  <a:srgbClr val="000000"/>
                </a:solidFill>
                <a:latin typeface="Consolas" panose="020B0609020204030204" pitchFamily="49" charset="0"/>
                <a:ea typeface="+mn-ea"/>
                <a:cs typeface="Consolas" panose="020B0609020204030204" pitchFamily="49" charset="0"/>
              </a:rPr>
              <a:t>d1++</a:t>
            </a:r>
            <a:r>
              <a:rPr lang="en-US" altLang="en-US" sz="1800" kern="1200" dirty="0">
                <a:solidFill>
                  <a:srgbClr val="000000"/>
                </a:solidFill>
                <a:latin typeface="Arial (Body)"/>
                <a:ea typeface="+mn-ea"/>
                <a:cs typeface="+mn-cs"/>
              </a:rPr>
              <a:t>, the compiler generates the function </a:t>
            </a:r>
            <a:r>
              <a:rPr lang="en-US" altLang="en-US" sz="1800" kern="1200" dirty="0" smtClean="0">
                <a:solidFill>
                  <a:srgbClr val="000000"/>
                </a:solidFill>
                <a:latin typeface="Arial (Body)"/>
                <a:ea typeface="+mn-ea"/>
                <a:cs typeface="+mn-cs"/>
              </a:rPr>
              <a:t>call</a:t>
            </a:r>
          </a:p>
          <a:p>
            <a:pPr marL="743001" lvl="1" indent="-283464" eaLnBrk="1" hangingPunct="1">
              <a:defRPr/>
            </a:pPr>
            <a:r>
              <a:rPr lang="en-US" altLang="en-US" sz="1800" kern="1200" dirty="0">
                <a:solidFill>
                  <a:srgbClr val="000000"/>
                </a:solidFill>
                <a:latin typeface="Arial (Body)"/>
                <a:ea typeface="+mn-ea"/>
                <a:cs typeface="+mn-cs"/>
              </a:rPr>
              <a:t> </a:t>
            </a:r>
          </a:p>
        </p:txBody>
      </p:sp>
      <p:pic>
        <p:nvPicPr>
          <p:cNvPr id="6" name="Picture 5" descr="operator plus plus left parenthesis d 1comma 0 right parenthesis"/>
          <p:cNvPicPr>
            <a:picLocks noChangeAspect="1"/>
          </p:cNvPicPr>
          <p:nvPr/>
        </p:nvPicPr>
        <p:blipFill rotWithShape="1">
          <a:blip r:embed="rId2"/>
          <a:srcRect l="14870" b="16669"/>
          <a:stretch/>
        </p:blipFill>
        <p:spPr>
          <a:xfrm>
            <a:off x="1225296" y="2518182"/>
            <a:ext cx="2548257" cy="411502"/>
          </a:xfrm>
          <a:prstGeom prst="rect">
            <a:avLst/>
          </a:prstGeom>
        </p:spPr>
      </p:pic>
      <p:sp>
        <p:nvSpPr>
          <p:cNvPr id="8" name="Content Placeholder 7"/>
          <p:cNvSpPr>
            <a:spLocks noGrp="1"/>
          </p:cNvSpPr>
          <p:nvPr>
            <p:ph sz="quarter" idx="14"/>
          </p:nvPr>
        </p:nvSpPr>
        <p:spPr>
          <a:xfrm>
            <a:off x="460375" y="2893757"/>
            <a:ext cx="8232775" cy="487680"/>
          </a:xfrm>
        </p:spPr>
        <p:txBody>
          <a:bodyPr/>
          <a:lstStyle/>
          <a:p>
            <a:pPr marL="255600">
              <a:spcBef>
                <a:spcPts val="1500"/>
              </a:spcBef>
              <a:buClr>
                <a:schemeClr val="tx2"/>
              </a:buClr>
              <a:buFont typeface="Arial" panose="020B0604020202020204" pitchFamily="34" charset="0"/>
              <a:buChar char="•"/>
            </a:pPr>
            <a:r>
              <a:rPr lang="en-US" altLang="en-US" sz="1800" kern="1200" dirty="0">
                <a:latin typeface="Arial (Body)"/>
              </a:rPr>
              <a:t>The prototype for this function would </a:t>
            </a:r>
            <a:r>
              <a:rPr lang="en-US" altLang="en-US" sz="1800" kern="1200" dirty="0" smtClean="0">
                <a:latin typeface="Arial (Body)"/>
              </a:rPr>
              <a:t>be</a:t>
            </a:r>
          </a:p>
          <a:p>
            <a:pPr marL="741600" lvl="1" indent="-284400">
              <a:spcBef>
                <a:spcPts val="600"/>
              </a:spcBef>
              <a:buClr>
                <a:schemeClr val="tx2"/>
              </a:buClr>
              <a:buFontTx/>
              <a:buChar char="–"/>
            </a:pPr>
            <a:r>
              <a:rPr lang="en-US" altLang="en-US" sz="1800" kern="1200" dirty="0" smtClean="0">
                <a:latin typeface="Arial (Body)"/>
              </a:rPr>
              <a:t> </a:t>
            </a:r>
            <a:endParaRPr lang="en-US" altLang="en-US" sz="1800" kern="1200" dirty="0">
              <a:latin typeface="Arial (Body)"/>
            </a:endParaRPr>
          </a:p>
        </p:txBody>
      </p:sp>
      <p:pic>
        <p:nvPicPr>
          <p:cNvPr id="7" name="Picture 6" descr="Date operator plus plus left parenthesis Date ampersand comma i n t right parenthesis semicolon."/>
          <p:cNvPicPr>
            <a:picLocks noChangeAspect="1"/>
          </p:cNvPicPr>
          <p:nvPr/>
        </p:nvPicPr>
        <p:blipFill rotWithShape="1">
          <a:blip r:embed="rId3"/>
          <a:srcRect l="9353" t="7411" b="16669"/>
          <a:stretch/>
        </p:blipFill>
        <p:spPr>
          <a:xfrm>
            <a:off x="1225296" y="3305670"/>
            <a:ext cx="4078419" cy="374904"/>
          </a:xfrm>
          <a:prstGeom prst="rect">
            <a:avLst/>
          </a:prstGeom>
        </p:spPr>
      </p:pic>
      <p:sp>
        <p:nvSpPr>
          <p:cNvPr id="9" name="Content Placeholder 8"/>
          <p:cNvSpPr>
            <a:spLocks noGrp="1"/>
          </p:cNvSpPr>
          <p:nvPr>
            <p:ph sz="quarter" idx="15"/>
          </p:nvPr>
        </p:nvSpPr>
        <p:spPr>
          <a:xfrm>
            <a:off x="457200" y="3680574"/>
            <a:ext cx="8229600" cy="2391042"/>
          </a:xfrm>
        </p:spPr>
        <p:txBody>
          <a:bodyPr/>
          <a:lstStyle/>
          <a:p>
            <a:pPr marL="256032" indent="-256032">
              <a:spcBef>
                <a:spcPts val="1500"/>
              </a:spcBef>
              <a:buClr>
                <a:schemeClr val="tx2"/>
              </a:buClr>
              <a:buFont typeface="Arial" panose="020B0604020202020204" pitchFamily="34" charset="0"/>
              <a:buChar char="•"/>
            </a:pPr>
            <a:r>
              <a:rPr lang="en-US" altLang="en-US" sz="1800" kern="1200" dirty="0">
                <a:latin typeface="Arial (Body)"/>
              </a:rPr>
              <a:t>Once again, the </a:t>
            </a:r>
            <a:r>
              <a:rPr lang="en-US" altLang="en-US" sz="1800" kern="1200" dirty="0">
                <a:latin typeface="Consolas" panose="020B0609020204030204" pitchFamily="49" charset="0"/>
                <a:cs typeface="Consolas" panose="020B0609020204030204" pitchFamily="49" charset="0"/>
              </a:rPr>
              <a:t>0</a:t>
            </a:r>
            <a:r>
              <a:rPr lang="en-US" altLang="en-US" sz="1800" kern="1200" dirty="0">
                <a:latin typeface="Arial (Body)"/>
              </a:rPr>
              <a:t> argument is used by the compiler to distinguish between the prefix and postfix increment operators implemented as non-member functions</a:t>
            </a:r>
            <a:r>
              <a:rPr lang="en-US" altLang="en-US" sz="1800" kern="1200" dirty="0" smtClean="0">
                <a:latin typeface="Arial (Body)"/>
              </a:rPr>
              <a:t>.</a:t>
            </a:r>
          </a:p>
          <a:p>
            <a:pPr marL="256032" indent="-256032">
              <a:spcBef>
                <a:spcPts val="1500"/>
              </a:spcBef>
              <a:buClr>
                <a:schemeClr val="tx2"/>
              </a:buClr>
              <a:buFont typeface="Arial" panose="020B0604020202020204" pitchFamily="34" charset="0"/>
              <a:buChar char="•"/>
            </a:pPr>
            <a:r>
              <a:rPr lang="en-US" altLang="en-US" sz="1800" kern="1200" dirty="0">
                <a:latin typeface="Arial (Body)"/>
              </a:rPr>
              <a:t>The postfix increment operator returns </a:t>
            </a:r>
            <a:r>
              <a:rPr lang="en-US" altLang="en-US" sz="1800" kern="1200" dirty="0">
                <a:latin typeface="Consolas" panose="020B0609020204030204" pitchFamily="49" charset="0"/>
                <a:cs typeface="Consolas" panose="020B0609020204030204" pitchFamily="49" charset="0"/>
              </a:rPr>
              <a:t>Date</a:t>
            </a:r>
            <a:r>
              <a:rPr lang="en-US" altLang="en-US" sz="1800" kern="1200" dirty="0">
                <a:latin typeface="Arial (Body)"/>
              </a:rPr>
              <a:t> objects </a:t>
            </a:r>
            <a:r>
              <a:rPr lang="en-US" altLang="en-US" sz="1800" b="1" kern="1200" dirty="0">
                <a:latin typeface="Arial (Body)"/>
              </a:rPr>
              <a:t>by value</a:t>
            </a:r>
            <a:r>
              <a:rPr lang="en-US" altLang="en-US" sz="1800" kern="1200" dirty="0">
                <a:latin typeface="Arial (Body)"/>
              </a:rPr>
              <a:t>, whereas the prefix increment operator returns </a:t>
            </a:r>
            <a:r>
              <a:rPr lang="en-US" altLang="en-US" sz="1800" kern="1200" dirty="0">
                <a:latin typeface="Consolas" panose="020B0609020204030204" pitchFamily="49" charset="0"/>
                <a:cs typeface="Consolas" panose="020B0609020204030204" pitchFamily="49" charset="0"/>
              </a:rPr>
              <a:t>Date</a:t>
            </a:r>
            <a:r>
              <a:rPr lang="en-US" altLang="en-US" sz="1800" kern="1200" dirty="0">
                <a:latin typeface="Arial (Body)"/>
              </a:rPr>
              <a:t> objects </a:t>
            </a:r>
            <a:r>
              <a:rPr lang="en-US" altLang="en-US" sz="1800" b="1" kern="1200" dirty="0">
                <a:latin typeface="Arial (Body)"/>
              </a:rPr>
              <a:t>by reference</a:t>
            </a:r>
            <a:r>
              <a:rPr lang="en-US" altLang="en-US" sz="1800" kern="1200" dirty="0">
                <a:latin typeface="Arial (Body)"/>
              </a:rPr>
              <a:t>—the postfix increment operator typically returns a temporary object that contains the original value of the object before the increment occurred.</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Tip </a:t>
            </a:r>
            <a:r>
              <a:rPr lang="en-US" dirty="0" smtClean="0"/>
              <a:t>18.1</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The extra object that’s created by the </a:t>
            </a:r>
            <a:r>
              <a:rPr lang="en-US" sz="2400" dirty="0">
                <a:latin typeface="Consolas" panose="020B0609020204030204" pitchFamily="49" charset="0"/>
                <a:cs typeface="Consolas" panose="020B0609020204030204" pitchFamily="49" charset="0"/>
              </a:rPr>
              <a:t>postfix</a:t>
            </a:r>
            <a:r>
              <a:rPr lang="en-US" sz="2400" dirty="0">
                <a:latin typeface="+mn-lt"/>
              </a:rPr>
              <a:t> increment (or decrement) operator can </a:t>
            </a:r>
            <a:r>
              <a:rPr lang="en-US" sz="2400" dirty="0" smtClean="0">
                <a:latin typeface="+mn-lt"/>
              </a:rPr>
              <a:t>result in </a:t>
            </a:r>
            <a:r>
              <a:rPr lang="en-US" sz="2400" dirty="0">
                <a:latin typeface="+mn-lt"/>
              </a:rPr>
              <a:t>a performance problem—especially when the operator is used in a loop. For this </a:t>
            </a:r>
            <a:r>
              <a:rPr lang="en-US" sz="2400" dirty="0" smtClean="0">
                <a:latin typeface="+mn-lt"/>
              </a:rPr>
              <a:t>reason, you </a:t>
            </a:r>
            <a:r>
              <a:rPr lang="en-US" sz="2400" dirty="0">
                <a:latin typeface="+mn-lt"/>
              </a:rPr>
              <a:t>should prefer the overloaded </a:t>
            </a:r>
            <a:r>
              <a:rPr lang="en-US" sz="2400" dirty="0">
                <a:latin typeface="Consolas" panose="020B0609020204030204" pitchFamily="49" charset="0"/>
                <a:cs typeface="Consolas" panose="020B0609020204030204" pitchFamily="49" charset="0"/>
              </a:rPr>
              <a:t>prefix</a:t>
            </a:r>
            <a:r>
              <a:rPr lang="en-US" sz="2400" dirty="0">
                <a:latin typeface="+mn-lt"/>
              </a:rPr>
              <a:t> increment and decrement operators.</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18.8 Case Study: A </a:t>
            </a:r>
            <a:r>
              <a:rPr lang="en-US" altLang="en-US" kern="1200" dirty="0" smtClean="0">
                <a:latin typeface="Consolas" panose="020B0609020204030204" pitchFamily="49" charset="0"/>
                <a:ea typeface="+mj-ea"/>
                <a:cs typeface="Consolas" panose="020B0609020204030204" pitchFamily="49" charset="0"/>
              </a:rPr>
              <a:t>Date</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(1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031295"/>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The program of </a:t>
            </a:r>
            <a:r>
              <a:rPr lang="en-US" altLang="en-US" sz="2400" kern="1200" dirty="0" smtClean="0">
                <a:solidFill>
                  <a:srgbClr val="000000"/>
                </a:solidFill>
                <a:latin typeface="Arial (Body)"/>
                <a:ea typeface="+mn-ea"/>
                <a:cs typeface="+mn-cs"/>
              </a:rPr>
              <a:t>Figures</a:t>
            </a:r>
            <a:r>
              <a:rPr lang="en-US" altLang="en-US" sz="2400" kern="1200" dirty="0">
                <a:solidFill>
                  <a:srgbClr val="000000"/>
                </a:solidFill>
                <a:latin typeface="Arial (Body)"/>
                <a:ea typeface="+mn-ea"/>
                <a:cs typeface="+mn-cs"/>
              </a:rPr>
              <a:t> </a:t>
            </a:r>
            <a:r>
              <a:rPr lang="en-US" altLang="en-US" sz="2400" kern="1200" dirty="0" smtClean="0">
                <a:solidFill>
                  <a:srgbClr val="000000"/>
                </a:solidFill>
                <a:latin typeface="Arial (Body)"/>
                <a:ea typeface="+mn-ea"/>
                <a:cs typeface="+mn-cs"/>
              </a:rPr>
              <a:t>18.6–18.8 demonstrates </a:t>
            </a:r>
            <a:r>
              <a:rPr lang="en-US" altLang="en-US" sz="2400" kern="1200" dirty="0">
                <a:solidFill>
                  <a:srgbClr val="000000"/>
                </a:solidFill>
                <a:latin typeface="Arial (Body)"/>
                <a:ea typeface="+mn-ea"/>
                <a:cs typeface="+mn-cs"/>
              </a:rPr>
              <a:t>a </a:t>
            </a:r>
            <a:r>
              <a:rPr lang="en-US" altLang="en-US" sz="2400" kern="1200" dirty="0">
                <a:solidFill>
                  <a:srgbClr val="000000"/>
                </a:solidFill>
                <a:latin typeface="Consolas" panose="020B0609020204030204" pitchFamily="49" charset="0"/>
                <a:ea typeface="+mn-ea"/>
                <a:cs typeface="Consolas" panose="020B0609020204030204" pitchFamily="49" charset="0"/>
              </a:rPr>
              <a:t>Date</a:t>
            </a:r>
            <a:r>
              <a:rPr lang="en-US" altLang="en-US" sz="2400" kern="1200" dirty="0">
                <a:solidFill>
                  <a:srgbClr val="000000"/>
                </a:solidFill>
                <a:latin typeface="Arial (Body)"/>
                <a:ea typeface="+mn-ea"/>
                <a:cs typeface="+mn-cs"/>
              </a:rPr>
              <a:t> class, which uses overloaded prefix and postfix increment operators to add </a:t>
            </a:r>
            <a:r>
              <a:rPr lang="en-US" altLang="en-US" sz="2400" kern="1200" dirty="0">
                <a:solidFill>
                  <a:srgbClr val="000000"/>
                </a:solidFill>
                <a:latin typeface="Consolas" panose="020B0609020204030204" pitchFamily="49" charset="0"/>
                <a:ea typeface="+mn-ea"/>
                <a:cs typeface="Consolas" panose="020B0609020204030204" pitchFamily="49" charset="0"/>
              </a:rPr>
              <a:t>1</a:t>
            </a:r>
            <a:r>
              <a:rPr lang="en-US" altLang="en-US" sz="2400" kern="1200" dirty="0">
                <a:solidFill>
                  <a:srgbClr val="000000"/>
                </a:solidFill>
                <a:latin typeface="Arial (Body)"/>
                <a:ea typeface="+mn-ea"/>
                <a:cs typeface="+mn-cs"/>
              </a:rPr>
              <a:t> to the day in a </a:t>
            </a:r>
            <a:r>
              <a:rPr lang="en-US" altLang="en-US" sz="2400" kern="1200" dirty="0">
                <a:solidFill>
                  <a:srgbClr val="000000"/>
                </a:solidFill>
                <a:latin typeface="Consolas" panose="020B0609020204030204" pitchFamily="49" charset="0"/>
                <a:ea typeface="+mn-ea"/>
                <a:cs typeface="Consolas" panose="020B0609020204030204" pitchFamily="49" charset="0"/>
              </a:rPr>
              <a:t>Date</a:t>
            </a:r>
            <a:r>
              <a:rPr lang="en-US" altLang="en-US" sz="2400" kern="1200" dirty="0">
                <a:solidFill>
                  <a:srgbClr val="000000"/>
                </a:solidFill>
                <a:latin typeface="Arial (Body)"/>
                <a:ea typeface="+mn-ea"/>
                <a:cs typeface="+mn-cs"/>
              </a:rPr>
              <a:t> object, while causing appropriate increments to the month and year if necessary.</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18.6 </a:t>
            </a:r>
            <a:r>
              <a:rPr lang="en-US" dirty="0">
                <a:latin typeface="Consolas" panose="020B0609020204030204" pitchFamily="49" charset="0"/>
                <a:cs typeface="Consolas" panose="020B0609020204030204" pitchFamily="49" charset="0"/>
              </a:rPr>
              <a:t>Date</a:t>
            </a:r>
            <a:r>
              <a:rPr lang="en-US" dirty="0"/>
              <a:t> Class Definition with Overloaded Increment Operators </a:t>
            </a:r>
            <a:r>
              <a:rPr lang="en-US" sz="2000" b="0" dirty="0" smtClean="0"/>
              <a:t>(1 </a:t>
            </a:r>
            <a:r>
              <a:rPr lang="en-US" sz="2000" b="0" dirty="0"/>
              <a:t>of </a:t>
            </a:r>
            <a:r>
              <a:rPr lang="en-US" sz="2000" b="0" dirty="0" smtClean="0"/>
              <a:t>2)</a:t>
            </a:r>
            <a:endParaRPr lang="en-US" sz="2000" b="0" dirty="0"/>
          </a:p>
        </p:txBody>
      </p:sp>
      <p:pic>
        <p:nvPicPr>
          <p:cNvPr id="4" name="Picture 3" descr="The computer code has 29 lines. The lines read as follows. Line 1. forward slash forward slash F i g period 18 period 6 colon Date period h. Line 2. forward slash forward slash Date class definition with overloaded increment operators period. Line 3. hash if n d e f DATE underscore H. Line 4. hash define DATE underscore H. Line 5. Blank. Line 6. hash include less than sign array greater than sign. Line 7. hash include left angle bracket i o stream right angle bracket. Line 8. Blank. Line 9. class Date. Line 10. left brace. Line 11. friend s t d colon colon o stream ampersand operator left angle bracket left angle bracket left parenthesis s t d colon colon o stream ampersand comma c o n s t Date ampersand right parenthesis semicolon. Line 12. public colon. Line 13, indented once. Date left parenthesis i n t, m equals 1 comma i n t, d equals 1 comma i n t, y equals 1900 right parenthesis semicolon forward slash forward slash default constructor. Line 14, indented once. void set Date left parenthesis i n t comma i n t comma i n t right parenthesis semicolon forward slash forward slash set month comma day comma year. Line 15, indented once. Date ampersand operator plus plus left parenthesis right parenthesis semicolon forward slash forward slash prefix increment operator. Line 16, indented once. Date operator plus plus left parenthesis i n t right parenthesis semicolon forward slash forward slash postfix increment operator. Line 17, indented once. Date ampersand operator plus equals left parenthesis unsigned i n t right parenthesis semicolon forward slash forward slash add days comma modify object. Lines 15 to 17 are highlighted. Line 18, indented once. static bool leap Year left parenthesis i n t right parenthesis semicolon forward slash forward slash is date in a leap year question mark. Line 19, indented once. bool end Of Month left parenthesis i n t right parenthesis c o n s t semicolon forward slash forward slash is date at the end of month question mark. Line 20. private colon. Line 21, indented once. unsigned i n t month semicolon. Line 22, indented once. unsigned i n t day semicolon. Line 23, indented once. unsigned i n t year semicolon."/>
          <p:cNvPicPr>
            <a:picLocks noChangeAspect="1"/>
          </p:cNvPicPr>
          <p:nvPr/>
        </p:nvPicPr>
        <p:blipFill>
          <a:blip r:embed="rId2"/>
          <a:stretch>
            <a:fillRect/>
          </a:stretch>
        </p:blipFill>
        <p:spPr>
          <a:xfrm>
            <a:off x="802810" y="1581912"/>
            <a:ext cx="7538382" cy="4754880"/>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18.6 </a:t>
            </a:r>
            <a:r>
              <a:rPr lang="en-US" dirty="0">
                <a:latin typeface="Consolas" panose="020B0609020204030204" pitchFamily="49" charset="0"/>
                <a:cs typeface="Consolas" panose="020B0609020204030204" pitchFamily="49" charset="0"/>
              </a:rPr>
              <a:t>Date</a:t>
            </a:r>
            <a:r>
              <a:rPr lang="en-US" dirty="0"/>
              <a:t> Class Definition with Overloaded Increment Operators </a:t>
            </a:r>
            <a:r>
              <a:rPr lang="en-US" sz="2000" b="0" dirty="0" smtClean="0"/>
              <a:t>(2 </a:t>
            </a:r>
            <a:r>
              <a:rPr lang="en-US" sz="2000" b="0" dirty="0"/>
              <a:t>of </a:t>
            </a:r>
            <a:r>
              <a:rPr lang="en-US" sz="2000" b="0" dirty="0" smtClean="0"/>
              <a:t>2)</a:t>
            </a:r>
            <a:endParaRPr lang="en-US" sz="2000" b="0" dirty="0"/>
          </a:p>
        </p:txBody>
      </p:sp>
      <p:pic>
        <p:nvPicPr>
          <p:cNvPr id="4" name="Picture 3" descr="The code continues. Line 24. Blank. Line 25, indented once. static c o n s t, s t d colon colon array less than sign unsigned i n t comma 13 greater than sign days semicolon forward slash forward slash days per month. Line 26, indented once. void help Increment left parenthesis right parenthesis semicolon forward slash forward slash utility function for incrementing date. Line 27. right brace semicolon forward slash forward slash end class Date. Line 28. Blank. Line 29. hash end if."/>
          <p:cNvPicPr>
            <a:picLocks noChangeAspect="1"/>
          </p:cNvPicPr>
          <p:nvPr/>
        </p:nvPicPr>
        <p:blipFill>
          <a:blip r:embed="rId2"/>
          <a:stretch>
            <a:fillRect/>
          </a:stretch>
        </p:blipFill>
        <p:spPr>
          <a:xfrm>
            <a:off x="805316" y="2691833"/>
            <a:ext cx="7533368" cy="1474335"/>
          </a:xfrm>
          <a:prstGeom prst="rect">
            <a:avLst/>
          </a:prstGeom>
        </p:spPr>
      </p:pic>
    </p:spTree>
    <p:extLst>
      <p:ext uri="{BB962C8B-B14F-4D97-AF65-F5344CB8AC3E}">
        <p14:creationId xmlns:p14="http://schemas.microsoft.com/office/powerpoint/2010/main" val="308979068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latin typeface="Times New Roman" panose="02020603050405020304" pitchFamily="18" charset="0"/>
                <a:cs typeface="Times New Roman" panose="02020603050405020304" pitchFamily="18" charset="0"/>
              </a:rPr>
              <a:t>Figure </a:t>
            </a:r>
            <a:r>
              <a:rPr lang="en-US" dirty="0" smtClean="0">
                <a:latin typeface="Times New Roman" panose="02020603050405020304" pitchFamily="18" charset="0"/>
                <a:cs typeface="Times New Roman" panose="02020603050405020304" pitchFamily="18" charset="0"/>
              </a:rPr>
              <a:t>18.7 </a:t>
            </a:r>
            <a:r>
              <a:rPr lang="en-US" dirty="0">
                <a:latin typeface="Consolas" panose="020B0609020204030204" pitchFamily="49" charset="0"/>
                <a:cs typeface="Consolas" panose="020B0609020204030204" pitchFamily="49" charset="0"/>
              </a:rPr>
              <a:t>Date</a:t>
            </a:r>
            <a:r>
              <a:rPr lang="en-US" dirty="0">
                <a:latin typeface="Times New Roman" panose="02020603050405020304" pitchFamily="18" charset="0"/>
                <a:cs typeface="Times New Roman" panose="02020603050405020304" pitchFamily="18" charset="0"/>
              </a:rPr>
              <a:t> Class Member- and </a:t>
            </a:r>
            <a:r>
              <a:rPr lang="en-US" dirty="0">
                <a:latin typeface="Consolas" panose="020B0609020204030204" pitchFamily="49" charset="0"/>
                <a:cs typeface="Consolas" panose="020B0609020204030204" pitchFamily="49" charset="0"/>
              </a:rPr>
              <a:t>Friend</a:t>
            </a:r>
            <a:r>
              <a:rPr lang="en-US" dirty="0">
                <a:latin typeface="Times New Roman" panose="02020603050405020304" pitchFamily="18" charset="0"/>
                <a:cs typeface="Times New Roman" panose="02020603050405020304" pitchFamily="18" charset="0"/>
              </a:rPr>
              <a:t>-Function Definitions</a:t>
            </a:r>
            <a:r>
              <a:rPr lang="en-US" b="0" dirty="0" smtClean="0">
                <a:latin typeface="Times New Roman" panose="02020603050405020304" pitchFamily="18" charset="0"/>
                <a:cs typeface="Times New Roman" panose="02020603050405020304" pitchFamily="18" charset="0"/>
              </a:rPr>
              <a:t> </a:t>
            </a:r>
            <a:r>
              <a:rPr lang="en-US" sz="2000" b="0" dirty="0" smtClean="0">
                <a:latin typeface="Times New Roman" panose="02020603050405020304" pitchFamily="18" charset="0"/>
                <a:cs typeface="Times New Roman" panose="02020603050405020304" pitchFamily="18" charset="0"/>
              </a:rPr>
              <a:t>(1 </a:t>
            </a:r>
            <a:r>
              <a:rPr lang="en-US" sz="2000" b="0" dirty="0">
                <a:latin typeface="Times New Roman" panose="02020603050405020304" pitchFamily="18" charset="0"/>
                <a:cs typeface="Times New Roman" panose="02020603050405020304" pitchFamily="18" charset="0"/>
              </a:rPr>
              <a:t>of </a:t>
            </a:r>
            <a:r>
              <a:rPr lang="en-US" sz="2000" b="0" dirty="0" smtClean="0">
                <a:latin typeface="Times New Roman" panose="02020603050405020304" pitchFamily="18" charset="0"/>
                <a:cs typeface="Times New Roman" panose="02020603050405020304" pitchFamily="18" charset="0"/>
              </a:rPr>
              <a:t>6)</a:t>
            </a:r>
            <a:endParaRPr lang="en-US" sz="2000" b="0" dirty="0">
              <a:latin typeface="Times New Roman" panose="02020603050405020304" pitchFamily="18" charset="0"/>
              <a:cs typeface="Times New Roman" panose="02020603050405020304" pitchFamily="18" charset="0"/>
            </a:endParaRPr>
          </a:p>
        </p:txBody>
      </p:sp>
      <p:pic>
        <p:nvPicPr>
          <p:cNvPr id="5" name="Picture 4" descr="The computer code has 114 lines. The lines read as follows. Line 1. forward slash forward slash F i g period 18 period 7 colon Date period c p p. Line 2. forward slash forward slash Date class member dash and friend dash function definitions period. Line 3. hash include left angle bracket i o stream right angle bracket. Line 4. hash include left angle bracket string right angle bracket. Line 5. hash include double quote Date period h double quote. Line 6. using namespace s t d semicolon. Line 7. Blank. Line 8. forward slash forward slash initialize static member semicolon one class wide copy. Line 9. C o n s t array less than sign unsigned i n t comma 13 greater than sign Date colon colon days equals. Line 10, indented once. left brace 0 comma 31 comma 28 comma 31 comma 30 comma 31 comma 30 comma 31 comma 31 comma 30 comma 31 comma 30 comma 31 right brace semicolon. Line 11. Blank. Line 12. forward slash forward slash Date constructor. Line 13. Date colon colon Date left parenthesis i n t month comma i n t day comma i n t year right parenthesis. Line 14. left brace. Line 15, indented once. set Date left parenthesis month comma day comma year right parenthesis semicolon. Line 16. right brace forward slash forward slash end Date constructor. Line 17. Blank."/>
          <p:cNvPicPr>
            <a:picLocks noChangeAspect="1"/>
          </p:cNvPicPr>
          <p:nvPr/>
        </p:nvPicPr>
        <p:blipFill>
          <a:blip r:embed="rId2"/>
          <a:stretch>
            <a:fillRect/>
          </a:stretch>
        </p:blipFill>
        <p:spPr>
          <a:xfrm>
            <a:off x="546518" y="1623368"/>
            <a:ext cx="8050964" cy="3757569"/>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latin typeface="Times New Roman" panose="02020603050405020304" pitchFamily="18" charset="0"/>
                <a:cs typeface="Times New Roman" panose="02020603050405020304" pitchFamily="18" charset="0"/>
              </a:rPr>
              <a:t>Figure </a:t>
            </a:r>
            <a:r>
              <a:rPr lang="en-US" dirty="0" smtClean="0">
                <a:latin typeface="Times New Roman" panose="02020603050405020304" pitchFamily="18" charset="0"/>
                <a:cs typeface="Times New Roman" panose="02020603050405020304" pitchFamily="18" charset="0"/>
              </a:rPr>
              <a:t>18.7 </a:t>
            </a:r>
            <a:r>
              <a:rPr lang="en-US" dirty="0">
                <a:latin typeface="Consolas" panose="020B0609020204030204" pitchFamily="49" charset="0"/>
                <a:cs typeface="Consolas" panose="020B0609020204030204" pitchFamily="49" charset="0"/>
              </a:rPr>
              <a:t>Date</a:t>
            </a:r>
            <a:r>
              <a:rPr lang="en-US" dirty="0">
                <a:latin typeface="Times New Roman" panose="02020603050405020304" pitchFamily="18" charset="0"/>
                <a:cs typeface="Times New Roman" panose="02020603050405020304" pitchFamily="18" charset="0"/>
              </a:rPr>
              <a:t> Class Member- and </a:t>
            </a:r>
            <a:r>
              <a:rPr lang="en-US" dirty="0">
                <a:latin typeface="Consolas" panose="020B0609020204030204" pitchFamily="49" charset="0"/>
                <a:cs typeface="Consolas" panose="020B0609020204030204" pitchFamily="49" charset="0"/>
              </a:rPr>
              <a:t>Friend</a:t>
            </a:r>
            <a:r>
              <a:rPr lang="en-US" dirty="0">
                <a:latin typeface="Times New Roman" panose="02020603050405020304" pitchFamily="18" charset="0"/>
                <a:cs typeface="Times New Roman" panose="02020603050405020304" pitchFamily="18" charset="0"/>
              </a:rPr>
              <a:t>-Function Definitions</a:t>
            </a:r>
            <a:r>
              <a:rPr lang="en-US" b="0" dirty="0">
                <a:latin typeface="Times New Roman" panose="02020603050405020304" pitchFamily="18" charset="0"/>
                <a:cs typeface="Times New Roman" panose="02020603050405020304" pitchFamily="18" charset="0"/>
              </a:rPr>
              <a:t> </a:t>
            </a:r>
            <a:r>
              <a:rPr lang="en-US" sz="2000" b="0" dirty="0" smtClean="0">
                <a:latin typeface="Times New Roman" panose="02020603050405020304" pitchFamily="18" charset="0"/>
                <a:cs typeface="Times New Roman" panose="02020603050405020304" pitchFamily="18" charset="0"/>
              </a:rPr>
              <a:t>(2 </a:t>
            </a:r>
            <a:r>
              <a:rPr lang="en-US" sz="2000" b="0" dirty="0">
                <a:latin typeface="Times New Roman" panose="02020603050405020304" pitchFamily="18" charset="0"/>
                <a:cs typeface="Times New Roman" panose="02020603050405020304" pitchFamily="18" charset="0"/>
              </a:rPr>
              <a:t>of </a:t>
            </a:r>
            <a:r>
              <a:rPr lang="en-US" sz="2000" b="0" dirty="0" smtClean="0">
                <a:latin typeface="Times New Roman" panose="02020603050405020304" pitchFamily="18" charset="0"/>
                <a:cs typeface="Times New Roman" panose="02020603050405020304" pitchFamily="18" charset="0"/>
              </a:rPr>
              <a:t>6)</a:t>
            </a:r>
            <a:endParaRPr lang="en-US" dirty="0"/>
          </a:p>
        </p:txBody>
      </p:sp>
      <p:pic>
        <p:nvPicPr>
          <p:cNvPr id="4" name="Picture 3" descr="The code continues. Line 18. forward slash forward slash set month comma day and year. Line 19. void Date colon colon set Date left parenthesis i n t, m m comma i n t, d d comma i n t, y y right parenthesis. Line 20. left brace. Line 21, indented once. if left parenthesis mm greater than sign equals 1 ampersand ampersand mm less than sign equals 12 right parenthesis. Line 22, indented twice. month equals mm semicolon. Line 23, indented once. else. Line 24, indented twice. throw invalid underscore argument left parenthesis double quote Month must be 1 dash 12 double quote right parenthesis semicolon. Line 25. Blank. Line 26, indented once. if left parenthesis y y greater than sign equals 1900 ampersand ampersand y y less than sign equals 2100 right parenthesis. Line 27, indented twice. year equals y y semicolon. Line 28, indented once. else. Line 29, indented twice. throw invalid underscore argument left parenthesis double quote Year must be greater than sign equals 1900 and less than sign equals 2100 double quote right parenthesis semicolon. Line 30. Blank. Line 31, indented once. forward slash forward slash test for a leap year. Line 32, indented once. if left parenthesis left parenthesis month equals equals 2 ampersand ampersand leap Year left parenthesis year right parenthesis ampersand ampersand d d greater than sign equals 1 ampersand ampersand d d less than sign equals 29 right parenthesis pipe pipe. Line 33, indented twice. left parenthesis d d greater than sign equals 1 ampersand ampersand d d less than sign equals days left bracket month right bracket right parenthesis right parenthesis. Line 34, indented twice. day equals d d semicolon. Line 35, indented once. else. Line 36, indented twice. throw invalid underscore argument left parenthesis. Line 37, indented twice. double quote Day is out of range for current month and year double quote right parenthesis semicolon. Line 38. right brace forward slash forward slash end function set Date. Line 39. Blank."/>
          <p:cNvPicPr>
            <a:picLocks noChangeAspect="1"/>
          </p:cNvPicPr>
          <p:nvPr/>
        </p:nvPicPr>
        <p:blipFill>
          <a:blip r:embed="rId2"/>
          <a:stretch>
            <a:fillRect/>
          </a:stretch>
        </p:blipFill>
        <p:spPr>
          <a:xfrm>
            <a:off x="660300" y="1545336"/>
            <a:ext cx="7823400" cy="4608576"/>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latin typeface="Times New Roman" panose="02020603050405020304" pitchFamily="18" charset="0"/>
                <a:cs typeface="Times New Roman" panose="02020603050405020304" pitchFamily="18" charset="0"/>
              </a:rPr>
              <a:t>Figure </a:t>
            </a:r>
            <a:r>
              <a:rPr lang="en-US" dirty="0" smtClean="0">
                <a:latin typeface="Times New Roman" panose="02020603050405020304" pitchFamily="18" charset="0"/>
                <a:cs typeface="Times New Roman" panose="02020603050405020304" pitchFamily="18" charset="0"/>
              </a:rPr>
              <a:t>18.7 </a:t>
            </a:r>
            <a:r>
              <a:rPr lang="en-US" dirty="0">
                <a:latin typeface="Consolas" panose="020B0609020204030204" pitchFamily="49" charset="0"/>
                <a:cs typeface="Consolas" panose="020B0609020204030204" pitchFamily="49" charset="0"/>
              </a:rPr>
              <a:t>Date</a:t>
            </a:r>
            <a:r>
              <a:rPr lang="en-US" dirty="0">
                <a:latin typeface="Times New Roman" panose="02020603050405020304" pitchFamily="18" charset="0"/>
                <a:cs typeface="Times New Roman" panose="02020603050405020304" pitchFamily="18" charset="0"/>
              </a:rPr>
              <a:t> Class Member- and </a:t>
            </a:r>
            <a:r>
              <a:rPr lang="en-US" dirty="0">
                <a:latin typeface="Consolas" panose="020B0609020204030204" pitchFamily="49" charset="0"/>
                <a:cs typeface="Consolas" panose="020B0609020204030204" pitchFamily="49" charset="0"/>
              </a:rPr>
              <a:t>Friend</a:t>
            </a:r>
            <a:r>
              <a:rPr lang="en-US" dirty="0">
                <a:latin typeface="Times New Roman" panose="02020603050405020304" pitchFamily="18" charset="0"/>
                <a:cs typeface="Times New Roman" panose="02020603050405020304" pitchFamily="18" charset="0"/>
              </a:rPr>
              <a:t>-Function Definitions</a:t>
            </a:r>
            <a:r>
              <a:rPr lang="en-US" b="0" dirty="0">
                <a:latin typeface="Times New Roman" panose="02020603050405020304" pitchFamily="18" charset="0"/>
                <a:cs typeface="Times New Roman" panose="02020603050405020304" pitchFamily="18" charset="0"/>
              </a:rPr>
              <a:t> </a:t>
            </a:r>
            <a:r>
              <a:rPr lang="en-US" sz="2000" b="0" dirty="0" smtClean="0">
                <a:latin typeface="Times New Roman" panose="02020603050405020304" pitchFamily="18" charset="0"/>
                <a:cs typeface="Times New Roman" panose="02020603050405020304" pitchFamily="18" charset="0"/>
              </a:rPr>
              <a:t>(3 </a:t>
            </a:r>
            <a:r>
              <a:rPr lang="en-US" sz="2000" b="0" dirty="0">
                <a:latin typeface="Times New Roman" panose="02020603050405020304" pitchFamily="18" charset="0"/>
                <a:cs typeface="Times New Roman" panose="02020603050405020304" pitchFamily="18" charset="0"/>
              </a:rPr>
              <a:t>of 6)</a:t>
            </a:r>
            <a:endParaRPr lang="en-US" dirty="0"/>
          </a:p>
        </p:txBody>
      </p:sp>
      <p:pic>
        <p:nvPicPr>
          <p:cNvPr id="4" name="Picture 3" descr="Line 40. forward slash forward slash overloaded prefix increment operator. Line 41. Date ampersand Date colon colon operator plus plus left parenthesis right parenthesis. Line 42. left brace. Line 43, indented once. help Increment left parenthesis right parenthesis semicolon forward slash forward slash increment date. Line 44, indented once. return asterisk this semicolon forward slash forward slash reference return to create an l value. Line 45. right brace forward slash forward slash end function operator plus plus. Lines 40 to 45 are highlighted. Line 46. Blank. Line 47. forward slash forward slash overloaded postfix increment operator semicolon note that the. Line 48. forward slash forward slash dummy integer parameter does not have a parameter name. Line 49. Date Date colon colon operator plus plus left parenthesis i n t right parenthesis. Line 50. left brace. Line 51. Date t e m p equals asterisk this semicolon forward slash forward slash hold current state of object. Line 52, indented once. help Increment left parenthesis right parenthesis semicolon. Line 53. Blank. Line 54, indented once. forward slash forward slash return unincremented comma saved comma temporary object. Line 55, indented once. return t e m p semicolon forward slash forward slash value return semicolon not a reference return. Line 56. right brace forward slash forward slash end function operator plus plus. Lines 47 to 56 are highlighted. Line 57. Blank."/>
          <p:cNvPicPr>
            <a:picLocks noChangeAspect="1"/>
          </p:cNvPicPr>
          <p:nvPr/>
        </p:nvPicPr>
        <p:blipFill>
          <a:blip r:embed="rId2"/>
          <a:stretch>
            <a:fillRect/>
          </a:stretch>
        </p:blipFill>
        <p:spPr>
          <a:xfrm>
            <a:off x="625986" y="1812598"/>
            <a:ext cx="7892028" cy="4066994"/>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latin typeface="Times New Roman" panose="02020603050405020304" pitchFamily="18" charset="0"/>
                <a:cs typeface="Times New Roman" panose="02020603050405020304" pitchFamily="18" charset="0"/>
              </a:rPr>
              <a:t>Figure </a:t>
            </a:r>
            <a:r>
              <a:rPr lang="en-US" dirty="0" smtClean="0">
                <a:latin typeface="Times New Roman" panose="02020603050405020304" pitchFamily="18" charset="0"/>
                <a:cs typeface="Times New Roman" panose="02020603050405020304" pitchFamily="18" charset="0"/>
              </a:rPr>
              <a:t>18.7 </a:t>
            </a:r>
            <a:r>
              <a:rPr lang="en-US" dirty="0">
                <a:latin typeface="Consolas" panose="020B0609020204030204" pitchFamily="49" charset="0"/>
                <a:cs typeface="Consolas" panose="020B0609020204030204" pitchFamily="49" charset="0"/>
              </a:rPr>
              <a:t>Date</a:t>
            </a:r>
            <a:r>
              <a:rPr lang="en-US" dirty="0">
                <a:latin typeface="Times New Roman" panose="02020603050405020304" pitchFamily="18" charset="0"/>
                <a:cs typeface="Times New Roman" panose="02020603050405020304" pitchFamily="18" charset="0"/>
              </a:rPr>
              <a:t> Class Member- and </a:t>
            </a:r>
            <a:r>
              <a:rPr lang="en-US" dirty="0">
                <a:latin typeface="Consolas" panose="020B0609020204030204" pitchFamily="49" charset="0"/>
                <a:cs typeface="Consolas" panose="020B0609020204030204" pitchFamily="49" charset="0"/>
              </a:rPr>
              <a:t>Friend</a:t>
            </a:r>
            <a:r>
              <a:rPr lang="en-US" dirty="0">
                <a:latin typeface="Times New Roman" panose="02020603050405020304" pitchFamily="18" charset="0"/>
                <a:cs typeface="Times New Roman" panose="02020603050405020304" pitchFamily="18" charset="0"/>
              </a:rPr>
              <a:t>-Function Definitions</a:t>
            </a:r>
            <a:r>
              <a:rPr lang="en-US" b="0" dirty="0">
                <a:latin typeface="Times New Roman" panose="02020603050405020304" pitchFamily="18" charset="0"/>
                <a:cs typeface="Times New Roman" panose="02020603050405020304" pitchFamily="18" charset="0"/>
              </a:rPr>
              <a:t> </a:t>
            </a:r>
            <a:r>
              <a:rPr lang="en-US" sz="2000" b="0" dirty="0" smtClean="0">
                <a:latin typeface="Times New Roman" panose="02020603050405020304" pitchFamily="18" charset="0"/>
                <a:cs typeface="Times New Roman" panose="02020603050405020304" pitchFamily="18" charset="0"/>
              </a:rPr>
              <a:t>(4 </a:t>
            </a:r>
            <a:r>
              <a:rPr lang="en-US" sz="2000" b="0" dirty="0">
                <a:latin typeface="Times New Roman" panose="02020603050405020304" pitchFamily="18" charset="0"/>
                <a:cs typeface="Times New Roman" panose="02020603050405020304" pitchFamily="18" charset="0"/>
              </a:rPr>
              <a:t>of 6)</a:t>
            </a:r>
            <a:endParaRPr lang="en-US" dirty="0"/>
          </a:p>
        </p:txBody>
      </p:sp>
      <p:pic>
        <p:nvPicPr>
          <p:cNvPr id="4" name="Picture 3" descr="The code continues. Line 58. forward slash forward slash add specified number of days to date. Line 59. Date ampersand Date colon colon operator plus equals left parenthesis unsigned i n t additional Days right parenthesis. Line 60. left brace. Line 61, indented once. for left parenthesis i n t, i equals 0 semicolon i less than sign additional Days semicolon plus plus i right parenthesis. Line 62, indented twice. help Increment left parenthesis right parenthesis semicolon. Line 63, indented once. return asterisk this semicolon forward slash forward slash enables cascading. Line 64. right brace forward slash forward slash end function operator plus equals. Lines 58 to 65 are highlighted. Line 66. Blank. Line 67. forward slash forward slash if the year is a leap year comma return true semicolon otherwise comma return false. Line 68. bool Date colon colon leap Year left parenthesis i n t test Year right parenthesis. Line 69. left brace. Line 70, indented once. if left parenthesis test Year percent sign 400 equals equals 0 pipe pipe. Line 71, indented twice. left parenthesis test Year percent sign 100 exclamation point equals 0 ampersand ampersand test Year percent sign 4 equals equals 0 right parenthesis right parenthesis. Line 72, indented twice. return true semicolon forward slash forward slash a leap year. Line 73, indented once. else. Line 74, indented twice. return false semicolon forward slash forward slash not a leap year. Line 75. right brace forward slash forward slash end function leap Year. Line 76. Blank."/>
          <p:cNvPicPr>
            <a:picLocks noChangeAspect="1"/>
          </p:cNvPicPr>
          <p:nvPr/>
        </p:nvPicPr>
        <p:blipFill>
          <a:blip r:embed="rId2"/>
          <a:stretch>
            <a:fillRect/>
          </a:stretch>
        </p:blipFill>
        <p:spPr>
          <a:xfrm>
            <a:off x="511015" y="1894113"/>
            <a:ext cx="8121970" cy="4021496"/>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latin typeface="Times New Roman" panose="02020603050405020304" pitchFamily="18" charset="0"/>
                <a:cs typeface="Times New Roman" panose="02020603050405020304" pitchFamily="18" charset="0"/>
              </a:rPr>
              <a:t>Figure </a:t>
            </a:r>
            <a:r>
              <a:rPr lang="en-US" dirty="0" smtClean="0">
                <a:latin typeface="Times New Roman" panose="02020603050405020304" pitchFamily="18" charset="0"/>
                <a:cs typeface="Times New Roman" panose="02020603050405020304" pitchFamily="18" charset="0"/>
              </a:rPr>
              <a:t>18.7 </a:t>
            </a:r>
            <a:r>
              <a:rPr lang="en-US" dirty="0">
                <a:latin typeface="Consolas" panose="020B0609020204030204" pitchFamily="49" charset="0"/>
                <a:cs typeface="Consolas" panose="020B0609020204030204" pitchFamily="49" charset="0"/>
              </a:rPr>
              <a:t>Date</a:t>
            </a:r>
            <a:r>
              <a:rPr lang="en-US" dirty="0">
                <a:latin typeface="Times New Roman" panose="02020603050405020304" pitchFamily="18" charset="0"/>
                <a:cs typeface="Times New Roman" panose="02020603050405020304" pitchFamily="18" charset="0"/>
              </a:rPr>
              <a:t> Class Member- and </a:t>
            </a:r>
            <a:r>
              <a:rPr lang="en-US" dirty="0">
                <a:latin typeface="Consolas" panose="020B0609020204030204" pitchFamily="49" charset="0"/>
                <a:cs typeface="Consolas" panose="020B0609020204030204" pitchFamily="49" charset="0"/>
              </a:rPr>
              <a:t>Friend</a:t>
            </a:r>
            <a:r>
              <a:rPr lang="en-US" dirty="0">
                <a:latin typeface="Times New Roman" panose="02020603050405020304" pitchFamily="18" charset="0"/>
                <a:cs typeface="Times New Roman" panose="02020603050405020304" pitchFamily="18" charset="0"/>
              </a:rPr>
              <a:t>-Function Definitions</a:t>
            </a:r>
            <a:r>
              <a:rPr lang="en-US" b="0" dirty="0">
                <a:latin typeface="Times New Roman" panose="02020603050405020304" pitchFamily="18" charset="0"/>
                <a:cs typeface="Times New Roman" panose="02020603050405020304" pitchFamily="18" charset="0"/>
              </a:rPr>
              <a:t> </a:t>
            </a:r>
            <a:r>
              <a:rPr lang="en-US" sz="2000" b="0" dirty="0" smtClean="0">
                <a:latin typeface="Times New Roman" panose="02020603050405020304" pitchFamily="18" charset="0"/>
                <a:cs typeface="Times New Roman" panose="02020603050405020304" pitchFamily="18" charset="0"/>
              </a:rPr>
              <a:t>(5 </a:t>
            </a:r>
            <a:r>
              <a:rPr lang="en-US" sz="2000" b="0" dirty="0">
                <a:latin typeface="Times New Roman" panose="02020603050405020304" pitchFamily="18" charset="0"/>
                <a:cs typeface="Times New Roman" panose="02020603050405020304" pitchFamily="18" charset="0"/>
              </a:rPr>
              <a:t>of 6)</a:t>
            </a:r>
            <a:endParaRPr lang="en-US" dirty="0"/>
          </a:p>
        </p:txBody>
      </p:sp>
      <p:pic>
        <p:nvPicPr>
          <p:cNvPr id="4" name="Picture 3" descr="The code continues. Line 77. forward slash forward slash determine whether the day is the last day of the month. Line 78. bool Date colon colon end Of Month left parenthesis i n t test Day right parenthesis const. Line 79. left brace. Line 80, indented once. if left parenthesis month equals equals 2 ampersand ampersand leap Year left parenthesis year right parenthesis right parenthesis. Line 81, indented twice. return test Day equals equals 29 semicolon forward slash forward slash last day of Feb period in leap year. Line 82, indented once. else. Line 83, indented twice. return test Day equals equals days left bracket month right bracket semicolon. Line 84. right brace forward slash forward slash end function end Of Month. Line 85. Blank. Line 86. forward slash forward slash function to help increment the date. Line 87. void Date colon colon help Increment left parenthesis right parenthesis. Line 88. left brace. Line 89, indented once. forward slash forward slash day is not end of month. Line 90, indented once. if left parenthesis exclamation point end Of Month left parenthesis day right parenthesis right parenthesis. Line 91, indented twice. plus plus day semicolon forward slash forward slash increment day. Line 92, indented once. else. Line 93, indented twice. if left parenthesis month less than sign 12 right parenthesis forward slash forward slash day is end of month and month less than sign 12. Line 94, indented twice. left brace. Line 95, indented 3 times. plus plus month semicolon forward slash forward slash increment month. Line 96, indented 3 times. day equals 1 semicolon forward slash forward slash first day of new month. Line 97, indented twice. right brace forward slash forward slash end if."/>
          <p:cNvPicPr>
            <a:picLocks noChangeAspect="1"/>
          </p:cNvPicPr>
          <p:nvPr/>
        </p:nvPicPr>
        <p:blipFill>
          <a:blip r:embed="rId2"/>
          <a:stretch>
            <a:fillRect/>
          </a:stretch>
        </p:blipFill>
        <p:spPr>
          <a:xfrm>
            <a:off x="492982" y="1678691"/>
            <a:ext cx="8158036" cy="4591480"/>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latin typeface="Times New Roman" panose="02020603050405020304" pitchFamily="18" charset="0"/>
                <a:cs typeface="Times New Roman" panose="02020603050405020304" pitchFamily="18" charset="0"/>
              </a:rPr>
              <a:t>Figure </a:t>
            </a:r>
            <a:r>
              <a:rPr lang="en-US" dirty="0" smtClean="0">
                <a:latin typeface="Times New Roman" panose="02020603050405020304" pitchFamily="18" charset="0"/>
                <a:cs typeface="Times New Roman" panose="02020603050405020304" pitchFamily="18" charset="0"/>
              </a:rPr>
              <a:t>18.7 </a:t>
            </a:r>
            <a:r>
              <a:rPr lang="en-US" dirty="0">
                <a:latin typeface="Consolas" panose="020B0609020204030204" pitchFamily="49" charset="0"/>
                <a:cs typeface="Consolas" panose="020B0609020204030204" pitchFamily="49" charset="0"/>
              </a:rPr>
              <a:t>Date</a:t>
            </a:r>
            <a:r>
              <a:rPr lang="en-US" dirty="0">
                <a:latin typeface="Times New Roman" panose="02020603050405020304" pitchFamily="18" charset="0"/>
                <a:cs typeface="Times New Roman" panose="02020603050405020304" pitchFamily="18" charset="0"/>
              </a:rPr>
              <a:t> Class Member- and </a:t>
            </a:r>
            <a:r>
              <a:rPr lang="en-US" dirty="0">
                <a:latin typeface="Consolas" panose="020B0609020204030204" pitchFamily="49" charset="0"/>
                <a:cs typeface="Consolas" panose="020B0609020204030204" pitchFamily="49" charset="0"/>
              </a:rPr>
              <a:t>Friend</a:t>
            </a:r>
            <a:r>
              <a:rPr lang="en-US" dirty="0">
                <a:latin typeface="Times New Roman" panose="02020603050405020304" pitchFamily="18" charset="0"/>
                <a:cs typeface="Times New Roman" panose="02020603050405020304" pitchFamily="18" charset="0"/>
              </a:rPr>
              <a:t>-Function Definitions</a:t>
            </a:r>
            <a:r>
              <a:rPr lang="en-US" b="0" dirty="0">
                <a:latin typeface="Times New Roman" panose="02020603050405020304" pitchFamily="18" charset="0"/>
                <a:cs typeface="Times New Roman" panose="02020603050405020304" pitchFamily="18" charset="0"/>
              </a:rPr>
              <a:t> </a:t>
            </a:r>
            <a:r>
              <a:rPr lang="en-US" sz="2000" b="0" dirty="0" smtClean="0">
                <a:latin typeface="Times New Roman" panose="02020603050405020304" pitchFamily="18" charset="0"/>
                <a:cs typeface="Times New Roman" panose="02020603050405020304" pitchFamily="18" charset="0"/>
              </a:rPr>
              <a:t>(6 </a:t>
            </a:r>
            <a:r>
              <a:rPr lang="en-US" sz="2000" b="0" dirty="0">
                <a:latin typeface="Times New Roman" panose="02020603050405020304" pitchFamily="18" charset="0"/>
                <a:cs typeface="Times New Roman" panose="02020603050405020304" pitchFamily="18" charset="0"/>
              </a:rPr>
              <a:t>of 6)</a:t>
            </a:r>
            <a:endParaRPr lang="en-US" dirty="0"/>
          </a:p>
        </p:txBody>
      </p:sp>
      <p:pic>
        <p:nvPicPr>
          <p:cNvPr id="4" name="Picture 3" descr="The code continues. Line 98, indented twice. else forward slash forward slash last day of year. Line 99, indented twice. left brace. Line 100, indented 3 times. plus plus year semicolon forward slash forward slash increment year. Line 101, indented 3 times. month equals 1 semicolon forward slash forward slash first month of new year. Line 102, indented 3 times. day equals 1 semicolon forward slash forward slash first day of new month. Line 103, indented twice. right brace forward slash forward slash end else. Line 104. right brace forward slash forward slash end function help Increment. Line 105. Blank. Line 106. forward slash forward slash overloaded output operator. Line 107. o stream ampersand operator left angle bracket left angle bracket left parenthesis o stream ampersand output comma c o n s t Date ampersand d right parenthesis. Line 108. left brace. Line 109, indented once. static string month Name left bracket 13 right bracket equals left brace double quote double quote comma double quote January double quote comma double quote February double quote comma. Line 110, indented twice. double quote March double quote comma double quote April double quote comma double quote May double quote comma double quote June double quote comma double quote July double quote comma double quote August double quote comma. Line 111, indented twice. double quote September double quote comma double quote October double quote comma double quote November double quote comma double quote December double quote right brace semicolon. Line 112, indented once. output left angle bracket left angle bracket month Name left bracket d period month right bracket left angle bracket left angle bracket single quote single quote left angle bracket left angle bracket d period day left angle bracket left angle bracket double quote comma double quote left angle bracket left angle bracket d period year semicolon. Line 113, indented once. return output semicolon forward slash forward slash enables cascading. Line 114. right brace forward slash forward slash end function operator left angle bracket left angle bracket."/>
          <p:cNvPicPr>
            <a:picLocks noChangeAspect="1"/>
          </p:cNvPicPr>
          <p:nvPr/>
        </p:nvPicPr>
        <p:blipFill>
          <a:blip r:embed="rId2"/>
          <a:stretch>
            <a:fillRect/>
          </a:stretch>
        </p:blipFill>
        <p:spPr>
          <a:xfrm>
            <a:off x="429132" y="1939484"/>
            <a:ext cx="8285738" cy="3877390"/>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18.8 </a:t>
            </a:r>
            <a:r>
              <a:rPr lang="en-US" dirty="0">
                <a:latin typeface="Consolas" panose="020B0609020204030204" pitchFamily="49" charset="0"/>
                <a:cs typeface="Consolas" panose="020B0609020204030204" pitchFamily="49" charset="0"/>
              </a:rPr>
              <a:t>Date </a:t>
            </a:r>
            <a:r>
              <a:rPr lang="en-US" dirty="0"/>
              <a:t>Class Test Program </a:t>
            </a:r>
            <a:r>
              <a:rPr lang="en-US" sz="2000" b="0" dirty="0"/>
              <a:t>(1 of 2)</a:t>
            </a:r>
          </a:p>
        </p:txBody>
      </p:sp>
      <p:pic>
        <p:nvPicPr>
          <p:cNvPr id="5" name="Picture 4" descr="The computer code has 30 lines. The lines read as follows. Line 1. forward slash forward slash F i g period 18 period 8 colon f i g 18 underscore 08 period c p p. Line 2. forward slash forward slash Date class test program period. Line 3. hash include left angle bracket i o stream right angle bracket. Line 4. hash include double quote Date period h double quote forward slash forward slash Date class definition. Line 5. using namespace s t d semicolon. Line 6. Blank. Line 7. i n t main left parenthesis right parenthesis. Line 8. left brace. Line 9, indented once. Date d 1 left parenthesis 12 comma 27 comma 2010 right parenthesis semicolon forward slash forward slash December 27 comma 2010. Line 10, indented once. Date d 2 semicolon forward slash forward slash defaults to January 1 comma 1900. Line 11. Blank. Line 12, indented once. c out left angle bracket left angle bracket double quote d 1 is double quote left angle bracket left angle bracket d 1 left angle bracket left angle bracket double quote back slash n d 2 is double quote left angle bracket left angle bracket d 2 semicolon. Line 13, indented once. c out left angle bracket left angle bracket double quote back slash n back slash n d 1 plus equals 7 is double quote left angle bracket left angle bracket left parenthesis d 1 plus equals 7 right parenthesis semicolon. Line 14. Blank. Line 15, indented once. d 2 period set Date left parenthesis 2 comma 28 comma 2008 right parenthesis semicolon. Line 16, indented once. c out left angle bracket left angle bracket double quote back slash n back slash n d 2 is double quote left angle bracket left angle bracket d 2 semicolon. Line 17, indented once. c out left angle bracket left angle bracket double quote back slash n plus plus d 2 is double quote left angle bracket left angle bracket plus plus d 2 left angle bracket left angle bracket double quote left parenthesis leap year allows 29th right parenthesis double quote semicolon. Line 17 is highlighted. Line 18. Blank. Line 19, indented once. Date d 3 left parenthesis 7 comma 13 comma 2010 right parenthesis semicolon. Line 20. Blank. Line 21, indented once. c out left angle bracket left angle bracket double quote back slash n back slash n Testing the prefix increment operator colon back slash n double quote. Line 22, indented once. left angle bracket left angle bracket double quote d 3 is double quote left angle bracket left angle bracket d 3 left angle bracket left angle bracket end l semicolon. Line 23, indented once. c out left angle bracket left angle bracket double quote plus plus d 3 is double quote left angle bracket left angle bracket plus plus d 3 left angle bracket left angle bracket end l semicolon. Line 24, indented once. c out left angle bracket left angle bracket double quote d 3 is double quote left angle bracket left angle bracket d 3 semicolon. Lines 21 to 24 are highlighted."/>
          <p:cNvPicPr>
            <a:picLocks noChangeAspect="1"/>
          </p:cNvPicPr>
          <p:nvPr/>
        </p:nvPicPr>
        <p:blipFill>
          <a:blip r:embed="rId2"/>
          <a:stretch>
            <a:fillRect/>
          </a:stretch>
        </p:blipFill>
        <p:spPr>
          <a:xfrm>
            <a:off x="1091682" y="1620875"/>
            <a:ext cx="6960636" cy="4546748"/>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18.8 </a:t>
            </a:r>
            <a:r>
              <a:rPr lang="en-US" dirty="0">
                <a:latin typeface="Consolas" panose="020B0609020204030204" pitchFamily="49" charset="0"/>
                <a:cs typeface="Consolas" panose="020B0609020204030204" pitchFamily="49" charset="0"/>
              </a:rPr>
              <a:t>Date </a:t>
            </a:r>
            <a:r>
              <a:rPr lang="en-US" dirty="0"/>
              <a:t>Class Test Program </a:t>
            </a:r>
            <a:r>
              <a:rPr lang="en-US" sz="2000" b="0" dirty="0" smtClean="0"/>
              <a:t>(2 </a:t>
            </a:r>
            <a:r>
              <a:rPr lang="en-US" sz="2000" b="0" dirty="0"/>
              <a:t>of 2)</a:t>
            </a:r>
            <a:endParaRPr lang="en-US" dirty="0"/>
          </a:p>
        </p:txBody>
      </p:sp>
      <p:pic>
        <p:nvPicPr>
          <p:cNvPr id="5" name="Picture 4" descr="The code continues. Line 24, indented once. c out left angle bracket left angle bracket double quote d 3 is double quote left angle bracket left angle bracket d 3 semicolon. Line 24 is highlighted. Line 25. Blank. Line 26, indented once. c out left angle bracket left angle bracket double quote back slash n back slash n Testing the postfix increment operator colon back slash n double quote. Line 27, indented once. left angle bracket left angle bracket double quote d 3 is double quote left angle bracket left angle bracket d 3 left angle bracket left angle bracket end l semicolon. Line 28, indented once. c out left angle bracket left angle bracket double quote d 3 plus plus is double quote left angle bracket left angle bracket d 3 plus plus left angle bracket left angle bracket end l semicolon. Line 29, indented once. c out left angle bracket left angle bracket double quote d 3 is double quote left angle bracket left angle bracket d 3 left angle bracket left angle bracket end l semicolon. Lines 26 to 29 are highlighted. Line 30. right brace forward slash forward slash end main. The code output has 13 lines. The lines read as follows. Line 1. d 1 is December 27 comma 2010. Line 2. d 2 is January 1 comma 1900. Line 3. d 1 plus equals 7 is January 3 comma 2011. Line 4. d 2 is February 28 comma 2008. Line 5. plus plus d 2 is February 29 comma 2008 left parenthesis leap year allows 29th right parenthesis. Line 6. Testing the prefix increment operator colon. Line 7. d 3 is July 13 comma 2010. Line 8. plus plus d 3 is July 14 comma 2010. Line 9. d 3 is July 14 comma 2010. Line 10. Testing the postfix increment operator colon. Line 11. d 3 is July 14 comma 2010. Line 12. d 3 plus plus is July 14 comma 2010. Line 13. d 3 is July 15 comma 2010."/>
          <p:cNvPicPr>
            <a:picLocks noChangeAspect="1"/>
          </p:cNvPicPr>
          <p:nvPr/>
        </p:nvPicPr>
        <p:blipFill>
          <a:blip r:embed="rId2"/>
          <a:stretch>
            <a:fillRect/>
          </a:stretch>
        </p:blipFill>
        <p:spPr>
          <a:xfrm>
            <a:off x="1035032" y="1688842"/>
            <a:ext cx="7073936" cy="4488024"/>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rPr>
              <a:t>18.8 </a:t>
            </a:r>
            <a:r>
              <a:rPr lang="en-US" altLang="en-US" kern="1200" dirty="0">
                <a:latin typeface="Times New Roman" panose="02020603050405020304" pitchFamily="18" charset="0"/>
              </a:rPr>
              <a:t>Case Study: A </a:t>
            </a:r>
            <a:r>
              <a:rPr lang="en-US" altLang="en-US" kern="1200" dirty="0">
                <a:latin typeface="Consolas" panose="020B0609020204030204" pitchFamily="49" charset="0"/>
                <a:cs typeface="Consolas" panose="020B0609020204030204" pitchFamily="49" charset="0"/>
              </a:rPr>
              <a:t>Date</a:t>
            </a:r>
            <a:r>
              <a:rPr lang="en-US" altLang="en-US" kern="1200" dirty="0">
                <a:latin typeface="Times New Roman" panose="02020603050405020304" pitchFamily="18" charset="0"/>
              </a:rPr>
              <a:t> </a:t>
            </a:r>
            <a:r>
              <a:rPr lang="en-US" altLang="en-US" kern="1200" dirty="0" smtClean="0">
                <a:latin typeface="Times New Roman" panose="02020603050405020304" pitchFamily="18" charset="0"/>
              </a:rPr>
              <a:t>Class</a:t>
            </a:r>
            <a:r>
              <a:rPr lang="en-US" altLang="en-US" kern="1200" dirty="0" smtClean="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(2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108239"/>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The </a:t>
            </a:r>
            <a:r>
              <a:rPr lang="en-US" altLang="en-US" sz="2400" kern="1200" dirty="0">
                <a:solidFill>
                  <a:srgbClr val="000000"/>
                </a:solidFill>
                <a:latin typeface="Consolas" panose="020B0609020204030204" pitchFamily="49" charset="0"/>
                <a:ea typeface="+mn-ea"/>
                <a:cs typeface="Consolas" panose="020B0609020204030204" pitchFamily="49" charset="0"/>
              </a:rPr>
              <a:t>Date</a:t>
            </a:r>
            <a:r>
              <a:rPr lang="en-US" altLang="en-US" sz="2400" kern="1200" dirty="0">
                <a:solidFill>
                  <a:srgbClr val="000000"/>
                </a:solidFill>
                <a:latin typeface="Arial (Body)"/>
                <a:ea typeface="+mn-ea"/>
                <a:cs typeface="+mn-cs"/>
              </a:rPr>
              <a:t> constructor (defined in </a:t>
            </a:r>
            <a:r>
              <a:rPr lang="en-US" altLang="en-US" sz="2400" kern="1200" dirty="0" smtClean="0">
                <a:solidFill>
                  <a:srgbClr val="000000"/>
                </a:solidFill>
                <a:latin typeface="Arial (Body)"/>
                <a:ea typeface="+mn-ea"/>
                <a:cs typeface="+mn-cs"/>
              </a:rPr>
              <a:t>Figure</a:t>
            </a:r>
            <a:r>
              <a:rPr lang="en-US" altLang="en-US" sz="2400" kern="1200" dirty="0">
                <a:solidFill>
                  <a:srgbClr val="000000"/>
                </a:solidFill>
                <a:latin typeface="Arial (Body)"/>
                <a:ea typeface="+mn-ea"/>
                <a:cs typeface="+mn-cs"/>
              </a:rPr>
              <a:t> </a:t>
            </a:r>
            <a:r>
              <a:rPr lang="en-US" altLang="en-US" sz="2400" kern="1200" dirty="0" smtClean="0">
                <a:solidFill>
                  <a:srgbClr val="000000"/>
                </a:solidFill>
                <a:latin typeface="Arial (Body)"/>
                <a:ea typeface="+mn-ea"/>
                <a:cs typeface="+mn-cs"/>
              </a:rPr>
              <a:t>18.7 </a:t>
            </a:r>
            <a:r>
              <a:rPr lang="en-US" altLang="en-US" sz="2400" kern="1200" dirty="0">
                <a:solidFill>
                  <a:srgbClr val="000000"/>
                </a:solidFill>
                <a:latin typeface="Arial (Body)"/>
              </a:rPr>
              <a:t>(see slide 50)</a:t>
            </a:r>
            <a:r>
              <a:rPr lang="en-US" altLang="en-US" sz="2400" kern="1200" dirty="0" smtClean="0">
                <a:solidFill>
                  <a:srgbClr val="000000"/>
                </a:solidFill>
                <a:latin typeface="Arial (Body)"/>
                <a:ea typeface="+mn-ea"/>
                <a:cs typeface="+mn-cs"/>
              </a:rPr>
              <a:t>, </a:t>
            </a:r>
            <a:r>
              <a:rPr lang="en-US" altLang="en-US" sz="2400" kern="1200" dirty="0">
                <a:solidFill>
                  <a:srgbClr val="000000"/>
                </a:solidFill>
                <a:latin typeface="Arial (Body)"/>
                <a:ea typeface="+mn-ea"/>
                <a:cs typeface="+mn-cs"/>
              </a:rPr>
              <a:t>lines 13–16</a:t>
            </a:r>
            <a:r>
              <a:rPr lang="en-US" altLang="en-US" sz="2400" kern="1200" dirty="0" smtClean="0">
                <a:solidFill>
                  <a:srgbClr val="000000"/>
                </a:solidFill>
                <a:latin typeface="Arial (Body)"/>
                <a:ea typeface="+mn-ea"/>
                <a:cs typeface="+mn-cs"/>
              </a:rPr>
              <a:t>) calls </a:t>
            </a:r>
            <a:r>
              <a:rPr lang="en-US" altLang="en-US" sz="2400" kern="1200" dirty="0" smtClean="0">
                <a:solidFill>
                  <a:srgbClr val="000000"/>
                </a:solidFill>
                <a:latin typeface="Consolas" panose="020B0609020204030204" pitchFamily="49" charset="0"/>
                <a:ea typeface="+mn-ea"/>
                <a:cs typeface="Consolas" panose="020B0609020204030204" pitchFamily="49" charset="0"/>
              </a:rPr>
              <a:t>set</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Date</a:t>
            </a:r>
            <a:r>
              <a:rPr lang="en-US" altLang="en-US" sz="2400" kern="1200" dirty="0" smtClean="0">
                <a:solidFill>
                  <a:srgbClr val="000000"/>
                </a:solidFill>
                <a:latin typeface="Arial (Body)"/>
                <a:ea typeface="+mn-ea"/>
                <a:cs typeface="+mn-cs"/>
              </a:rPr>
              <a:t> </a:t>
            </a:r>
            <a:r>
              <a:rPr lang="en-US" altLang="en-US" sz="2400" kern="1200" dirty="0">
                <a:solidFill>
                  <a:srgbClr val="000000"/>
                </a:solidFill>
                <a:latin typeface="Arial (Body)"/>
                <a:ea typeface="+mn-ea"/>
                <a:cs typeface="+mn-cs"/>
              </a:rPr>
              <a:t>to validate the month, day and year specified.</a:t>
            </a:r>
          </a:p>
          <a:p>
            <a:pPr marL="741553" lvl="1" indent="-284353" eaLnBrk="1" hangingPunct="1">
              <a:buFont typeface="Arial" panose="020B0604020202020204" pitchFamily="34" charset="0"/>
              <a:buChar char="–"/>
              <a:defRPr/>
            </a:pPr>
            <a:r>
              <a:rPr lang="en-US" altLang="en-US" sz="2400" kern="1200" dirty="0">
                <a:solidFill>
                  <a:srgbClr val="000000"/>
                </a:solidFill>
                <a:latin typeface="Arial (Body)"/>
                <a:ea typeface="+mn-ea"/>
                <a:cs typeface="+mn-cs"/>
              </a:rPr>
              <a:t>Invalid values for the month, day or year result in </a:t>
            </a:r>
            <a:r>
              <a:rPr lang="en-US" altLang="en-US" sz="2400" kern="1200" dirty="0">
                <a:solidFill>
                  <a:srgbClr val="000000"/>
                </a:solidFill>
                <a:latin typeface="Consolas" panose="020B0609020204030204" pitchFamily="49" charset="0"/>
                <a:ea typeface="+mn-ea"/>
                <a:cs typeface="Consolas" panose="020B0609020204030204" pitchFamily="49" charset="0"/>
              </a:rPr>
              <a:t>invalid_argument</a:t>
            </a:r>
            <a:r>
              <a:rPr lang="en-US" altLang="en-US" sz="2400" kern="1200" dirty="0">
                <a:solidFill>
                  <a:srgbClr val="000000"/>
                </a:solidFill>
                <a:latin typeface="Arial (Body)"/>
                <a:ea typeface="+mn-ea"/>
                <a:cs typeface="+mn-cs"/>
              </a:rPr>
              <a:t> exceptions.</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rPr>
              <a:t>18.8 </a:t>
            </a:r>
            <a:r>
              <a:rPr lang="en-US" altLang="en-US" kern="1200" dirty="0">
                <a:latin typeface="Times New Roman" panose="02020603050405020304" pitchFamily="18" charset="0"/>
              </a:rPr>
              <a:t>Case Study: A </a:t>
            </a:r>
            <a:r>
              <a:rPr lang="en-US" altLang="en-US" kern="1200" dirty="0">
                <a:latin typeface="Consolas" panose="020B0609020204030204" pitchFamily="49" charset="0"/>
                <a:cs typeface="Consolas" panose="020B0609020204030204" pitchFamily="49" charset="0"/>
              </a:rPr>
              <a:t>Date</a:t>
            </a:r>
            <a:r>
              <a:rPr lang="en-US" altLang="en-US" kern="1200" dirty="0">
                <a:latin typeface="Times New Roman" panose="02020603050405020304" pitchFamily="18" charset="0"/>
              </a:rPr>
              <a:t> Class</a:t>
            </a:r>
            <a:r>
              <a:rPr lang="en-US" altLang="en-US" kern="1200" dirty="0" smtClean="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(3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362702"/>
          </a:xfrm>
        </p:spPr>
        <p:txBody>
          <a:bodyPr>
            <a:spAutoFit/>
          </a:bodyPr>
          <a:lstStyle/>
          <a:p>
            <a:pPr marL="0" indent="0" eaLnBrk="1" hangingPunct="1">
              <a:buNone/>
              <a:tabLst/>
              <a:defRPr/>
            </a:pPr>
            <a:r>
              <a:rPr lang="en-US" sz="1800" b="1" kern="1200" dirty="0">
                <a:solidFill>
                  <a:srgbClr val="000000"/>
                </a:solidFill>
                <a:latin typeface="Arial (Body)"/>
                <a:ea typeface="+mn-ea"/>
                <a:cs typeface="+mn-cs"/>
              </a:rPr>
              <a:t>Date Class Prefix Increment Operator</a:t>
            </a:r>
          </a:p>
          <a:p>
            <a:pPr marL="255651" indent="-255651" eaLnBrk="1" hangingPunct="1">
              <a:tabLst/>
              <a:defRPr/>
            </a:pPr>
            <a:r>
              <a:rPr lang="en-US" sz="1800" kern="1200" dirty="0">
                <a:solidFill>
                  <a:srgbClr val="000000"/>
                </a:solidFill>
                <a:latin typeface="Arial (Body)"/>
                <a:ea typeface="+mn-ea"/>
                <a:cs typeface="+mn-cs"/>
              </a:rPr>
              <a:t>Overloading the prefix increment operator is straightforward.</a:t>
            </a:r>
          </a:p>
          <a:p>
            <a:pPr marL="741553" lvl="1" indent="-284353" eaLnBrk="1" hangingPunct="1">
              <a:buFont typeface="Arial" panose="020B0604020202020204" pitchFamily="34" charset="0"/>
              <a:buChar char="–"/>
              <a:defRPr/>
            </a:pPr>
            <a:r>
              <a:rPr lang="en-US" sz="1800" kern="1200" dirty="0">
                <a:solidFill>
                  <a:srgbClr val="000000"/>
                </a:solidFill>
                <a:latin typeface="Arial (Body)"/>
                <a:ea typeface="+mn-ea"/>
                <a:cs typeface="+mn-cs"/>
              </a:rPr>
              <a:t>The prefix increment operator (defined in </a:t>
            </a:r>
            <a:r>
              <a:rPr lang="en-US" sz="1800" kern="1200" dirty="0" smtClean="0">
                <a:solidFill>
                  <a:srgbClr val="000000"/>
                </a:solidFill>
                <a:latin typeface="Arial (Body)"/>
                <a:ea typeface="+mn-ea"/>
                <a:cs typeface="+mn-cs"/>
              </a:rPr>
              <a:t>Figure</a:t>
            </a:r>
            <a:r>
              <a:rPr lang="en-US" sz="1800" kern="1200" dirty="0">
                <a:solidFill>
                  <a:srgbClr val="000000"/>
                </a:solidFill>
                <a:latin typeface="Arial (Body)"/>
                <a:ea typeface="+mn-ea"/>
                <a:cs typeface="+mn-cs"/>
              </a:rPr>
              <a:t> </a:t>
            </a:r>
            <a:r>
              <a:rPr lang="en-US" sz="1800" kern="1200" dirty="0" smtClean="0">
                <a:solidFill>
                  <a:srgbClr val="000000"/>
                </a:solidFill>
                <a:latin typeface="Arial (Body)"/>
                <a:ea typeface="+mn-ea"/>
                <a:cs typeface="+mn-cs"/>
              </a:rPr>
              <a:t>18.7 </a:t>
            </a:r>
            <a:r>
              <a:rPr lang="en-US" sz="1800" kern="1200" dirty="0">
                <a:solidFill>
                  <a:srgbClr val="000000"/>
                </a:solidFill>
                <a:latin typeface="Arial (Body)"/>
              </a:rPr>
              <a:t>(see slide 50)</a:t>
            </a:r>
            <a:r>
              <a:rPr lang="en-US" sz="1800" kern="1200" dirty="0" smtClean="0">
                <a:solidFill>
                  <a:srgbClr val="000000"/>
                </a:solidFill>
                <a:latin typeface="Arial (Body)"/>
                <a:ea typeface="+mn-ea"/>
                <a:cs typeface="+mn-cs"/>
              </a:rPr>
              <a:t>, </a:t>
            </a:r>
            <a:r>
              <a:rPr lang="en-US" sz="1800" kern="1200" dirty="0">
                <a:solidFill>
                  <a:srgbClr val="000000"/>
                </a:solidFill>
                <a:latin typeface="Arial (Body)"/>
                <a:ea typeface="+mn-ea"/>
                <a:cs typeface="+mn-cs"/>
              </a:rPr>
              <a:t>lines 41–45</a:t>
            </a:r>
            <a:r>
              <a:rPr lang="en-US" sz="1800" kern="1200" dirty="0" smtClean="0">
                <a:solidFill>
                  <a:srgbClr val="000000"/>
                </a:solidFill>
                <a:latin typeface="Arial (Body)"/>
                <a:ea typeface="+mn-ea"/>
                <a:cs typeface="+mn-cs"/>
              </a:rPr>
              <a:t>) calls </a:t>
            </a:r>
            <a:r>
              <a:rPr lang="en-US" sz="1800" kern="1200" dirty="0">
                <a:solidFill>
                  <a:srgbClr val="000000"/>
                </a:solidFill>
                <a:latin typeface="Arial (Body)"/>
                <a:ea typeface="+mn-ea"/>
                <a:cs typeface="+mn-cs"/>
              </a:rPr>
              <a:t>utility function </a:t>
            </a:r>
            <a:r>
              <a:rPr lang="en-US" sz="1800" kern="1200" dirty="0">
                <a:solidFill>
                  <a:srgbClr val="000000"/>
                </a:solidFill>
                <a:latin typeface="Consolas" panose="020B0609020204030204" pitchFamily="49" charset="0"/>
                <a:ea typeface="+mn-ea"/>
                <a:cs typeface="Consolas" panose="020B0609020204030204" pitchFamily="49" charset="0"/>
              </a:rPr>
              <a:t>helpIncrement</a:t>
            </a:r>
            <a:r>
              <a:rPr lang="en-US" sz="1800" kern="1200" dirty="0">
                <a:solidFill>
                  <a:srgbClr val="000000"/>
                </a:solidFill>
                <a:latin typeface="Arial (Body)"/>
                <a:ea typeface="+mn-ea"/>
                <a:cs typeface="+mn-cs"/>
              </a:rPr>
              <a:t> (defined in </a:t>
            </a:r>
            <a:r>
              <a:rPr lang="en-US" sz="1800" kern="1200" dirty="0" smtClean="0">
                <a:solidFill>
                  <a:srgbClr val="000000"/>
                </a:solidFill>
                <a:latin typeface="Arial (Body)"/>
                <a:ea typeface="+mn-ea"/>
                <a:cs typeface="+mn-cs"/>
              </a:rPr>
              <a:t>Figure</a:t>
            </a:r>
            <a:r>
              <a:rPr lang="en-US" sz="1800" kern="1200" dirty="0">
                <a:solidFill>
                  <a:srgbClr val="000000"/>
                </a:solidFill>
                <a:latin typeface="Arial (Body)"/>
                <a:ea typeface="+mn-ea"/>
                <a:cs typeface="+mn-cs"/>
              </a:rPr>
              <a:t> </a:t>
            </a:r>
            <a:r>
              <a:rPr lang="en-US" sz="1800" kern="1200" dirty="0" smtClean="0">
                <a:solidFill>
                  <a:srgbClr val="000000"/>
                </a:solidFill>
                <a:latin typeface="Arial (Body)"/>
                <a:ea typeface="+mn-ea"/>
                <a:cs typeface="+mn-cs"/>
              </a:rPr>
              <a:t>18.7 </a:t>
            </a:r>
            <a:r>
              <a:rPr lang="en-US" sz="1800" kern="1200" dirty="0">
                <a:solidFill>
                  <a:srgbClr val="000000"/>
                </a:solidFill>
                <a:latin typeface="Arial (Body)"/>
              </a:rPr>
              <a:t>(see slide 54-55)</a:t>
            </a:r>
            <a:r>
              <a:rPr lang="en-US" sz="1800" kern="1200" dirty="0" smtClean="0">
                <a:solidFill>
                  <a:srgbClr val="000000"/>
                </a:solidFill>
                <a:latin typeface="Arial (Body)"/>
                <a:ea typeface="+mn-ea"/>
                <a:cs typeface="+mn-cs"/>
              </a:rPr>
              <a:t>, </a:t>
            </a:r>
            <a:r>
              <a:rPr lang="en-US" sz="1800" kern="1200" dirty="0">
                <a:solidFill>
                  <a:srgbClr val="000000"/>
                </a:solidFill>
                <a:latin typeface="Arial (Body)"/>
                <a:ea typeface="+mn-ea"/>
                <a:cs typeface="+mn-cs"/>
              </a:rPr>
              <a:t>lines 87–104</a:t>
            </a:r>
            <a:r>
              <a:rPr lang="en-US" sz="1800" kern="1200" dirty="0" smtClean="0">
                <a:solidFill>
                  <a:srgbClr val="000000"/>
                </a:solidFill>
                <a:latin typeface="Arial (Body)"/>
                <a:ea typeface="+mn-ea"/>
                <a:cs typeface="+mn-cs"/>
              </a:rPr>
              <a:t>) to </a:t>
            </a:r>
            <a:r>
              <a:rPr lang="en-US" sz="1800" kern="1200" dirty="0">
                <a:solidFill>
                  <a:srgbClr val="000000"/>
                </a:solidFill>
                <a:latin typeface="Arial (Body)"/>
                <a:ea typeface="+mn-ea"/>
                <a:cs typeface="+mn-cs"/>
              </a:rPr>
              <a:t>increment the date.</a:t>
            </a:r>
          </a:p>
          <a:p>
            <a:pPr marL="741553" lvl="1" indent="-284353" eaLnBrk="1" hangingPunct="1">
              <a:buFont typeface="Arial" panose="020B0604020202020204" pitchFamily="34" charset="0"/>
              <a:buChar char="–"/>
              <a:defRPr/>
            </a:pPr>
            <a:r>
              <a:rPr lang="en-US" sz="1800" kern="1200" dirty="0">
                <a:solidFill>
                  <a:srgbClr val="000000"/>
                </a:solidFill>
                <a:latin typeface="Arial (Body)"/>
                <a:ea typeface="+mn-ea"/>
                <a:cs typeface="+mn-cs"/>
              </a:rPr>
              <a:t>This function deals with “wraparounds” or “carries” that occur when we increment the last day of the month</a:t>
            </a:r>
            <a:r>
              <a:rPr lang="en-US" sz="1800" kern="1200" dirty="0" smtClean="0">
                <a:solidFill>
                  <a:srgbClr val="000000"/>
                </a:solidFill>
                <a:latin typeface="Arial (Body)"/>
                <a:ea typeface="+mn-ea"/>
                <a:cs typeface="+mn-cs"/>
              </a:rPr>
              <a:t>.</a:t>
            </a:r>
          </a:p>
          <a:p>
            <a:pPr marL="741553" lvl="1" indent="-284353" eaLnBrk="1" hangingPunct="1">
              <a:buFont typeface="Arial" panose="020B0604020202020204" pitchFamily="34" charset="0"/>
              <a:buChar char="–"/>
              <a:defRPr/>
            </a:pPr>
            <a:r>
              <a:rPr lang="en-US" sz="1800" kern="1200" dirty="0">
                <a:solidFill>
                  <a:srgbClr val="000000"/>
                </a:solidFill>
                <a:latin typeface="Arial (Body)"/>
              </a:rPr>
              <a:t>These carries require incrementing the month.</a:t>
            </a:r>
          </a:p>
          <a:p>
            <a:pPr marL="741553" lvl="1" indent="-284353" eaLnBrk="1" hangingPunct="1">
              <a:buFont typeface="Arial" panose="020B0604020202020204" pitchFamily="34" charset="0"/>
              <a:buChar char="–"/>
              <a:defRPr/>
            </a:pPr>
            <a:r>
              <a:rPr lang="en-US" sz="1800" kern="1200" dirty="0">
                <a:solidFill>
                  <a:srgbClr val="000000"/>
                </a:solidFill>
                <a:latin typeface="Arial (Body)"/>
              </a:rPr>
              <a:t>If the month is already 12, then the year must also be incremented and the month must be set to </a:t>
            </a:r>
            <a:r>
              <a:rPr lang="en-US" sz="1800" kern="1200" dirty="0">
                <a:solidFill>
                  <a:srgbClr val="000000"/>
                </a:solidFill>
                <a:latin typeface="Consolas" panose="020B0609020204030204" pitchFamily="49" charset="0"/>
                <a:cs typeface="Consolas" panose="020B0609020204030204" pitchFamily="49" charset="0"/>
              </a:rPr>
              <a:t>1</a:t>
            </a:r>
            <a:r>
              <a:rPr lang="en-US" sz="1800" kern="1200" dirty="0">
                <a:solidFill>
                  <a:srgbClr val="000000"/>
                </a:solidFill>
                <a:latin typeface="Arial (Body)"/>
              </a:rPr>
              <a:t>.</a:t>
            </a:r>
          </a:p>
          <a:p>
            <a:pPr marL="741553" lvl="1" indent="-284353" eaLnBrk="1" hangingPunct="1">
              <a:buFont typeface="Arial" panose="020B0604020202020204" pitchFamily="34" charset="0"/>
              <a:buChar char="–"/>
              <a:defRPr/>
            </a:pPr>
            <a:r>
              <a:rPr lang="en-US" sz="1800" kern="1200" dirty="0">
                <a:solidFill>
                  <a:srgbClr val="000000"/>
                </a:solidFill>
                <a:latin typeface="Arial (Body)"/>
              </a:rPr>
              <a:t>Function </a:t>
            </a:r>
            <a:r>
              <a:rPr lang="en-US" sz="1800" kern="1200" dirty="0" smtClean="0">
                <a:solidFill>
                  <a:srgbClr val="000000"/>
                </a:solidFill>
                <a:latin typeface="Consolas" panose="020B0609020204030204" pitchFamily="49" charset="0"/>
                <a:cs typeface="Consolas" panose="020B0609020204030204" pitchFamily="49" charset="0"/>
              </a:rPr>
              <a:t>help</a:t>
            </a:r>
            <a:r>
              <a:rPr lang="en-US" sz="100" kern="1200" dirty="0" smtClean="0">
                <a:solidFill>
                  <a:srgbClr val="000000"/>
                </a:solidFill>
                <a:latin typeface="Consolas" panose="020B0609020204030204" pitchFamily="49" charset="0"/>
                <a:cs typeface="Consolas" panose="020B0609020204030204" pitchFamily="49" charset="0"/>
              </a:rPr>
              <a:t> </a:t>
            </a:r>
            <a:r>
              <a:rPr lang="en-US" sz="1800" kern="1200" dirty="0" smtClean="0">
                <a:solidFill>
                  <a:srgbClr val="000000"/>
                </a:solidFill>
                <a:latin typeface="Consolas" panose="020B0609020204030204" pitchFamily="49" charset="0"/>
                <a:cs typeface="Consolas" panose="020B0609020204030204" pitchFamily="49" charset="0"/>
              </a:rPr>
              <a:t>Increment</a:t>
            </a:r>
            <a:r>
              <a:rPr lang="en-US" sz="1800" kern="1200" dirty="0" smtClean="0">
                <a:solidFill>
                  <a:srgbClr val="000000"/>
                </a:solidFill>
                <a:latin typeface="Arial (Body)"/>
              </a:rPr>
              <a:t> </a:t>
            </a:r>
            <a:r>
              <a:rPr lang="en-US" sz="1800" kern="1200" dirty="0">
                <a:solidFill>
                  <a:srgbClr val="000000"/>
                </a:solidFill>
                <a:latin typeface="Arial (Body)"/>
              </a:rPr>
              <a:t>uses function </a:t>
            </a:r>
            <a:r>
              <a:rPr lang="en-US" sz="1800" kern="1200" dirty="0" smtClean="0">
                <a:solidFill>
                  <a:srgbClr val="000000"/>
                </a:solidFill>
                <a:latin typeface="Consolas" panose="020B0609020204030204" pitchFamily="49" charset="0"/>
                <a:cs typeface="Consolas" panose="020B0609020204030204" pitchFamily="49" charset="0"/>
              </a:rPr>
              <a:t>end</a:t>
            </a:r>
            <a:r>
              <a:rPr lang="en-US" sz="100" kern="1200" dirty="0" smtClean="0">
                <a:solidFill>
                  <a:srgbClr val="000000"/>
                </a:solidFill>
                <a:latin typeface="Consolas" panose="020B0609020204030204" pitchFamily="49" charset="0"/>
                <a:cs typeface="Consolas" panose="020B0609020204030204" pitchFamily="49" charset="0"/>
              </a:rPr>
              <a:t> </a:t>
            </a:r>
            <a:r>
              <a:rPr lang="en-US" sz="1800" kern="1200" dirty="0" smtClean="0">
                <a:solidFill>
                  <a:srgbClr val="000000"/>
                </a:solidFill>
                <a:latin typeface="Consolas" panose="020B0609020204030204" pitchFamily="49" charset="0"/>
                <a:cs typeface="Consolas" panose="020B0609020204030204" pitchFamily="49" charset="0"/>
              </a:rPr>
              <a:t>Of</a:t>
            </a:r>
            <a:r>
              <a:rPr lang="en-US" sz="100" kern="1200" dirty="0" smtClean="0">
                <a:solidFill>
                  <a:srgbClr val="000000"/>
                </a:solidFill>
                <a:latin typeface="Consolas" panose="020B0609020204030204" pitchFamily="49" charset="0"/>
                <a:cs typeface="Consolas" panose="020B0609020204030204" pitchFamily="49" charset="0"/>
              </a:rPr>
              <a:t> </a:t>
            </a:r>
            <a:r>
              <a:rPr lang="en-US" sz="1800" kern="1200" dirty="0" smtClean="0">
                <a:solidFill>
                  <a:srgbClr val="000000"/>
                </a:solidFill>
                <a:latin typeface="Consolas" panose="020B0609020204030204" pitchFamily="49" charset="0"/>
                <a:cs typeface="Consolas" panose="020B0609020204030204" pitchFamily="49" charset="0"/>
              </a:rPr>
              <a:t>Month</a:t>
            </a:r>
            <a:r>
              <a:rPr lang="en-US" sz="1800" kern="1200" dirty="0" smtClean="0">
                <a:solidFill>
                  <a:srgbClr val="000000"/>
                </a:solidFill>
                <a:latin typeface="Arial (Body)"/>
              </a:rPr>
              <a:t> </a:t>
            </a:r>
            <a:r>
              <a:rPr lang="en-US" sz="1800" kern="1200" dirty="0">
                <a:solidFill>
                  <a:srgbClr val="000000"/>
                </a:solidFill>
                <a:latin typeface="Arial (Body)"/>
              </a:rPr>
              <a:t>to determine whether the end of a month has been reached and increment the day correctly</a:t>
            </a:r>
            <a:r>
              <a:rPr lang="en-US" sz="1800" kern="1200" dirty="0" smtClean="0">
                <a:solidFill>
                  <a:srgbClr val="000000"/>
                </a:solidFill>
                <a:latin typeface="Arial (Body)"/>
              </a:rPr>
              <a:t>.</a:t>
            </a:r>
            <a:endParaRPr lang="en-US" sz="18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rPr>
              <a:t>18.8 </a:t>
            </a:r>
            <a:r>
              <a:rPr lang="en-US" altLang="en-US" kern="1200" dirty="0">
                <a:latin typeface="Times New Roman" panose="02020603050405020304" pitchFamily="18" charset="0"/>
              </a:rPr>
              <a:t>Case Study: A </a:t>
            </a:r>
            <a:r>
              <a:rPr lang="en-US" altLang="en-US" kern="1200" dirty="0">
                <a:latin typeface="Consolas" panose="020B0609020204030204" pitchFamily="49" charset="0"/>
                <a:cs typeface="Consolas" panose="020B0609020204030204" pitchFamily="49" charset="0"/>
              </a:rPr>
              <a:t>Date</a:t>
            </a:r>
            <a:r>
              <a:rPr lang="en-US" altLang="en-US" kern="1200" dirty="0">
                <a:latin typeface="Times New Roman" panose="02020603050405020304" pitchFamily="18" charset="0"/>
              </a:rPr>
              <a:t> Class</a:t>
            </a:r>
            <a:r>
              <a:rPr lang="en-US" altLang="en-US" kern="1200" dirty="0" smtClean="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(4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854323"/>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The overloaded prefix increment operator returns a reference to the current </a:t>
            </a:r>
            <a:r>
              <a:rPr lang="en-US" altLang="en-US" sz="2400" kern="1200" dirty="0">
                <a:solidFill>
                  <a:srgbClr val="000000"/>
                </a:solidFill>
                <a:latin typeface="Consolas" panose="020B0609020204030204" pitchFamily="49" charset="0"/>
                <a:ea typeface="+mn-ea"/>
                <a:cs typeface="Consolas" panose="020B0609020204030204" pitchFamily="49" charset="0"/>
              </a:rPr>
              <a:t>Date</a:t>
            </a:r>
            <a:r>
              <a:rPr lang="en-US" altLang="en-US" sz="2400" kern="1200" dirty="0">
                <a:solidFill>
                  <a:srgbClr val="000000"/>
                </a:solidFill>
                <a:latin typeface="Arial (Body)"/>
                <a:ea typeface="+mn-ea"/>
                <a:cs typeface="+mn-cs"/>
              </a:rPr>
              <a:t> object (i.e., the one that was just incremented).</a:t>
            </a:r>
          </a:p>
          <a:p>
            <a:pPr marL="255651" indent="-255651" eaLnBrk="1" hangingPunct="1">
              <a:tabLst/>
              <a:defRPr/>
            </a:pPr>
            <a:r>
              <a:rPr lang="en-US" altLang="en-US" sz="2400" kern="1200" dirty="0">
                <a:solidFill>
                  <a:srgbClr val="000000"/>
                </a:solidFill>
                <a:latin typeface="Arial (Body)"/>
                <a:ea typeface="+mn-ea"/>
                <a:cs typeface="+mn-cs"/>
              </a:rPr>
              <a:t>This occurs because the current object</a:t>
            </a:r>
            <a:r>
              <a:rPr lang="en-US" altLang="en-US" sz="2400" kern="1200" dirty="0" smtClean="0">
                <a:solidFill>
                  <a:srgbClr val="000000"/>
                </a:solidFill>
                <a:latin typeface="Arial (Body)"/>
                <a:ea typeface="+mn-ea"/>
                <a:cs typeface="+mn-cs"/>
              </a:rPr>
              <a:t>,</a:t>
            </a:r>
            <a:endParaRPr lang="en-US" altLang="en-US" sz="2400" kern="1200" dirty="0">
              <a:solidFill>
                <a:srgbClr val="000000"/>
              </a:solidFill>
              <a:latin typeface="Arial (Body)"/>
              <a:ea typeface="+mn-ea"/>
              <a:cs typeface="+mn-cs"/>
            </a:endParaRPr>
          </a:p>
        </p:txBody>
      </p:sp>
      <p:graphicFrame>
        <p:nvGraphicFramePr>
          <p:cNvPr id="5" name="Object 4" descr="Asterisk this."/>
          <p:cNvGraphicFramePr>
            <a:graphicFrameLocks noChangeAspect="1"/>
          </p:cNvGraphicFramePr>
          <p:nvPr>
            <p:extLst>
              <p:ext uri="{D42A27DB-BD31-4B8C-83A1-F6EECF244321}">
                <p14:modId xmlns:p14="http://schemas.microsoft.com/office/powerpoint/2010/main" val="3864503298"/>
              </p:ext>
            </p:extLst>
          </p:nvPr>
        </p:nvGraphicFramePr>
        <p:xfrm>
          <a:off x="6120385" y="2992197"/>
          <a:ext cx="942975" cy="382285"/>
        </p:xfrm>
        <a:graphic>
          <a:graphicData uri="http://schemas.openxmlformats.org/presentationml/2006/ole">
            <mc:AlternateContent xmlns:mc="http://schemas.openxmlformats.org/markup-compatibility/2006">
              <mc:Choice xmlns:v="urn:schemas-microsoft-com:vml" Requires="v">
                <p:oleObj spid="_x0000_s33936" name="Equation" r:id="rId3" imgW="469800" imgH="190440" progId="Equation.DSMT4">
                  <p:embed/>
                </p:oleObj>
              </mc:Choice>
              <mc:Fallback>
                <p:oleObj name="Equation" r:id="rId3" imgW="469800" imgH="190440" progId="Equation.DSMT4">
                  <p:embed/>
                  <p:pic>
                    <p:nvPicPr>
                      <p:cNvPr id="0" name=""/>
                      <p:cNvPicPr/>
                      <p:nvPr/>
                    </p:nvPicPr>
                    <p:blipFill>
                      <a:blip r:embed="rId4"/>
                      <a:stretch>
                        <a:fillRect/>
                      </a:stretch>
                    </p:blipFill>
                    <p:spPr>
                      <a:xfrm>
                        <a:off x="6120385" y="2992197"/>
                        <a:ext cx="942975" cy="382285"/>
                      </a:xfrm>
                      <a:prstGeom prst="rect">
                        <a:avLst/>
                      </a:prstGeom>
                    </p:spPr>
                  </p:pic>
                </p:oleObj>
              </mc:Fallback>
            </mc:AlternateContent>
          </a:graphicData>
        </a:graphic>
      </p:graphicFrame>
      <p:sp>
        <p:nvSpPr>
          <p:cNvPr id="4" name="Text Placeholder 3"/>
          <p:cNvSpPr>
            <a:spLocks noGrp="1"/>
          </p:cNvSpPr>
          <p:nvPr>
            <p:ph type="body" idx="2"/>
          </p:nvPr>
        </p:nvSpPr>
        <p:spPr>
          <a:xfrm>
            <a:off x="457200" y="2894166"/>
            <a:ext cx="8229600" cy="2163763"/>
          </a:xfrm>
        </p:spPr>
        <p:txBody>
          <a:bodyPr/>
          <a:lstStyle/>
          <a:p>
            <a:pPr marL="287338" indent="6291263" eaLnBrk="1" hangingPunct="1">
              <a:buNone/>
              <a:tabLst/>
              <a:defRPr/>
            </a:pPr>
            <a:r>
              <a:rPr lang="en-US" altLang="en-US" sz="2400" kern="1200" dirty="0">
                <a:solidFill>
                  <a:srgbClr val="000000"/>
                </a:solidFill>
                <a:latin typeface="Arial (Body)"/>
              </a:rPr>
              <a:t>is returned as a </a:t>
            </a:r>
            <a:r>
              <a:rPr lang="en-US" altLang="en-US" sz="2400" kern="1200" dirty="0">
                <a:solidFill>
                  <a:srgbClr val="000000"/>
                </a:solidFill>
                <a:latin typeface="Consolas" panose="020B0609020204030204" pitchFamily="49" charset="0"/>
                <a:cs typeface="Consolas" panose="020B0609020204030204" pitchFamily="49" charset="0"/>
              </a:rPr>
              <a:t>Date &amp;</a:t>
            </a:r>
            <a:r>
              <a:rPr lang="en-US" altLang="en-US" sz="2400" kern="1200" dirty="0">
                <a:solidFill>
                  <a:srgbClr val="000000"/>
                </a:solidFill>
                <a:latin typeface="Arial (Body)"/>
              </a:rPr>
              <a:t>.</a:t>
            </a:r>
          </a:p>
          <a:p>
            <a:pPr marL="741553" lvl="1" indent="-284353" eaLnBrk="1" hangingPunct="1">
              <a:buFont typeface="Arial" panose="020B0604020202020204" pitchFamily="34" charset="0"/>
              <a:buChar char="–"/>
              <a:defRPr/>
            </a:pPr>
            <a:r>
              <a:rPr lang="en-US" altLang="en-US" sz="2400" kern="1200" dirty="0">
                <a:solidFill>
                  <a:srgbClr val="000000"/>
                </a:solidFill>
                <a:latin typeface="Arial (Body)"/>
              </a:rPr>
              <a:t>Enables a preincremented </a:t>
            </a:r>
            <a:r>
              <a:rPr lang="en-US" altLang="en-US" sz="2400" kern="1200" dirty="0">
                <a:solidFill>
                  <a:srgbClr val="000000"/>
                </a:solidFill>
                <a:latin typeface="Consolas" panose="020B0609020204030204" pitchFamily="49" charset="0"/>
                <a:cs typeface="Consolas" panose="020B0609020204030204" pitchFamily="49" charset="0"/>
              </a:rPr>
              <a:t>Date</a:t>
            </a:r>
            <a:r>
              <a:rPr lang="en-US" altLang="en-US" sz="2400" kern="1200" dirty="0">
                <a:solidFill>
                  <a:srgbClr val="000000"/>
                </a:solidFill>
                <a:latin typeface="Arial (Body)"/>
              </a:rPr>
              <a:t> object to be used as an </a:t>
            </a:r>
            <a:r>
              <a:rPr lang="en-US" altLang="en-US" sz="2400" b="1" kern="1200" dirty="0">
                <a:solidFill>
                  <a:srgbClr val="000000"/>
                </a:solidFill>
                <a:latin typeface="Arial (Body)"/>
              </a:rPr>
              <a:t>l</a:t>
            </a:r>
            <a:r>
              <a:rPr lang="en-US" altLang="en-US" sz="100" b="1" kern="1200" dirty="0">
                <a:solidFill>
                  <a:srgbClr val="000000"/>
                </a:solidFill>
                <a:latin typeface="Arial (Body)"/>
              </a:rPr>
              <a:t> </a:t>
            </a:r>
            <a:r>
              <a:rPr lang="en-US" altLang="en-US" sz="2400" b="1" kern="1200" dirty="0">
                <a:solidFill>
                  <a:srgbClr val="000000"/>
                </a:solidFill>
                <a:latin typeface="Arial (Body)"/>
              </a:rPr>
              <a:t>value, </a:t>
            </a:r>
            <a:r>
              <a:rPr lang="en-US" altLang="en-US" sz="2400" kern="1200" dirty="0">
                <a:solidFill>
                  <a:srgbClr val="000000"/>
                </a:solidFill>
                <a:latin typeface="Arial (Body)"/>
              </a:rPr>
              <a:t>which is how the built-in prefix increment operator works for fundamental types.</a:t>
            </a:r>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rPr>
              <a:t>18.8 </a:t>
            </a:r>
            <a:r>
              <a:rPr lang="en-US" altLang="en-US" kern="1200" dirty="0">
                <a:latin typeface="Times New Roman" panose="02020603050405020304" pitchFamily="18" charset="0"/>
              </a:rPr>
              <a:t>Case Study: A </a:t>
            </a:r>
            <a:r>
              <a:rPr lang="en-US" altLang="en-US" kern="1200" dirty="0">
                <a:latin typeface="Consolas" panose="020B0609020204030204" pitchFamily="49" charset="0"/>
                <a:cs typeface="Consolas" panose="020B0609020204030204" pitchFamily="49" charset="0"/>
              </a:rPr>
              <a:t>Date</a:t>
            </a:r>
            <a:r>
              <a:rPr lang="en-US" altLang="en-US" kern="1200" dirty="0">
                <a:latin typeface="Times New Roman" panose="02020603050405020304" pitchFamily="18" charset="0"/>
              </a:rPr>
              <a:t> Class</a:t>
            </a:r>
            <a:r>
              <a:rPr lang="en-US" altLang="en-US" kern="1200" dirty="0" smtClean="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(5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347040"/>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Date Class Postfix Increment Operator</a:t>
            </a:r>
          </a:p>
          <a:p>
            <a:pPr marL="255651" indent="-255651" eaLnBrk="1" hangingPunct="1">
              <a:tabLst/>
              <a:defRPr/>
            </a:pPr>
            <a:r>
              <a:rPr lang="en-US" sz="2400" kern="1200" dirty="0">
                <a:solidFill>
                  <a:srgbClr val="000000"/>
                </a:solidFill>
                <a:latin typeface="Arial (Body)"/>
                <a:ea typeface="+mn-ea"/>
                <a:cs typeface="+mn-cs"/>
              </a:rPr>
              <a:t>Overloading the postfix increment operator (defined in </a:t>
            </a:r>
            <a:r>
              <a:rPr lang="en-US" sz="2400" kern="1200" dirty="0" smtClean="0">
                <a:solidFill>
                  <a:srgbClr val="000000"/>
                </a:solidFill>
                <a:latin typeface="Arial (Body)"/>
                <a:ea typeface="+mn-ea"/>
                <a:cs typeface="+mn-cs"/>
              </a:rPr>
              <a:t>Figure</a:t>
            </a:r>
            <a:r>
              <a:rPr lang="en-US" sz="2400" kern="1200" dirty="0">
                <a:solidFill>
                  <a:srgbClr val="000000"/>
                </a:solidFill>
                <a:latin typeface="Arial (Body)"/>
                <a:ea typeface="+mn-ea"/>
                <a:cs typeface="+mn-cs"/>
              </a:rPr>
              <a:t> </a:t>
            </a:r>
            <a:r>
              <a:rPr lang="en-US" sz="2400" kern="1200" dirty="0" smtClean="0">
                <a:solidFill>
                  <a:srgbClr val="000000"/>
                </a:solidFill>
                <a:latin typeface="Arial (Body)"/>
                <a:ea typeface="+mn-ea"/>
                <a:cs typeface="+mn-cs"/>
              </a:rPr>
              <a:t>18.7 </a:t>
            </a:r>
            <a:r>
              <a:rPr lang="en-US" sz="2400" kern="1200" dirty="0">
                <a:solidFill>
                  <a:srgbClr val="000000"/>
                </a:solidFill>
                <a:latin typeface="Arial (Body)"/>
              </a:rPr>
              <a:t>(see slide 52)</a:t>
            </a:r>
            <a:r>
              <a:rPr lang="en-US" sz="2400" kern="1200" dirty="0" smtClean="0">
                <a:solidFill>
                  <a:srgbClr val="000000"/>
                </a:solidFill>
                <a:latin typeface="Arial (Body)"/>
                <a:ea typeface="+mn-ea"/>
                <a:cs typeface="+mn-cs"/>
              </a:rPr>
              <a:t>, </a:t>
            </a:r>
            <a:r>
              <a:rPr lang="en-US" sz="2400" kern="1200" dirty="0">
                <a:solidFill>
                  <a:srgbClr val="000000"/>
                </a:solidFill>
                <a:latin typeface="Arial (Body)"/>
                <a:ea typeface="+mn-ea"/>
                <a:cs typeface="+mn-cs"/>
              </a:rPr>
              <a:t>lines 49–56</a:t>
            </a:r>
            <a:r>
              <a:rPr lang="en-US" sz="2400" kern="1200" dirty="0" smtClean="0">
                <a:solidFill>
                  <a:srgbClr val="000000"/>
                </a:solidFill>
                <a:latin typeface="Arial (Body)"/>
                <a:ea typeface="+mn-ea"/>
                <a:cs typeface="+mn-cs"/>
              </a:rPr>
              <a:t>) is </a:t>
            </a:r>
            <a:r>
              <a:rPr lang="en-US" sz="2400" kern="1200" dirty="0">
                <a:solidFill>
                  <a:srgbClr val="000000"/>
                </a:solidFill>
                <a:latin typeface="Arial (Body)"/>
                <a:ea typeface="+mn-ea"/>
                <a:cs typeface="+mn-cs"/>
              </a:rPr>
              <a:t>trickier.</a:t>
            </a:r>
          </a:p>
          <a:p>
            <a:pPr marL="255651" indent="-255651" eaLnBrk="1" hangingPunct="1">
              <a:tabLst/>
              <a:defRPr/>
            </a:pPr>
            <a:r>
              <a:rPr lang="en-US" sz="2400" kern="1200" dirty="0">
                <a:solidFill>
                  <a:srgbClr val="000000"/>
                </a:solidFill>
                <a:latin typeface="Arial (Body)"/>
                <a:ea typeface="+mn-ea"/>
                <a:cs typeface="+mn-cs"/>
              </a:rPr>
              <a:t>To emulate the effect of the postincrement, we must return an unincremented copy of the </a:t>
            </a:r>
            <a:r>
              <a:rPr lang="en-US" sz="2400" kern="1200" dirty="0">
                <a:solidFill>
                  <a:srgbClr val="000000"/>
                </a:solidFill>
                <a:latin typeface="Consolas" panose="020B0609020204030204" pitchFamily="49" charset="0"/>
                <a:ea typeface="+mn-ea"/>
                <a:cs typeface="Consolas" panose="020B0609020204030204" pitchFamily="49" charset="0"/>
              </a:rPr>
              <a:t>Date</a:t>
            </a:r>
            <a:r>
              <a:rPr lang="en-US" sz="2400" kern="1200" dirty="0">
                <a:solidFill>
                  <a:srgbClr val="000000"/>
                </a:solidFill>
                <a:latin typeface="Arial (Body)"/>
                <a:ea typeface="+mn-ea"/>
                <a:cs typeface="+mn-cs"/>
              </a:rPr>
              <a:t> object.</a:t>
            </a:r>
          </a:p>
          <a:p>
            <a:pPr marL="255651" indent="-255651" eaLnBrk="1" hangingPunct="1">
              <a:tabLst/>
              <a:defRPr/>
            </a:pPr>
            <a:r>
              <a:rPr lang="en-US" sz="2400" kern="1200" dirty="0">
                <a:solidFill>
                  <a:srgbClr val="000000"/>
                </a:solidFill>
                <a:latin typeface="Arial (Body)"/>
                <a:ea typeface="+mn-ea"/>
                <a:cs typeface="+mn-cs"/>
              </a:rPr>
              <a:t>So we’d like our postfix increment operator to operate the same way on a </a:t>
            </a:r>
            <a:r>
              <a:rPr lang="en-US" sz="2400" kern="1200" dirty="0">
                <a:solidFill>
                  <a:srgbClr val="000000"/>
                </a:solidFill>
                <a:latin typeface="Consolas" panose="020B0609020204030204" pitchFamily="49" charset="0"/>
                <a:ea typeface="+mn-ea"/>
                <a:cs typeface="Consolas" panose="020B0609020204030204" pitchFamily="49" charset="0"/>
              </a:rPr>
              <a:t>Date</a:t>
            </a:r>
            <a:r>
              <a:rPr lang="en-US" sz="2400" kern="1200" dirty="0">
                <a:solidFill>
                  <a:srgbClr val="000000"/>
                </a:solidFill>
                <a:latin typeface="Arial (Body)"/>
                <a:ea typeface="+mn-ea"/>
                <a:cs typeface="+mn-cs"/>
              </a:rPr>
              <a:t> object</a:t>
            </a:r>
            <a:r>
              <a:rPr lang="en-US" sz="2400" kern="1200" dirty="0" smtClean="0">
                <a:solidFill>
                  <a:srgbClr val="000000"/>
                </a:solidFill>
                <a:latin typeface="Arial (Body)"/>
                <a:ea typeface="+mn-ea"/>
                <a:cs typeface="+mn-cs"/>
              </a:rPr>
              <a:t>.</a:t>
            </a:r>
            <a:endParaRPr lang="en-US" sz="24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spcBef>
                <a:spcPct val="0"/>
              </a:spcBef>
              <a:buClrTx/>
              <a:defRPr/>
            </a:pPr>
            <a:r>
              <a:rPr lang="en-US" altLang="en-US" kern="1200" dirty="0" smtClean="0">
                <a:latin typeface="Times New Roman" panose="02020603050405020304" pitchFamily="18" charset="0"/>
              </a:rPr>
              <a:t>18.8 </a:t>
            </a:r>
            <a:r>
              <a:rPr lang="en-US" altLang="en-US" kern="1200" dirty="0">
                <a:latin typeface="Times New Roman" panose="02020603050405020304" pitchFamily="18" charset="0"/>
              </a:rPr>
              <a:t>Case Study: A </a:t>
            </a:r>
            <a:r>
              <a:rPr lang="en-US" altLang="en-US" kern="1200" dirty="0">
                <a:latin typeface="Consolas" panose="020B0609020204030204" pitchFamily="49" charset="0"/>
                <a:cs typeface="Consolas" panose="020B0609020204030204" pitchFamily="49" charset="0"/>
              </a:rPr>
              <a:t>Date</a:t>
            </a:r>
            <a:r>
              <a:rPr lang="en-US" altLang="en-US" kern="1200" dirty="0">
                <a:latin typeface="Times New Roman" panose="02020603050405020304" pitchFamily="18" charset="0"/>
              </a:rPr>
              <a:t> Class</a:t>
            </a:r>
            <a:r>
              <a:rPr lang="en-US" altLang="en-US" kern="1200" dirty="0" smtClean="0">
                <a:latin typeface="Times New Roman" panose="02020603050405020304" pitchFamily="18" charset="0"/>
                <a:ea typeface="+mj-ea"/>
              </a:rPr>
              <a:t> </a:t>
            </a:r>
            <a:r>
              <a:rPr lang="en-US" altLang="en-US" sz="2000" b="0" kern="1200" dirty="0" smtClean="0">
                <a:latin typeface="Times New Roman" panose="02020603050405020304" pitchFamily="18" charset="0"/>
                <a:ea typeface="+mj-ea"/>
              </a:rPr>
              <a:t>(6 of 6)</a:t>
            </a:r>
            <a:endParaRPr lang="en-US" altLang="en-US" sz="2000" b="0" kern="1200" dirty="0">
              <a:latin typeface="Times New Roman" panose="02020603050405020304" pitchFamily="18" charset="0"/>
              <a:ea typeface="+mj-ea"/>
            </a:endParaRPr>
          </a:p>
        </p:txBody>
      </p:sp>
      <p:sp>
        <p:nvSpPr>
          <p:cNvPr id="3" name="Text Placeholder 2"/>
          <p:cNvSpPr>
            <a:spLocks noGrp="1"/>
          </p:cNvSpPr>
          <p:nvPr>
            <p:ph type="body" idx="1"/>
          </p:nvPr>
        </p:nvSpPr>
        <p:spPr/>
        <p:txBody>
          <a:bodyPr/>
          <a:lstStyle/>
          <a:p>
            <a:pPr marL="255651" indent="-255651" eaLnBrk="1" hangingPunct="1">
              <a:tabLst/>
              <a:defRPr/>
            </a:pPr>
            <a:r>
              <a:rPr lang="en-US" sz="2400" kern="1200" dirty="0" smtClean="0">
                <a:solidFill>
                  <a:srgbClr val="000000"/>
                </a:solidFill>
                <a:latin typeface="Arial (Body)"/>
                <a:ea typeface="+mn-ea"/>
              </a:rPr>
              <a:t>On </a:t>
            </a:r>
            <a:r>
              <a:rPr lang="en-US" sz="2400" kern="1200" dirty="0">
                <a:solidFill>
                  <a:srgbClr val="000000"/>
                </a:solidFill>
                <a:latin typeface="Arial (Body)"/>
                <a:ea typeface="+mn-ea"/>
              </a:rPr>
              <a:t>entry </a:t>
            </a:r>
            <a:r>
              <a:rPr lang="en-US" sz="2400" kern="1200" dirty="0" smtClean="0">
                <a:solidFill>
                  <a:srgbClr val="000000"/>
                </a:solidFill>
                <a:latin typeface="Arial (Body)"/>
                <a:ea typeface="+mn-ea"/>
              </a:rPr>
              <a:t>to</a:t>
            </a:r>
            <a:endParaRPr lang="en-US" sz="2400" kern="1200" dirty="0">
              <a:solidFill>
                <a:srgbClr val="000000"/>
              </a:solidFill>
              <a:latin typeface="Arial (Body)"/>
              <a:ea typeface="+mn-ea"/>
            </a:endParaRPr>
          </a:p>
        </p:txBody>
      </p:sp>
      <p:graphicFrame>
        <p:nvGraphicFramePr>
          <p:cNvPr id="5" name="Object 4" descr="Operator plus plus."/>
          <p:cNvGraphicFramePr>
            <a:graphicFrameLocks noChangeAspect="1"/>
          </p:cNvGraphicFramePr>
          <p:nvPr>
            <p:extLst>
              <p:ext uri="{D42A27DB-BD31-4B8C-83A1-F6EECF244321}">
                <p14:modId xmlns:p14="http://schemas.microsoft.com/office/powerpoint/2010/main" val="1064477963"/>
              </p:ext>
            </p:extLst>
          </p:nvPr>
        </p:nvGraphicFramePr>
        <p:xfrm>
          <a:off x="2349069" y="1742844"/>
          <a:ext cx="1885540" cy="377109"/>
        </p:xfrm>
        <a:graphic>
          <a:graphicData uri="http://schemas.openxmlformats.org/presentationml/2006/ole">
            <mc:AlternateContent xmlns:mc="http://schemas.openxmlformats.org/markup-compatibility/2006">
              <mc:Choice xmlns:v="urn:schemas-microsoft-com:vml" Requires="v">
                <p:oleObj spid="_x0000_s35095" name="Equation" r:id="rId3" imgW="952200" imgH="190440" progId="Equation.DSMT4">
                  <p:embed/>
                </p:oleObj>
              </mc:Choice>
              <mc:Fallback>
                <p:oleObj name="Equation" r:id="rId3" imgW="952200" imgH="190440" progId="Equation.DSMT4">
                  <p:embed/>
                  <p:pic>
                    <p:nvPicPr>
                      <p:cNvPr id="5" name="Object 4"/>
                      <p:cNvPicPr/>
                      <p:nvPr/>
                    </p:nvPicPr>
                    <p:blipFill>
                      <a:blip r:embed="rId4"/>
                      <a:stretch>
                        <a:fillRect/>
                      </a:stretch>
                    </p:blipFill>
                    <p:spPr>
                      <a:xfrm>
                        <a:off x="2349069" y="1742844"/>
                        <a:ext cx="1885540" cy="377109"/>
                      </a:xfrm>
                      <a:prstGeom prst="rect">
                        <a:avLst/>
                      </a:prstGeom>
                    </p:spPr>
                  </p:pic>
                </p:oleObj>
              </mc:Fallback>
            </mc:AlternateContent>
          </a:graphicData>
        </a:graphic>
      </p:graphicFrame>
      <p:sp>
        <p:nvSpPr>
          <p:cNvPr id="7" name="Content Placeholder 6"/>
          <p:cNvSpPr>
            <a:spLocks noGrp="1"/>
          </p:cNvSpPr>
          <p:nvPr>
            <p:ph sz="quarter" idx="14"/>
          </p:nvPr>
        </p:nvSpPr>
        <p:spPr>
          <a:xfrm>
            <a:off x="4143825" y="1607073"/>
            <a:ext cx="3774234" cy="609600"/>
          </a:xfrm>
        </p:spPr>
        <p:txBody>
          <a:bodyPr/>
          <a:lstStyle/>
          <a:p>
            <a:r>
              <a:rPr lang="en-US" sz="2400" kern="1200" dirty="0">
                <a:latin typeface="Arial (Body)"/>
              </a:rPr>
              <a:t>we save the current object</a:t>
            </a:r>
            <a:endParaRPr lang="en-US" sz="2400" dirty="0"/>
          </a:p>
        </p:txBody>
      </p:sp>
      <p:graphicFrame>
        <p:nvGraphicFramePr>
          <p:cNvPr id="8" name="Object 7" descr="Left parenthesis asterisk this right parenthesis."/>
          <p:cNvGraphicFramePr>
            <a:graphicFrameLocks noChangeAspect="1"/>
          </p:cNvGraphicFramePr>
          <p:nvPr>
            <p:extLst>
              <p:ext uri="{D42A27DB-BD31-4B8C-83A1-F6EECF244321}">
                <p14:modId xmlns:p14="http://schemas.microsoft.com/office/powerpoint/2010/main" val="2984089785"/>
              </p:ext>
            </p:extLst>
          </p:nvPr>
        </p:nvGraphicFramePr>
        <p:xfrm>
          <a:off x="765493" y="2059590"/>
          <a:ext cx="1198556" cy="445982"/>
        </p:xfrm>
        <a:graphic>
          <a:graphicData uri="http://schemas.openxmlformats.org/presentationml/2006/ole">
            <mc:AlternateContent xmlns:mc="http://schemas.openxmlformats.org/markup-compatibility/2006">
              <mc:Choice xmlns:v="urn:schemas-microsoft-com:vml" Requires="v">
                <p:oleObj spid="_x0000_s35096" name="Equation" r:id="rId5" imgW="545760" imgH="203040" progId="Equation.DSMT4">
                  <p:embed/>
                </p:oleObj>
              </mc:Choice>
              <mc:Fallback>
                <p:oleObj name="Equation" r:id="rId5" imgW="545760" imgH="203040" progId="Equation.DSMT4">
                  <p:embed/>
                  <p:pic>
                    <p:nvPicPr>
                      <p:cNvPr id="0" name=""/>
                      <p:cNvPicPr/>
                      <p:nvPr/>
                    </p:nvPicPr>
                    <p:blipFill>
                      <a:blip r:embed="rId6"/>
                      <a:stretch>
                        <a:fillRect/>
                      </a:stretch>
                    </p:blipFill>
                    <p:spPr>
                      <a:xfrm>
                        <a:off x="765493" y="2059590"/>
                        <a:ext cx="1198556" cy="445982"/>
                      </a:xfrm>
                      <a:prstGeom prst="rect">
                        <a:avLst/>
                      </a:prstGeom>
                    </p:spPr>
                  </p:pic>
                </p:oleObj>
              </mc:Fallback>
            </mc:AlternateContent>
          </a:graphicData>
        </a:graphic>
      </p:graphicFrame>
      <p:sp>
        <p:nvSpPr>
          <p:cNvPr id="6" name="Content Placeholder 5"/>
          <p:cNvSpPr>
            <a:spLocks noGrp="1"/>
          </p:cNvSpPr>
          <p:nvPr>
            <p:ph sz="quarter" idx="13"/>
          </p:nvPr>
        </p:nvSpPr>
        <p:spPr>
          <a:xfrm>
            <a:off x="457200" y="1992193"/>
            <a:ext cx="8229600" cy="3808105"/>
          </a:xfrm>
        </p:spPr>
        <p:txBody>
          <a:bodyPr/>
          <a:lstStyle/>
          <a:p>
            <a:pPr marL="1487488" indent="0" eaLnBrk="1" hangingPunct="1">
              <a:defRPr/>
            </a:pPr>
            <a:r>
              <a:rPr lang="en-US" sz="2400" kern="1200" dirty="0">
                <a:latin typeface="+mn-lt"/>
              </a:rPr>
              <a:t>in </a:t>
            </a:r>
            <a:r>
              <a:rPr lang="en-US" sz="2400" kern="1200" dirty="0">
                <a:latin typeface="Consolas" panose="020B0609020204030204" pitchFamily="49" charset="0"/>
                <a:cs typeface="Consolas" panose="020B0609020204030204" pitchFamily="49" charset="0"/>
              </a:rPr>
              <a:t>temp</a:t>
            </a:r>
            <a:r>
              <a:rPr lang="en-US" sz="2400" kern="1200" dirty="0">
                <a:latin typeface="+mn-lt"/>
              </a:rPr>
              <a:t> (line 51).</a:t>
            </a:r>
          </a:p>
          <a:p>
            <a:pPr marL="256032" indent="-256032" eaLnBrk="1" hangingPunct="1">
              <a:spcBef>
                <a:spcPts val="1500"/>
              </a:spcBef>
              <a:buClr>
                <a:schemeClr val="tx2"/>
              </a:buClr>
              <a:buFont typeface="Arial" panose="020B0604020202020204" pitchFamily="34" charset="0"/>
              <a:buChar char="•"/>
              <a:tabLst/>
              <a:defRPr/>
            </a:pPr>
            <a:r>
              <a:rPr lang="en-US" sz="2400" kern="1200" dirty="0">
                <a:latin typeface="+mn-lt"/>
              </a:rPr>
              <a:t>Next, we call </a:t>
            </a:r>
            <a:r>
              <a:rPr lang="en-US" sz="2400" kern="1200" dirty="0" smtClean="0">
                <a:latin typeface="Consolas" panose="020B0609020204030204" pitchFamily="49" charset="0"/>
                <a:cs typeface="Consolas" panose="020B0609020204030204" pitchFamily="49" charset="0"/>
              </a:rPr>
              <a:t>help</a:t>
            </a:r>
            <a:r>
              <a:rPr lang="en-US" sz="100" kern="1200" dirty="0" smtClean="0">
                <a:latin typeface="Consolas" panose="020B0609020204030204" pitchFamily="49" charset="0"/>
                <a:cs typeface="Consolas" panose="020B0609020204030204" pitchFamily="49" charset="0"/>
              </a:rPr>
              <a:t> </a:t>
            </a:r>
            <a:r>
              <a:rPr lang="en-US" sz="2400" kern="1200" dirty="0" smtClean="0">
                <a:latin typeface="Consolas" panose="020B0609020204030204" pitchFamily="49" charset="0"/>
                <a:cs typeface="Consolas" panose="020B0609020204030204" pitchFamily="49" charset="0"/>
              </a:rPr>
              <a:t>Increment</a:t>
            </a:r>
            <a:r>
              <a:rPr lang="en-US" sz="2400" kern="1200" dirty="0" smtClean="0">
                <a:latin typeface="+mn-lt"/>
              </a:rPr>
              <a:t> </a:t>
            </a:r>
            <a:r>
              <a:rPr lang="en-US" sz="2400" kern="1200" dirty="0">
                <a:latin typeface="+mn-lt"/>
              </a:rPr>
              <a:t>to increment the current </a:t>
            </a:r>
            <a:r>
              <a:rPr lang="en-US" sz="2400" kern="1200" dirty="0">
                <a:latin typeface="Consolas" panose="020B0609020204030204" pitchFamily="49" charset="0"/>
                <a:cs typeface="Consolas" panose="020B0609020204030204" pitchFamily="49" charset="0"/>
              </a:rPr>
              <a:t>Date</a:t>
            </a:r>
            <a:r>
              <a:rPr lang="en-US" sz="2400" kern="1200" dirty="0">
                <a:latin typeface="+mn-lt"/>
              </a:rPr>
              <a:t> object.</a:t>
            </a:r>
          </a:p>
          <a:p>
            <a:pPr marL="256032" indent="-256032" eaLnBrk="1" hangingPunct="1">
              <a:spcBef>
                <a:spcPts val="1500"/>
              </a:spcBef>
              <a:buClr>
                <a:schemeClr val="tx2"/>
              </a:buClr>
              <a:buFont typeface="Arial" panose="020B0604020202020204" pitchFamily="34" charset="0"/>
              <a:buChar char="•"/>
              <a:tabLst/>
              <a:defRPr/>
            </a:pPr>
            <a:r>
              <a:rPr lang="en-US" sz="2400" kern="1200" dirty="0">
                <a:latin typeface="+mn-lt"/>
              </a:rPr>
              <a:t>Then, line 55 returns the un incremented copy of the object previously stored in </a:t>
            </a:r>
            <a:r>
              <a:rPr lang="en-US" sz="2400" kern="1200" dirty="0">
                <a:latin typeface="Consolas" panose="020B0609020204030204" pitchFamily="49" charset="0"/>
                <a:cs typeface="Consolas" panose="020B0609020204030204" pitchFamily="49" charset="0"/>
              </a:rPr>
              <a:t>temp</a:t>
            </a:r>
            <a:r>
              <a:rPr lang="en-US" sz="2400" kern="1200" dirty="0">
                <a:latin typeface="+mn-lt"/>
              </a:rPr>
              <a:t>.</a:t>
            </a:r>
          </a:p>
          <a:p>
            <a:pPr marL="256032" indent="-256032" eaLnBrk="1" hangingPunct="1">
              <a:spcBef>
                <a:spcPts val="1500"/>
              </a:spcBef>
              <a:buClr>
                <a:schemeClr val="tx2"/>
              </a:buClr>
              <a:buFont typeface="Arial" panose="020B0604020202020204" pitchFamily="34" charset="0"/>
              <a:buChar char="•"/>
              <a:tabLst/>
              <a:defRPr/>
            </a:pPr>
            <a:r>
              <a:rPr lang="en-US" sz="2400" kern="1200" dirty="0">
                <a:latin typeface="+mn-lt"/>
              </a:rPr>
              <a:t>This function cannot return a reference to the local </a:t>
            </a:r>
            <a:r>
              <a:rPr lang="en-US" sz="2400" kern="1200" dirty="0">
                <a:latin typeface="Consolas" panose="020B0609020204030204" pitchFamily="49" charset="0"/>
                <a:cs typeface="Consolas" panose="020B0609020204030204" pitchFamily="49" charset="0"/>
              </a:rPr>
              <a:t>Date</a:t>
            </a:r>
            <a:r>
              <a:rPr lang="en-US" sz="2400" kern="1200" dirty="0">
                <a:latin typeface="+mn-lt"/>
              </a:rPr>
              <a:t> object </a:t>
            </a:r>
            <a:r>
              <a:rPr lang="en-US" sz="2400" kern="1200" dirty="0">
                <a:latin typeface="Consolas" panose="020B0609020204030204" pitchFamily="49" charset="0"/>
                <a:cs typeface="Consolas" panose="020B0609020204030204" pitchFamily="49" charset="0"/>
              </a:rPr>
              <a:t>temp</a:t>
            </a:r>
            <a:r>
              <a:rPr lang="en-US" sz="2400" kern="1200" dirty="0">
                <a:latin typeface="+mn-lt"/>
              </a:rPr>
              <a:t>, because a local variable is destroyed when the function in which it’s declared exits.</a:t>
            </a:r>
            <a:endParaRPr lang="en-US" sz="2400" dirty="0">
              <a:latin typeface="+mn-lt"/>
            </a:endParaRPr>
          </a:p>
        </p:txBody>
      </p:sp>
    </p:spTree>
    <p:extLst>
      <p:ext uri="{BB962C8B-B14F-4D97-AF65-F5344CB8AC3E}">
        <p14:creationId xmlns:p14="http://schemas.microsoft.com/office/powerpoint/2010/main" val="386503354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Programming Error </a:t>
            </a:r>
            <a:r>
              <a:rPr lang="en-US" dirty="0" smtClean="0"/>
              <a:t>18.1</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Returning a reference (or a pointer) to a local variable is a common error for which </a:t>
            </a:r>
            <a:r>
              <a:rPr lang="en-US" sz="2400" dirty="0" smtClean="0">
                <a:latin typeface="+mn-lt"/>
              </a:rPr>
              <a:t>most compilers </a:t>
            </a:r>
            <a:r>
              <a:rPr lang="en-US" sz="2400" dirty="0">
                <a:latin typeface="+mn-lt"/>
              </a:rPr>
              <a:t>will issue a warning.</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18.9 Dynamic Memory Management </a:t>
            </a:r>
            <a:r>
              <a:rPr lang="en-US" altLang="en-US" sz="2000" b="0" kern="1200" dirty="0" smtClean="0">
                <a:latin typeface="Times New Roman" panose="02020603050405020304" pitchFamily="18" charset="0"/>
                <a:ea typeface="+mj-ea"/>
                <a:cs typeface="+mj-cs"/>
              </a:rPr>
              <a:t>(1 of 8)</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467344" cy="4632007"/>
          </a:xfrm>
        </p:spPr>
        <p:txBody>
          <a:bodyPr wrap="square">
            <a:spAutoFit/>
          </a:bodyPr>
          <a:lstStyle/>
          <a:p>
            <a:pPr marL="255651" indent="-255651" eaLnBrk="1" hangingPunct="1">
              <a:tabLst/>
              <a:defRPr/>
            </a:pPr>
            <a:r>
              <a:rPr lang="en-US" altLang="en-US" sz="1800" kern="1200" dirty="0">
                <a:solidFill>
                  <a:srgbClr val="000000"/>
                </a:solidFill>
                <a:latin typeface="Arial (Body)"/>
                <a:ea typeface="+mn-ea"/>
                <a:cs typeface="+mn-cs"/>
              </a:rPr>
              <a:t>You can control the </a:t>
            </a:r>
            <a:r>
              <a:rPr lang="en-US" altLang="en-US" sz="1800" b="1" kern="1200" dirty="0">
                <a:solidFill>
                  <a:srgbClr val="000000"/>
                </a:solidFill>
                <a:latin typeface="Arial (Body)"/>
                <a:ea typeface="+mn-ea"/>
                <a:cs typeface="+mn-cs"/>
              </a:rPr>
              <a:t>allocation</a:t>
            </a:r>
            <a:r>
              <a:rPr lang="en-US" altLang="en-US" sz="1800" kern="1200" dirty="0">
                <a:solidFill>
                  <a:srgbClr val="000000"/>
                </a:solidFill>
                <a:latin typeface="Arial (Body)"/>
                <a:ea typeface="+mn-ea"/>
                <a:cs typeface="+mn-cs"/>
              </a:rPr>
              <a:t> and </a:t>
            </a:r>
            <a:r>
              <a:rPr lang="en-US" altLang="en-US" sz="1800" b="1" kern="1200" dirty="0">
                <a:solidFill>
                  <a:srgbClr val="000000"/>
                </a:solidFill>
                <a:latin typeface="Arial (Body)"/>
                <a:ea typeface="+mn-ea"/>
                <a:cs typeface="+mn-cs"/>
              </a:rPr>
              <a:t>deallocation</a:t>
            </a:r>
            <a:r>
              <a:rPr lang="en-US" altLang="en-US" sz="1800" kern="1200" dirty="0">
                <a:solidFill>
                  <a:srgbClr val="000000"/>
                </a:solidFill>
                <a:latin typeface="Arial (Body)"/>
                <a:ea typeface="+mn-ea"/>
                <a:cs typeface="+mn-cs"/>
              </a:rPr>
              <a:t> of memory in a program for objects and for arrays of any built-in or user-defined type.</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ea typeface="+mn-ea"/>
                <a:cs typeface="+mn-cs"/>
              </a:rPr>
              <a:t>Known as </a:t>
            </a:r>
            <a:r>
              <a:rPr lang="en-US" altLang="en-US" sz="1800" b="1" kern="1200" dirty="0">
                <a:solidFill>
                  <a:srgbClr val="000000"/>
                </a:solidFill>
                <a:latin typeface="Arial (Body)"/>
                <a:ea typeface="+mn-ea"/>
                <a:cs typeface="+mn-cs"/>
              </a:rPr>
              <a:t>dynamic memory management</a:t>
            </a:r>
            <a:r>
              <a:rPr lang="en-US" altLang="en-US" sz="1800" kern="1200" dirty="0">
                <a:solidFill>
                  <a:srgbClr val="000000"/>
                </a:solidFill>
                <a:latin typeface="Arial (Body)"/>
                <a:ea typeface="+mn-ea"/>
                <a:cs typeface="+mn-cs"/>
              </a:rPr>
              <a:t>; performed with </a:t>
            </a:r>
            <a:r>
              <a:rPr lang="en-US" altLang="en-US" sz="1800" b="1" kern="1200" dirty="0">
                <a:solidFill>
                  <a:srgbClr val="000000"/>
                </a:solidFill>
                <a:latin typeface="Consolas" panose="020B0609020204030204" pitchFamily="49" charset="0"/>
                <a:ea typeface="+mn-ea"/>
                <a:cs typeface="Consolas" panose="020B0609020204030204" pitchFamily="49" charset="0"/>
              </a:rPr>
              <a:t>new</a:t>
            </a:r>
            <a:r>
              <a:rPr lang="en-US" altLang="en-US" sz="1800" kern="1200" dirty="0">
                <a:solidFill>
                  <a:srgbClr val="000000"/>
                </a:solidFill>
                <a:latin typeface="Arial (Body)"/>
                <a:ea typeface="+mn-ea"/>
                <a:cs typeface="+mn-cs"/>
              </a:rPr>
              <a:t> and </a:t>
            </a:r>
            <a:r>
              <a:rPr lang="en-US" altLang="en-US" sz="1800" b="1" kern="1200" dirty="0" smtClean="0">
                <a:solidFill>
                  <a:srgbClr val="000000"/>
                </a:solidFill>
                <a:latin typeface="Consolas" panose="020B0609020204030204" pitchFamily="49" charset="0"/>
                <a:ea typeface="+mn-ea"/>
                <a:cs typeface="Consolas" panose="020B0609020204030204" pitchFamily="49" charset="0"/>
              </a:rPr>
              <a:t>delete</a:t>
            </a:r>
            <a:r>
              <a:rPr lang="en-US" altLang="en-US" sz="1800" kern="1200" dirty="0" smtClean="0">
                <a:solidFill>
                  <a:srgbClr val="000000"/>
                </a:solidFill>
                <a:latin typeface="Arial (Body)"/>
                <a:ea typeface="+mn-ea"/>
                <a:cs typeface="+mn-cs"/>
              </a:rPr>
              <a:t>.</a:t>
            </a:r>
            <a:endParaRPr lang="en-US" altLang="en-US" sz="1800" kern="1200" dirty="0">
              <a:solidFill>
                <a:srgbClr val="000000"/>
              </a:solidFill>
              <a:latin typeface="Arial (Body)"/>
              <a:ea typeface="+mn-ea"/>
              <a:cs typeface="+mn-cs"/>
            </a:endParaRPr>
          </a:p>
          <a:p>
            <a:pPr marL="255651" indent="-255651" eaLnBrk="1" hangingPunct="1">
              <a:tabLst/>
              <a:defRPr/>
            </a:pPr>
            <a:r>
              <a:rPr lang="en-US" altLang="en-US" sz="1800" kern="1200" dirty="0">
                <a:solidFill>
                  <a:srgbClr val="000000"/>
                </a:solidFill>
                <a:latin typeface="Arial (Body)"/>
                <a:ea typeface="+mn-ea"/>
                <a:cs typeface="+mn-cs"/>
              </a:rPr>
              <a:t>You can use the new operator to dynamically </a:t>
            </a:r>
            <a:r>
              <a:rPr lang="en-US" altLang="en-US" sz="1800" b="1" kern="1200" dirty="0">
                <a:solidFill>
                  <a:srgbClr val="000000"/>
                </a:solidFill>
                <a:latin typeface="Arial (Body)"/>
                <a:ea typeface="+mn-ea"/>
                <a:cs typeface="+mn-cs"/>
              </a:rPr>
              <a:t>allocate</a:t>
            </a:r>
            <a:r>
              <a:rPr lang="en-US" altLang="en-US" sz="1800" kern="1200" dirty="0">
                <a:solidFill>
                  <a:srgbClr val="000000"/>
                </a:solidFill>
                <a:latin typeface="Arial (Body)"/>
                <a:ea typeface="+mn-ea"/>
                <a:cs typeface="+mn-cs"/>
              </a:rPr>
              <a:t> (i.e., reserve) the exact amount of memory required to hold an object or built-in array at execution time</a:t>
            </a:r>
            <a:r>
              <a:rPr lang="en-US" altLang="en-US" sz="1800" kern="1200" dirty="0" smtClean="0">
                <a:solidFill>
                  <a:srgbClr val="000000"/>
                </a:solidFill>
                <a:latin typeface="Arial (Body)"/>
                <a:ea typeface="+mn-ea"/>
                <a:cs typeface="+mn-cs"/>
              </a:rPr>
              <a:t>.</a:t>
            </a:r>
          </a:p>
          <a:p>
            <a:pPr marL="255651" indent="-255651" eaLnBrk="1" hangingPunct="1">
              <a:tabLst/>
              <a:defRPr/>
            </a:pPr>
            <a:r>
              <a:rPr lang="en-US" altLang="en-US" sz="1800" kern="1200" dirty="0">
                <a:solidFill>
                  <a:srgbClr val="000000"/>
                </a:solidFill>
                <a:latin typeface="Arial (Body)"/>
              </a:rPr>
              <a:t>The object or built-in array is created in the </a:t>
            </a:r>
            <a:r>
              <a:rPr lang="en-US" altLang="en-US" sz="1800" b="1" kern="1200" dirty="0">
                <a:solidFill>
                  <a:srgbClr val="000000"/>
                </a:solidFill>
                <a:latin typeface="Arial (Body)"/>
              </a:rPr>
              <a:t>free store</a:t>
            </a:r>
            <a:r>
              <a:rPr lang="en-US" altLang="en-US" sz="1800" kern="1200" dirty="0">
                <a:solidFill>
                  <a:srgbClr val="000000"/>
                </a:solidFill>
                <a:latin typeface="Arial (Body)"/>
              </a:rPr>
              <a:t> (also called the </a:t>
            </a:r>
            <a:r>
              <a:rPr lang="en-US" altLang="en-US" sz="1800" b="1" kern="1200" dirty="0">
                <a:solidFill>
                  <a:srgbClr val="000000"/>
                </a:solidFill>
                <a:latin typeface="Arial (Body)"/>
              </a:rPr>
              <a:t>heap</a:t>
            </a:r>
            <a:r>
              <a:rPr lang="en-US" altLang="en-US" sz="1800" kern="1200" dirty="0">
                <a:solidFill>
                  <a:srgbClr val="000000"/>
                </a:solidFill>
                <a:latin typeface="Arial (Body)"/>
              </a:rPr>
              <a:t>)—</a:t>
            </a:r>
            <a:r>
              <a:rPr lang="en-US" altLang="en-US" sz="1800" b="1" kern="1200" dirty="0">
                <a:solidFill>
                  <a:srgbClr val="000000"/>
                </a:solidFill>
                <a:latin typeface="Arial (Body)"/>
              </a:rPr>
              <a:t>a region of memory assigned to each program for storing dynamically allocated objects.</a:t>
            </a:r>
          </a:p>
          <a:p>
            <a:pPr marL="255651" indent="-255651" eaLnBrk="1" hangingPunct="1">
              <a:tabLst/>
              <a:defRPr/>
            </a:pPr>
            <a:r>
              <a:rPr lang="en-US" altLang="en-US" sz="1800" kern="1200" dirty="0">
                <a:solidFill>
                  <a:srgbClr val="000000"/>
                </a:solidFill>
                <a:latin typeface="Arial (Body)"/>
              </a:rPr>
              <a:t>Once memory is allocated in the free store, you can access it via the pointer that operator new returns.</a:t>
            </a:r>
          </a:p>
          <a:p>
            <a:pPr marL="255651" indent="-255651" eaLnBrk="1" hangingPunct="1">
              <a:tabLst/>
              <a:defRPr/>
            </a:pPr>
            <a:r>
              <a:rPr lang="en-US" altLang="en-US" sz="1800" kern="1200" dirty="0">
                <a:solidFill>
                  <a:srgbClr val="000000"/>
                </a:solidFill>
                <a:latin typeface="Arial (Body)"/>
              </a:rPr>
              <a:t>You can return memory to the free store by using the </a:t>
            </a:r>
            <a:r>
              <a:rPr lang="en-US" altLang="en-US" sz="1800" kern="1200" dirty="0">
                <a:solidFill>
                  <a:srgbClr val="000000"/>
                </a:solidFill>
                <a:latin typeface="Consolas" panose="020B0609020204030204" pitchFamily="49" charset="0"/>
                <a:cs typeface="Consolas" panose="020B0609020204030204" pitchFamily="49" charset="0"/>
              </a:rPr>
              <a:t>delete</a:t>
            </a:r>
            <a:r>
              <a:rPr lang="en-US" altLang="en-US" sz="1800" kern="1200" dirty="0">
                <a:solidFill>
                  <a:srgbClr val="000000"/>
                </a:solidFill>
                <a:latin typeface="Arial (Body)"/>
              </a:rPr>
              <a:t> operator to </a:t>
            </a:r>
            <a:r>
              <a:rPr lang="en-US" altLang="en-US" sz="1800" b="1" kern="1200" dirty="0">
                <a:solidFill>
                  <a:srgbClr val="000000"/>
                </a:solidFill>
                <a:latin typeface="Arial (Body)"/>
              </a:rPr>
              <a:t>deallocate</a:t>
            </a:r>
            <a:r>
              <a:rPr lang="en-US" altLang="en-US" sz="1800" kern="1200" dirty="0">
                <a:solidFill>
                  <a:srgbClr val="000000"/>
                </a:solidFill>
                <a:latin typeface="Arial (Body)"/>
              </a:rPr>
              <a:t> it.</a:t>
            </a:r>
            <a:endParaRPr lang="en-US" altLang="en-US" sz="18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18.9 Dynamic Memory Management </a:t>
            </a:r>
            <a:r>
              <a:rPr lang="en-US" altLang="en-US" sz="2000" b="0" kern="1200" dirty="0" smtClean="0">
                <a:latin typeface="Times New Roman" panose="02020603050405020304" pitchFamily="18" charset="0"/>
                <a:ea typeface="+mj-ea"/>
                <a:cs typeface="+mj-cs"/>
              </a:rPr>
              <a:t>(2 of 8)</a:t>
            </a:r>
            <a:endParaRPr lang="en-US" altLang="en-US" sz="2000" b="0" kern="1200" dirty="0">
              <a:latin typeface="Times New Roman" panose="02020603050405020304" pitchFamily="18" charset="0"/>
              <a:ea typeface="+mj-ea"/>
              <a:cs typeface="+mj-cs"/>
            </a:endParaRPr>
          </a:p>
        </p:txBody>
      </p:sp>
      <p:sp>
        <p:nvSpPr>
          <p:cNvPr id="6" name="Text Placeholder 5"/>
          <p:cNvSpPr>
            <a:spLocks noGrp="1"/>
          </p:cNvSpPr>
          <p:nvPr>
            <p:ph type="body" idx="1"/>
          </p:nvPr>
        </p:nvSpPr>
        <p:spPr/>
        <p:txBody>
          <a:bodyPr/>
          <a:lstStyle/>
          <a:p>
            <a:pPr marL="256032" indent="-256032" eaLnBrk="1" hangingPunct="1">
              <a:buNone/>
              <a:tabLst/>
              <a:defRPr/>
            </a:pPr>
            <a:r>
              <a:rPr lang="en-US" sz="2400" b="1" kern="1200" dirty="0">
                <a:solidFill>
                  <a:srgbClr val="000000"/>
                </a:solidFill>
                <a:latin typeface="Arial (Body)"/>
              </a:rPr>
              <a:t>Obtaining Dynamic Memory with new</a:t>
            </a:r>
          </a:p>
          <a:p>
            <a:pPr marL="256032" indent="-256032" eaLnBrk="1" hangingPunct="1">
              <a:tabLst/>
              <a:defRPr/>
            </a:pPr>
            <a:r>
              <a:rPr lang="en-US" sz="2400" kern="1200" dirty="0">
                <a:solidFill>
                  <a:srgbClr val="000000"/>
                </a:solidFill>
                <a:latin typeface="Arial (Body)"/>
              </a:rPr>
              <a:t>The </a:t>
            </a:r>
            <a:r>
              <a:rPr lang="en-US" sz="2400" kern="1200" dirty="0">
                <a:solidFill>
                  <a:srgbClr val="000000"/>
                </a:solidFill>
                <a:latin typeface="Consolas" panose="020B0609020204030204" pitchFamily="49" charset="0"/>
                <a:cs typeface="Consolas" panose="020B0609020204030204" pitchFamily="49" charset="0"/>
              </a:rPr>
              <a:t>new</a:t>
            </a:r>
            <a:r>
              <a:rPr lang="en-US" sz="2400" kern="1200" dirty="0">
                <a:solidFill>
                  <a:srgbClr val="000000"/>
                </a:solidFill>
                <a:latin typeface="Arial (Body)"/>
              </a:rPr>
              <a:t> operator allocates storage of the proper size for an object of type </a:t>
            </a:r>
            <a:r>
              <a:rPr lang="en-US" sz="2400" kern="1200" dirty="0">
                <a:solidFill>
                  <a:srgbClr val="000000"/>
                </a:solidFill>
                <a:latin typeface="Consolas" panose="020B0609020204030204" pitchFamily="49" charset="0"/>
                <a:cs typeface="Consolas" panose="020B0609020204030204" pitchFamily="49" charset="0"/>
              </a:rPr>
              <a:t>Time</a:t>
            </a:r>
            <a:r>
              <a:rPr lang="en-US" sz="2400" kern="1200" dirty="0">
                <a:solidFill>
                  <a:srgbClr val="000000"/>
                </a:solidFill>
                <a:latin typeface="Arial (Body)"/>
              </a:rPr>
              <a:t>, calls the default constructor to initialize the object and returns a pointer to the type specified to the right of the </a:t>
            </a:r>
            <a:r>
              <a:rPr lang="en-US" sz="2400" kern="1200" dirty="0">
                <a:solidFill>
                  <a:srgbClr val="000000"/>
                </a:solidFill>
                <a:latin typeface="Consolas" panose="020B0609020204030204" pitchFamily="49" charset="0"/>
                <a:cs typeface="Consolas" panose="020B0609020204030204" pitchFamily="49" charset="0"/>
              </a:rPr>
              <a:t>new</a:t>
            </a:r>
            <a:r>
              <a:rPr lang="en-US" sz="2400" kern="1200" dirty="0">
                <a:solidFill>
                  <a:srgbClr val="000000"/>
                </a:solidFill>
                <a:latin typeface="Arial (Body)"/>
              </a:rPr>
              <a:t> operator (i.e., a </a:t>
            </a:r>
            <a:r>
              <a:rPr lang="en-US" sz="2400" kern="1200" dirty="0">
                <a:solidFill>
                  <a:srgbClr val="000000"/>
                </a:solidFill>
                <a:latin typeface="Consolas" panose="020B0609020204030204" pitchFamily="49" charset="0"/>
              </a:rPr>
              <a:t>Time</a:t>
            </a:r>
            <a:r>
              <a:rPr lang="en-US" sz="2400" kern="1200" dirty="0">
                <a:solidFill>
                  <a:srgbClr val="000000"/>
                </a:solidFill>
                <a:latin typeface="Arial (Body)"/>
              </a:rPr>
              <a:t> *).</a:t>
            </a:r>
          </a:p>
          <a:p>
            <a:pPr marL="256032" indent="-256032" eaLnBrk="1" hangingPunct="1">
              <a:defRPr/>
            </a:pPr>
            <a:r>
              <a:rPr lang="en-US" sz="2400" kern="1200" dirty="0">
                <a:solidFill>
                  <a:srgbClr val="000000"/>
                </a:solidFill>
              </a:rPr>
              <a:t>If </a:t>
            </a:r>
            <a:r>
              <a:rPr lang="en-US" sz="2400" kern="1200" dirty="0">
                <a:solidFill>
                  <a:srgbClr val="000000"/>
                </a:solidFill>
                <a:latin typeface="Consolas" panose="020B0609020204030204" pitchFamily="49" charset="0"/>
                <a:cs typeface="Consolas" panose="020B0609020204030204" pitchFamily="49" charset="0"/>
              </a:rPr>
              <a:t>new</a:t>
            </a:r>
            <a:r>
              <a:rPr lang="en-US" sz="2400" kern="1200" dirty="0">
                <a:solidFill>
                  <a:srgbClr val="000000"/>
                </a:solidFill>
              </a:rPr>
              <a:t> is unable to find sufficient space in memory for the object, it indicates that an error occurred by “throwing an exception</a:t>
            </a:r>
            <a:r>
              <a:rPr lang="en-US" sz="2400" kern="1200" dirty="0" smtClean="0">
                <a:solidFill>
                  <a:srgbClr val="000000"/>
                </a:solidFill>
              </a:rPr>
              <a:t>.”</a:t>
            </a:r>
            <a:endParaRPr lang="en-US" sz="2400"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18.9 Dynamic Memory Management </a:t>
            </a:r>
            <a:r>
              <a:rPr lang="en-US" altLang="en-US" sz="2000" b="0" kern="1200" dirty="0" smtClean="0">
                <a:latin typeface="Times New Roman" panose="02020603050405020304" pitchFamily="18" charset="0"/>
                <a:ea typeface="+mj-ea"/>
                <a:cs typeface="+mj-cs"/>
              </a:rPr>
              <a:t>(3 of 8)</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931268"/>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Releasing Dynamic Memory with </a:t>
            </a:r>
            <a:r>
              <a:rPr lang="en-US" sz="2400" b="1" kern="1200" dirty="0">
                <a:solidFill>
                  <a:srgbClr val="000000"/>
                </a:solidFill>
                <a:latin typeface="Consolas" panose="020B0609020204030204" pitchFamily="49" charset="0"/>
                <a:ea typeface="+mn-ea"/>
                <a:cs typeface="Consolas" panose="020B0609020204030204" pitchFamily="49" charset="0"/>
              </a:rPr>
              <a:t>delete</a:t>
            </a:r>
          </a:p>
          <a:p>
            <a:pPr marL="255651" indent="-255651" eaLnBrk="1" hangingPunct="1">
              <a:tabLst/>
              <a:defRPr/>
            </a:pPr>
            <a:r>
              <a:rPr lang="en-US" sz="2400" kern="1200" dirty="0">
                <a:solidFill>
                  <a:srgbClr val="000000"/>
                </a:solidFill>
                <a:latin typeface="Arial (Body)"/>
                <a:ea typeface="+mn-ea"/>
                <a:cs typeface="+mn-cs"/>
              </a:rPr>
              <a:t>To destroy a dynamically allocated object, use the </a:t>
            </a:r>
            <a:r>
              <a:rPr lang="en-US" sz="2400" kern="1200" dirty="0">
                <a:solidFill>
                  <a:srgbClr val="000000"/>
                </a:solidFill>
                <a:latin typeface="Consolas" panose="020B0609020204030204" pitchFamily="49" charset="0"/>
                <a:ea typeface="+mn-ea"/>
                <a:cs typeface="+mn-cs"/>
              </a:rPr>
              <a:t>delete</a:t>
            </a:r>
            <a:r>
              <a:rPr lang="en-US" sz="2400" kern="1200" dirty="0">
                <a:solidFill>
                  <a:srgbClr val="000000"/>
                </a:solidFill>
                <a:latin typeface="Arial (Body)"/>
                <a:ea typeface="+mn-ea"/>
                <a:cs typeface="+mn-cs"/>
              </a:rPr>
              <a:t> operator as follows</a:t>
            </a:r>
            <a:r>
              <a:rPr lang="en-US" sz="2400" kern="1200" dirty="0" smtClean="0">
                <a:solidFill>
                  <a:srgbClr val="000000"/>
                </a:solidFill>
                <a:latin typeface="Arial (Body)"/>
                <a:ea typeface="+mn-ea"/>
                <a:cs typeface="+mn-cs"/>
              </a:rPr>
              <a:t>:</a:t>
            </a:r>
          </a:p>
          <a:p>
            <a:pPr marL="742569" lvl="1" eaLnBrk="1" hangingPunct="1">
              <a:defRPr/>
            </a:pPr>
            <a:r>
              <a:rPr lang="en-US" sz="2400" kern="1200" dirty="0" smtClean="0">
                <a:solidFill>
                  <a:srgbClr val="000000"/>
                </a:solidFill>
                <a:latin typeface="Arial (Body)"/>
                <a:ea typeface="+mn-ea"/>
                <a:cs typeface="+mn-cs"/>
              </a:rPr>
              <a:t> </a:t>
            </a:r>
          </a:p>
        </p:txBody>
      </p:sp>
      <p:pic>
        <p:nvPicPr>
          <p:cNvPr id="6" name="Picture 5" descr="delete p t r semicolon."/>
          <p:cNvPicPr>
            <a:picLocks noChangeAspect="1"/>
          </p:cNvPicPr>
          <p:nvPr/>
        </p:nvPicPr>
        <p:blipFill rotWithShape="1">
          <a:blip r:embed="rId2"/>
          <a:srcRect l="15988" t="12667" r="2553" b="24288"/>
          <a:stretch/>
        </p:blipFill>
        <p:spPr>
          <a:xfrm>
            <a:off x="1293606" y="3047887"/>
            <a:ext cx="2007378" cy="404280"/>
          </a:xfrm>
          <a:prstGeom prst="rect">
            <a:avLst/>
          </a:prstGeom>
        </p:spPr>
      </p:pic>
      <p:sp>
        <p:nvSpPr>
          <p:cNvPr id="5" name="Text Placeholder 4"/>
          <p:cNvSpPr>
            <a:spLocks noGrp="1"/>
          </p:cNvSpPr>
          <p:nvPr>
            <p:ph type="body" idx="2"/>
          </p:nvPr>
        </p:nvSpPr>
        <p:spPr>
          <a:xfrm>
            <a:off x="457200" y="3520441"/>
            <a:ext cx="8229600" cy="1645920"/>
          </a:xfrm>
        </p:spPr>
        <p:txBody>
          <a:bodyPr/>
          <a:lstStyle/>
          <a:p>
            <a:r>
              <a:rPr lang="en-US" sz="2400" kern="1200" dirty="0">
                <a:solidFill>
                  <a:srgbClr val="000000"/>
                </a:solidFill>
                <a:latin typeface="Arial (Body)"/>
              </a:rPr>
              <a:t>This statement first </a:t>
            </a:r>
            <a:r>
              <a:rPr lang="en-US" sz="2400" b="1" kern="1200" dirty="0">
                <a:solidFill>
                  <a:srgbClr val="000000"/>
                </a:solidFill>
                <a:latin typeface="Arial (Body)"/>
              </a:rPr>
              <a:t>calls the destructor for the object to which </a:t>
            </a:r>
            <a:r>
              <a:rPr lang="en-US" sz="2400" b="1" kern="1200" dirty="0" smtClean="0">
                <a:solidFill>
                  <a:srgbClr val="000000"/>
                </a:solidFill>
                <a:latin typeface="Consolas" panose="020B0609020204030204" pitchFamily="49" charset="0"/>
                <a:cs typeface="Consolas" panose="020B0609020204030204" pitchFamily="49" charset="0"/>
              </a:rPr>
              <a:t>p</a:t>
            </a:r>
            <a:r>
              <a:rPr lang="en-US" sz="100" b="1" kern="1200" dirty="0" smtClean="0">
                <a:solidFill>
                  <a:srgbClr val="000000"/>
                </a:solidFill>
                <a:latin typeface="Consolas" panose="020B0609020204030204" pitchFamily="49" charset="0"/>
                <a:cs typeface="Consolas" panose="020B0609020204030204" pitchFamily="49" charset="0"/>
              </a:rPr>
              <a:t> </a:t>
            </a:r>
            <a:r>
              <a:rPr lang="en-US" sz="2400" b="1" kern="1200" dirty="0" smtClean="0">
                <a:solidFill>
                  <a:srgbClr val="000000"/>
                </a:solidFill>
                <a:latin typeface="Consolas" panose="020B0609020204030204" pitchFamily="49" charset="0"/>
                <a:cs typeface="Consolas" panose="020B0609020204030204" pitchFamily="49" charset="0"/>
              </a:rPr>
              <a:t>t</a:t>
            </a:r>
            <a:r>
              <a:rPr lang="en-US" sz="100" b="1" kern="1200" dirty="0" smtClean="0">
                <a:solidFill>
                  <a:srgbClr val="000000"/>
                </a:solidFill>
                <a:latin typeface="Consolas" panose="020B0609020204030204" pitchFamily="49" charset="0"/>
                <a:cs typeface="Consolas" panose="020B0609020204030204" pitchFamily="49" charset="0"/>
              </a:rPr>
              <a:t> </a:t>
            </a:r>
            <a:r>
              <a:rPr lang="en-US" sz="2400" b="1" kern="1200" dirty="0" smtClean="0">
                <a:solidFill>
                  <a:srgbClr val="000000"/>
                </a:solidFill>
                <a:latin typeface="Consolas" panose="020B0609020204030204" pitchFamily="49" charset="0"/>
                <a:cs typeface="Consolas" panose="020B0609020204030204" pitchFamily="49" charset="0"/>
              </a:rPr>
              <a:t>r</a:t>
            </a:r>
            <a:r>
              <a:rPr lang="en-US" sz="2400" b="1" kern="1200" dirty="0" smtClean="0">
                <a:solidFill>
                  <a:srgbClr val="000000"/>
                </a:solidFill>
                <a:latin typeface="Arial (Body)"/>
              </a:rPr>
              <a:t> </a:t>
            </a:r>
            <a:r>
              <a:rPr lang="en-US" sz="2400" b="1" kern="1200" dirty="0">
                <a:solidFill>
                  <a:srgbClr val="000000"/>
                </a:solidFill>
                <a:latin typeface="Arial (Body)"/>
              </a:rPr>
              <a:t>points, then deallocates the memory associated with the object, returning the memory to the free store</a:t>
            </a:r>
            <a:r>
              <a:rPr lang="en-US" sz="2400" b="1" kern="1200" dirty="0" smtClean="0">
                <a:solidFill>
                  <a:srgbClr val="000000"/>
                </a:solidFill>
                <a:latin typeface="Arial (Body)"/>
              </a:rPr>
              <a:t>.</a:t>
            </a:r>
            <a:endParaRPr lang="en-US" sz="2400" b="1"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Programming Error </a:t>
            </a:r>
            <a:r>
              <a:rPr lang="en-US" dirty="0" smtClean="0"/>
              <a:t>18.2</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Not releasing dynamically allocated memory when it’s no longer needed can cause the </a:t>
            </a:r>
            <a:r>
              <a:rPr lang="en-US" sz="2400" dirty="0" smtClean="0">
                <a:latin typeface="+mn-lt"/>
              </a:rPr>
              <a:t>system to </a:t>
            </a:r>
            <a:r>
              <a:rPr lang="en-US" sz="2400" dirty="0">
                <a:latin typeface="+mn-lt"/>
              </a:rPr>
              <a:t>run out of memory prematurely. This is sometimes called a “</a:t>
            </a:r>
            <a:r>
              <a:rPr lang="en-US" sz="2400" b="1" dirty="0">
                <a:latin typeface="+mn-lt"/>
              </a:rPr>
              <a:t>memory leak</a:t>
            </a:r>
            <a:r>
              <a:rPr lang="en-US" sz="2400" dirty="0">
                <a:latin typeface="+mn-lt"/>
              </a:rPr>
              <a:t>.”</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Error-Prevention Tip </a:t>
            </a:r>
            <a:r>
              <a:rPr lang="en-US" dirty="0" smtClean="0"/>
              <a:t>18.1</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Do not delete memory that was not allocated by </a:t>
            </a:r>
            <a:r>
              <a:rPr lang="en-US" sz="2400" dirty="0">
                <a:latin typeface="Consolas" panose="020B0609020204030204" pitchFamily="49" charset="0"/>
                <a:cs typeface="Consolas" panose="020B0609020204030204" pitchFamily="49" charset="0"/>
              </a:rPr>
              <a:t>new</a:t>
            </a:r>
            <a:r>
              <a:rPr lang="en-US" sz="2400" dirty="0">
                <a:latin typeface="+mn-lt"/>
              </a:rPr>
              <a:t>. Doing so results in undefined behavior.</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Error-Prevention Tip </a:t>
            </a:r>
            <a:r>
              <a:rPr lang="en-US" dirty="0" smtClean="0"/>
              <a:t>18.2</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After you delete a block of dynamically allocated memory be sure not to delete the </a:t>
            </a:r>
            <a:r>
              <a:rPr lang="en-US" sz="2400" dirty="0" smtClean="0">
                <a:latin typeface="+mn-lt"/>
              </a:rPr>
              <a:t>same block </a:t>
            </a:r>
            <a:r>
              <a:rPr lang="en-US" sz="2400" dirty="0">
                <a:latin typeface="+mn-lt"/>
              </a:rPr>
              <a:t>again. One way to guard against this is to immediately set the pointer to </a:t>
            </a:r>
            <a:r>
              <a:rPr lang="en-US" sz="2400" dirty="0" smtClean="0">
                <a:latin typeface="Consolas" panose="020B0609020204030204" pitchFamily="49" charset="0"/>
                <a:cs typeface="Consolas" panose="020B0609020204030204" pitchFamily="49" charset="0"/>
              </a:rPr>
              <a:t>nullptr</a:t>
            </a:r>
            <a:r>
              <a:rPr lang="en-US" sz="2400" dirty="0" smtClean="0">
                <a:latin typeface="+mn-lt"/>
              </a:rPr>
              <a:t>. Deleting </a:t>
            </a:r>
            <a:r>
              <a:rPr lang="en-US" sz="2400" dirty="0">
                <a:latin typeface="+mn-lt"/>
              </a:rPr>
              <a:t>a </a:t>
            </a:r>
            <a:r>
              <a:rPr lang="en-US" sz="2400" dirty="0">
                <a:latin typeface="Consolas" panose="020B0609020204030204" pitchFamily="49" charset="0"/>
                <a:cs typeface="Consolas" panose="020B0609020204030204" pitchFamily="49" charset="0"/>
              </a:rPr>
              <a:t>nullptr</a:t>
            </a:r>
            <a:r>
              <a:rPr lang="en-US" sz="2400" dirty="0">
                <a:latin typeface="+mn-lt"/>
              </a:rPr>
              <a:t> has no effect.</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18.9 Dynamic Memory Management </a:t>
            </a:r>
            <a:r>
              <a:rPr lang="en-US" altLang="en-US" sz="2000" b="0" kern="1200" dirty="0" smtClean="0">
                <a:latin typeface="Times New Roman" panose="02020603050405020304" pitchFamily="18" charset="0"/>
                <a:ea typeface="+mj-ea"/>
                <a:cs typeface="+mj-cs"/>
              </a:rPr>
              <a:t>(4 of 8)</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931268"/>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Initializing Dynamic Memory</a:t>
            </a:r>
          </a:p>
          <a:p>
            <a:pPr marL="255651" indent="-255651" eaLnBrk="1" hangingPunct="1">
              <a:tabLst/>
              <a:defRPr/>
            </a:pPr>
            <a:r>
              <a:rPr lang="en-US" sz="2400" kern="1200" dirty="0">
                <a:solidFill>
                  <a:srgbClr val="000000"/>
                </a:solidFill>
                <a:latin typeface="Arial (Body)"/>
                <a:ea typeface="+mn-ea"/>
                <a:cs typeface="+mn-cs"/>
              </a:rPr>
              <a:t>You can provide an </a:t>
            </a:r>
            <a:r>
              <a:rPr lang="en-US" sz="2400" b="1" kern="1200" dirty="0">
                <a:solidFill>
                  <a:srgbClr val="000000"/>
                </a:solidFill>
                <a:latin typeface="Arial (Body)"/>
                <a:ea typeface="+mn-ea"/>
                <a:cs typeface="+mn-cs"/>
              </a:rPr>
              <a:t>initializer</a:t>
            </a:r>
            <a:r>
              <a:rPr lang="en-US" sz="2400" kern="1200" dirty="0">
                <a:solidFill>
                  <a:srgbClr val="000000"/>
                </a:solidFill>
                <a:latin typeface="Arial (Body)"/>
                <a:ea typeface="+mn-ea"/>
                <a:cs typeface="+mn-cs"/>
              </a:rPr>
              <a:t> for a newly created fundamental-type variable, as </a:t>
            </a:r>
            <a:r>
              <a:rPr lang="en-US" sz="2400" kern="1200" dirty="0" smtClean="0">
                <a:solidFill>
                  <a:srgbClr val="000000"/>
                </a:solidFill>
                <a:latin typeface="Arial (Body)"/>
                <a:ea typeface="+mn-ea"/>
                <a:cs typeface="+mn-cs"/>
              </a:rPr>
              <a:t>in</a:t>
            </a:r>
          </a:p>
          <a:p>
            <a:pPr marL="742569" lvl="1" eaLnBrk="1" hangingPunct="1">
              <a:defRPr/>
            </a:pPr>
            <a:r>
              <a:rPr lang="en-US" sz="2400" kern="1200" dirty="0" smtClean="0">
                <a:solidFill>
                  <a:srgbClr val="000000"/>
                </a:solidFill>
                <a:latin typeface="Arial (Body)"/>
                <a:ea typeface="+mn-ea"/>
                <a:cs typeface="+mn-cs"/>
              </a:rPr>
              <a:t> </a:t>
            </a:r>
            <a:endParaRPr lang="en-US" sz="2400" kern="1200" dirty="0">
              <a:solidFill>
                <a:srgbClr val="000000"/>
              </a:solidFill>
              <a:latin typeface="Arial (Body)"/>
              <a:ea typeface="+mn-ea"/>
              <a:cs typeface="+mn-cs"/>
            </a:endParaRPr>
          </a:p>
        </p:txBody>
      </p:sp>
      <p:pic>
        <p:nvPicPr>
          <p:cNvPr id="6" name="Picture 5" descr="The computer reads as follows. double asterisk p t r equals new double left parenthesis 3 period 14159 right parenthesis semicolon."/>
          <p:cNvPicPr>
            <a:picLocks noChangeAspect="1"/>
          </p:cNvPicPr>
          <p:nvPr/>
        </p:nvPicPr>
        <p:blipFill rotWithShape="1">
          <a:blip r:embed="rId2"/>
          <a:srcRect l="5983" t="15717" r="2479" b="21074"/>
          <a:stretch/>
        </p:blipFill>
        <p:spPr>
          <a:xfrm>
            <a:off x="1274822" y="3055672"/>
            <a:ext cx="6100580" cy="405332"/>
          </a:xfrm>
          <a:prstGeom prst="rect">
            <a:avLst/>
          </a:prstGeom>
        </p:spPr>
      </p:pic>
      <p:sp>
        <p:nvSpPr>
          <p:cNvPr id="5" name="Text Placeholder 4"/>
          <p:cNvSpPr>
            <a:spLocks noGrp="1"/>
          </p:cNvSpPr>
          <p:nvPr>
            <p:ph type="body" idx="2"/>
          </p:nvPr>
        </p:nvSpPr>
        <p:spPr>
          <a:xfrm>
            <a:off x="457200" y="3531468"/>
            <a:ext cx="8229600" cy="1188720"/>
          </a:xfrm>
        </p:spPr>
        <p:txBody>
          <a:bodyPr/>
          <a:lstStyle/>
          <a:p>
            <a:r>
              <a:rPr lang="en-US" sz="2400" kern="1200" dirty="0">
                <a:solidFill>
                  <a:srgbClr val="000000"/>
                </a:solidFill>
                <a:latin typeface="Arial (Body)"/>
              </a:rPr>
              <a:t>The same syntax can be used to specify a comma-separated list of arguments to the constructor of an object</a:t>
            </a:r>
            <a:r>
              <a:rPr lang="en-US" sz="2400" kern="1200" dirty="0" smtClean="0">
                <a:solidFill>
                  <a:srgbClr val="000000"/>
                </a:solidFill>
                <a:latin typeface="Arial (Body)"/>
              </a:rPr>
              <a:t>.</a:t>
            </a:r>
            <a:endParaRPr lang="en-US" sz="24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18.9 Dynamic Memory Management </a:t>
            </a:r>
            <a:r>
              <a:rPr lang="en-US" altLang="en-US" sz="2000" b="0" kern="1200" dirty="0" smtClean="0">
                <a:latin typeface="Times New Roman" panose="02020603050405020304" pitchFamily="18" charset="0"/>
                <a:ea typeface="+mj-ea"/>
                <a:cs typeface="+mj-cs"/>
              </a:rPr>
              <a:t>(5 of 8)</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492960"/>
          </a:xfrm>
        </p:spPr>
        <p:txBody>
          <a:bodyPr wrap="square">
            <a:spAutoFit/>
          </a:bodyPr>
          <a:lstStyle/>
          <a:p>
            <a:pPr marL="0" indent="0" eaLnBrk="1" hangingPunct="1">
              <a:buNone/>
              <a:tabLst/>
              <a:defRPr/>
            </a:pPr>
            <a:r>
              <a:rPr lang="en-US" sz="2000" b="1" kern="1200" dirty="0">
                <a:solidFill>
                  <a:srgbClr val="000000"/>
                </a:solidFill>
                <a:latin typeface="Arial (Body)"/>
                <a:ea typeface="+mn-ea"/>
                <a:cs typeface="+mn-cs"/>
              </a:rPr>
              <a:t>Dynamically Allocating Built-In Arrays with new </a:t>
            </a:r>
            <a:r>
              <a:rPr lang="en-US" sz="2000" b="1" kern="1200" dirty="0">
                <a:solidFill>
                  <a:srgbClr val="000000"/>
                </a:solidFill>
                <a:latin typeface="Consolas" panose="020B0609020204030204" pitchFamily="49" charset="0"/>
                <a:ea typeface="+mn-ea"/>
                <a:cs typeface="Consolas" panose="020B0609020204030204" pitchFamily="49" charset="0"/>
              </a:rPr>
              <a:t>[]</a:t>
            </a:r>
          </a:p>
          <a:p>
            <a:pPr marL="255651" indent="-255651" eaLnBrk="1" hangingPunct="1">
              <a:tabLst/>
              <a:defRPr/>
            </a:pPr>
            <a:r>
              <a:rPr lang="en-US" sz="2000" kern="1200" dirty="0">
                <a:solidFill>
                  <a:srgbClr val="000000"/>
                </a:solidFill>
                <a:latin typeface="Arial (Body)"/>
                <a:ea typeface="+mn-ea"/>
                <a:cs typeface="+mn-cs"/>
              </a:rPr>
              <a:t>You can also use the new operator to allocate built-in arrays dynamically.</a:t>
            </a:r>
          </a:p>
          <a:p>
            <a:pPr marL="255651" indent="-255651" eaLnBrk="1" hangingPunct="1">
              <a:tabLst/>
              <a:defRPr/>
            </a:pPr>
            <a:r>
              <a:rPr lang="en-US" sz="2000" kern="1200" dirty="0">
                <a:solidFill>
                  <a:srgbClr val="000000"/>
                </a:solidFill>
                <a:latin typeface="Arial (Body)"/>
                <a:ea typeface="+mn-ea"/>
                <a:cs typeface="+mn-cs"/>
              </a:rPr>
              <a:t>For example, a 10-element integer array can be allocated and assigned to </a:t>
            </a:r>
            <a:r>
              <a:rPr lang="en-US" sz="2000" kern="1200" dirty="0">
                <a:solidFill>
                  <a:srgbClr val="000000"/>
                </a:solidFill>
                <a:latin typeface="Consolas" panose="020B0609020204030204" pitchFamily="49" charset="0"/>
                <a:ea typeface="+mn-ea"/>
                <a:cs typeface="Consolas" panose="020B0609020204030204" pitchFamily="49" charset="0"/>
              </a:rPr>
              <a:t>gradesArray</a:t>
            </a:r>
            <a:r>
              <a:rPr lang="en-US" sz="2000" kern="1200" dirty="0">
                <a:solidFill>
                  <a:srgbClr val="000000"/>
                </a:solidFill>
                <a:latin typeface="Arial (Body)"/>
                <a:ea typeface="+mn-ea"/>
                <a:cs typeface="+mn-cs"/>
              </a:rPr>
              <a:t> as follows</a:t>
            </a:r>
            <a:r>
              <a:rPr lang="en-US" sz="2000" kern="1200" dirty="0" smtClean="0">
                <a:solidFill>
                  <a:srgbClr val="000000"/>
                </a:solidFill>
                <a:latin typeface="Arial (Body)"/>
                <a:ea typeface="+mn-ea"/>
                <a:cs typeface="+mn-cs"/>
              </a:rPr>
              <a:t>:</a:t>
            </a:r>
          </a:p>
          <a:p>
            <a:pPr marL="742569" lvl="1" eaLnBrk="1" hangingPunct="1">
              <a:defRPr/>
            </a:pPr>
            <a:r>
              <a:rPr lang="en-US" sz="2000" kern="1200" dirty="0" smtClean="0">
                <a:solidFill>
                  <a:srgbClr val="000000"/>
                </a:solidFill>
                <a:latin typeface="Arial (Body)"/>
                <a:ea typeface="+mn-ea"/>
                <a:cs typeface="+mn-cs"/>
              </a:rPr>
              <a:t> </a:t>
            </a:r>
          </a:p>
        </p:txBody>
      </p:sp>
      <p:pic>
        <p:nvPicPr>
          <p:cNvPr id="6" name="Picture 5" descr="The computer reads as follows. i n t asterisk grade Array equals new i n t left bracket 10 right bracket left parenthesis right parenthesis semicolon."/>
          <p:cNvPicPr>
            <a:picLocks noChangeAspect="1"/>
          </p:cNvPicPr>
          <p:nvPr/>
        </p:nvPicPr>
        <p:blipFill rotWithShape="1">
          <a:blip r:embed="rId2"/>
          <a:srcRect l="9094" t="11562" b="21552"/>
          <a:stretch/>
        </p:blipFill>
        <p:spPr>
          <a:xfrm>
            <a:off x="1253203" y="3656755"/>
            <a:ext cx="5004072" cy="348858"/>
          </a:xfrm>
          <a:prstGeom prst="rect">
            <a:avLst/>
          </a:prstGeom>
        </p:spPr>
      </p:pic>
      <p:sp>
        <p:nvSpPr>
          <p:cNvPr id="5" name="Text Placeholder 4"/>
          <p:cNvSpPr>
            <a:spLocks noGrp="1"/>
          </p:cNvSpPr>
          <p:nvPr>
            <p:ph type="body" idx="2"/>
          </p:nvPr>
        </p:nvSpPr>
        <p:spPr>
          <a:xfrm>
            <a:off x="457200" y="4136136"/>
            <a:ext cx="8229600" cy="2163763"/>
          </a:xfrm>
        </p:spPr>
        <p:txBody>
          <a:bodyPr/>
          <a:lstStyle/>
          <a:p>
            <a:r>
              <a:rPr lang="en-US" sz="2000" kern="1200" dirty="0">
                <a:solidFill>
                  <a:srgbClr val="000000"/>
                </a:solidFill>
                <a:latin typeface="Arial (Body)"/>
              </a:rPr>
              <a:t>The parentheses following new </a:t>
            </a:r>
            <a:r>
              <a:rPr lang="en-US" sz="2000" kern="1200" dirty="0">
                <a:solidFill>
                  <a:srgbClr val="000000"/>
                </a:solidFill>
                <a:latin typeface="Consolas" panose="020B0609020204030204" pitchFamily="49" charset="0"/>
                <a:cs typeface="Consolas" panose="020B0609020204030204" pitchFamily="49" charset="0"/>
              </a:rPr>
              <a:t>int[10]</a:t>
            </a:r>
            <a:r>
              <a:rPr lang="en-US" sz="2000" kern="1200" dirty="0">
                <a:solidFill>
                  <a:srgbClr val="000000"/>
                </a:solidFill>
                <a:latin typeface="Arial (Body)"/>
              </a:rPr>
              <a:t> value initialize the array’s elements—fundamental numeric types are set to </a:t>
            </a:r>
            <a:r>
              <a:rPr lang="en-US" sz="2000" kern="1200" dirty="0">
                <a:solidFill>
                  <a:srgbClr val="000000"/>
                </a:solidFill>
                <a:latin typeface="Consolas" panose="020B0609020204030204" pitchFamily="49" charset="0"/>
                <a:cs typeface="Consolas" panose="020B0609020204030204" pitchFamily="49" charset="0"/>
              </a:rPr>
              <a:t>0</a:t>
            </a:r>
            <a:r>
              <a:rPr lang="en-US" sz="2000" kern="1200" dirty="0">
                <a:solidFill>
                  <a:srgbClr val="000000"/>
                </a:solidFill>
                <a:latin typeface="Arial (Body)"/>
              </a:rPr>
              <a:t>, </a:t>
            </a:r>
            <a:r>
              <a:rPr lang="en-US" sz="2000" kern="1200" dirty="0">
                <a:solidFill>
                  <a:srgbClr val="000000"/>
                </a:solidFill>
                <a:latin typeface="Consolas" panose="020B0609020204030204" pitchFamily="49" charset="0"/>
                <a:cs typeface="Consolas" panose="020B0609020204030204" pitchFamily="49" charset="0"/>
              </a:rPr>
              <a:t>bools</a:t>
            </a:r>
            <a:r>
              <a:rPr lang="en-US" sz="2000" kern="1200" dirty="0">
                <a:solidFill>
                  <a:srgbClr val="000000"/>
                </a:solidFill>
                <a:latin typeface="Arial (Body)"/>
              </a:rPr>
              <a:t> are set to </a:t>
            </a:r>
            <a:r>
              <a:rPr lang="en-US" sz="2000" kern="1200" dirty="0">
                <a:solidFill>
                  <a:srgbClr val="000000"/>
                </a:solidFill>
                <a:latin typeface="Consolas" panose="020B0609020204030204" pitchFamily="49" charset="0"/>
                <a:cs typeface="Consolas" panose="020B0609020204030204" pitchFamily="49" charset="0"/>
              </a:rPr>
              <a:t>false</a:t>
            </a:r>
            <a:r>
              <a:rPr lang="en-US" sz="2000" kern="1200" dirty="0">
                <a:solidFill>
                  <a:srgbClr val="000000"/>
                </a:solidFill>
                <a:latin typeface="Arial (Body)"/>
              </a:rPr>
              <a:t>, pointers are set to </a:t>
            </a:r>
            <a:r>
              <a:rPr lang="en-US" sz="2000" kern="1200" dirty="0">
                <a:solidFill>
                  <a:srgbClr val="000000"/>
                </a:solidFill>
                <a:latin typeface="Consolas" panose="020B0609020204030204" pitchFamily="49" charset="0"/>
                <a:cs typeface="Consolas" panose="020B0609020204030204" pitchFamily="49" charset="0"/>
              </a:rPr>
              <a:t>nullptr</a:t>
            </a:r>
            <a:r>
              <a:rPr lang="en-US" sz="2000" kern="1200" dirty="0">
                <a:solidFill>
                  <a:srgbClr val="000000"/>
                </a:solidFill>
                <a:latin typeface="Arial (Body)"/>
              </a:rPr>
              <a:t> and class objects are initialized by their default constructors</a:t>
            </a:r>
            <a:r>
              <a:rPr lang="en-US" sz="2000" kern="1200" dirty="0" smtClean="0">
                <a:solidFill>
                  <a:srgbClr val="000000"/>
                </a:solidFill>
                <a:latin typeface="Arial (Body)"/>
              </a:rPr>
              <a:t>.</a:t>
            </a:r>
          </a:p>
          <a:p>
            <a:r>
              <a:rPr lang="en-US" sz="2000" kern="1200" dirty="0">
                <a:solidFill>
                  <a:srgbClr val="000000"/>
                </a:solidFill>
                <a:latin typeface="Arial (Body)"/>
              </a:rPr>
              <a:t>A dynamically allocated array’s size can be specified using </a:t>
            </a:r>
            <a:r>
              <a:rPr lang="en-US" sz="2000" b="1" kern="1200" dirty="0">
                <a:solidFill>
                  <a:srgbClr val="000000"/>
                </a:solidFill>
                <a:latin typeface="Arial (Body)"/>
              </a:rPr>
              <a:t>any</a:t>
            </a:r>
            <a:r>
              <a:rPr lang="en-US" sz="2000" kern="1200" dirty="0">
                <a:solidFill>
                  <a:srgbClr val="000000"/>
                </a:solidFill>
                <a:latin typeface="Arial (Body)"/>
              </a:rPr>
              <a:t> non-negative integral expression that can be evaluated at execution time.</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18.9 Dynamic Memory Management </a:t>
            </a:r>
            <a:r>
              <a:rPr lang="en-US" altLang="en-US" sz="2000" b="0" kern="1200" dirty="0" smtClean="0">
                <a:latin typeface="Times New Roman" panose="02020603050405020304" pitchFamily="18" charset="0"/>
                <a:ea typeface="+mj-ea"/>
                <a:cs typeface="+mj-cs"/>
              </a:rPr>
              <a:t>(6 of 8)</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531432"/>
          </a:xfrm>
        </p:spPr>
        <p:txBody>
          <a:bodyPr>
            <a:spAutoFit/>
          </a:bodyPr>
          <a:lstStyle/>
          <a:p>
            <a:pPr marL="0" indent="0" eaLnBrk="1" hangingPunct="1">
              <a:buNone/>
              <a:tabLst/>
              <a:defRPr/>
            </a:pPr>
            <a:r>
              <a:rPr lang="en-US" sz="2000" b="1" kern="1200" dirty="0">
                <a:solidFill>
                  <a:srgbClr val="000000"/>
                </a:solidFill>
                <a:latin typeface="Arial (Body)"/>
                <a:ea typeface="+mn-ea"/>
                <a:cs typeface="+mn-cs"/>
              </a:rPr>
              <a:t>C++11: Using a List Initializer with a Dynamically Allocated Built-In Array</a:t>
            </a:r>
          </a:p>
          <a:p>
            <a:pPr marL="255651" indent="-255651" eaLnBrk="1" hangingPunct="1">
              <a:tabLst/>
              <a:defRPr/>
            </a:pPr>
            <a:r>
              <a:rPr lang="en-US" sz="2000" kern="1200" dirty="0">
                <a:solidFill>
                  <a:srgbClr val="000000"/>
                </a:solidFill>
                <a:latin typeface="Arial (Body)"/>
                <a:ea typeface="+mn-ea"/>
                <a:cs typeface="+mn-cs"/>
              </a:rPr>
              <a:t>Prior to C++11, when allocating a built-in array of objects dynamically, you could not pass arguments to each object’s constructor—each object was initialized by its default constructor. In C++11, you can use a list initializer to initialize the elements of a dynamically allocated built-in array, as </a:t>
            </a:r>
            <a:r>
              <a:rPr lang="en-US" sz="2000" kern="1200" dirty="0" smtClean="0">
                <a:solidFill>
                  <a:srgbClr val="000000"/>
                </a:solidFill>
                <a:latin typeface="Arial (Body)"/>
                <a:ea typeface="+mn-ea"/>
                <a:cs typeface="+mn-cs"/>
              </a:rPr>
              <a:t>in</a:t>
            </a:r>
          </a:p>
        </p:txBody>
      </p:sp>
      <p:pic>
        <p:nvPicPr>
          <p:cNvPr id="6" name="Picture 5" descr="The computer reads as follows. i n t asterisk grades Array equals new i n t left bracket 10 right bracket left brace right brace semicolon."/>
          <p:cNvPicPr>
            <a:picLocks noChangeAspect="1"/>
          </p:cNvPicPr>
          <p:nvPr/>
        </p:nvPicPr>
        <p:blipFill rotWithShape="1">
          <a:blip r:embed="rId2"/>
          <a:srcRect l="8902" t="4556" b="14369"/>
          <a:stretch/>
        </p:blipFill>
        <p:spPr>
          <a:xfrm>
            <a:off x="1077390" y="4089220"/>
            <a:ext cx="4944218" cy="416921"/>
          </a:xfrm>
          <a:prstGeom prst="rect">
            <a:avLst/>
          </a:prstGeom>
        </p:spPr>
      </p:pic>
      <p:sp>
        <p:nvSpPr>
          <p:cNvPr id="5" name="Text Placeholder 4"/>
          <p:cNvSpPr>
            <a:spLocks noGrp="1"/>
          </p:cNvSpPr>
          <p:nvPr>
            <p:ph type="body" idx="2"/>
          </p:nvPr>
        </p:nvSpPr>
        <p:spPr>
          <a:xfrm>
            <a:off x="457200" y="4471416"/>
            <a:ext cx="8229600" cy="1791907"/>
          </a:xfrm>
        </p:spPr>
        <p:txBody>
          <a:bodyPr/>
          <a:lstStyle/>
          <a:p>
            <a:pPr marL="255651" indent="-255651" eaLnBrk="1" hangingPunct="1">
              <a:tabLst/>
              <a:defRPr/>
            </a:pPr>
            <a:r>
              <a:rPr lang="en-US" sz="2000" kern="1200" dirty="0">
                <a:solidFill>
                  <a:srgbClr val="000000"/>
                </a:solidFill>
                <a:latin typeface="Arial (Body)"/>
              </a:rPr>
              <a:t>The empty set of braces as shown here indicates that default initialization should be used for each element—for fundamental types each element is set to 0.</a:t>
            </a:r>
          </a:p>
          <a:p>
            <a:pPr marL="255651" indent="-255651" eaLnBrk="1" hangingPunct="1">
              <a:tabLst/>
              <a:defRPr/>
            </a:pPr>
            <a:r>
              <a:rPr lang="en-US" sz="2000" kern="1200" dirty="0">
                <a:solidFill>
                  <a:srgbClr val="000000"/>
                </a:solidFill>
                <a:latin typeface="Arial (Body)"/>
              </a:rPr>
              <a:t>The braces may also contain a comma-separated list of initializers for the array’s elements.</a:t>
            </a:r>
            <a:endParaRPr lang="en-US" sz="2000"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18.9 Dynamic Memory Management </a:t>
            </a:r>
            <a:r>
              <a:rPr lang="en-US" altLang="en-US" sz="2000" b="0" kern="1200" dirty="0" smtClean="0">
                <a:latin typeface="Times New Roman" panose="02020603050405020304" pitchFamily="18" charset="0"/>
                <a:ea typeface="+mj-ea"/>
                <a:cs typeface="+mj-cs"/>
              </a:rPr>
              <a:t>(7 of 8)</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300600"/>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Releasing Dynamically Allocated Built-In Arrays with delete </a:t>
            </a:r>
            <a:r>
              <a:rPr lang="en-US" sz="2400" b="1" kern="1200" dirty="0">
                <a:solidFill>
                  <a:srgbClr val="000000"/>
                </a:solidFill>
                <a:latin typeface="Consolas" panose="020B0609020204030204" pitchFamily="49" charset="0"/>
                <a:ea typeface="+mn-ea"/>
                <a:cs typeface="Consolas" panose="020B0609020204030204" pitchFamily="49" charset="0"/>
              </a:rPr>
              <a:t>[]</a:t>
            </a:r>
          </a:p>
          <a:p>
            <a:pPr marL="255651" indent="-255651" eaLnBrk="1" hangingPunct="1">
              <a:tabLst/>
              <a:defRPr/>
            </a:pPr>
            <a:r>
              <a:rPr lang="en-US" sz="2400" kern="1200" dirty="0">
                <a:solidFill>
                  <a:srgbClr val="000000"/>
                </a:solidFill>
                <a:latin typeface="Arial (Body)"/>
                <a:ea typeface="+mn-ea"/>
                <a:cs typeface="+mn-cs"/>
              </a:rPr>
              <a:t>To deallocate a dynamically allocated array, use the </a:t>
            </a:r>
            <a:r>
              <a:rPr lang="en-US" sz="2400" kern="1200" dirty="0" smtClean="0">
                <a:solidFill>
                  <a:srgbClr val="000000"/>
                </a:solidFill>
                <a:latin typeface="Arial (Body)"/>
                <a:ea typeface="+mn-ea"/>
                <a:cs typeface="+mn-cs"/>
              </a:rPr>
              <a:t>statement</a:t>
            </a:r>
          </a:p>
          <a:p>
            <a:pPr marL="742569" lvl="1" eaLnBrk="1" hangingPunct="1">
              <a:defRPr/>
            </a:pPr>
            <a:r>
              <a:rPr lang="en-US" sz="2400" kern="1200" dirty="0" smtClean="0">
                <a:solidFill>
                  <a:srgbClr val="000000"/>
                </a:solidFill>
                <a:latin typeface="Arial (Body)"/>
                <a:ea typeface="+mn-ea"/>
                <a:cs typeface="+mn-cs"/>
              </a:rPr>
              <a:t> </a:t>
            </a:r>
          </a:p>
        </p:txBody>
      </p:sp>
      <p:pic>
        <p:nvPicPr>
          <p:cNvPr id="6" name="Picture 5" descr="delete left bracket right bracket p t r semicolon."/>
          <p:cNvPicPr>
            <a:picLocks noChangeAspect="1"/>
          </p:cNvPicPr>
          <p:nvPr/>
        </p:nvPicPr>
        <p:blipFill rotWithShape="1">
          <a:blip r:embed="rId2"/>
          <a:srcRect l="14102" t="13913" r="5741" b="20679"/>
          <a:stretch/>
        </p:blipFill>
        <p:spPr>
          <a:xfrm>
            <a:off x="1339921" y="3420032"/>
            <a:ext cx="2239628" cy="398461"/>
          </a:xfrm>
          <a:prstGeom prst="rect">
            <a:avLst/>
          </a:prstGeom>
        </p:spPr>
      </p:pic>
      <p:sp>
        <p:nvSpPr>
          <p:cNvPr id="5" name="Text Placeholder 4"/>
          <p:cNvSpPr>
            <a:spLocks noGrp="1"/>
          </p:cNvSpPr>
          <p:nvPr>
            <p:ph type="body" idx="2"/>
          </p:nvPr>
        </p:nvSpPr>
        <p:spPr/>
        <p:txBody>
          <a:bodyPr/>
          <a:lstStyle/>
          <a:p>
            <a:pPr marL="255651" indent="-255651" eaLnBrk="1" hangingPunct="1">
              <a:tabLst/>
              <a:defRPr/>
            </a:pPr>
            <a:r>
              <a:rPr lang="en-US" sz="2400" b="1" kern="1200" dirty="0">
                <a:solidFill>
                  <a:srgbClr val="000000"/>
                </a:solidFill>
                <a:latin typeface="Arial (Body)"/>
              </a:rPr>
              <a:t>If the pointer points to a built-in array of objects, the statement first calls the destructor for every object in the array, then deallocates the memory.</a:t>
            </a:r>
          </a:p>
          <a:p>
            <a:pPr marL="255651" indent="-255651" eaLnBrk="1" hangingPunct="1">
              <a:tabLst/>
              <a:defRPr/>
            </a:pPr>
            <a:r>
              <a:rPr lang="en-US" sz="2400" b="1" kern="1200" dirty="0">
                <a:solidFill>
                  <a:srgbClr val="000000"/>
                </a:solidFill>
                <a:latin typeface="Arial (Body)"/>
              </a:rPr>
              <a:t>Using </a:t>
            </a:r>
            <a:r>
              <a:rPr lang="en-US" sz="2400" b="1" kern="1200" dirty="0">
                <a:solidFill>
                  <a:srgbClr val="000000"/>
                </a:solidFill>
                <a:latin typeface="Consolas" panose="020B0609020204030204" pitchFamily="49" charset="0"/>
                <a:cs typeface="Consolas" panose="020B0609020204030204" pitchFamily="49" charset="0"/>
              </a:rPr>
              <a:t>delete</a:t>
            </a:r>
            <a:r>
              <a:rPr lang="en-US" sz="2400" b="1" kern="1200" dirty="0">
                <a:solidFill>
                  <a:srgbClr val="000000"/>
                </a:solidFill>
                <a:latin typeface="Arial (Body)"/>
              </a:rPr>
              <a:t> or </a:t>
            </a:r>
            <a:r>
              <a:rPr lang="en-US" sz="2400" b="1" kern="1200" dirty="0">
                <a:solidFill>
                  <a:srgbClr val="000000"/>
                </a:solidFill>
                <a:latin typeface="Consolas" panose="020B0609020204030204" pitchFamily="49" charset="0"/>
                <a:cs typeface="Consolas" panose="020B0609020204030204" pitchFamily="49" charset="0"/>
              </a:rPr>
              <a:t>[]</a:t>
            </a:r>
            <a:r>
              <a:rPr lang="en-US" sz="2400" b="1" kern="1200" dirty="0">
                <a:solidFill>
                  <a:srgbClr val="000000"/>
                </a:solidFill>
                <a:latin typeface="Arial (Body)"/>
              </a:rPr>
              <a:t> on a </a:t>
            </a:r>
            <a:r>
              <a:rPr lang="en-US" sz="2400" b="1" kern="1200" dirty="0">
                <a:solidFill>
                  <a:srgbClr val="000000"/>
                </a:solidFill>
                <a:latin typeface="Consolas" panose="020B0609020204030204" pitchFamily="49" charset="0"/>
                <a:cs typeface="Consolas" panose="020B0609020204030204" pitchFamily="49" charset="0"/>
              </a:rPr>
              <a:t>nullptr</a:t>
            </a:r>
            <a:r>
              <a:rPr lang="en-US" sz="2400" b="1" kern="1200" dirty="0">
                <a:solidFill>
                  <a:srgbClr val="000000"/>
                </a:solidFill>
                <a:latin typeface="Arial (Body)"/>
              </a:rPr>
              <a:t> has no effect</a:t>
            </a:r>
            <a:r>
              <a:rPr lang="en-US" sz="2400" b="1" kern="1200" dirty="0" smtClean="0">
                <a:solidFill>
                  <a:srgbClr val="000000"/>
                </a:solidFill>
                <a:latin typeface="Arial (Body)"/>
              </a:rPr>
              <a:t>.</a:t>
            </a:r>
            <a:endParaRPr lang="en-US" sz="2400" b="1"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Programming Error </a:t>
            </a:r>
            <a:r>
              <a:rPr lang="en-US" dirty="0" smtClean="0"/>
              <a:t>18.3</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Using </a:t>
            </a:r>
            <a:r>
              <a:rPr lang="en-US" sz="2400" dirty="0">
                <a:latin typeface="Consolas" panose="020B0609020204030204" pitchFamily="49" charset="0"/>
                <a:cs typeface="Consolas" panose="020B0609020204030204" pitchFamily="49" charset="0"/>
              </a:rPr>
              <a:t>delete</a:t>
            </a:r>
            <a:r>
              <a:rPr lang="en-US" sz="2400" dirty="0">
                <a:latin typeface="+mn-lt"/>
              </a:rPr>
              <a:t> instead of </a:t>
            </a:r>
            <a:r>
              <a:rPr lang="en-US" sz="2400" dirty="0">
                <a:latin typeface="Consolas" panose="020B0609020204030204" pitchFamily="49" charset="0"/>
                <a:cs typeface="Consolas" panose="020B0609020204030204" pitchFamily="49" charset="0"/>
              </a:rPr>
              <a:t>delete []</a:t>
            </a:r>
            <a:r>
              <a:rPr lang="en-US" sz="2400" dirty="0">
                <a:latin typeface="+mn-lt"/>
              </a:rPr>
              <a:t> for built-in arrays of objects can lead to runtime </a:t>
            </a:r>
            <a:r>
              <a:rPr lang="en-US" sz="2400" dirty="0" smtClean="0">
                <a:latin typeface="+mn-lt"/>
              </a:rPr>
              <a:t>logic errors</a:t>
            </a:r>
            <a:r>
              <a:rPr lang="en-US" sz="2400" dirty="0">
                <a:latin typeface="+mn-lt"/>
              </a:rPr>
              <a:t>. To ensure that every object in the array receives a destructor call, always </a:t>
            </a:r>
            <a:r>
              <a:rPr lang="en-US" sz="2400" dirty="0" smtClean="0">
                <a:latin typeface="+mn-lt"/>
              </a:rPr>
              <a:t>delete memory </a:t>
            </a:r>
            <a:r>
              <a:rPr lang="en-US" sz="2400" dirty="0">
                <a:latin typeface="+mn-lt"/>
              </a:rPr>
              <a:t>allocated as an array with operator </a:t>
            </a:r>
            <a:r>
              <a:rPr lang="en-US" sz="2400" dirty="0">
                <a:latin typeface="Consolas" panose="020B0609020204030204" pitchFamily="49" charset="0"/>
                <a:cs typeface="Consolas" panose="020B0609020204030204" pitchFamily="49" charset="0"/>
              </a:rPr>
              <a:t>delete []</a:t>
            </a:r>
            <a:r>
              <a:rPr lang="en-US" sz="2400" dirty="0">
                <a:latin typeface="+mn-lt"/>
              </a:rPr>
              <a:t>. Similarly, always delete </a:t>
            </a:r>
            <a:r>
              <a:rPr lang="en-US" sz="2400" dirty="0" smtClean="0">
                <a:latin typeface="+mn-lt"/>
              </a:rPr>
              <a:t>memory allocated </a:t>
            </a:r>
            <a:r>
              <a:rPr lang="en-US" sz="2400" dirty="0">
                <a:latin typeface="+mn-lt"/>
              </a:rPr>
              <a:t>as an individual element with operator </a:t>
            </a:r>
            <a:r>
              <a:rPr lang="en-US" sz="2400" dirty="0" smtClean="0">
                <a:latin typeface="Consolas" panose="020B0609020204030204" pitchFamily="49" charset="0"/>
              </a:rPr>
              <a:t>delete</a:t>
            </a:r>
            <a:r>
              <a:rPr lang="en-US" sz="2400" dirty="0" smtClean="0">
                <a:latin typeface="+mn-lt"/>
              </a:rPr>
              <a:t>—the </a:t>
            </a:r>
            <a:r>
              <a:rPr lang="en-US" sz="2400" dirty="0">
                <a:latin typeface="+mn-lt"/>
              </a:rPr>
              <a:t>result of deleting a </a:t>
            </a:r>
            <a:r>
              <a:rPr lang="en-US" sz="2400" dirty="0" smtClean="0">
                <a:latin typeface="+mn-lt"/>
              </a:rPr>
              <a:t>single object </a:t>
            </a:r>
            <a:r>
              <a:rPr lang="en-US" sz="2400" dirty="0">
                <a:latin typeface="+mn-lt"/>
              </a:rPr>
              <a:t>with operator </a:t>
            </a:r>
            <a:r>
              <a:rPr lang="en-US" sz="2400" dirty="0">
                <a:latin typeface="Consolas" panose="020B0609020204030204" pitchFamily="49" charset="0"/>
                <a:cs typeface="Consolas" panose="020B0609020204030204" pitchFamily="49" charset="0"/>
              </a:rPr>
              <a:t>delete []</a:t>
            </a:r>
            <a:r>
              <a:rPr lang="en-US" sz="2400" dirty="0">
                <a:latin typeface="+mn-lt"/>
              </a:rPr>
              <a:t> is undefined.</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18.9 Dynamic Memory Management </a:t>
            </a:r>
            <a:r>
              <a:rPr lang="en-US" altLang="en-US" sz="2000" b="0" kern="1200" dirty="0" smtClean="0">
                <a:latin typeface="Times New Roman" panose="02020603050405020304" pitchFamily="18" charset="0"/>
                <a:ea typeface="+mj-ea"/>
                <a:cs typeface="+mj-cs"/>
              </a:rPr>
              <a:t>(8 of 8)</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spAutoFit/>
          </a:bodyPr>
          <a:lstStyle/>
          <a:p>
            <a:pPr marL="0" indent="0" eaLnBrk="1" hangingPunct="1">
              <a:buNone/>
              <a:tabLst/>
              <a:defRPr/>
            </a:pPr>
            <a:r>
              <a:rPr lang="en-US" sz="2400" b="1" kern="1200" dirty="0">
                <a:solidFill>
                  <a:srgbClr val="000000"/>
                </a:solidFill>
                <a:latin typeface="Arial (Body)"/>
                <a:ea typeface="+mn-ea"/>
                <a:cs typeface="+mn-cs"/>
              </a:rPr>
              <a:t>C++11: Managing Dynamically Allocated Memory with </a:t>
            </a:r>
            <a:r>
              <a:rPr lang="en-US" sz="2400" b="1" kern="1200" dirty="0" smtClean="0">
                <a:solidFill>
                  <a:srgbClr val="000000"/>
                </a:solidFill>
                <a:latin typeface="Consolas" panose="020B0609020204030204" pitchFamily="49" charset="0"/>
                <a:ea typeface="+mn-ea"/>
                <a:cs typeface="Consolas" panose="020B0609020204030204" pitchFamily="49" charset="0"/>
              </a:rPr>
              <a:t>unique_ptr</a:t>
            </a:r>
            <a:endParaRPr lang="en-US" sz="2400" b="1" kern="1200" dirty="0">
              <a:solidFill>
                <a:srgbClr val="000000"/>
              </a:solidFill>
              <a:latin typeface="Consolas" panose="020B0609020204030204" pitchFamily="49" charset="0"/>
              <a:ea typeface="+mn-ea"/>
              <a:cs typeface="Consolas" panose="020B0609020204030204" pitchFamily="49" charset="0"/>
            </a:endParaRPr>
          </a:p>
          <a:p>
            <a:pPr marL="255651" indent="-255651" eaLnBrk="1" hangingPunct="1">
              <a:tabLst/>
              <a:defRPr/>
            </a:pPr>
            <a:r>
              <a:rPr lang="en-US" sz="2400" kern="1200" dirty="0">
                <a:solidFill>
                  <a:srgbClr val="000000"/>
                </a:solidFill>
                <a:latin typeface="Arial (Body)"/>
                <a:ea typeface="+mn-ea"/>
                <a:cs typeface="+mn-cs"/>
              </a:rPr>
              <a:t>C++11’s new </a:t>
            </a:r>
            <a:r>
              <a:rPr lang="en-US" sz="2400" kern="1200" dirty="0">
                <a:solidFill>
                  <a:srgbClr val="000000"/>
                </a:solidFill>
                <a:latin typeface="Consolas" panose="020B0609020204030204" pitchFamily="49" charset="0"/>
                <a:ea typeface="+mn-ea"/>
                <a:cs typeface="Consolas" panose="020B0609020204030204" pitchFamily="49" charset="0"/>
              </a:rPr>
              <a:t>unique_ptr</a:t>
            </a:r>
            <a:r>
              <a:rPr lang="en-US" sz="2400" kern="1200" dirty="0">
                <a:solidFill>
                  <a:srgbClr val="000000"/>
                </a:solidFill>
                <a:latin typeface="Arial (Body)"/>
                <a:ea typeface="+mn-ea"/>
                <a:cs typeface="+mn-cs"/>
              </a:rPr>
              <a:t> is a “smart pointer” for managing dynamically allocated </a:t>
            </a:r>
            <a:r>
              <a:rPr lang="en-US" sz="2400" kern="1200" dirty="0" smtClean="0">
                <a:solidFill>
                  <a:srgbClr val="000000"/>
                </a:solidFill>
                <a:latin typeface="Arial (Body)"/>
                <a:ea typeface="+mn-ea"/>
                <a:cs typeface="+mn-cs"/>
              </a:rPr>
              <a:t>memory.</a:t>
            </a:r>
            <a:endParaRPr lang="en-US" sz="2400" kern="1200" dirty="0">
              <a:solidFill>
                <a:srgbClr val="000000"/>
              </a:solidFill>
              <a:latin typeface="Arial (Body)"/>
              <a:ea typeface="+mn-ea"/>
              <a:cs typeface="+mn-cs"/>
            </a:endParaRPr>
          </a:p>
          <a:p>
            <a:pPr marL="255651" indent="-255651" eaLnBrk="1" hangingPunct="1">
              <a:tabLst/>
              <a:defRPr/>
            </a:pPr>
            <a:r>
              <a:rPr lang="en-US" sz="2400" kern="1200" dirty="0">
                <a:solidFill>
                  <a:srgbClr val="000000"/>
                </a:solidFill>
                <a:latin typeface="Arial (Body)"/>
                <a:ea typeface="+mn-ea"/>
                <a:cs typeface="+mn-cs"/>
              </a:rPr>
              <a:t>When a </a:t>
            </a:r>
            <a:r>
              <a:rPr lang="en-US" sz="2400" kern="1200" dirty="0">
                <a:solidFill>
                  <a:srgbClr val="000000"/>
                </a:solidFill>
                <a:latin typeface="Consolas" panose="020B0609020204030204" pitchFamily="49" charset="0"/>
                <a:ea typeface="+mn-ea"/>
                <a:cs typeface="Consolas" panose="020B0609020204030204" pitchFamily="49" charset="0"/>
              </a:rPr>
              <a:t>unique_ptr</a:t>
            </a:r>
            <a:r>
              <a:rPr lang="en-US" sz="2400" kern="1200" dirty="0">
                <a:solidFill>
                  <a:srgbClr val="000000"/>
                </a:solidFill>
                <a:latin typeface="Arial (Body)"/>
                <a:ea typeface="+mn-ea"/>
                <a:cs typeface="+mn-cs"/>
              </a:rPr>
              <a:t> goes out of scope, its destructor automatically returns the managed memory to the free </a:t>
            </a:r>
            <a:r>
              <a:rPr lang="en-US" sz="2400" kern="1200" dirty="0" smtClean="0">
                <a:solidFill>
                  <a:srgbClr val="000000"/>
                </a:solidFill>
                <a:latin typeface="Arial (Body)"/>
                <a:ea typeface="+mn-ea"/>
                <a:cs typeface="+mn-cs"/>
              </a:rPr>
              <a:t>store.</a:t>
            </a:r>
            <a:endParaRPr lang="en-US" sz="24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smtClean="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(1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723518"/>
          </a:xfrm>
        </p:spPr>
        <p:txBody>
          <a:bodyPr>
            <a:spAutoFit/>
          </a:bodyPr>
          <a:lstStyle/>
          <a:p>
            <a:pPr marL="255651" indent="-255651" eaLnBrk="1" hangingPunct="1">
              <a:tabLst/>
              <a:defRPr/>
            </a:pPr>
            <a:r>
              <a:rPr lang="en-US" altLang="en-US" sz="1800" kern="1200" dirty="0">
                <a:solidFill>
                  <a:srgbClr val="000000"/>
                </a:solidFill>
                <a:latin typeface="Arial (Body)"/>
                <a:ea typeface="+mn-ea"/>
                <a:cs typeface="+mn-cs"/>
              </a:rPr>
              <a:t>Pointer-based arrays have many problems, including:</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ea typeface="+mn-ea"/>
                <a:cs typeface="+mn-cs"/>
              </a:rPr>
              <a:t>A program can easily “walk off” either end of a built-in array, because </a:t>
            </a:r>
            <a:r>
              <a:rPr lang="en-US" altLang="en-US" sz="1800" b="1" kern="1200" dirty="0">
                <a:solidFill>
                  <a:srgbClr val="000000"/>
                </a:solidFill>
                <a:latin typeface="Arial (Body)"/>
                <a:ea typeface="+mn-ea"/>
                <a:cs typeface="+mn-cs"/>
              </a:rPr>
              <a:t>C++ does not check whether subscripts fall outside the range of the array.</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ea typeface="+mn-ea"/>
                <a:cs typeface="+mn-cs"/>
              </a:rPr>
              <a:t>Built-in arrays of size </a:t>
            </a:r>
            <a:r>
              <a:rPr lang="en-US" altLang="en-US" sz="1800" i="1" kern="1200" dirty="0">
                <a:solidFill>
                  <a:srgbClr val="000000"/>
                </a:solidFill>
                <a:latin typeface="Arial (Body)"/>
                <a:ea typeface="+mn-ea"/>
                <a:cs typeface="+mn-cs"/>
              </a:rPr>
              <a:t>n</a:t>
            </a:r>
            <a:r>
              <a:rPr lang="en-US" altLang="en-US" sz="1800" b="1" kern="1200" dirty="0">
                <a:solidFill>
                  <a:srgbClr val="000000"/>
                </a:solidFill>
                <a:latin typeface="Arial (Body)"/>
                <a:ea typeface="+mn-ea"/>
                <a:cs typeface="+mn-cs"/>
              </a:rPr>
              <a:t> </a:t>
            </a:r>
            <a:r>
              <a:rPr lang="en-US" altLang="en-US" sz="1800" kern="1200" dirty="0">
                <a:solidFill>
                  <a:srgbClr val="000000"/>
                </a:solidFill>
                <a:latin typeface="Arial (Body)"/>
                <a:ea typeface="+mn-ea"/>
                <a:cs typeface="+mn-cs"/>
              </a:rPr>
              <a:t>must number their </a:t>
            </a:r>
            <a:r>
              <a:rPr lang="en-US" altLang="en-US" sz="1800" kern="1200" dirty="0" smtClean="0">
                <a:solidFill>
                  <a:srgbClr val="000000"/>
                </a:solidFill>
                <a:latin typeface="Arial (Body)"/>
                <a:ea typeface="+mn-ea"/>
                <a:cs typeface="+mn-cs"/>
              </a:rPr>
              <a:t>elements</a:t>
            </a:r>
            <a:endParaRPr lang="en-US" altLang="en-US" sz="1800" kern="1200" dirty="0">
              <a:solidFill>
                <a:srgbClr val="000000"/>
              </a:solidFill>
              <a:latin typeface="Arial (Body)"/>
              <a:ea typeface="+mn-ea"/>
              <a:cs typeface="+mn-cs"/>
            </a:endParaRPr>
          </a:p>
        </p:txBody>
      </p:sp>
      <p:graphicFrame>
        <p:nvGraphicFramePr>
          <p:cNvPr id="5" name="Object 4" descr="0 and so on to n minus 1 semicolon."/>
          <p:cNvGraphicFramePr>
            <a:graphicFrameLocks noChangeAspect="1"/>
          </p:cNvGraphicFramePr>
          <p:nvPr>
            <p:extLst>
              <p:ext uri="{D42A27DB-BD31-4B8C-83A1-F6EECF244321}">
                <p14:modId xmlns:p14="http://schemas.microsoft.com/office/powerpoint/2010/main" val="989212425"/>
              </p:ext>
            </p:extLst>
          </p:nvPr>
        </p:nvGraphicFramePr>
        <p:xfrm>
          <a:off x="6563282" y="2961040"/>
          <a:ext cx="1067114" cy="280818"/>
        </p:xfrm>
        <a:graphic>
          <a:graphicData uri="http://schemas.openxmlformats.org/presentationml/2006/ole">
            <mc:AlternateContent xmlns:mc="http://schemas.openxmlformats.org/markup-compatibility/2006">
              <mc:Choice xmlns:v="urn:schemas-microsoft-com:vml" Requires="v">
                <p:oleObj spid="_x0000_s36999" name="Equation" r:id="rId3" imgW="723600" imgH="190440" progId="Equation.DSMT4">
                  <p:embed/>
                </p:oleObj>
              </mc:Choice>
              <mc:Fallback>
                <p:oleObj name="Equation" r:id="rId3" imgW="723600" imgH="190440" progId="Equation.DSMT4">
                  <p:embed/>
                  <p:pic>
                    <p:nvPicPr>
                      <p:cNvPr id="0" name=""/>
                      <p:cNvPicPr/>
                      <p:nvPr/>
                    </p:nvPicPr>
                    <p:blipFill>
                      <a:blip r:embed="rId4"/>
                      <a:stretch>
                        <a:fillRect/>
                      </a:stretch>
                    </p:blipFill>
                    <p:spPr>
                      <a:xfrm>
                        <a:off x="6563282" y="2961040"/>
                        <a:ext cx="1067114" cy="280818"/>
                      </a:xfrm>
                      <a:prstGeom prst="rect">
                        <a:avLst/>
                      </a:prstGeom>
                    </p:spPr>
                  </p:pic>
                </p:oleObj>
              </mc:Fallback>
            </mc:AlternateContent>
          </a:graphicData>
        </a:graphic>
      </p:graphicFrame>
      <p:sp>
        <p:nvSpPr>
          <p:cNvPr id="4" name="Text Placeholder 3"/>
          <p:cNvSpPr>
            <a:spLocks noGrp="1"/>
          </p:cNvSpPr>
          <p:nvPr>
            <p:ph type="body" idx="2"/>
          </p:nvPr>
        </p:nvSpPr>
        <p:spPr>
          <a:xfrm>
            <a:off x="457200" y="3119002"/>
            <a:ext cx="8229600" cy="2163763"/>
          </a:xfrm>
        </p:spPr>
        <p:txBody>
          <a:bodyPr/>
          <a:lstStyle/>
          <a:p>
            <a:pPr marL="736600" lvl="1" indent="0" eaLnBrk="1" hangingPunct="1">
              <a:buNone/>
              <a:tabLst>
                <a:tab pos="736600" algn="l"/>
              </a:tabLst>
              <a:defRPr/>
            </a:pPr>
            <a:r>
              <a:rPr lang="en-US" altLang="en-US" sz="1800" kern="1200" dirty="0">
                <a:solidFill>
                  <a:srgbClr val="000000"/>
                </a:solidFill>
                <a:latin typeface="Arial (Body)"/>
              </a:rPr>
              <a:t>alternate subscript ranges- are not allowed.</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rPr>
              <a:t>An entire built-in array cannot be input or output at once.</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rPr>
              <a:t>Two built-in arrays cannot be meaningfully compared with equality or relational operators.</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rPr>
              <a:t>When an array is passed to a general-purpose function designed to handle arrays of any size, the array’s size must be passed as an additional argument.</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rPr>
              <a:t>One built-in array cannot be assigned to another with the assignment operator.</a:t>
            </a:r>
            <a:endParaRPr 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(2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With C++, you can implement more robust array capabilities via classes and operator overloading as has been done with class templates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 and </a:t>
            </a:r>
            <a:r>
              <a:rPr lang="en-US" altLang="en-US" sz="2400" kern="1200" dirty="0">
                <a:solidFill>
                  <a:srgbClr val="000000"/>
                </a:solidFill>
                <a:latin typeface="Consolas" panose="020B0609020204030204" pitchFamily="49" charset="0"/>
                <a:ea typeface="+mn-ea"/>
                <a:cs typeface="Consolas" panose="020B0609020204030204" pitchFamily="49" charset="0"/>
              </a:rPr>
              <a:t>vector</a:t>
            </a:r>
            <a:r>
              <a:rPr lang="en-US" altLang="en-US" sz="2400" kern="1200" dirty="0">
                <a:solidFill>
                  <a:srgbClr val="000000"/>
                </a:solidFill>
                <a:latin typeface="Arial (Body)"/>
                <a:ea typeface="+mn-ea"/>
                <a:cs typeface="+mn-cs"/>
              </a:rPr>
              <a:t> in the C++ Standard Library.</a:t>
            </a:r>
          </a:p>
          <a:p>
            <a:pPr marL="255651" indent="-255651" eaLnBrk="1" hangingPunct="1">
              <a:tabLst/>
              <a:defRPr/>
            </a:pPr>
            <a:r>
              <a:rPr lang="en-US" altLang="en-US" sz="2400" kern="1200" dirty="0">
                <a:solidFill>
                  <a:srgbClr val="000000"/>
                </a:solidFill>
                <a:latin typeface="Arial (Body)"/>
                <a:ea typeface="+mn-ea"/>
                <a:cs typeface="+mn-cs"/>
              </a:rPr>
              <a:t>In this section, we’ll develop our own custom array class that’s preferable to built-in arrays.</a:t>
            </a:r>
          </a:p>
          <a:p>
            <a:pPr marL="255651" indent="-255651" eaLnBrk="1" hangingPunct="1">
              <a:tabLst/>
              <a:defRPr/>
            </a:pPr>
            <a:r>
              <a:rPr lang="en-US" altLang="en-US" sz="2400" kern="1200" dirty="0">
                <a:solidFill>
                  <a:srgbClr val="000000"/>
                </a:solidFill>
                <a:latin typeface="Arial (Body)"/>
                <a:ea typeface="+mn-ea"/>
                <a:cs typeface="+mn-cs"/>
              </a:rPr>
              <a:t>In this example, we create a powerful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 </a:t>
            </a:r>
            <a:r>
              <a:rPr lang="en-US" altLang="en-US" sz="2400" kern="1200" dirty="0" smtClean="0">
                <a:solidFill>
                  <a:srgbClr val="000000"/>
                </a:solidFill>
                <a:latin typeface="Arial (Body)"/>
                <a:ea typeface="+mn-ea"/>
                <a:cs typeface="+mn-cs"/>
              </a:rPr>
              <a:t>class:</a:t>
            </a:r>
            <a:endParaRPr lang="en-US" altLang="en-US" sz="2400" kern="1200" dirty="0">
              <a:solidFill>
                <a:srgbClr val="000000"/>
              </a:solidFill>
              <a:latin typeface="Arial (Body)"/>
              <a:ea typeface="+mn-ea"/>
              <a:cs typeface="+mn-cs"/>
            </a:endParaRPr>
          </a:p>
          <a:p>
            <a:pPr marL="741553" lvl="1" indent="-284353" eaLnBrk="1" hangingPunct="1">
              <a:buFont typeface="Arial" panose="020B0604020202020204" pitchFamily="34" charset="0"/>
              <a:buChar char="–"/>
              <a:defRPr/>
            </a:pPr>
            <a:r>
              <a:rPr lang="en-US" altLang="en-US" sz="2400" kern="1200" dirty="0">
                <a:solidFill>
                  <a:srgbClr val="000000"/>
                </a:solidFill>
                <a:latin typeface="Arial (Body)"/>
                <a:ea typeface="+mn-ea"/>
                <a:cs typeface="+mn-cs"/>
              </a:rPr>
              <a:t>Performs range checking.</a:t>
            </a:r>
          </a:p>
          <a:p>
            <a:pPr marL="741553" lvl="1" indent="-284353" eaLnBrk="1" hangingPunct="1">
              <a:buFont typeface="Arial" panose="020B0604020202020204" pitchFamily="34" charset="0"/>
              <a:buChar char="–"/>
              <a:defRPr/>
            </a:pPr>
            <a:r>
              <a:rPr lang="en-US" altLang="en-US" sz="2400" kern="1200" dirty="0">
                <a:solidFill>
                  <a:srgbClr val="000000"/>
                </a:solidFill>
                <a:latin typeface="Arial (Body)"/>
                <a:ea typeface="+mn-ea"/>
                <a:cs typeface="+mn-cs"/>
              </a:rPr>
              <a:t>Allows one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 object to be assigned to another with the assignment operator</a:t>
            </a:r>
            <a:r>
              <a:rPr lang="en-US" altLang="en-US" sz="2400" kern="1200" dirty="0" smtClean="0">
                <a:solidFill>
                  <a:srgbClr val="000000"/>
                </a:solidFill>
                <a:latin typeface="Arial (Body)"/>
                <a:ea typeface="+mn-ea"/>
                <a:cs typeface="+mn-cs"/>
              </a:rPr>
              <a:t>.</a:t>
            </a:r>
            <a:endParaRPr lang="en-US" altLang="en-US" sz="24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spcBef>
                <a:spcPct val="0"/>
              </a:spcBef>
              <a:buClrTx/>
              <a:defRPr/>
            </a:pPr>
            <a:r>
              <a:rPr lang="en-US" altLang="en-US" kern="1200" dirty="0" smtClean="0">
                <a:latin typeface="Times New Roman" panose="02020603050405020304" pitchFamily="18" charset="0"/>
                <a:ea typeface="+mj-ea"/>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rPr>
              <a:t> Class </a:t>
            </a:r>
            <a:r>
              <a:rPr lang="en-US" altLang="en-US" sz="2000" b="0" kern="1200" dirty="0" smtClean="0">
                <a:latin typeface="Times New Roman" panose="02020603050405020304" pitchFamily="18" charset="0"/>
                <a:ea typeface="+mj-ea"/>
              </a:rPr>
              <a:t>(3 of 26)</a:t>
            </a:r>
            <a:endParaRPr lang="en-US" altLang="en-US" sz="2000" b="0" kern="1200" dirty="0">
              <a:latin typeface="Times New Roman" panose="02020603050405020304" pitchFamily="18" charset="0"/>
              <a:ea typeface="+mj-ea"/>
            </a:endParaRPr>
          </a:p>
        </p:txBody>
      </p:sp>
      <p:sp>
        <p:nvSpPr>
          <p:cNvPr id="3" name="Text Placeholder 2"/>
          <p:cNvSpPr>
            <a:spLocks noGrp="1"/>
          </p:cNvSpPr>
          <p:nvPr>
            <p:ph type="body" idx="1"/>
          </p:nvPr>
        </p:nvSpPr>
        <p:spPr/>
        <p:txBody>
          <a:bodyPr/>
          <a:lstStyle/>
          <a:p>
            <a:pPr marL="741553" lvl="1" indent="-284353" eaLnBrk="1" hangingPunct="1">
              <a:buFont typeface="Arial" panose="020B0604020202020204" pitchFamily="34" charset="0"/>
              <a:buChar char="–"/>
              <a:defRPr/>
            </a:pPr>
            <a:r>
              <a:rPr lang="en-US" altLang="en-US" sz="2400" kern="1200" dirty="0" smtClean="0">
                <a:solidFill>
                  <a:srgbClr val="000000"/>
                </a:solidFill>
                <a:latin typeface="Arial (Body)"/>
                <a:ea typeface="+mn-ea"/>
              </a:rPr>
              <a:t>Objects </a:t>
            </a:r>
            <a:r>
              <a:rPr lang="en-US" altLang="en-US" sz="2400" kern="1200" dirty="0">
                <a:solidFill>
                  <a:srgbClr val="000000"/>
                </a:solidFill>
                <a:latin typeface="Arial (Body)"/>
                <a:ea typeface="+mn-ea"/>
              </a:rPr>
              <a:t>know their own size.</a:t>
            </a:r>
          </a:p>
          <a:p>
            <a:pPr marL="741553" lvl="1" indent="-284353" eaLnBrk="1" hangingPunct="1">
              <a:buFont typeface="Arial" panose="020B0604020202020204" pitchFamily="34" charset="0"/>
              <a:buChar char="–"/>
              <a:defRPr/>
            </a:pPr>
            <a:r>
              <a:rPr lang="en-US" altLang="en-US" sz="2400" kern="1200" dirty="0">
                <a:solidFill>
                  <a:srgbClr val="000000"/>
                </a:solidFill>
                <a:latin typeface="Arial (Body)"/>
                <a:ea typeface="+mn-ea"/>
              </a:rPr>
              <a:t>Input or output entire arrays with the stream extraction and stream insertion operators, respectively.</a:t>
            </a:r>
          </a:p>
          <a:p>
            <a:pPr marL="741553" lvl="1" indent="-284353" eaLnBrk="1" hangingPunct="1">
              <a:buFont typeface="Arial" panose="020B0604020202020204" pitchFamily="34" charset="0"/>
              <a:buChar char="–"/>
              <a:defRPr/>
            </a:pPr>
            <a:r>
              <a:rPr lang="en-US" altLang="en-US" sz="2400" kern="1200" dirty="0">
                <a:solidFill>
                  <a:srgbClr val="000000"/>
                </a:solidFill>
                <a:latin typeface="Arial (Body)"/>
                <a:ea typeface="+mn-ea"/>
              </a:rPr>
              <a:t>Can compare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rPr>
              <a:t>s with the equality </a:t>
            </a:r>
            <a:r>
              <a:rPr lang="en-US" altLang="en-US" sz="2400" kern="1200" dirty="0" smtClean="0">
                <a:solidFill>
                  <a:srgbClr val="000000"/>
                </a:solidFill>
                <a:latin typeface="Arial (Body)"/>
                <a:ea typeface="+mn-ea"/>
              </a:rPr>
              <a:t>operators</a:t>
            </a:r>
            <a:endParaRPr lang="en-US" altLang="en-US" sz="2400" kern="1200" dirty="0">
              <a:solidFill>
                <a:srgbClr val="000000"/>
              </a:solidFill>
              <a:latin typeface="Arial (Body)"/>
              <a:ea typeface="+mn-ea"/>
            </a:endParaRPr>
          </a:p>
        </p:txBody>
      </p:sp>
      <p:graphicFrame>
        <p:nvGraphicFramePr>
          <p:cNvPr id="5" name="Object 4" descr="Equals = and exclamation point equals."/>
          <p:cNvGraphicFramePr>
            <a:graphicFrameLocks noChangeAspect="1"/>
          </p:cNvGraphicFramePr>
          <p:nvPr>
            <p:extLst>
              <p:ext uri="{D42A27DB-BD31-4B8C-83A1-F6EECF244321}">
                <p14:modId xmlns:p14="http://schemas.microsoft.com/office/powerpoint/2010/main" val="4152946999"/>
              </p:ext>
            </p:extLst>
          </p:nvPr>
        </p:nvGraphicFramePr>
        <p:xfrm>
          <a:off x="1286960" y="3319767"/>
          <a:ext cx="1559169" cy="346482"/>
        </p:xfrm>
        <a:graphic>
          <a:graphicData uri="http://schemas.openxmlformats.org/presentationml/2006/ole">
            <mc:AlternateContent xmlns:mc="http://schemas.openxmlformats.org/markup-compatibility/2006">
              <mc:Choice xmlns:v="urn:schemas-microsoft-com:vml" Requires="v">
                <p:oleObj spid="_x0000_s17822" name="Equation" r:id="rId3" imgW="799920" imgH="177480" progId="Equation.DSMT4">
                  <p:embed/>
                </p:oleObj>
              </mc:Choice>
              <mc:Fallback>
                <p:oleObj name="Equation" r:id="rId3" imgW="799920" imgH="177480" progId="Equation.DSMT4">
                  <p:embed/>
                  <p:pic>
                    <p:nvPicPr>
                      <p:cNvPr id="0" name=""/>
                      <p:cNvPicPr/>
                      <p:nvPr/>
                    </p:nvPicPr>
                    <p:blipFill>
                      <a:blip r:embed="rId4"/>
                      <a:stretch>
                        <a:fillRect/>
                      </a:stretch>
                    </p:blipFill>
                    <p:spPr>
                      <a:xfrm>
                        <a:off x="1286960" y="3319767"/>
                        <a:ext cx="1559169" cy="346482"/>
                      </a:xfrm>
                      <a:prstGeom prst="rect">
                        <a:avLst/>
                      </a:prstGeom>
                    </p:spPr>
                  </p:pic>
                </p:oleObj>
              </mc:Fallback>
            </mc:AlternateContent>
          </a:graphicData>
        </a:graphic>
      </p:graphicFrame>
      <p:sp>
        <p:nvSpPr>
          <p:cNvPr id="4" name="Text Placeholder 3"/>
          <p:cNvSpPr>
            <a:spLocks noGrp="1"/>
          </p:cNvSpPr>
          <p:nvPr>
            <p:ph type="body" idx="2"/>
          </p:nvPr>
        </p:nvSpPr>
        <p:spPr>
          <a:xfrm>
            <a:off x="457200" y="3770377"/>
            <a:ext cx="8229600" cy="874776"/>
          </a:xfrm>
        </p:spPr>
        <p:txBody>
          <a:bodyPr/>
          <a:lstStyle/>
          <a:p>
            <a:pPr marL="255651" indent="-255651" eaLnBrk="1" hangingPunct="1">
              <a:tabLst/>
              <a:defRPr/>
            </a:pPr>
            <a:r>
              <a:rPr lang="en-US" altLang="en-US" sz="2400" kern="1200" dirty="0">
                <a:solidFill>
                  <a:srgbClr val="000000"/>
                </a:solidFill>
                <a:latin typeface="Arial (Body)"/>
              </a:rPr>
              <a:t>C++ Standard Library class template </a:t>
            </a:r>
            <a:r>
              <a:rPr lang="en-US" altLang="en-US" sz="2400" kern="1200" dirty="0">
                <a:solidFill>
                  <a:srgbClr val="000000"/>
                </a:solidFill>
                <a:latin typeface="Consolas" panose="020B0609020204030204" pitchFamily="49" charset="0"/>
                <a:cs typeface="Consolas" panose="020B0609020204030204" pitchFamily="49" charset="0"/>
              </a:rPr>
              <a:t>vector</a:t>
            </a:r>
            <a:r>
              <a:rPr lang="en-US" altLang="en-US" sz="2400" kern="1200" dirty="0">
                <a:solidFill>
                  <a:srgbClr val="000000"/>
                </a:solidFill>
                <a:latin typeface="Arial (Body)"/>
              </a:rPr>
              <a:t> provides many of these capabilities as well.</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18.9 </a:t>
            </a:r>
            <a:r>
              <a:rPr lang="en-US" kern="1200" dirty="0">
                <a:latin typeface="Consolas" panose="020B0609020204030204" pitchFamily="49" charset="0"/>
                <a:ea typeface="+mj-ea"/>
                <a:cs typeface="+mj-cs"/>
              </a:rPr>
              <a:t>Array</a:t>
            </a:r>
            <a:r>
              <a:rPr lang="en-US" dirty="0"/>
              <a:t> Class Test Program</a:t>
            </a:r>
            <a:r>
              <a:rPr lang="en-US" b="0" dirty="0" smtClean="0"/>
              <a:t> </a:t>
            </a:r>
            <a:r>
              <a:rPr lang="en-US" sz="2000" b="0" dirty="0" smtClean="0"/>
              <a:t>(1 </a:t>
            </a:r>
            <a:r>
              <a:rPr lang="en-US" sz="2000" b="0" dirty="0"/>
              <a:t>of </a:t>
            </a:r>
            <a:r>
              <a:rPr lang="en-US" sz="2000" b="0" dirty="0" smtClean="0"/>
              <a:t>7)</a:t>
            </a:r>
            <a:endParaRPr lang="en-US" sz="2000" dirty="0"/>
          </a:p>
        </p:txBody>
      </p:sp>
      <p:pic>
        <p:nvPicPr>
          <p:cNvPr id="5" name="Picture 4" descr="The computer code has 76 lines. The lines read as follows. Line 1. forward slash forward slash F i g period 18 period 9 colon f i g 18 underscore 09 period c p p. Line 2. forward slash forward slash Array class test program period. Line 3. hash include left angle bracket i o stream right angle bracket. Line 4. hash include left angle bracket s t d except right angle bracket. Line 5. hash include double quote Array period h double quote. Line 6. using name space s t d semicolon. Line 7. Blank. Line 8. i n t main left parenthesis right parenthesis. Line 9. left brace. Line 10, indented once. Array integers1 left parenthesis 7 right parenthesis semicolon forward slash forward slash seven dash element Array. Line 11, indented once. Array integers2 semicolon forward slash forward slash 10 dash element Array by default. Lines 10 and 11 are highlighted. Line 12. Blank. Line 13, indented once. forward slash forward slash print integers 1 size and contents. Line 14, indented once. c out left angle bracket left angle bracket double quote Size of Array integers 1 is double quote. Line 15, indented twice. left angle bracket left angle bracket integers 1 period get Size left parenthesis right parenthesis. Line 15 is highlighted. Line 16, indented twice. left angle bracket left angle bracket double quote back slash n Array after initialization colon back slash n double quote left angle bracket left angle bracket integers 1 semicolon. Line 17. Blank. Line 18, indented once. forward slash forward slash print integers 2 size and contents. Line 19, indented once. c out left angle bracket left angle bracket double quote back slash n Size of Array integers 2 is double quote. Line 20, indented twice. left angle bracket left angle bracket integers 2 period get Size left parenthesis right parenthesis. Line 21, indented twice. left angle bracket left angle bracket double quote back slash n Array after initialization colon back slash n double quote left angle bracket left angle bracket integers 2 semicolon. Line 22. Blank. Line 23, indented once. forward slash forward slash input and print integers 1 and integers 2. Line 24, indented once. c out left angle bracket left angle bracket double quote back slash n Enter 17 integers colon double quote left angle bracket left angle bracket end l semicolon. Line 25, indented once. c in right angle bracket right angle bracket integers 1 right angle bracket right angle bracket integers 2 semicolon. Line 25 is highlighted."/>
          <p:cNvPicPr>
            <a:picLocks noChangeAspect="1"/>
          </p:cNvPicPr>
          <p:nvPr/>
        </p:nvPicPr>
        <p:blipFill>
          <a:blip r:embed="rId2"/>
          <a:stretch>
            <a:fillRect/>
          </a:stretch>
        </p:blipFill>
        <p:spPr>
          <a:xfrm>
            <a:off x="1091073" y="1535346"/>
            <a:ext cx="6961852" cy="4783158"/>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18.9 </a:t>
            </a:r>
            <a:r>
              <a:rPr lang="en-US" kern="1200" dirty="0">
                <a:latin typeface="Consolas" panose="020B0609020204030204" pitchFamily="49" charset="0"/>
                <a:ea typeface="+mj-ea"/>
                <a:cs typeface="+mj-cs"/>
              </a:rPr>
              <a:t>Array</a:t>
            </a:r>
            <a:r>
              <a:rPr lang="en-US" dirty="0"/>
              <a:t> Class Test Program</a:t>
            </a:r>
            <a:r>
              <a:rPr lang="en-US" b="0" dirty="0"/>
              <a:t> </a:t>
            </a:r>
            <a:r>
              <a:rPr lang="en-US" sz="2000" b="0" dirty="0" smtClean="0"/>
              <a:t>(2 </a:t>
            </a:r>
            <a:r>
              <a:rPr lang="en-US" sz="2000" b="0" dirty="0"/>
              <a:t>of </a:t>
            </a:r>
            <a:r>
              <a:rPr lang="en-US" sz="2000" b="0" dirty="0" smtClean="0"/>
              <a:t>7)</a:t>
            </a:r>
            <a:endParaRPr lang="en-US" dirty="0"/>
          </a:p>
        </p:txBody>
      </p:sp>
      <p:pic>
        <p:nvPicPr>
          <p:cNvPr id="5" name="Picture 4" descr="The code continues. Line 26. Blank. Line 27, indented once. c out left angle bracket left angle bracket double quote back slash n After input comma the Arrays contain colon back slash n double quote. Line 28, indented twice. left angle bracket left angle bracket double quote integers 1 colon back slash n double quote left angle bracket left angle bracket integers 1. Line 29, indented twice. left angle bracket left angle bracket double quote integers 2 colon back slash n double quote left angle bracket left angle bracket integers 2 semicolon. Line 30. Blank. Line 31, indented once. forward slash forward slash use overloaded inequality left parenthesis exclamation point equals right parenthesis operator. Line 32, indented once. c out left angle bracket left angle bracket double quote back slash n Evaluating colon integers 1 exclamation point equals integers 2 double quote left angle bracket left angle bracket end l semicolon. Line 33. Blank. Line 34, indented once. if left parenthesis integers 1 exclamation point equals integers 2 right parenthesis. Line 34 is highlighted. Line 35, indented twice. c out left angle bracket left angle bracket double quote integers 1 and integers 2 are not equal double quote left angle bracket left angle bracket end l semicolon. Line 36. Blank. Line 37, indented once. forward slash forward slash create Array integers 3 using integers 1 as an. Line 38, indented once. forward slash forward slash initializer semicolon print size and contents. Line 39, indented once. Array integers 3 left parenthesis integers 1 right parenthesis semicolon forward slash forward slash invokes copy constructor. Lines 37 to 39 are highlighted. Line 40. Blank. Line 41, indented once. c out left angle bracket left angle bracket double quote back slash n Size of Array integers3 is double quote. Line 42, indented twice. left angle bracket left angle bracket integers3 period get Size left parenthesis right parenthesis. Line 42 is highlighted. Line 43, indented twice. left angle bracket left angle bracket double quote back slash n Array after initialization colon back slash n double quote left angle bracket left angle bracket integers 3 semicolon. Line 44. Blank. Line 45, indented once. forward slash forward slash use overloaded assignment left parenthesis equals right parenthesis operator. Line 46, indented once. c out left angle bracket left angle bracket double quote back slash n Assigning integers 2 to integers 1 colon double quote left angle bracket left angle bracket end l semicolon. Line 47, indented once. integers 1 equals integers 2 semicolon forward slash forward slash note target Array is smaller. Line 47 is highlighted. Line 48. Blank."/>
          <p:cNvPicPr>
            <a:picLocks noChangeAspect="1"/>
          </p:cNvPicPr>
          <p:nvPr/>
        </p:nvPicPr>
        <p:blipFill>
          <a:blip r:embed="rId2"/>
          <a:stretch>
            <a:fillRect/>
          </a:stretch>
        </p:blipFill>
        <p:spPr>
          <a:xfrm>
            <a:off x="858418" y="1551346"/>
            <a:ext cx="7427166" cy="4623670"/>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18.9 </a:t>
            </a:r>
            <a:r>
              <a:rPr lang="en-US" kern="1200" dirty="0">
                <a:latin typeface="Consolas" panose="020B0609020204030204" pitchFamily="49" charset="0"/>
                <a:ea typeface="+mj-ea"/>
                <a:cs typeface="+mj-cs"/>
              </a:rPr>
              <a:t>Array</a:t>
            </a:r>
            <a:r>
              <a:rPr lang="en-US" dirty="0"/>
              <a:t> Class Test Program</a:t>
            </a:r>
            <a:r>
              <a:rPr lang="en-US" b="0" dirty="0"/>
              <a:t> </a:t>
            </a:r>
            <a:r>
              <a:rPr lang="en-US" sz="2000" b="0" dirty="0" smtClean="0"/>
              <a:t>(3 </a:t>
            </a:r>
            <a:r>
              <a:rPr lang="en-US" sz="2000" b="0" dirty="0"/>
              <a:t>of 7)</a:t>
            </a:r>
            <a:endParaRPr lang="en-US" dirty="0"/>
          </a:p>
        </p:txBody>
      </p:sp>
      <p:pic>
        <p:nvPicPr>
          <p:cNvPr id="5" name="Picture 4" descr="The code continues. Line 49, indented once. c out left angle bracket left angle bracket double quote integers 1 colon back slash n double quote left angle bracket left angle bracket integers 1. Line 50, indented once. left angle bracket left angle bracket double quote integers 2 colon back slash n double quote left angle bracket left angle bracket integers 2 semicolon. Line 51. Blank. Line 52, indented once. forward slash forward slash use overloaded equality left parenthesis equals equals right parenthesis operator. Line 53, indented once. c out left angle bracket left angle bracket double quote back slash n Evaluating colon integers 1 equals equals integers 2 double quote left angle bracket left angle bracket end l semicolon. Line 54. Blank. Line 55, indented once. if left parenthesis integers 1 equals equals integers 2 right parenthesis. Line 56, indented once. c out left angle bracket left angle bracket double quote integers 1 and integers 2 are equal double quote left angle bracket left angle bracket end l semicolon. Line 57. Blank. Line 58, indented once. forward slash forward slash use overloaded subscript operator to create r value. Line 59, indented once. c out left angle bracket left angle bracket double quote back slash n integers 1 left bracket 5 right bracket is double quote left angle bracket left angle bracket integers 1 left bracket 5 right bracket semicolon. Line 60. Blank. Line 61, indented once. forward slash forward slash use overloaded subscript operator to create l value. Line 62, indented once. c out left angle bracket left angle bracket double quote back slash n back slash n Assigning 1000 to integers1 left bracket 5 right bracket double quote left angle bracket left angle bracket end l semicolon. Line 63, indented once. integers 1 left bracket 5 right bracket equals 1000 semicolon. Line 64, indented once. c out left angle bracket left angle bracket double quote integers 1 colon back slash n double quote left angle bracket left angle bracket integers 1 semicolon. Line 65. Blank."/>
          <p:cNvPicPr>
            <a:picLocks noChangeAspect="1"/>
          </p:cNvPicPr>
          <p:nvPr/>
        </p:nvPicPr>
        <p:blipFill>
          <a:blip r:embed="rId2"/>
          <a:stretch>
            <a:fillRect/>
          </a:stretch>
        </p:blipFill>
        <p:spPr>
          <a:xfrm>
            <a:off x="629091" y="1888273"/>
            <a:ext cx="7885817" cy="3691053"/>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18.9 </a:t>
            </a:r>
            <a:r>
              <a:rPr lang="en-US" kern="1200" dirty="0">
                <a:latin typeface="Consolas" panose="020B0609020204030204" pitchFamily="49" charset="0"/>
                <a:ea typeface="+mj-ea"/>
                <a:cs typeface="+mj-cs"/>
              </a:rPr>
              <a:t>Array</a:t>
            </a:r>
            <a:r>
              <a:rPr lang="en-US" dirty="0"/>
              <a:t> Class Test Program</a:t>
            </a:r>
            <a:r>
              <a:rPr lang="en-US" b="0" dirty="0"/>
              <a:t> </a:t>
            </a:r>
            <a:r>
              <a:rPr lang="en-US" sz="2000" b="0" dirty="0" smtClean="0"/>
              <a:t>(4 </a:t>
            </a:r>
            <a:r>
              <a:rPr lang="en-US" sz="2000" b="0" dirty="0"/>
              <a:t>of 7)</a:t>
            </a:r>
            <a:endParaRPr lang="en-US" dirty="0"/>
          </a:p>
        </p:txBody>
      </p:sp>
      <p:pic>
        <p:nvPicPr>
          <p:cNvPr id="5" name="Picture 4" descr="The code continues. Line 66, indented once. forward slash forward slash attempt to use out dash of dash range subscript. Line 67, indented once. try. Line 68, indented once. left brace. Line 69, indented twice. c out left angle bracket left angle bracket double quote back slash n Attempt to assign 1000 to integers1 left bracket 15 right bracket double quote left angle bracket left angle bracket end l semicolon. Line 70, indented twice. integers 1 left bracket 15 right bracket equals 1000 semicolon forward slash forward slash ERROR colon subscript out of range. Line 70 is highlighted. Line 71, indented once. right brace forward slash forward slash end try. Line 72, indented once. catch left parenthesis out underscore of underscore range ampersand ex right parenthesis. Line 73, indented once. left brace. Line 74, indented twice. c out left angle bracket left angle bracket double quote An exception occurred colon double quote left angle bracket left angle bracket ex period what left parenthesis right parenthesis left angle bracket left angle bracket end l semicolon. Line 75, indented once. right brace forward slash forward slash end catch. Line 76. right brace forward slash forward slash end main."/>
          <p:cNvPicPr>
            <a:picLocks noChangeAspect="1"/>
          </p:cNvPicPr>
          <p:nvPr/>
        </p:nvPicPr>
        <p:blipFill>
          <a:blip r:embed="rId2"/>
          <a:stretch>
            <a:fillRect/>
          </a:stretch>
        </p:blipFill>
        <p:spPr>
          <a:xfrm>
            <a:off x="532807" y="2371461"/>
            <a:ext cx="8078387" cy="2633409"/>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18.9 </a:t>
            </a:r>
            <a:r>
              <a:rPr lang="en-US" kern="1200" dirty="0">
                <a:latin typeface="Consolas" panose="020B0609020204030204" pitchFamily="49" charset="0"/>
                <a:ea typeface="+mj-ea"/>
                <a:cs typeface="+mj-cs"/>
              </a:rPr>
              <a:t>Array</a:t>
            </a:r>
            <a:r>
              <a:rPr lang="en-US" dirty="0"/>
              <a:t> Class Test Program</a:t>
            </a:r>
            <a:r>
              <a:rPr lang="en-US" b="0" dirty="0"/>
              <a:t> </a:t>
            </a:r>
            <a:r>
              <a:rPr lang="en-US" sz="2000" b="0" dirty="0" smtClean="0"/>
              <a:t>(5 </a:t>
            </a:r>
            <a:r>
              <a:rPr lang="en-US" sz="2000" b="0" dirty="0"/>
              <a:t>of 7)</a:t>
            </a:r>
            <a:endParaRPr lang="en-US" dirty="0"/>
          </a:p>
        </p:txBody>
      </p:sp>
      <p:pic>
        <p:nvPicPr>
          <p:cNvPr id="5" name="Picture 4" descr="The computer code output has 18 lines. The lines read as follows. Line 1. Size of Array integers 1 is 7. Line 2. Array after initialization colon. Line 3. 0, 0, 0, 0. Line 4. 0, 0, 0. Line 5. Size of Array integers 2 is 10. Line 6. Array after initialization colon. Line 7. 0, 0, 0, 0. Line 8. 0, 0, 0, 0. Line 9. 0, 0. Line 10. Enter 17 integers colon. Line 11. 1, 2, 3, 4, 5, 6, 7, 8, 9, 10, 11, 12, 13, 14, 15, 16, 17. Line 12. After input comma the Arrays contain colon. Line 13. Integers 1 colon. Line 14. 1, 2, 3, 4. Line 15. 5, 6, 7. Line 16. integers 2 colon. Line 17. 8, 9, 10, 11. Line 18. 12, 13, 14, 15."/>
          <p:cNvPicPr>
            <a:picLocks noChangeAspect="1"/>
          </p:cNvPicPr>
          <p:nvPr/>
        </p:nvPicPr>
        <p:blipFill>
          <a:blip r:embed="rId2"/>
          <a:stretch>
            <a:fillRect/>
          </a:stretch>
        </p:blipFill>
        <p:spPr>
          <a:xfrm>
            <a:off x="817794" y="1590954"/>
            <a:ext cx="7508414" cy="4253608"/>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smtClean="0"/>
              <a:t>Figure 18.9 </a:t>
            </a:r>
            <a:r>
              <a:rPr lang="en-US" kern="1200" dirty="0">
                <a:latin typeface="Consolas" panose="020B0609020204030204" pitchFamily="49" charset="0"/>
                <a:ea typeface="+mj-ea"/>
                <a:cs typeface="+mj-cs"/>
              </a:rPr>
              <a:t>Array</a:t>
            </a:r>
            <a:r>
              <a:rPr lang="en-US" dirty="0" smtClean="0"/>
              <a:t> Class Test Program</a:t>
            </a:r>
            <a:r>
              <a:rPr lang="en-US" b="0" dirty="0" smtClean="0"/>
              <a:t> </a:t>
            </a:r>
            <a:r>
              <a:rPr lang="en-US" sz="2000" b="0" dirty="0" smtClean="0"/>
              <a:t>(6 of 7)</a:t>
            </a:r>
            <a:endParaRPr lang="en-US" dirty="0"/>
          </a:p>
        </p:txBody>
      </p:sp>
      <p:pic>
        <p:nvPicPr>
          <p:cNvPr id="5" name="Picture 4" descr="The code continues. Line 19. Evaluating colon integers 1 exclamation point equals integers 2. Line 20. integers 1 and integers 2 are not equal. Line 21. Size of Array integers 3 is 7. Line 22. Array after initialization colon. Line 23. 1, 2, 3, 4. Line 24. 5, 6, 7. Line 25. Assigning integers 2 to integers 1 colon. Line 26. integers 1 colon. Line 27. 8, 9, 10, 11. Line 28. 12, 13, 14, 15. Line 29. 16, 17. Line 30. integers 2 colon. Line 31. 8, 9, 10, 11. Line 32. 12, 13, 14, 15. Line 33. 16, 17."/>
          <p:cNvPicPr>
            <a:picLocks noChangeAspect="1"/>
          </p:cNvPicPr>
          <p:nvPr/>
        </p:nvPicPr>
        <p:blipFill>
          <a:blip r:embed="rId2"/>
          <a:stretch>
            <a:fillRect/>
          </a:stretch>
        </p:blipFill>
        <p:spPr>
          <a:xfrm>
            <a:off x="648058" y="1848586"/>
            <a:ext cx="7847884" cy="3857270"/>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18.9 </a:t>
            </a:r>
            <a:r>
              <a:rPr lang="en-US" kern="1200" dirty="0">
                <a:latin typeface="Consolas" panose="020B0609020204030204" pitchFamily="49" charset="0"/>
                <a:ea typeface="+mj-ea"/>
                <a:cs typeface="+mj-cs"/>
              </a:rPr>
              <a:t>Array</a:t>
            </a:r>
            <a:r>
              <a:rPr lang="en-US" dirty="0"/>
              <a:t> Class Test Program</a:t>
            </a:r>
            <a:r>
              <a:rPr lang="en-US" b="0" dirty="0"/>
              <a:t> </a:t>
            </a:r>
            <a:r>
              <a:rPr lang="en-US" sz="2000" b="0" dirty="0" smtClean="0"/>
              <a:t>(7 </a:t>
            </a:r>
            <a:r>
              <a:rPr lang="en-US" sz="2000" b="0" dirty="0"/>
              <a:t>of 7)</a:t>
            </a:r>
            <a:endParaRPr lang="en-US" dirty="0"/>
          </a:p>
        </p:txBody>
      </p:sp>
      <p:pic>
        <p:nvPicPr>
          <p:cNvPr id="5" name="Picture 4" descr="Line 34. Evaluating colon integers 1 equals equals integers 2. Line 35. integers 1 and integers 2 are equal. Line 36. Integers 1 left bracket 5 right bracket is 13. Line 37. Assigning 1000 to integers 1 left bracket 5 right bracket. Line 38. integers 1 colon. Line 39. 8, 9, 10, 11. Line 40. 12, 1000, 14, 15. Line 41. 16, 17. Line 42. Attempt to assign 1000 to integers 1 left bracket 15 right bracket. Line 43. An exception occurred colon Subscript out of range."/>
          <p:cNvPicPr>
            <a:picLocks noChangeAspect="1"/>
          </p:cNvPicPr>
          <p:nvPr/>
        </p:nvPicPr>
        <p:blipFill>
          <a:blip r:embed="rId2"/>
          <a:stretch>
            <a:fillRect/>
          </a:stretch>
        </p:blipFill>
        <p:spPr>
          <a:xfrm>
            <a:off x="624561" y="2029131"/>
            <a:ext cx="7894878" cy="2881198"/>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(4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146711"/>
          </a:xfrm>
        </p:spPr>
        <p:txBody>
          <a:bodyPr>
            <a:spAutoFit/>
          </a:bodyPr>
          <a:lstStyle/>
          <a:p>
            <a:pPr marL="255651" indent="-255651" eaLnBrk="1" hangingPunct="1">
              <a:tabLst/>
              <a:defRPr/>
            </a:pPr>
            <a:r>
              <a:rPr lang="en-US" altLang="en-US" sz="2200" kern="1200" dirty="0">
                <a:solidFill>
                  <a:srgbClr val="000000"/>
                </a:solidFill>
                <a:latin typeface="Arial (Body)"/>
                <a:ea typeface="+mn-ea"/>
                <a:cs typeface="+mn-cs"/>
              </a:rPr>
              <a:t>The </a:t>
            </a:r>
            <a:r>
              <a:rPr lang="en-US" altLang="en-US" sz="2200" kern="1200" dirty="0">
                <a:solidFill>
                  <a:srgbClr val="000000"/>
                </a:solidFill>
                <a:latin typeface="Consolas" panose="020B0609020204030204" pitchFamily="49" charset="0"/>
                <a:ea typeface="+mn-ea"/>
                <a:cs typeface="Consolas" panose="020B0609020204030204" pitchFamily="49" charset="0"/>
              </a:rPr>
              <a:t>Array</a:t>
            </a:r>
            <a:r>
              <a:rPr lang="en-US" altLang="en-US" sz="2200" kern="1200" dirty="0">
                <a:solidFill>
                  <a:srgbClr val="000000"/>
                </a:solidFill>
                <a:latin typeface="Arial (Body)"/>
                <a:ea typeface="+mn-ea"/>
                <a:cs typeface="+mn-cs"/>
              </a:rPr>
              <a:t> </a:t>
            </a:r>
            <a:r>
              <a:rPr lang="en-US" altLang="en-US" sz="2200" b="1" kern="1200" dirty="0">
                <a:solidFill>
                  <a:srgbClr val="000000"/>
                </a:solidFill>
                <a:latin typeface="Arial (Body)"/>
                <a:ea typeface="+mn-ea"/>
                <a:cs typeface="+mn-cs"/>
              </a:rPr>
              <a:t>copy constructor</a:t>
            </a:r>
            <a:r>
              <a:rPr lang="en-US" altLang="en-US" sz="2200" kern="1200" dirty="0">
                <a:solidFill>
                  <a:srgbClr val="000000"/>
                </a:solidFill>
                <a:latin typeface="Arial (Body)"/>
                <a:ea typeface="+mn-ea"/>
                <a:cs typeface="+mn-cs"/>
              </a:rPr>
              <a:t> copies the elements of one </a:t>
            </a:r>
            <a:r>
              <a:rPr lang="en-US" altLang="en-US" sz="2200" kern="1200" dirty="0">
                <a:solidFill>
                  <a:srgbClr val="000000"/>
                </a:solidFill>
                <a:latin typeface="Consolas" panose="020B0609020204030204" pitchFamily="49" charset="0"/>
                <a:ea typeface="+mn-ea"/>
                <a:cs typeface="Consolas" panose="020B0609020204030204" pitchFamily="49" charset="0"/>
              </a:rPr>
              <a:t>Array</a:t>
            </a:r>
            <a:r>
              <a:rPr lang="en-US" altLang="en-US" sz="2200" kern="1200" dirty="0">
                <a:solidFill>
                  <a:srgbClr val="000000"/>
                </a:solidFill>
                <a:latin typeface="Arial (Body)"/>
                <a:ea typeface="+mn-ea"/>
                <a:cs typeface="+mn-cs"/>
              </a:rPr>
              <a:t> into </a:t>
            </a:r>
            <a:r>
              <a:rPr lang="en-US" altLang="en-US" sz="2200" kern="1200" dirty="0" smtClean="0">
                <a:solidFill>
                  <a:srgbClr val="000000"/>
                </a:solidFill>
                <a:latin typeface="Arial (Body)"/>
                <a:ea typeface="+mn-ea"/>
                <a:cs typeface="+mn-cs"/>
              </a:rPr>
              <a:t>another.</a:t>
            </a:r>
            <a:endParaRPr lang="en-US" altLang="en-US" sz="2200" kern="1200" dirty="0">
              <a:solidFill>
                <a:srgbClr val="000000"/>
              </a:solidFill>
              <a:latin typeface="Arial (Body)"/>
              <a:ea typeface="+mn-ea"/>
              <a:cs typeface="+mn-cs"/>
            </a:endParaRPr>
          </a:p>
          <a:p>
            <a:pPr marL="255651" indent="-255651" eaLnBrk="1" hangingPunct="1">
              <a:tabLst/>
              <a:defRPr/>
            </a:pPr>
            <a:r>
              <a:rPr lang="en-US" altLang="en-US" sz="2200" kern="1200" dirty="0">
                <a:solidFill>
                  <a:srgbClr val="000000"/>
                </a:solidFill>
                <a:latin typeface="Arial (Body)"/>
                <a:ea typeface="+mn-ea"/>
                <a:cs typeface="+mn-cs"/>
              </a:rPr>
              <a:t>The copy constructor can also be invoked by writing line 39 as follows</a:t>
            </a:r>
            <a:r>
              <a:rPr lang="en-US" altLang="en-US" sz="2200" kern="1200" dirty="0" smtClean="0">
                <a:solidFill>
                  <a:srgbClr val="000000"/>
                </a:solidFill>
                <a:latin typeface="Arial (Body)"/>
                <a:ea typeface="+mn-ea"/>
                <a:cs typeface="+mn-cs"/>
              </a:rPr>
              <a:t>:</a:t>
            </a:r>
          </a:p>
          <a:p>
            <a:pPr marL="742569" lvl="1" eaLnBrk="1" hangingPunct="1">
              <a:defRPr/>
            </a:pPr>
            <a:r>
              <a:rPr lang="en-US" altLang="en-US" sz="2200" kern="1200" dirty="0">
                <a:solidFill>
                  <a:srgbClr val="000000"/>
                </a:solidFill>
                <a:latin typeface="Arial (Body)"/>
                <a:ea typeface="+mn-ea"/>
                <a:cs typeface="+mn-cs"/>
              </a:rPr>
              <a:t> </a:t>
            </a:r>
            <a:endParaRPr lang="en-US" altLang="en-US" sz="2200" kern="1200" dirty="0" smtClean="0">
              <a:solidFill>
                <a:srgbClr val="000000"/>
              </a:solidFill>
              <a:latin typeface="Arial (Body)"/>
              <a:ea typeface="+mn-ea"/>
              <a:cs typeface="+mn-cs"/>
            </a:endParaRPr>
          </a:p>
        </p:txBody>
      </p:sp>
      <p:pic>
        <p:nvPicPr>
          <p:cNvPr id="6" name="Picture 5" descr="The computer reads as follows. Array integers 3 equals integers 1 semicolon."/>
          <p:cNvPicPr>
            <a:picLocks noChangeAspect="1"/>
          </p:cNvPicPr>
          <p:nvPr/>
        </p:nvPicPr>
        <p:blipFill rotWithShape="1">
          <a:blip r:embed="rId2"/>
          <a:srcRect l="7520" t="16168" r="3395" b="24062"/>
          <a:stretch/>
        </p:blipFill>
        <p:spPr>
          <a:xfrm>
            <a:off x="1275657" y="3292869"/>
            <a:ext cx="4800462" cy="392631"/>
          </a:xfrm>
          <a:prstGeom prst="rect">
            <a:avLst/>
          </a:prstGeom>
        </p:spPr>
      </p:pic>
      <p:sp>
        <p:nvSpPr>
          <p:cNvPr id="5" name="Text Placeholder 4"/>
          <p:cNvSpPr>
            <a:spLocks noGrp="1"/>
          </p:cNvSpPr>
          <p:nvPr>
            <p:ph type="body" idx="2"/>
          </p:nvPr>
        </p:nvSpPr>
        <p:spPr>
          <a:xfrm>
            <a:off x="457200" y="3709918"/>
            <a:ext cx="8229600" cy="2473973"/>
          </a:xfrm>
        </p:spPr>
        <p:txBody>
          <a:bodyPr/>
          <a:lstStyle/>
          <a:p>
            <a:pPr marL="255651" indent="-255651" eaLnBrk="1" hangingPunct="1">
              <a:tabLst/>
              <a:defRPr/>
            </a:pPr>
            <a:r>
              <a:rPr lang="en-US" altLang="en-US" sz="2200" kern="1200" dirty="0">
                <a:solidFill>
                  <a:srgbClr val="000000"/>
                </a:solidFill>
                <a:latin typeface="Arial (Body)"/>
              </a:rPr>
              <a:t>The equal sign in the preceding statement is </a:t>
            </a:r>
            <a:r>
              <a:rPr lang="en-US" altLang="en-US" sz="2200" b="1" kern="1200" dirty="0">
                <a:solidFill>
                  <a:srgbClr val="000000"/>
                </a:solidFill>
                <a:latin typeface="Arial (Body)"/>
              </a:rPr>
              <a:t>not </a:t>
            </a:r>
            <a:r>
              <a:rPr lang="en-US" altLang="en-US" sz="2200" kern="1200" dirty="0">
                <a:solidFill>
                  <a:srgbClr val="000000"/>
                </a:solidFill>
                <a:latin typeface="Arial (Body)"/>
              </a:rPr>
              <a:t>the assignment operator.</a:t>
            </a:r>
          </a:p>
          <a:p>
            <a:pPr marL="255651" indent="-255651" eaLnBrk="1" hangingPunct="1">
              <a:tabLst/>
              <a:defRPr/>
            </a:pPr>
            <a:r>
              <a:rPr lang="en-US" altLang="en-US" sz="2200" kern="1200" dirty="0">
                <a:solidFill>
                  <a:srgbClr val="000000"/>
                </a:solidFill>
                <a:latin typeface="Arial (Body)"/>
              </a:rPr>
              <a:t>When an equal sign appears in the declaration of an object, it invokes a constructor for that object.</a:t>
            </a:r>
          </a:p>
          <a:p>
            <a:pPr marL="255651" indent="-255651" eaLnBrk="1" hangingPunct="1">
              <a:tabLst/>
              <a:defRPr/>
            </a:pPr>
            <a:r>
              <a:rPr lang="en-US" altLang="en-US" sz="2200" kern="1200" dirty="0">
                <a:solidFill>
                  <a:srgbClr val="000000"/>
                </a:solidFill>
                <a:latin typeface="Arial (Body)"/>
              </a:rPr>
              <a:t>This form can be used to pass only a single argument to a constructor</a:t>
            </a:r>
            <a:r>
              <a:rPr lang="en-US" altLang="en-US" sz="2200" kern="1200" dirty="0" smtClean="0">
                <a:solidFill>
                  <a:srgbClr val="000000"/>
                </a:solidFill>
                <a:latin typeface="Arial (Body)"/>
              </a:rPr>
              <a:t>.</a:t>
            </a:r>
            <a:endParaRPr lang="en-US" altLang="en-US" sz="22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(5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spAutoFit/>
          </a:bodyPr>
          <a:lstStyle/>
          <a:p>
            <a:pPr marL="255651" indent="-255651" eaLnBrk="1" hangingPunct="1">
              <a:tabLst/>
              <a:defRPr/>
            </a:pPr>
            <a:r>
              <a:rPr lang="en-US" altLang="en-US" sz="2400" b="1" kern="1200" dirty="0">
                <a:solidFill>
                  <a:srgbClr val="000000"/>
                </a:solidFill>
                <a:latin typeface="Arial (Body)"/>
                <a:ea typeface="+mn-ea"/>
                <a:cs typeface="+mn-cs"/>
              </a:rPr>
              <a:t>The array subscript operator </a:t>
            </a:r>
            <a:r>
              <a:rPr lang="en-US" altLang="en-US" sz="2400" b="1" kern="1200" dirty="0">
                <a:solidFill>
                  <a:srgbClr val="000000"/>
                </a:solidFill>
                <a:latin typeface="Consolas" panose="020B0609020204030204" pitchFamily="49" charset="0"/>
                <a:ea typeface="+mn-ea"/>
                <a:cs typeface="Consolas" panose="020B0609020204030204" pitchFamily="49" charset="0"/>
              </a:rPr>
              <a:t>[]</a:t>
            </a:r>
            <a:r>
              <a:rPr lang="en-US" altLang="en-US" sz="2400" b="1" kern="1200" dirty="0">
                <a:solidFill>
                  <a:srgbClr val="000000"/>
                </a:solidFill>
                <a:latin typeface="Arial (Body)"/>
                <a:ea typeface="+mn-ea"/>
                <a:cs typeface="+mn-cs"/>
              </a:rPr>
              <a:t> is not restricted for use only with arrays</a:t>
            </a:r>
            <a:r>
              <a:rPr lang="en-US" altLang="en-US" sz="2400" kern="1200" dirty="0">
                <a:solidFill>
                  <a:srgbClr val="000000"/>
                </a:solidFill>
                <a:latin typeface="Arial (Body)"/>
                <a:ea typeface="+mn-ea"/>
                <a:cs typeface="+mn-cs"/>
              </a:rPr>
              <a:t>; it also can be used, for example, to select elements from other kinds of </a:t>
            </a:r>
            <a:r>
              <a:rPr lang="en-US" altLang="en-US" sz="2400" b="1" kern="1200" dirty="0">
                <a:solidFill>
                  <a:srgbClr val="000000"/>
                </a:solidFill>
                <a:latin typeface="Arial (Body)"/>
                <a:ea typeface="+mn-ea"/>
                <a:cs typeface="+mn-cs"/>
              </a:rPr>
              <a:t>container classes</a:t>
            </a:r>
            <a:r>
              <a:rPr lang="en-US" altLang="en-US" sz="2400" kern="1200" dirty="0">
                <a:solidFill>
                  <a:srgbClr val="000000"/>
                </a:solidFill>
                <a:latin typeface="Arial (Body)"/>
                <a:ea typeface="+mn-ea"/>
                <a:cs typeface="+mn-cs"/>
              </a:rPr>
              <a:t>, such as strings and dictionaries.</a:t>
            </a:r>
          </a:p>
          <a:p>
            <a:pPr marL="255651" indent="-255651" eaLnBrk="1" hangingPunct="1">
              <a:tabLst/>
              <a:defRPr/>
            </a:pPr>
            <a:r>
              <a:rPr lang="en-US" altLang="en-US" sz="2400" kern="1200" dirty="0">
                <a:solidFill>
                  <a:srgbClr val="000000"/>
                </a:solidFill>
                <a:latin typeface="Arial (Body)"/>
                <a:ea typeface="+mn-ea"/>
                <a:cs typeface="+mn-cs"/>
              </a:rPr>
              <a:t>Also, when </a:t>
            </a:r>
            <a:r>
              <a:rPr lang="en-US" altLang="en-US" sz="2400" kern="1200" dirty="0">
                <a:solidFill>
                  <a:srgbClr val="000000"/>
                </a:solidFill>
                <a:latin typeface="Consolas" panose="020B0609020204030204" pitchFamily="49" charset="0"/>
                <a:ea typeface="+mn-ea"/>
                <a:cs typeface="Consolas" panose="020B0609020204030204" pitchFamily="49" charset="0"/>
              </a:rPr>
              <a:t>operator[]</a:t>
            </a:r>
            <a:r>
              <a:rPr lang="en-US" altLang="en-US" sz="2400" kern="1200" dirty="0">
                <a:solidFill>
                  <a:srgbClr val="000000"/>
                </a:solidFill>
                <a:latin typeface="Arial (Body)"/>
                <a:ea typeface="+mn-ea"/>
                <a:cs typeface="+mn-cs"/>
              </a:rPr>
              <a:t> functions are defined, </a:t>
            </a:r>
            <a:r>
              <a:rPr lang="en-US" altLang="en-US" sz="2400" b="1" kern="1200" dirty="0">
                <a:solidFill>
                  <a:srgbClr val="000000"/>
                </a:solidFill>
                <a:latin typeface="Arial (Body)"/>
                <a:ea typeface="+mn-ea"/>
                <a:cs typeface="+mn-cs"/>
              </a:rPr>
              <a:t>subscripts no longer have to be integers</a:t>
            </a:r>
            <a:r>
              <a:rPr lang="en-US" altLang="en-US" sz="2400" kern="1200" dirty="0">
                <a:solidFill>
                  <a:srgbClr val="000000"/>
                </a:solidFill>
                <a:latin typeface="Arial (Body)"/>
                <a:ea typeface="+mn-ea"/>
                <a:cs typeface="+mn-cs"/>
              </a:rPr>
              <a:t>—characters, strings, floats or even objects of user-defined classes also could be used.</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(6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1"/>
            <a:ext cx="8229600" cy="2223655"/>
          </a:xfrm>
        </p:spPr>
        <p:txBody>
          <a:bodyPr wrap="square">
            <a:spAutoFit/>
          </a:bodyPr>
          <a:lstStyle/>
          <a:p>
            <a:pPr marL="255651" indent="-255651" eaLnBrk="1" hangingPunct="1">
              <a:tabLst/>
              <a:defRPr/>
            </a:pPr>
            <a:r>
              <a:rPr lang="en-US" altLang="en-US" sz="2400" kern="1200" dirty="0">
                <a:solidFill>
                  <a:srgbClr val="000000"/>
                </a:solidFill>
                <a:latin typeface="Arial (Body)"/>
                <a:ea typeface="+mn-ea"/>
                <a:cs typeface="+mn-cs"/>
              </a:rPr>
              <a:t>Each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 object consists of a </a:t>
            </a:r>
            <a:r>
              <a:rPr lang="en-US" altLang="en-US" sz="2400" kern="1200" dirty="0">
                <a:solidFill>
                  <a:srgbClr val="000000"/>
                </a:solidFill>
                <a:latin typeface="Consolas" panose="020B0609020204030204" pitchFamily="49" charset="0"/>
                <a:ea typeface="+mn-ea"/>
                <a:cs typeface="Consolas" panose="020B0609020204030204" pitchFamily="49" charset="0"/>
              </a:rPr>
              <a:t>size</a:t>
            </a:r>
            <a:r>
              <a:rPr lang="en-US" altLang="en-US" sz="2400" kern="1200" dirty="0">
                <a:solidFill>
                  <a:srgbClr val="000000"/>
                </a:solidFill>
                <a:latin typeface="Arial (Body)"/>
                <a:ea typeface="+mn-ea"/>
                <a:cs typeface="+mn-cs"/>
              </a:rPr>
              <a:t> member indicating the number of elements in the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 and an int pointer—</a:t>
            </a:r>
            <a:r>
              <a:rPr lang="en-US" altLang="en-US" sz="2400" kern="1200" dirty="0">
                <a:solidFill>
                  <a:srgbClr val="000000"/>
                </a:solidFill>
                <a:latin typeface="Consolas" panose="020B0609020204030204" pitchFamily="49" charset="0"/>
                <a:ea typeface="+mn-ea"/>
                <a:cs typeface="Consolas" panose="020B0609020204030204" pitchFamily="49" charset="0"/>
              </a:rPr>
              <a:t>ptr</a:t>
            </a:r>
            <a:r>
              <a:rPr lang="en-US" altLang="en-US" sz="2400" kern="1200" dirty="0">
                <a:solidFill>
                  <a:srgbClr val="000000"/>
                </a:solidFill>
                <a:latin typeface="Arial (Body)"/>
                <a:ea typeface="+mn-ea"/>
                <a:cs typeface="+mn-cs"/>
              </a:rPr>
              <a:t>—that points to the dynamically allocated pointer-based array of integers managed by the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 object.</a:t>
            </a:r>
          </a:p>
          <a:p>
            <a:pPr marL="255651" indent="-255651" eaLnBrk="1" hangingPunct="1">
              <a:tabLst/>
              <a:defRPr/>
            </a:pPr>
            <a:r>
              <a:rPr lang="en-US" altLang="en-US" sz="2400" kern="1200" dirty="0">
                <a:solidFill>
                  <a:srgbClr val="000000"/>
                </a:solidFill>
                <a:latin typeface="Arial (Body)"/>
                <a:ea typeface="+mn-ea"/>
                <a:cs typeface="+mn-cs"/>
              </a:rPr>
              <a:t>When the compiler sees an expression </a:t>
            </a:r>
            <a:r>
              <a:rPr lang="en-US" altLang="en-US" sz="2400" kern="1200" dirty="0" smtClean="0">
                <a:solidFill>
                  <a:srgbClr val="000000"/>
                </a:solidFill>
                <a:latin typeface="Arial (Body)"/>
                <a:ea typeface="+mn-ea"/>
                <a:cs typeface="+mn-cs"/>
              </a:rPr>
              <a:t>like</a:t>
            </a:r>
          </a:p>
        </p:txBody>
      </p:sp>
      <p:graphicFrame>
        <p:nvGraphicFramePr>
          <p:cNvPr id="11" name="Object 10" descr="C out left angle bracket left angle bracket array Object."/>
          <p:cNvGraphicFramePr>
            <a:graphicFrameLocks noChangeAspect="1"/>
          </p:cNvGraphicFramePr>
          <p:nvPr>
            <p:extLst>
              <p:ext uri="{D42A27DB-BD31-4B8C-83A1-F6EECF244321}">
                <p14:modId xmlns:p14="http://schemas.microsoft.com/office/powerpoint/2010/main" val="1328287689"/>
              </p:ext>
            </p:extLst>
          </p:nvPr>
        </p:nvGraphicFramePr>
        <p:xfrm>
          <a:off x="771142" y="3715766"/>
          <a:ext cx="3278955" cy="417068"/>
        </p:xfrm>
        <a:graphic>
          <a:graphicData uri="http://schemas.openxmlformats.org/presentationml/2006/ole">
            <mc:AlternateContent xmlns:mc="http://schemas.openxmlformats.org/markup-compatibility/2006">
              <mc:Choice xmlns:v="urn:schemas-microsoft-com:vml" Requires="v">
                <p:oleObj spid="_x0000_s19199" name="Equation" r:id="rId3" imgW="1600200" imgH="203040" progId="Equation.DSMT4">
                  <p:embed/>
                </p:oleObj>
              </mc:Choice>
              <mc:Fallback>
                <p:oleObj name="Equation" r:id="rId3" imgW="1600200" imgH="203040" progId="Equation.DSMT4">
                  <p:embed/>
                  <p:pic>
                    <p:nvPicPr>
                      <p:cNvPr id="0" name=""/>
                      <p:cNvPicPr/>
                      <p:nvPr/>
                    </p:nvPicPr>
                    <p:blipFill>
                      <a:blip r:embed="rId4"/>
                      <a:stretch>
                        <a:fillRect/>
                      </a:stretch>
                    </p:blipFill>
                    <p:spPr>
                      <a:xfrm>
                        <a:off x="771142" y="3715766"/>
                        <a:ext cx="3278955" cy="417068"/>
                      </a:xfrm>
                      <a:prstGeom prst="rect">
                        <a:avLst/>
                      </a:prstGeom>
                    </p:spPr>
                  </p:pic>
                </p:oleObj>
              </mc:Fallback>
            </mc:AlternateContent>
          </a:graphicData>
        </a:graphic>
      </p:graphicFrame>
      <p:sp>
        <p:nvSpPr>
          <p:cNvPr id="9" name="Content Placeholder 8"/>
          <p:cNvSpPr>
            <a:spLocks noGrp="1"/>
          </p:cNvSpPr>
          <p:nvPr>
            <p:ph sz="quarter" idx="13"/>
          </p:nvPr>
        </p:nvSpPr>
        <p:spPr>
          <a:xfrm>
            <a:off x="3994616" y="3612713"/>
            <a:ext cx="4692184" cy="558800"/>
          </a:xfrm>
        </p:spPr>
        <p:txBody>
          <a:bodyPr/>
          <a:lstStyle/>
          <a:p>
            <a:r>
              <a:rPr lang="en-US" altLang="en-US" sz="2400" kern="1200" dirty="0">
                <a:latin typeface="Arial (Body)"/>
              </a:rPr>
              <a:t>it invokes non-member </a:t>
            </a:r>
            <a:r>
              <a:rPr lang="en-US" altLang="en-US" sz="2400" kern="1200" dirty="0" smtClean="0">
                <a:latin typeface="Arial (Body)"/>
              </a:rPr>
              <a:t>function</a:t>
            </a:r>
            <a:endParaRPr lang="en-US" sz="2400" dirty="0"/>
          </a:p>
        </p:txBody>
      </p:sp>
      <p:graphicFrame>
        <p:nvGraphicFramePr>
          <p:cNvPr id="12" name="Object 11" descr="operator left angle bracket left angle bracket."/>
          <p:cNvGraphicFramePr>
            <a:graphicFrameLocks noChangeAspect="1"/>
          </p:cNvGraphicFramePr>
          <p:nvPr>
            <p:extLst>
              <p:ext uri="{D42A27DB-BD31-4B8C-83A1-F6EECF244321}">
                <p14:modId xmlns:p14="http://schemas.microsoft.com/office/powerpoint/2010/main" val="4040369577"/>
              </p:ext>
            </p:extLst>
          </p:nvPr>
        </p:nvGraphicFramePr>
        <p:xfrm>
          <a:off x="769271" y="4112956"/>
          <a:ext cx="1795209" cy="384689"/>
        </p:xfrm>
        <a:graphic>
          <a:graphicData uri="http://schemas.openxmlformats.org/presentationml/2006/ole">
            <mc:AlternateContent xmlns:mc="http://schemas.openxmlformats.org/markup-compatibility/2006">
              <mc:Choice xmlns:v="urn:schemas-microsoft-com:vml" Requires="v">
                <p:oleObj spid="_x0000_s19200" name="Equation" r:id="rId5" imgW="888840" imgH="190440" progId="Equation.DSMT4">
                  <p:embed/>
                </p:oleObj>
              </mc:Choice>
              <mc:Fallback>
                <p:oleObj name="Equation" r:id="rId5" imgW="888840" imgH="190440" progId="Equation.DSMT4">
                  <p:embed/>
                  <p:pic>
                    <p:nvPicPr>
                      <p:cNvPr id="0" name=""/>
                      <p:cNvPicPr/>
                      <p:nvPr/>
                    </p:nvPicPr>
                    <p:blipFill>
                      <a:blip r:embed="rId6"/>
                      <a:stretch>
                        <a:fillRect/>
                      </a:stretch>
                    </p:blipFill>
                    <p:spPr>
                      <a:xfrm>
                        <a:off x="769271" y="4112956"/>
                        <a:ext cx="1795209" cy="384689"/>
                      </a:xfrm>
                      <a:prstGeom prst="rect">
                        <a:avLst/>
                      </a:prstGeom>
                    </p:spPr>
                  </p:pic>
                </p:oleObj>
              </mc:Fallback>
            </mc:AlternateContent>
          </a:graphicData>
        </a:graphic>
      </p:graphicFrame>
      <p:sp>
        <p:nvSpPr>
          <p:cNvPr id="10" name="Content Placeholder 9"/>
          <p:cNvSpPr>
            <a:spLocks noGrp="1"/>
          </p:cNvSpPr>
          <p:nvPr>
            <p:ph sz="quarter" idx="14"/>
          </p:nvPr>
        </p:nvSpPr>
        <p:spPr>
          <a:xfrm>
            <a:off x="495301" y="3983037"/>
            <a:ext cx="8191500" cy="1169987"/>
          </a:xfrm>
        </p:spPr>
        <p:txBody>
          <a:bodyPr/>
          <a:lstStyle/>
          <a:p>
            <a:pPr indent="1725613" eaLnBrk="1" hangingPunct="1">
              <a:tabLst/>
              <a:defRPr/>
            </a:pPr>
            <a:r>
              <a:rPr lang="en-US" altLang="en-US" sz="2400" kern="1200" dirty="0">
                <a:latin typeface="Arial (Body)"/>
              </a:rPr>
              <a:t>with the call</a:t>
            </a:r>
          </a:p>
          <a:p>
            <a:pPr marL="741600" lvl="1" indent="-284400" eaLnBrk="1" hangingPunct="1">
              <a:spcBef>
                <a:spcPts val="600"/>
              </a:spcBef>
              <a:buClr>
                <a:schemeClr val="tx2"/>
              </a:buClr>
              <a:buFontTx/>
              <a:buChar char="–"/>
              <a:defRPr/>
            </a:pPr>
            <a:r>
              <a:rPr lang="en-US" altLang="en-US" sz="2400" kern="1200" dirty="0" smtClean="0">
                <a:latin typeface="Arial (Body)"/>
              </a:rPr>
              <a:t> </a:t>
            </a:r>
            <a:endParaRPr lang="en-US" altLang="en-US" sz="2400" kern="1200" dirty="0">
              <a:latin typeface="Arial (Body)"/>
            </a:endParaRPr>
          </a:p>
        </p:txBody>
      </p:sp>
      <p:pic>
        <p:nvPicPr>
          <p:cNvPr id="7" name="Picture 6" descr="The computer reads as follows. operator left angle bracket left angle bracket left parenthesis c out comma array Object right parenthesis."/>
          <p:cNvPicPr>
            <a:picLocks noChangeAspect="1"/>
          </p:cNvPicPr>
          <p:nvPr/>
        </p:nvPicPr>
        <p:blipFill rotWithShape="1">
          <a:blip r:embed="rId7"/>
          <a:srcRect l="10004" t="14879" r="2277" b="18697"/>
          <a:stretch/>
        </p:blipFill>
        <p:spPr>
          <a:xfrm>
            <a:off x="1210610" y="4559696"/>
            <a:ext cx="4400205" cy="353384"/>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(7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1"/>
            <a:ext cx="8229600" cy="553968"/>
          </a:xfrm>
        </p:spPr>
        <p:txBody>
          <a:bodyPr>
            <a:spAutoFit/>
          </a:bodyPr>
          <a:lstStyle/>
          <a:p>
            <a:pPr marL="255651" indent="-255651" eaLnBrk="1" hangingPunct="1">
              <a:tabLst/>
              <a:defRPr/>
            </a:pPr>
            <a:r>
              <a:rPr lang="en-US" altLang="en-US" sz="2400" kern="1200" dirty="0" smtClean="0">
                <a:solidFill>
                  <a:srgbClr val="000000"/>
                </a:solidFill>
                <a:latin typeface="Arial (Body)"/>
                <a:ea typeface="+mn-ea"/>
                <a:cs typeface="+mn-cs"/>
              </a:rPr>
              <a:t>When </a:t>
            </a:r>
            <a:r>
              <a:rPr lang="en-US" altLang="en-US" sz="2400" kern="1200" dirty="0">
                <a:solidFill>
                  <a:srgbClr val="000000"/>
                </a:solidFill>
                <a:latin typeface="Arial (Body)"/>
                <a:ea typeface="+mn-ea"/>
                <a:cs typeface="+mn-cs"/>
              </a:rPr>
              <a:t>the compiler sees an expression </a:t>
            </a:r>
            <a:r>
              <a:rPr lang="en-US" altLang="en-US" sz="2400" kern="1200" dirty="0" smtClean="0">
                <a:solidFill>
                  <a:srgbClr val="000000"/>
                </a:solidFill>
                <a:latin typeface="Arial (Body)"/>
                <a:ea typeface="+mn-ea"/>
                <a:cs typeface="+mn-cs"/>
              </a:rPr>
              <a:t>like</a:t>
            </a:r>
          </a:p>
        </p:txBody>
      </p:sp>
      <p:graphicFrame>
        <p:nvGraphicFramePr>
          <p:cNvPr id="11" name="Object 10" descr="C in right angle bracket right angle bracket array Object."/>
          <p:cNvGraphicFramePr>
            <a:graphicFrameLocks noChangeAspect="1"/>
          </p:cNvGraphicFramePr>
          <p:nvPr>
            <p:extLst>
              <p:ext uri="{D42A27DB-BD31-4B8C-83A1-F6EECF244321}">
                <p14:modId xmlns:p14="http://schemas.microsoft.com/office/powerpoint/2010/main" val="811331934"/>
              </p:ext>
            </p:extLst>
          </p:nvPr>
        </p:nvGraphicFramePr>
        <p:xfrm>
          <a:off x="766227" y="2067915"/>
          <a:ext cx="3096696" cy="417120"/>
        </p:xfrm>
        <a:graphic>
          <a:graphicData uri="http://schemas.openxmlformats.org/presentationml/2006/ole">
            <mc:AlternateContent xmlns:mc="http://schemas.openxmlformats.org/markup-compatibility/2006">
              <mc:Choice xmlns:v="urn:schemas-microsoft-com:vml" Requires="v">
                <p:oleObj spid="_x0000_s20203" name="Equation" r:id="rId3" imgW="1511280" imgH="203040" progId="Equation.DSMT4">
                  <p:embed/>
                </p:oleObj>
              </mc:Choice>
              <mc:Fallback>
                <p:oleObj name="Equation" r:id="rId3" imgW="1511280" imgH="203040" progId="Equation.DSMT4">
                  <p:embed/>
                  <p:pic>
                    <p:nvPicPr>
                      <p:cNvPr id="0" name=""/>
                      <p:cNvPicPr/>
                      <p:nvPr/>
                    </p:nvPicPr>
                    <p:blipFill>
                      <a:blip r:embed="rId4"/>
                      <a:stretch>
                        <a:fillRect/>
                      </a:stretch>
                    </p:blipFill>
                    <p:spPr>
                      <a:xfrm>
                        <a:off x="766227" y="2067915"/>
                        <a:ext cx="3096696" cy="417120"/>
                      </a:xfrm>
                      <a:prstGeom prst="rect">
                        <a:avLst/>
                      </a:prstGeom>
                    </p:spPr>
                  </p:pic>
                </p:oleObj>
              </mc:Fallback>
            </mc:AlternateContent>
          </a:graphicData>
        </a:graphic>
      </p:graphicFrame>
      <p:sp>
        <p:nvSpPr>
          <p:cNvPr id="9" name="Content Placeholder 8"/>
          <p:cNvSpPr>
            <a:spLocks noGrp="1"/>
          </p:cNvSpPr>
          <p:nvPr>
            <p:ph sz="quarter" idx="13"/>
          </p:nvPr>
        </p:nvSpPr>
        <p:spPr>
          <a:xfrm>
            <a:off x="3825834" y="1966546"/>
            <a:ext cx="4464133" cy="419835"/>
          </a:xfrm>
        </p:spPr>
        <p:txBody>
          <a:bodyPr/>
          <a:lstStyle/>
          <a:p>
            <a:r>
              <a:rPr lang="en-US" altLang="en-US" sz="2400" kern="1200" dirty="0">
                <a:latin typeface="Arial (Body)"/>
              </a:rPr>
              <a:t>it invokes non-member function</a:t>
            </a:r>
            <a:endParaRPr lang="en-US" dirty="0"/>
          </a:p>
        </p:txBody>
      </p:sp>
      <p:graphicFrame>
        <p:nvGraphicFramePr>
          <p:cNvPr id="12" name="Object 11" descr="Operator right angle bracket right angle bracket."/>
          <p:cNvGraphicFramePr>
            <a:graphicFrameLocks noChangeAspect="1"/>
          </p:cNvGraphicFramePr>
          <p:nvPr>
            <p:extLst>
              <p:ext uri="{D42A27DB-BD31-4B8C-83A1-F6EECF244321}">
                <p14:modId xmlns:p14="http://schemas.microsoft.com/office/powerpoint/2010/main" val="3285044943"/>
              </p:ext>
            </p:extLst>
          </p:nvPr>
        </p:nvGraphicFramePr>
        <p:xfrm>
          <a:off x="764899" y="2456711"/>
          <a:ext cx="1784903" cy="382479"/>
        </p:xfrm>
        <a:graphic>
          <a:graphicData uri="http://schemas.openxmlformats.org/presentationml/2006/ole">
            <mc:AlternateContent xmlns:mc="http://schemas.openxmlformats.org/markup-compatibility/2006">
              <mc:Choice xmlns:v="urn:schemas-microsoft-com:vml" Requires="v">
                <p:oleObj spid="_x0000_s20204" name="Equation" r:id="rId5" imgW="888840" imgH="190440" progId="Equation.DSMT4">
                  <p:embed/>
                </p:oleObj>
              </mc:Choice>
              <mc:Fallback>
                <p:oleObj name="Equation" r:id="rId5" imgW="888840" imgH="190440" progId="Equation.DSMT4">
                  <p:embed/>
                  <p:pic>
                    <p:nvPicPr>
                      <p:cNvPr id="0" name=""/>
                      <p:cNvPicPr/>
                      <p:nvPr/>
                    </p:nvPicPr>
                    <p:blipFill>
                      <a:blip r:embed="rId6"/>
                      <a:stretch>
                        <a:fillRect/>
                      </a:stretch>
                    </p:blipFill>
                    <p:spPr>
                      <a:xfrm>
                        <a:off x="764899" y="2456711"/>
                        <a:ext cx="1784903" cy="382479"/>
                      </a:xfrm>
                      <a:prstGeom prst="rect">
                        <a:avLst/>
                      </a:prstGeom>
                    </p:spPr>
                  </p:pic>
                </p:oleObj>
              </mc:Fallback>
            </mc:AlternateContent>
          </a:graphicData>
        </a:graphic>
      </p:graphicFrame>
      <p:sp>
        <p:nvSpPr>
          <p:cNvPr id="7" name="Content Placeholder 6"/>
          <p:cNvSpPr>
            <a:spLocks noGrp="1"/>
          </p:cNvSpPr>
          <p:nvPr>
            <p:ph sz="quarter" idx="14"/>
          </p:nvPr>
        </p:nvSpPr>
        <p:spPr>
          <a:xfrm>
            <a:off x="457200" y="2325687"/>
            <a:ext cx="8232775" cy="982685"/>
          </a:xfrm>
        </p:spPr>
        <p:txBody>
          <a:bodyPr/>
          <a:lstStyle/>
          <a:p>
            <a:pPr indent="1763713"/>
            <a:r>
              <a:rPr lang="en-US" altLang="en-US" sz="2400" kern="1200" dirty="0">
                <a:latin typeface="Arial (Body)"/>
              </a:rPr>
              <a:t>with the </a:t>
            </a:r>
            <a:r>
              <a:rPr lang="en-US" altLang="en-US" sz="2400" kern="1200" dirty="0" smtClean="0">
                <a:latin typeface="Arial (Body)"/>
              </a:rPr>
              <a:t>call</a:t>
            </a:r>
          </a:p>
          <a:p>
            <a:pPr marL="741600" lvl="1" indent="-284400">
              <a:spcBef>
                <a:spcPts val="600"/>
              </a:spcBef>
              <a:buClr>
                <a:schemeClr val="tx2"/>
              </a:buClr>
              <a:buFont typeface="Arial" panose="020B0604020202020204" pitchFamily="34" charset="0"/>
              <a:buChar char="–"/>
            </a:pPr>
            <a:r>
              <a:rPr lang="en-US" sz="2400" dirty="0" smtClean="0">
                <a:latin typeface="+mn-lt"/>
              </a:rPr>
              <a:t> </a:t>
            </a:r>
            <a:endParaRPr lang="en-US" sz="2400" dirty="0">
              <a:latin typeface="+mn-lt"/>
            </a:endParaRPr>
          </a:p>
        </p:txBody>
      </p:sp>
      <p:pic>
        <p:nvPicPr>
          <p:cNvPr id="10" name="Picture 9" descr="The computer reads as follows. operator right angle bracket right angle bracket left parenthesis c in comma array Object right parenthesis."/>
          <p:cNvPicPr>
            <a:picLocks noChangeAspect="1"/>
          </p:cNvPicPr>
          <p:nvPr/>
        </p:nvPicPr>
        <p:blipFill rotWithShape="1">
          <a:blip r:embed="rId7"/>
          <a:srcRect l="11062" t="16520" r="2545" b="16520"/>
          <a:stretch/>
        </p:blipFill>
        <p:spPr>
          <a:xfrm>
            <a:off x="1231082" y="2887074"/>
            <a:ext cx="4500610" cy="380334"/>
          </a:xfrm>
          <a:prstGeom prst="rect">
            <a:avLst/>
          </a:prstGeom>
        </p:spPr>
      </p:pic>
      <p:sp>
        <p:nvSpPr>
          <p:cNvPr id="8" name="Content Placeholder 7"/>
          <p:cNvSpPr>
            <a:spLocks noGrp="1"/>
          </p:cNvSpPr>
          <p:nvPr>
            <p:ph sz="quarter" idx="15"/>
          </p:nvPr>
        </p:nvSpPr>
        <p:spPr>
          <a:xfrm>
            <a:off x="457200" y="3324829"/>
            <a:ext cx="8229600" cy="1959354"/>
          </a:xfrm>
        </p:spPr>
        <p:txBody>
          <a:bodyPr/>
          <a:lstStyle/>
          <a:p>
            <a:pPr marL="255600" indent="-255600">
              <a:spcBef>
                <a:spcPts val="1500"/>
              </a:spcBef>
              <a:buClr>
                <a:schemeClr val="tx2"/>
              </a:buClr>
              <a:buFont typeface="Arial" panose="020B0604020202020204" pitchFamily="34" charset="0"/>
              <a:buChar char="•"/>
            </a:pPr>
            <a:r>
              <a:rPr lang="en-US" altLang="en-US" sz="2400" kern="1200" dirty="0">
                <a:latin typeface="Arial (Body)"/>
              </a:rPr>
              <a:t>These stream insertion and stream extraction operator functions cannot be members of class </a:t>
            </a:r>
            <a:r>
              <a:rPr lang="en-US" altLang="en-US" sz="2400" kern="1200" dirty="0">
                <a:latin typeface="Consolas" panose="020B0609020204030204" pitchFamily="49" charset="0"/>
                <a:cs typeface="Consolas" panose="020B0609020204030204" pitchFamily="49" charset="0"/>
              </a:rPr>
              <a:t>Array</a:t>
            </a:r>
            <a:r>
              <a:rPr lang="en-US" altLang="en-US" sz="2400" kern="1200" dirty="0">
                <a:latin typeface="Arial (Body)"/>
              </a:rPr>
              <a:t>, because the </a:t>
            </a:r>
            <a:r>
              <a:rPr lang="en-US" altLang="en-US" sz="2400" kern="1200" dirty="0">
                <a:latin typeface="Consolas" panose="020B0609020204030204" pitchFamily="49" charset="0"/>
                <a:cs typeface="Consolas" panose="020B0609020204030204" pitchFamily="49" charset="0"/>
              </a:rPr>
              <a:t>Array</a:t>
            </a:r>
            <a:r>
              <a:rPr lang="en-US" altLang="en-US" sz="2400" kern="1200" dirty="0">
                <a:latin typeface="Arial (Body)"/>
              </a:rPr>
              <a:t> object is always mentioned on the right side of the stream insertion operator and the stream extraction operator.</a:t>
            </a:r>
            <a:endParaRPr lang="en-US" sz="2400" dirty="0"/>
          </a:p>
        </p:txBody>
      </p:sp>
    </p:spTree>
    <p:extLst>
      <p:ext uri="{BB962C8B-B14F-4D97-AF65-F5344CB8AC3E}">
        <p14:creationId xmlns:p14="http://schemas.microsoft.com/office/powerpoint/2010/main" val="394253500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(8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You might be tempted to replace the counter-controlled </a:t>
            </a:r>
            <a:r>
              <a:rPr lang="en-US" altLang="en-US" sz="2400" kern="1200" dirty="0">
                <a:solidFill>
                  <a:srgbClr val="000000"/>
                </a:solidFill>
                <a:latin typeface="Consolas" panose="020B0609020204030204" pitchFamily="49" charset="0"/>
                <a:ea typeface="+mn-ea"/>
                <a:cs typeface="Consolas" panose="020B0609020204030204" pitchFamily="49" charset="0"/>
              </a:rPr>
              <a:t>for</a:t>
            </a:r>
            <a:r>
              <a:rPr lang="en-US" altLang="en-US" sz="2400" kern="1200" dirty="0">
                <a:solidFill>
                  <a:srgbClr val="000000"/>
                </a:solidFill>
                <a:latin typeface="Arial (Body)"/>
                <a:ea typeface="+mn-ea"/>
                <a:cs typeface="+mn-cs"/>
              </a:rPr>
              <a:t> statement in lines 104–105 and many of the other </a:t>
            </a:r>
            <a:r>
              <a:rPr lang="en-US" altLang="en-US" sz="2400" kern="1200" dirty="0">
                <a:solidFill>
                  <a:srgbClr val="000000"/>
                </a:solidFill>
                <a:latin typeface="Consolas" panose="020B0609020204030204" pitchFamily="49" charset="0"/>
                <a:ea typeface="+mn-ea"/>
                <a:cs typeface="Consolas" panose="020B0609020204030204" pitchFamily="49" charset="0"/>
              </a:rPr>
              <a:t>for</a:t>
            </a:r>
            <a:r>
              <a:rPr lang="en-US" altLang="en-US" sz="2400" kern="1200" dirty="0">
                <a:solidFill>
                  <a:srgbClr val="000000"/>
                </a:solidFill>
                <a:latin typeface="Arial (Body)"/>
                <a:ea typeface="+mn-ea"/>
                <a:cs typeface="+mn-cs"/>
              </a:rPr>
              <a:t> statements in class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’s implementation with the C++11 range-based for </a:t>
            </a:r>
            <a:r>
              <a:rPr lang="en-US" altLang="en-US" sz="2400" kern="1200" dirty="0" smtClean="0">
                <a:solidFill>
                  <a:srgbClr val="000000"/>
                </a:solidFill>
                <a:latin typeface="Arial (Body)"/>
                <a:ea typeface="+mn-ea"/>
                <a:cs typeface="+mn-cs"/>
              </a:rPr>
              <a:t>statement.</a:t>
            </a:r>
            <a:endParaRPr lang="en-US" altLang="en-US" sz="2400" kern="1200" dirty="0">
              <a:solidFill>
                <a:srgbClr val="000000"/>
              </a:solidFill>
              <a:latin typeface="Arial (Body)"/>
              <a:ea typeface="+mn-ea"/>
              <a:cs typeface="+mn-cs"/>
            </a:endParaRPr>
          </a:p>
          <a:p>
            <a:pPr marL="255651" indent="-255651" eaLnBrk="1" hangingPunct="1">
              <a:tabLst/>
              <a:defRPr/>
            </a:pPr>
            <a:r>
              <a:rPr lang="en-US" altLang="en-US" sz="2400" kern="1200" dirty="0">
                <a:solidFill>
                  <a:srgbClr val="000000"/>
                </a:solidFill>
                <a:latin typeface="Arial (Body)"/>
                <a:ea typeface="+mn-ea"/>
                <a:cs typeface="+mn-cs"/>
              </a:rPr>
              <a:t>Unfortunately, range-based </a:t>
            </a:r>
            <a:r>
              <a:rPr lang="en-US" altLang="en-US" sz="2400" kern="1200" dirty="0">
                <a:solidFill>
                  <a:srgbClr val="000000"/>
                </a:solidFill>
                <a:latin typeface="Consolas" panose="020B0609020204030204" pitchFamily="49" charset="0"/>
                <a:ea typeface="+mn-ea"/>
                <a:cs typeface="Consolas" panose="020B0609020204030204" pitchFamily="49" charset="0"/>
              </a:rPr>
              <a:t>for</a:t>
            </a:r>
            <a:r>
              <a:rPr lang="en-US" altLang="en-US" sz="2400" kern="1200" dirty="0">
                <a:solidFill>
                  <a:srgbClr val="000000"/>
                </a:solidFill>
                <a:latin typeface="Arial (Body)"/>
                <a:ea typeface="+mn-ea"/>
                <a:cs typeface="+mn-cs"/>
              </a:rPr>
              <a:t> does </a:t>
            </a:r>
            <a:r>
              <a:rPr lang="en-US" altLang="en-US" sz="2400" b="1" kern="1200" dirty="0">
                <a:solidFill>
                  <a:srgbClr val="000000"/>
                </a:solidFill>
                <a:latin typeface="Arial (Body)"/>
                <a:ea typeface="+mn-ea"/>
                <a:cs typeface="+mn-cs"/>
              </a:rPr>
              <a:t>not</a:t>
            </a:r>
            <a:r>
              <a:rPr lang="en-US" altLang="en-US" sz="2400" kern="1200" dirty="0">
                <a:solidFill>
                  <a:srgbClr val="000000"/>
                </a:solidFill>
                <a:latin typeface="Arial (Body)"/>
                <a:ea typeface="+mn-ea"/>
                <a:cs typeface="+mn-cs"/>
              </a:rPr>
              <a:t> work with dynamically allocated built-in </a:t>
            </a:r>
            <a:r>
              <a:rPr lang="en-US" altLang="en-US" sz="2400" kern="1200" dirty="0" smtClean="0">
                <a:solidFill>
                  <a:srgbClr val="000000"/>
                </a:solidFill>
                <a:latin typeface="Arial (Body)"/>
                <a:ea typeface="+mn-ea"/>
                <a:cs typeface="+mn-cs"/>
              </a:rPr>
              <a:t>arrays.</a:t>
            </a:r>
            <a:endParaRPr lang="en-US" altLang="en-US" sz="24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18.10 </a:t>
            </a:r>
            <a:r>
              <a:rPr lang="en-US" kern="1200" dirty="0">
                <a:latin typeface="Consolas" panose="020B0609020204030204" pitchFamily="49" charset="0"/>
                <a:ea typeface="+mj-ea"/>
                <a:cs typeface="+mj-cs"/>
              </a:rPr>
              <a:t>Array</a:t>
            </a:r>
            <a:r>
              <a:rPr lang="en-US" dirty="0"/>
              <a:t> Class Definition with Overloaded Operators </a:t>
            </a:r>
            <a:r>
              <a:rPr lang="en-US" sz="2000" b="0" dirty="0" smtClean="0"/>
              <a:t>(1 </a:t>
            </a:r>
            <a:r>
              <a:rPr lang="en-US" sz="2000" b="0" dirty="0"/>
              <a:t>of </a:t>
            </a:r>
            <a:r>
              <a:rPr lang="en-US" sz="2000" b="0" dirty="0" smtClean="0"/>
              <a:t>2)</a:t>
            </a:r>
            <a:endParaRPr lang="en-US" sz="2000" b="0" dirty="0"/>
          </a:p>
        </p:txBody>
      </p:sp>
      <p:pic>
        <p:nvPicPr>
          <p:cNvPr id="5" name="Picture 4" descr="The computer code has 38 lines. The lines read as follows. Line 1. forward slash forward slash Fig period 18 period 10 colon Array period h. Line 2. forward slash forward slash Array class definition with overloaded operators period. Line 3. hash if n d e f ARRAY underscore H. Line 4. hash define ARRAY underscore H. Line 5. Blank. Line 6. hash include left angle bracket i o stream right angle bracket. Line 7. Blank. Line 8. class Array. Line 9. left brace. Line 10, indented once. friend s t d colon colon o stream ampersand operator left angle bracket left angle bracket left parenthesis s t d colon colon o stream ampersand comma c o n s t Array ampersand right parenthesis semicolon. Line 11, indented once. friend s t d colon colon i stream ampersand operator right angle bracket right angle bracket left parenthesis s t d colon colon i stream ampersand comma Array ampersand right parenthesis semicolon. Lines 10 and 11 are highlighted. Line 12. Blank. Line 13. public colon. Line 14, indented once. explicit Array left parenthesis i n t equals 10 right parenthesis semicolon forward slash forward slash default constructor. Line 15, indented once. Array left parenthesis c o n s t Array ampersand right parenthesis semicolon forward slash forward slash copy constructor. Line 16, indented once. tilde Array left parenthesis right parenthesis semicolon forward slash forward slash destructor. Lines 15 and 16 are highlighted. Line 17, indented once. size underscore t get Size left parenthesis right parenthesis c o n s t semicolon forward slash forward slash return size. Line 18. Blank. Line 19, indented once. c o n s t Array ampersand operator equals left parenthesis c o n s t Array ampersand right parenthesis semicolon forward slash forward slash assignment operator. Line 20, indented once. bool operator equals equals left parenthesis c o n s t Array ampersand right parenthesis c o n s t semicolon forward slash forward slash equality operator. Lines 19 and 20 are highlighted. Line 21. Blank. "/>
          <p:cNvPicPr>
            <a:picLocks noChangeAspect="1"/>
          </p:cNvPicPr>
          <p:nvPr/>
        </p:nvPicPr>
        <p:blipFill>
          <a:blip r:embed="rId2"/>
          <a:stretch>
            <a:fillRect/>
          </a:stretch>
        </p:blipFill>
        <p:spPr>
          <a:xfrm>
            <a:off x="900378" y="1669015"/>
            <a:ext cx="7343243" cy="4289992"/>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18.10 </a:t>
            </a:r>
            <a:r>
              <a:rPr lang="en-US" kern="1200" dirty="0">
                <a:latin typeface="Consolas" panose="020B0609020204030204" pitchFamily="49" charset="0"/>
                <a:ea typeface="+mj-ea"/>
                <a:cs typeface="+mj-cs"/>
              </a:rPr>
              <a:t>Array</a:t>
            </a:r>
            <a:r>
              <a:rPr lang="en-US" dirty="0"/>
              <a:t> Class Definition with Overloaded </a:t>
            </a:r>
            <a:r>
              <a:rPr lang="en-US" dirty="0" smtClean="0"/>
              <a:t>Operators </a:t>
            </a:r>
            <a:r>
              <a:rPr lang="en-US" sz="2000" b="0" dirty="0" smtClean="0"/>
              <a:t>(2 of 2)</a:t>
            </a:r>
            <a:endParaRPr lang="en-US" sz="2000" b="0" dirty="0"/>
          </a:p>
        </p:txBody>
      </p:sp>
      <p:pic>
        <p:nvPicPr>
          <p:cNvPr id="5" name="Picture 4" descr="The code continues. Line 22, indented once. forward slash forward slash inequality operator semicolon returns opposite of equals equals operator. Line 23, indented once. bool operator exclamation point equals left parenthesis c o n s t Array ampersand right right parenthesis const. Line 24, indented once. left brace. Line 25, indented twice. return exclamation point left parenthesis asterisk this equals equals right right parenthesis semicolon forward slash forward slash invokes Array colon colon operator equals equals. Line 26, indented once. right brace forward slash forward slash end function operator exclamation point equals. Lines 22 to 26 are highlighted. Line 27. Blank. Line 28, indented once. forward slash forward slash subscript operator for non dash c o n s t objects returns modifiable l value. Line 29, indented once. i n t ampersand operator left bracket right bracket left parenthesis i n t right parenthesis. Lines 28 and 29 are highlighted. Line 30. Blank. Line 31, indented once. forward slash forward slash subscript operator for c o n s t objects returns r value. Line 32, indented once. i n t operator left bracket right bracket left parenthesis i n t right parenthesis c o n s t semicolon. Lines 31 and 32 are highlighted. Line 33. private colon. Line 34, indented once. size underscore t size semicolon forward slash forward slash pointer dash based array size. Line 35, indented once. i n t asterisk p t r semicolon forward slash forward slash pointer to first element of pointer dash based array. Line 36. right brace semicolon forward slash forward slash end class Array. Line 37. Blank. Line 38. hash end if."/>
          <p:cNvPicPr>
            <a:picLocks noChangeAspect="1"/>
          </p:cNvPicPr>
          <p:nvPr/>
        </p:nvPicPr>
        <p:blipFill>
          <a:blip r:embed="rId2"/>
          <a:stretch>
            <a:fillRect/>
          </a:stretch>
        </p:blipFill>
        <p:spPr>
          <a:xfrm>
            <a:off x="492992" y="1902195"/>
            <a:ext cx="8158016" cy="3936630"/>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18.11 </a:t>
            </a:r>
            <a:r>
              <a:rPr lang="en-US" kern="1200" dirty="0">
                <a:latin typeface="Consolas" panose="020B0609020204030204" pitchFamily="49" charset="0"/>
                <a:ea typeface="+mj-ea"/>
                <a:cs typeface="+mj-cs"/>
              </a:rPr>
              <a:t>Array</a:t>
            </a:r>
            <a:r>
              <a:rPr lang="en-US" dirty="0"/>
              <a:t> Class Member- and Friend-Function Definitions </a:t>
            </a:r>
            <a:r>
              <a:rPr lang="en-US" sz="2000" b="0" dirty="0" smtClean="0"/>
              <a:t>(1 </a:t>
            </a:r>
            <a:r>
              <a:rPr lang="en-US" sz="2000" b="0" dirty="0"/>
              <a:t>of </a:t>
            </a:r>
            <a:r>
              <a:rPr lang="en-US" sz="2000" b="0" dirty="0" smtClean="0"/>
              <a:t>6)</a:t>
            </a:r>
            <a:endParaRPr lang="en-US" sz="2000" b="0" dirty="0"/>
          </a:p>
        </p:txBody>
      </p:sp>
      <p:pic>
        <p:nvPicPr>
          <p:cNvPr id="5" name="Picture 4" descr="The computer code has 126 lines. The lines read as follows. Line 1. forward slash forward slash Fig period 18 period 11 colon Array period c p p. Line 2. forward slash forward slash Array class member dash and friend dash function definitions period. Line 3. hash include left angle bracket i o stream right angle bracket. Line 4. hash include left angle bracket i o m a n i p right angle bracket. Line 5. hash include left angle bracket s t d except right angle bracket. Line 6. Blank. Line 7. hash include double quote Array period h double quote forward slash forward slash Array class definition. Line 8. using namespace s t d semicolon. Line 9. Blank. Line 10. forward slash forward slash default constructor for class Array left parenthesis default size 10 right parenthesis. Line 11. Array colon colon Array left parenthesis i n t array Size right parenthesis. Line 12, indented once. colon size left parenthesis array Size greater than sign 0 question mark array Size colon. Line 13, indented once. throw invalid underscore argument left parenthesis double quote Array size must be greater than 0 double quote right parenthesis right parenthesis comma. Line 14.p t r left parenthesis new i n t left bracket size right bracket right parenthesis. Line 15. left brace. Line 16, indented once. for left parenthesis size underscore t i equals 0 semicolon i less than sign size semicolon plus plus i right parenthesis. Line 17, indented twice. p t r left bracket i right bracket equals 0 semicolon forward slash forward slash set pointer dash based array element. Line 18. right brace forward slash forward slash end Array default constructor. Line 19. Blank. Line 20. forward slash forward slash copy constructor for class Array semicolon. Line 21. forward slash forward slash must receive a reference to an Array. Line 22. Array colon colon Array left parenthesis c o n s t Array ampersand array To Copy right parenthesis."/>
          <p:cNvPicPr>
            <a:picLocks noChangeAspect="1"/>
          </p:cNvPicPr>
          <p:nvPr/>
        </p:nvPicPr>
        <p:blipFill>
          <a:blip r:embed="rId2"/>
          <a:stretch>
            <a:fillRect/>
          </a:stretch>
        </p:blipFill>
        <p:spPr>
          <a:xfrm>
            <a:off x="518918" y="1563670"/>
            <a:ext cx="8106162" cy="4821524"/>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18.11 </a:t>
            </a:r>
            <a:r>
              <a:rPr lang="en-US" kern="1200" dirty="0">
                <a:latin typeface="Consolas" panose="020B0609020204030204" pitchFamily="49" charset="0"/>
                <a:ea typeface="+mj-ea"/>
                <a:cs typeface="+mj-cs"/>
              </a:rPr>
              <a:t>Array</a:t>
            </a:r>
            <a:r>
              <a:rPr lang="en-US" dirty="0"/>
              <a:t> Class Member- and Friend-Function Definitions </a:t>
            </a:r>
            <a:r>
              <a:rPr lang="en-US" sz="2000" b="0" dirty="0" smtClean="0"/>
              <a:t>(2 </a:t>
            </a:r>
            <a:r>
              <a:rPr lang="en-US" sz="2000" b="0" dirty="0"/>
              <a:t>of </a:t>
            </a:r>
            <a:r>
              <a:rPr lang="en-US" sz="2000" b="0" dirty="0" smtClean="0"/>
              <a:t>6)</a:t>
            </a:r>
            <a:endParaRPr lang="en-US" dirty="0"/>
          </a:p>
        </p:txBody>
      </p:sp>
      <p:pic>
        <p:nvPicPr>
          <p:cNvPr id="5" name="Picture 4" descr="The code continues. Line 23, indented once. colon size left parenthesis array To Copy period size right parenthesis comma. Line 24, indented once. p t r left parenthesis new i n t left bracket size right bracket right parenthesis. Line 25. left brace. Line 26, indented once. for left parenthesis size underscore t i equals 0 semicolon i less than sign size semicolon plus plus i right parenthesis. Line 27, indented twice. p t r left bracket i right bracket equals array To Copy period p t r left bracket i right bracket semicolon forward slash forward slash copy into object. Line 28. right brace forward slash forward slash end Array copy constructor. Line 29. Blank. Line 30. forward slash forward slash destructor for class Array. Line 31. Array colon colon tilde Array left parenthesis right parenthesis. Line 32. left brace. Line 33, indented once. delete left bracket right bracket semicolon forward slash forward slash release pointer dash based array space. Line 34. right brace forward slash forward slash end destructor. Line 35. Blank. Line 36. forward slash forward slash return number of elements of Array. Line 37. size underscore t Array colon colon get Size left parenthesis right parenthesis const. Line 38. left brace. Line 39, indented once. return size semicolon forward slash forward slash number of elements in Array. Line 40. right brace forward slash forward slash end function get Size. Line 41. Blank."/>
          <p:cNvPicPr>
            <a:picLocks noChangeAspect="1"/>
          </p:cNvPicPr>
          <p:nvPr/>
        </p:nvPicPr>
        <p:blipFill>
          <a:blip r:embed="rId2"/>
          <a:stretch>
            <a:fillRect/>
          </a:stretch>
        </p:blipFill>
        <p:spPr>
          <a:xfrm>
            <a:off x="444844" y="1680906"/>
            <a:ext cx="8254312" cy="4234120"/>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18.11 </a:t>
            </a:r>
            <a:r>
              <a:rPr lang="en-US" kern="1200" dirty="0">
                <a:latin typeface="Consolas" panose="020B0609020204030204" pitchFamily="49" charset="0"/>
                <a:ea typeface="+mj-ea"/>
                <a:cs typeface="+mj-cs"/>
              </a:rPr>
              <a:t>Array</a:t>
            </a:r>
            <a:r>
              <a:rPr lang="en-US" dirty="0"/>
              <a:t> Class Member- and Friend-Function Definitions </a:t>
            </a:r>
            <a:r>
              <a:rPr lang="en-US" sz="2000" b="0" dirty="0" smtClean="0"/>
              <a:t>(3 </a:t>
            </a:r>
            <a:r>
              <a:rPr lang="en-US" sz="2000" b="0" dirty="0"/>
              <a:t>of </a:t>
            </a:r>
            <a:r>
              <a:rPr lang="en-US" sz="2000" b="0" dirty="0" smtClean="0"/>
              <a:t>6)</a:t>
            </a:r>
            <a:endParaRPr lang="en-US" dirty="0"/>
          </a:p>
        </p:txBody>
      </p:sp>
      <p:pic>
        <p:nvPicPr>
          <p:cNvPr id="7" name="Picture 6" descr="The code continues. Line 42. forward slash forward slash overloaded assignment operator semicolon. Line 43. forward slash forward slash c o n s t return avoids colon left parenthesis a1 equals a2 right parenthesis equals a 3. Line 43 is highlighted. Line 44. c o n s t Array ampersand Array colon colon operator equals left parenthesis c o n s t Array ampersand right right parenthesis. Line 45. left brace. Line 46, indented once. if left parenthesis ampersand right exclamation point equals this right parenthesis forward slash forward slash avoid self dash assignment. The word, forward slash forward slash avoid self dash assignment, in line 46 is highlighted. Line 47, indented once. left brace. Line 48, indented twice. 48 forward slash forward slash for Arrays of different sizes comma deallocate original. Line 49, indented twice. forward slash forward slash left dash side Array comma then allocate new left dash side Array. Line 50, indented twice. if left parenthesis size exclamation point equals right period size right parenthesis. Line 51, indented twice. left brace. Line 52, indented 3 times. delete left bracket right bracket p t r semicolon forward slash forward slash release space. Line 53, indented 3 times. size equals right period size semicolon forward slash forward slash resize this object. Line 54, indented 3 times. p t r equals new i n t left bracket size right bracket semicolon forward slash forward slash create space for Array copy. Line 55, indented twice. right brace forward slash forward slash end inner if. Line 56. Blank. Line 57, indented twice. for left parenthesis size underscore t i equals 0 semicolon i less than sign size semicolon plus plus i right parenthesis. Line 58, indented 3 times. p t r left bracket i right bracket equals right period p t r left bracket i right bracket semicolon forward slash forward slash copy array into object. Line 59, indented once. right brace forward slash forward slash end outer if. Line 60. Blank. Line 61, indented once. return asterisk this semicolon forward slash forward slash enables x equals y equals z comma for example. Line 62. right brace forward slash forward slash end function operator equals. Line 63. Blank."/>
          <p:cNvPicPr>
            <a:picLocks noChangeAspect="1"/>
          </p:cNvPicPr>
          <p:nvPr/>
        </p:nvPicPr>
        <p:blipFill>
          <a:blip r:embed="rId2"/>
          <a:stretch>
            <a:fillRect/>
          </a:stretch>
        </p:blipFill>
        <p:spPr>
          <a:xfrm>
            <a:off x="614880" y="1623519"/>
            <a:ext cx="7914241" cy="4669735"/>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18.11 </a:t>
            </a:r>
            <a:r>
              <a:rPr lang="en-US" kern="1200" dirty="0">
                <a:latin typeface="Consolas" panose="020B0609020204030204" pitchFamily="49" charset="0"/>
                <a:ea typeface="+mj-ea"/>
                <a:cs typeface="+mj-cs"/>
              </a:rPr>
              <a:t>Array</a:t>
            </a:r>
            <a:r>
              <a:rPr lang="en-US" dirty="0"/>
              <a:t> Class Member- and Friend-Function Definitions </a:t>
            </a:r>
            <a:r>
              <a:rPr lang="en-US" sz="2000" b="0" dirty="0" smtClean="0"/>
              <a:t>(4 </a:t>
            </a:r>
            <a:r>
              <a:rPr lang="en-US" sz="2000" b="0" dirty="0"/>
              <a:t>of 6)</a:t>
            </a:r>
            <a:endParaRPr lang="en-US" dirty="0"/>
          </a:p>
        </p:txBody>
      </p:sp>
      <p:pic>
        <p:nvPicPr>
          <p:cNvPr id="4" name="Picture 3" descr="The code continues. Line 64. forward slash forward slash determine if two Arrays are equal and. Line 65. forward slash forward slash return true comma otherwise return false. Line 66. bool Array colon colon operator equals equals left parenthesis c o n s t Array ampersand right right parenthesis const. Line 67. left brace. Line 68, indented once. if left parenthesis size exclamation point equals right period size right parenthesis. Line 69, indented twice. return false semicolon forward slash forward slash arrays of different number of elements. Line 70. Blank. Line 71, indented twice. for left parenthesis size underscore t i equals 0 semicolon i less than sign size semicolon plus plus i right parenthesis. Line 72, indented 3 times. if left parenthesis p t r left bracket i right bracket exclamation point equals right period p t r left bracket i right bracket right parenthesis. Line 73, indented once. return false semicolon forward slash forward slash Array contents are not equal. Line 74. Blank. Line 75. return true semicolon forward slash forward slash Arrays are equal. Line 76. right brace forward slash forward slash end function operator equals equals. Line 77. Blank. Line 78. forward slash forward slash overloaded subscript operator for non dash c o n s t Arrays semicolon. Line 79. forward slash forward slash reference return creates a modifiable l value. Line 80. i n t ampersand Array colon colon operator left bracket right bracket left parenthesis i n t subscript right parenthesis. Line 81. left brace. Line 82, indented once. forward slash forward slash check for subscript out dash of dash range error. Line 83, indented once. if left parenthesis subscript less than sign 0 pipe pipe subscript greater than sign equals size right parenthesis. Line 84, indented twice. throw out underscore of underscore range left parenthesis double quote Subscript out of range double quote right parenthesis semicolon. Line 85. Blank."/>
          <p:cNvPicPr>
            <a:picLocks noChangeAspect="1"/>
          </p:cNvPicPr>
          <p:nvPr/>
        </p:nvPicPr>
        <p:blipFill>
          <a:blip r:embed="rId2"/>
          <a:stretch>
            <a:fillRect/>
          </a:stretch>
        </p:blipFill>
        <p:spPr>
          <a:xfrm>
            <a:off x="756610" y="1719653"/>
            <a:ext cx="7630780" cy="4538272"/>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18.11 </a:t>
            </a:r>
            <a:r>
              <a:rPr lang="en-US" kern="1200" dirty="0">
                <a:latin typeface="Consolas" panose="020B0609020204030204" pitchFamily="49" charset="0"/>
                <a:ea typeface="+mj-ea"/>
                <a:cs typeface="+mj-cs"/>
              </a:rPr>
              <a:t>Array</a:t>
            </a:r>
            <a:r>
              <a:rPr lang="en-US" dirty="0"/>
              <a:t> Class Member- and Friend-Function Definitions </a:t>
            </a:r>
            <a:r>
              <a:rPr lang="en-US" sz="2000" b="0" dirty="0" smtClean="0"/>
              <a:t>(5 </a:t>
            </a:r>
            <a:r>
              <a:rPr lang="en-US" sz="2000" b="0" dirty="0"/>
              <a:t>of 6)</a:t>
            </a:r>
            <a:endParaRPr lang="en-US" dirty="0"/>
          </a:p>
        </p:txBody>
      </p:sp>
      <p:pic>
        <p:nvPicPr>
          <p:cNvPr id="4" name="Picture 3" descr="The code continues.Line 86, indented once. return p t r left bracket subscript right bracket semicolon forward slash forward slash reference return. Line 87. right brace forward slash forward slash end function operator left bracket right bracket. Line 88. Blank. Line 89. forward slash forward slash overloaded subscript operator for c o n s t Arrays. Line 90. forward slash forward slash c o n s t reference return creates an r value. Line 91. i n t Array colon colon operator left bracket right bracket left parenthesis i n t subscript right parenthesis const. Line 92. left brace. Line 93, indented once. forward slash forward slash check for subscript out dash of dash range error. Line 94, indented once. if left parenthesis subscript less than sign 0 pipe pipe subscript greater than sign equals size right parenthesis. Line 95, indented twice. throw out underscore of underscore range left parenthesis double quote Subscript out of range double quote right parenthesis semicolon. Line 96. Blank. Line 97, indented once. return p t r left bracket subscript right bracket semicolon forward slash forward slash returns copy of this element. Line 98. right brace forward slash forward slash end function operator left bracket right bracket. Line 99. Blank. Line 100. forward slash forward slash overloaded input operator for class Array semicolon. Line 101. forward slash forward slash inputs values for entire Array. Line 102. i stream ampersand operator right angle bracket right angle bracket left parenthesis i stream ampersand input comma Array ampersand a right parenthesis. Line 103. left brace. Line 104, indented once. for left parenthesis size underscore t i equals 0 semicolon i less than sign a period size semicolon plus plus i right parenthesis. Line 105, indented twice. input right angle bracket right angle bracket a period p t r left bracket i right bracket semicolon. Line 106. Blank. Line 107, indented once. return input semicolon forward slash forward slash enables c in right angle bracket right angle bracket x right angle bracket right angle bracket y semicolon. Line 108. right brace forward slash forward slash end function."/>
          <p:cNvPicPr>
            <a:picLocks noChangeAspect="1"/>
          </p:cNvPicPr>
          <p:nvPr/>
        </p:nvPicPr>
        <p:blipFill>
          <a:blip r:embed="rId2"/>
          <a:stretch>
            <a:fillRect/>
          </a:stretch>
        </p:blipFill>
        <p:spPr>
          <a:xfrm>
            <a:off x="858347" y="1664881"/>
            <a:ext cx="7427305" cy="4625518"/>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18.11 </a:t>
            </a:r>
            <a:r>
              <a:rPr lang="en-US" kern="1200" dirty="0">
                <a:latin typeface="Consolas" panose="020B0609020204030204" pitchFamily="49" charset="0"/>
                <a:ea typeface="+mj-ea"/>
                <a:cs typeface="+mj-cs"/>
              </a:rPr>
              <a:t>Array</a:t>
            </a:r>
            <a:r>
              <a:rPr lang="en-US" dirty="0"/>
              <a:t> Class Member- and Friend-Function Definitions </a:t>
            </a:r>
            <a:r>
              <a:rPr lang="en-US" sz="2000" b="0" dirty="0" smtClean="0"/>
              <a:t>(6 </a:t>
            </a:r>
            <a:r>
              <a:rPr lang="en-US" sz="2000" b="0" dirty="0"/>
              <a:t>of 6)</a:t>
            </a:r>
            <a:endParaRPr lang="en-US" dirty="0"/>
          </a:p>
        </p:txBody>
      </p:sp>
      <p:pic>
        <p:nvPicPr>
          <p:cNvPr id="5" name="Picture 4" descr="The code continues. Line 109. Blank. Line 110. forward slash forward slash overloaded output operator for class Array. Line 111. o stream ampersand operator left angle bracket left angle bracket left parenthesis o stream ampersand output comma c o n s t Array ampersand a right parenthesis. Line 112. left brace. Line 113, indented once. forward slash forward slash output private p t r dash based array. Line 114, indented once. for left parenthesis size underscore t i equals 0 semicolon i less than sign a period size semicolon plus plus i right parenthesis. Line 115, indented once. left brace. Line 116, indented twice. output left angle bracket left angle bracket set w left parenthesis 12 right parenthesis left angle bracket left angle bracket a period p t r left bracket i right bracket semicolon. Line 117. Blank. Line 118, indented twice. if left parenthesis left parenthesis i plus 1 right parenthesis percent sign 4 equals equals 0 right parenthesis forward slash forward slash 4 numbers per row of output. Line 119, indented 3 times. output left angle bracket left angle bracket end l semicolon. Line 120, indented once. right brace forward slash forward slash end for. Line 121. Blank. Line 122, indented once. if left parenthesis a period size percent sign 4 exclamation point equals 0 right parenthesis forward slash forward slash end last line of output. Line 123, indented twice. output left angle bracket left angle bracket end l semicolon. Line 124. Blank. Line 125, indented once. return output semicolon forward slash forward slash enables c out left angle bracket left angle bracket x left angle bracket left angle bracket y semicolon. Line 126. right brace forward slash forward slash end function operator left angle bracket left angle bracket."/>
          <p:cNvPicPr>
            <a:picLocks noChangeAspect="1"/>
          </p:cNvPicPr>
          <p:nvPr/>
        </p:nvPicPr>
        <p:blipFill>
          <a:blip r:embed="rId2"/>
          <a:stretch>
            <a:fillRect/>
          </a:stretch>
        </p:blipFill>
        <p:spPr>
          <a:xfrm>
            <a:off x="466672" y="1846770"/>
            <a:ext cx="8210656" cy="4032822"/>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smtClean="0">
                <a:latin typeface="Consolas" panose="020B0609020204030204" pitchFamily="49" charset="0"/>
                <a:ea typeface="+mj-ea"/>
                <a:cs typeface="Consolas" panose="020B0609020204030204" pitchFamily="49" charset="0"/>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(9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spAutoFit/>
          </a:bodyPr>
          <a:lstStyle/>
          <a:p>
            <a:pPr marL="0" indent="0" eaLnBrk="1" hangingPunct="1">
              <a:buNone/>
              <a:tabLst/>
              <a:defRPr/>
            </a:pPr>
            <a:r>
              <a:rPr lang="en-US" sz="2200" b="1" kern="1200" dirty="0">
                <a:solidFill>
                  <a:srgbClr val="000000"/>
                </a:solidFill>
                <a:latin typeface="Arial (Body)"/>
                <a:ea typeface="+mn-ea"/>
                <a:cs typeface="+mn-cs"/>
              </a:rPr>
              <a:t>Array Default Constructor</a:t>
            </a:r>
          </a:p>
          <a:p>
            <a:pPr marL="255651" indent="-255651" eaLnBrk="1" hangingPunct="1">
              <a:tabLst/>
              <a:defRPr/>
            </a:pPr>
            <a:r>
              <a:rPr lang="en-US" sz="2200" kern="1200" dirty="0">
                <a:solidFill>
                  <a:srgbClr val="000000"/>
                </a:solidFill>
                <a:latin typeface="Arial (Body)"/>
                <a:ea typeface="+mn-ea"/>
                <a:cs typeface="+mn-cs"/>
              </a:rPr>
              <a:t>Line 14 of </a:t>
            </a:r>
            <a:r>
              <a:rPr lang="en-US" sz="2200" kern="1200" dirty="0" smtClean="0">
                <a:solidFill>
                  <a:srgbClr val="000000"/>
                </a:solidFill>
                <a:latin typeface="Arial (Body)"/>
                <a:ea typeface="+mn-ea"/>
                <a:cs typeface="+mn-cs"/>
              </a:rPr>
              <a:t>Figure</a:t>
            </a:r>
            <a:r>
              <a:rPr lang="en-US" sz="2200" kern="1200" dirty="0">
                <a:solidFill>
                  <a:srgbClr val="000000"/>
                </a:solidFill>
                <a:latin typeface="Arial (Body)"/>
                <a:ea typeface="+mn-ea"/>
                <a:cs typeface="+mn-cs"/>
              </a:rPr>
              <a:t> </a:t>
            </a:r>
            <a:r>
              <a:rPr lang="en-US" sz="2200" kern="1200" dirty="0" smtClean="0">
                <a:solidFill>
                  <a:srgbClr val="000000"/>
                </a:solidFill>
                <a:latin typeface="Arial (Body)"/>
                <a:ea typeface="+mn-ea"/>
                <a:cs typeface="+mn-cs"/>
              </a:rPr>
              <a:t>18.10 (see slide 91) </a:t>
            </a:r>
            <a:r>
              <a:rPr lang="en-US" sz="2200" kern="1200" dirty="0">
                <a:solidFill>
                  <a:srgbClr val="000000"/>
                </a:solidFill>
                <a:latin typeface="Arial (Body)"/>
                <a:ea typeface="+mn-ea"/>
                <a:cs typeface="+mn-cs"/>
              </a:rPr>
              <a:t>declares the </a:t>
            </a:r>
            <a:r>
              <a:rPr lang="en-US" sz="2200" b="1" kern="1200" dirty="0">
                <a:solidFill>
                  <a:srgbClr val="000000"/>
                </a:solidFill>
                <a:latin typeface="Arial (Body)"/>
                <a:ea typeface="+mn-ea"/>
                <a:cs typeface="+mn-cs"/>
              </a:rPr>
              <a:t>default constructor </a:t>
            </a:r>
            <a:r>
              <a:rPr lang="en-US" sz="2200" kern="1200" dirty="0">
                <a:solidFill>
                  <a:srgbClr val="000000"/>
                </a:solidFill>
                <a:latin typeface="Arial (Body)"/>
                <a:ea typeface="+mn-ea"/>
                <a:cs typeface="+mn-cs"/>
              </a:rPr>
              <a:t>for the class and specifies a default size of 10 elements.</a:t>
            </a:r>
          </a:p>
          <a:p>
            <a:pPr marL="255651" indent="-255651" eaLnBrk="1" hangingPunct="1">
              <a:tabLst/>
              <a:defRPr/>
            </a:pPr>
            <a:r>
              <a:rPr lang="en-US" sz="2200" kern="1200" dirty="0">
                <a:solidFill>
                  <a:srgbClr val="000000"/>
                </a:solidFill>
                <a:latin typeface="Arial (Body)"/>
                <a:ea typeface="+mn-ea"/>
                <a:cs typeface="+mn-cs"/>
              </a:rPr>
              <a:t>The default constructor (defined in </a:t>
            </a:r>
            <a:r>
              <a:rPr lang="en-US" sz="2200" kern="1200" dirty="0" smtClean="0">
                <a:solidFill>
                  <a:srgbClr val="000000"/>
                </a:solidFill>
                <a:latin typeface="Arial (Body)"/>
                <a:ea typeface="+mn-ea"/>
                <a:cs typeface="+mn-cs"/>
              </a:rPr>
              <a:t>Figure</a:t>
            </a:r>
            <a:r>
              <a:rPr lang="en-US" sz="2200" kern="1200" dirty="0">
                <a:solidFill>
                  <a:srgbClr val="000000"/>
                </a:solidFill>
                <a:latin typeface="Arial (Body)"/>
                <a:ea typeface="+mn-ea"/>
                <a:cs typeface="+mn-cs"/>
              </a:rPr>
              <a:t> </a:t>
            </a:r>
            <a:r>
              <a:rPr lang="en-US" sz="2200" kern="1200" dirty="0" smtClean="0">
                <a:solidFill>
                  <a:srgbClr val="000000"/>
                </a:solidFill>
                <a:latin typeface="Arial (Body)"/>
                <a:ea typeface="+mn-ea"/>
                <a:cs typeface="+mn-cs"/>
              </a:rPr>
              <a:t>18.11</a:t>
            </a:r>
            <a:r>
              <a:rPr lang="en-US" sz="2200" kern="1200" dirty="0">
                <a:solidFill>
                  <a:srgbClr val="000000"/>
                </a:solidFill>
                <a:latin typeface="Arial (Body)"/>
              </a:rPr>
              <a:t> (see slide 93)</a:t>
            </a:r>
            <a:r>
              <a:rPr lang="en-US" sz="2200" kern="1200" dirty="0" smtClean="0">
                <a:solidFill>
                  <a:srgbClr val="000000"/>
                </a:solidFill>
                <a:latin typeface="Arial (Body)"/>
                <a:ea typeface="+mn-ea"/>
                <a:cs typeface="+mn-cs"/>
              </a:rPr>
              <a:t>, </a:t>
            </a:r>
            <a:r>
              <a:rPr lang="en-US" sz="2200" kern="1200" dirty="0">
                <a:solidFill>
                  <a:srgbClr val="000000"/>
                </a:solidFill>
                <a:latin typeface="Arial (Body)"/>
                <a:ea typeface="+mn-ea"/>
                <a:cs typeface="+mn-cs"/>
              </a:rPr>
              <a:t>lines 11–18</a:t>
            </a:r>
            <a:r>
              <a:rPr lang="en-US" sz="2200" kern="1200" dirty="0" smtClean="0">
                <a:solidFill>
                  <a:srgbClr val="000000"/>
                </a:solidFill>
                <a:latin typeface="Arial (Body)"/>
                <a:ea typeface="+mn-ea"/>
                <a:cs typeface="+mn-cs"/>
              </a:rPr>
              <a:t>) validates </a:t>
            </a:r>
            <a:r>
              <a:rPr lang="en-US" sz="2200" kern="1200" dirty="0">
                <a:solidFill>
                  <a:srgbClr val="000000"/>
                </a:solidFill>
                <a:latin typeface="Arial (Body)"/>
                <a:ea typeface="+mn-ea"/>
                <a:cs typeface="+mn-cs"/>
              </a:rPr>
              <a:t>and assigns the argument to data member </a:t>
            </a:r>
            <a:r>
              <a:rPr lang="en-US" sz="2200" kern="1200" dirty="0">
                <a:solidFill>
                  <a:srgbClr val="000000"/>
                </a:solidFill>
                <a:latin typeface="Consolas" panose="020B0609020204030204" pitchFamily="49" charset="0"/>
                <a:ea typeface="+mn-ea"/>
                <a:cs typeface="Consolas" panose="020B0609020204030204" pitchFamily="49" charset="0"/>
              </a:rPr>
              <a:t>size</a:t>
            </a:r>
            <a:r>
              <a:rPr lang="en-US" sz="2200" kern="1200" dirty="0">
                <a:solidFill>
                  <a:srgbClr val="000000"/>
                </a:solidFill>
                <a:latin typeface="Arial (Body)"/>
                <a:ea typeface="+mn-ea"/>
                <a:cs typeface="+mn-cs"/>
              </a:rPr>
              <a:t>, uses </a:t>
            </a:r>
            <a:r>
              <a:rPr lang="en-US" sz="2200" kern="1200" dirty="0">
                <a:solidFill>
                  <a:srgbClr val="000000"/>
                </a:solidFill>
                <a:latin typeface="Consolas" panose="020B0609020204030204" pitchFamily="49" charset="0"/>
                <a:ea typeface="+mn-ea"/>
                <a:cs typeface="Consolas" panose="020B0609020204030204" pitchFamily="49" charset="0"/>
              </a:rPr>
              <a:t>new</a:t>
            </a:r>
            <a:r>
              <a:rPr lang="en-US" sz="2200" kern="1200" dirty="0">
                <a:solidFill>
                  <a:srgbClr val="000000"/>
                </a:solidFill>
                <a:latin typeface="Arial (Body)"/>
                <a:ea typeface="+mn-ea"/>
                <a:cs typeface="+mn-cs"/>
              </a:rPr>
              <a:t> to obtain the memory for the internal pointer-based representation of this </a:t>
            </a:r>
            <a:r>
              <a:rPr lang="en-US" sz="2200" kern="1200" dirty="0">
                <a:solidFill>
                  <a:srgbClr val="000000"/>
                </a:solidFill>
                <a:latin typeface="Consolas" panose="020B0609020204030204" pitchFamily="49" charset="0"/>
                <a:ea typeface="+mn-ea"/>
                <a:cs typeface="Consolas" panose="020B0609020204030204" pitchFamily="49" charset="0"/>
              </a:rPr>
              <a:t>Array</a:t>
            </a:r>
            <a:r>
              <a:rPr lang="en-US" sz="2200" kern="1200" dirty="0">
                <a:solidFill>
                  <a:srgbClr val="000000"/>
                </a:solidFill>
                <a:latin typeface="Arial (Body)"/>
                <a:ea typeface="+mn-ea"/>
                <a:cs typeface="+mn-cs"/>
              </a:rPr>
              <a:t> and assigns the pointer returned by </a:t>
            </a:r>
            <a:r>
              <a:rPr lang="en-US" sz="2200" kern="1200" dirty="0">
                <a:solidFill>
                  <a:srgbClr val="000000"/>
                </a:solidFill>
                <a:latin typeface="Consolas" panose="020B0609020204030204" pitchFamily="49" charset="0"/>
                <a:ea typeface="+mn-ea"/>
                <a:cs typeface="Consolas" panose="020B0609020204030204" pitchFamily="49" charset="0"/>
              </a:rPr>
              <a:t>new</a:t>
            </a:r>
            <a:r>
              <a:rPr lang="en-US" sz="2200" kern="1200" dirty="0">
                <a:solidFill>
                  <a:srgbClr val="000000"/>
                </a:solidFill>
                <a:latin typeface="Arial (Body)"/>
                <a:ea typeface="+mn-ea"/>
                <a:cs typeface="+mn-cs"/>
              </a:rPr>
              <a:t> to data member </a:t>
            </a:r>
            <a:r>
              <a:rPr lang="en-US" sz="2200" kern="1200" dirty="0">
                <a:solidFill>
                  <a:srgbClr val="000000"/>
                </a:solidFill>
                <a:latin typeface="Consolas" panose="020B0609020204030204" pitchFamily="49" charset="0"/>
                <a:ea typeface="+mn-ea"/>
                <a:cs typeface="Consolas" panose="020B0609020204030204" pitchFamily="49" charset="0"/>
              </a:rPr>
              <a:t>ptr</a:t>
            </a:r>
            <a:r>
              <a:rPr lang="en-US" sz="2200" kern="1200" dirty="0">
                <a:solidFill>
                  <a:srgbClr val="000000"/>
                </a:solidFill>
                <a:latin typeface="Arial (Body)"/>
                <a:ea typeface="+mn-ea"/>
                <a:cs typeface="+mn-cs"/>
              </a:rPr>
              <a:t>.</a:t>
            </a:r>
          </a:p>
          <a:p>
            <a:pPr marL="255651" indent="-255651" eaLnBrk="1" hangingPunct="1">
              <a:tabLst/>
              <a:defRPr/>
            </a:pPr>
            <a:r>
              <a:rPr lang="en-US" sz="2200" kern="1200" dirty="0">
                <a:solidFill>
                  <a:srgbClr val="000000"/>
                </a:solidFill>
                <a:latin typeface="Arial (Body)"/>
                <a:ea typeface="+mn-ea"/>
                <a:cs typeface="+mn-cs"/>
              </a:rPr>
              <a:t>Then the constructor uses a </a:t>
            </a:r>
            <a:r>
              <a:rPr lang="en-US" sz="2200" kern="1200" dirty="0">
                <a:solidFill>
                  <a:srgbClr val="000000"/>
                </a:solidFill>
                <a:latin typeface="Consolas" panose="020B0609020204030204" pitchFamily="49" charset="0"/>
                <a:ea typeface="+mn-ea"/>
                <a:cs typeface="Consolas" panose="020B0609020204030204" pitchFamily="49" charset="0"/>
              </a:rPr>
              <a:t>for</a:t>
            </a:r>
            <a:r>
              <a:rPr lang="en-US" sz="2200" kern="1200" dirty="0">
                <a:solidFill>
                  <a:srgbClr val="000000"/>
                </a:solidFill>
                <a:latin typeface="Arial (Body)"/>
                <a:ea typeface="+mn-ea"/>
                <a:cs typeface="+mn-cs"/>
              </a:rPr>
              <a:t> statement to set all the elements of the array to zero.</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Consolas" panose="020B0609020204030204" pitchFamily="49" charset="0"/>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(10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spAutoFit/>
          </a:bodyPr>
          <a:lstStyle/>
          <a:p>
            <a:pPr marL="0" indent="0" eaLnBrk="1" hangingPunct="1">
              <a:buNone/>
              <a:tabLst/>
              <a:defRPr/>
            </a:pPr>
            <a:r>
              <a:rPr lang="en-US" sz="1800" b="1" kern="1200" dirty="0">
                <a:solidFill>
                  <a:srgbClr val="000000"/>
                </a:solidFill>
                <a:latin typeface="Arial (Body)"/>
                <a:ea typeface="+mn-ea"/>
                <a:cs typeface="+mn-cs"/>
              </a:rPr>
              <a:t>Array Copy Constructor</a:t>
            </a:r>
          </a:p>
          <a:p>
            <a:pPr marL="255651" indent="-255651" eaLnBrk="1" hangingPunct="1">
              <a:tabLst/>
              <a:defRPr/>
            </a:pPr>
            <a:r>
              <a:rPr lang="en-US" sz="1800" kern="1200" dirty="0">
                <a:solidFill>
                  <a:srgbClr val="000000"/>
                </a:solidFill>
                <a:latin typeface="Arial (Body)"/>
                <a:ea typeface="+mn-ea"/>
                <a:cs typeface="+mn-cs"/>
              </a:rPr>
              <a:t>Line 15 of </a:t>
            </a:r>
            <a:r>
              <a:rPr lang="en-US" sz="1800" kern="1200" dirty="0" smtClean="0">
                <a:solidFill>
                  <a:srgbClr val="000000"/>
                </a:solidFill>
                <a:latin typeface="Arial (Body)"/>
                <a:ea typeface="+mn-ea"/>
                <a:cs typeface="+mn-cs"/>
              </a:rPr>
              <a:t>Figure</a:t>
            </a:r>
            <a:r>
              <a:rPr lang="en-US" sz="1800" kern="1200" dirty="0">
                <a:solidFill>
                  <a:srgbClr val="000000"/>
                </a:solidFill>
                <a:latin typeface="Arial (Body)"/>
                <a:ea typeface="+mn-ea"/>
                <a:cs typeface="+mn-cs"/>
              </a:rPr>
              <a:t> </a:t>
            </a:r>
            <a:r>
              <a:rPr lang="en-US" sz="1800" kern="1200" dirty="0" smtClean="0">
                <a:solidFill>
                  <a:srgbClr val="000000"/>
                </a:solidFill>
                <a:latin typeface="Arial (Body)"/>
                <a:ea typeface="+mn-ea"/>
                <a:cs typeface="+mn-cs"/>
              </a:rPr>
              <a:t>18.10 (see slide 91) </a:t>
            </a:r>
            <a:r>
              <a:rPr lang="en-US" sz="1800" kern="1200" dirty="0">
                <a:solidFill>
                  <a:srgbClr val="000000"/>
                </a:solidFill>
                <a:latin typeface="Arial (Body)"/>
                <a:ea typeface="+mn-ea"/>
                <a:cs typeface="+mn-cs"/>
              </a:rPr>
              <a:t>declares a </a:t>
            </a:r>
            <a:r>
              <a:rPr lang="en-US" sz="1800" b="1" kern="1200" dirty="0">
                <a:solidFill>
                  <a:srgbClr val="000000"/>
                </a:solidFill>
                <a:latin typeface="Arial (Body)"/>
                <a:ea typeface="+mn-ea"/>
                <a:cs typeface="+mn-cs"/>
              </a:rPr>
              <a:t>copy constructor </a:t>
            </a:r>
            <a:r>
              <a:rPr lang="en-US" sz="1800" kern="1200" dirty="0">
                <a:solidFill>
                  <a:srgbClr val="000000"/>
                </a:solidFill>
                <a:latin typeface="Arial (Body)"/>
                <a:ea typeface="+mn-ea"/>
                <a:cs typeface="+mn-cs"/>
              </a:rPr>
              <a:t>(defined in </a:t>
            </a:r>
            <a:r>
              <a:rPr lang="en-US" sz="1800" kern="1200" dirty="0" smtClean="0">
                <a:solidFill>
                  <a:srgbClr val="000000"/>
                </a:solidFill>
                <a:latin typeface="Arial (Body)"/>
                <a:ea typeface="+mn-ea"/>
                <a:cs typeface="+mn-cs"/>
              </a:rPr>
              <a:t>Figure</a:t>
            </a:r>
            <a:r>
              <a:rPr lang="en-US" sz="1800" kern="1200" dirty="0">
                <a:solidFill>
                  <a:srgbClr val="000000"/>
                </a:solidFill>
                <a:latin typeface="Arial (Body)"/>
                <a:ea typeface="+mn-ea"/>
                <a:cs typeface="+mn-cs"/>
              </a:rPr>
              <a:t> </a:t>
            </a:r>
            <a:r>
              <a:rPr lang="en-US" sz="1800" kern="1200" dirty="0" smtClean="0">
                <a:solidFill>
                  <a:srgbClr val="000000"/>
                </a:solidFill>
                <a:latin typeface="Arial (Body)"/>
                <a:ea typeface="+mn-ea"/>
                <a:cs typeface="+mn-cs"/>
              </a:rPr>
              <a:t>18.11 </a:t>
            </a:r>
            <a:r>
              <a:rPr lang="en-US" sz="1800" kern="1200" dirty="0">
                <a:solidFill>
                  <a:srgbClr val="000000"/>
                </a:solidFill>
                <a:latin typeface="Arial (Body)"/>
              </a:rPr>
              <a:t>(see slides 93-94)</a:t>
            </a:r>
            <a:r>
              <a:rPr lang="en-US" sz="1800" kern="1200" dirty="0" smtClean="0">
                <a:solidFill>
                  <a:srgbClr val="000000"/>
                </a:solidFill>
                <a:latin typeface="Arial (Body)"/>
                <a:ea typeface="+mn-ea"/>
                <a:cs typeface="+mn-cs"/>
              </a:rPr>
              <a:t>, </a:t>
            </a:r>
            <a:r>
              <a:rPr lang="en-US" sz="1800" kern="1200" dirty="0">
                <a:solidFill>
                  <a:srgbClr val="000000"/>
                </a:solidFill>
                <a:latin typeface="Arial (Body)"/>
                <a:ea typeface="+mn-ea"/>
                <a:cs typeface="+mn-cs"/>
              </a:rPr>
              <a:t>lines 22–28</a:t>
            </a:r>
            <a:r>
              <a:rPr lang="en-US" sz="1800" kern="1200" dirty="0" smtClean="0">
                <a:solidFill>
                  <a:srgbClr val="000000"/>
                </a:solidFill>
                <a:latin typeface="Arial (Body)"/>
                <a:ea typeface="+mn-ea"/>
                <a:cs typeface="+mn-cs"/>
              </a:rPr>
              <a:t>) that </a:t>
            </a:r>
            <a:r>
              <a:rPr lang="en-US" sz="1800" kern="1200" dirty="0">
                <a:solidFill>
                  <a:srgbClr val="000000"/>
                </a:solidFill>
                <a:latin typeface="Arial (Body)"/>
                <a:ea typeface="+mn-ea"/>
                <a:cs typeface="+mn-cs"/>
              </a:rPr>
              <a:t>initializes an </a:t>
            </a:r>
            <a:r>
              <a:rPr lang="en-US" sz="1800" kern="1200" dirty="0">
                <a:solidFill>
                  <a:srgbClr val="000000"/>
                </a:solidFill>
                <a:latin typeface="Consolas" panose="020B0609020204030204" pitchFamily="49" charset="0"/>
                <a:ea typeface="+mn-ea"/>
                <a:cs typeface="Consolas" panose="020B0609020204030204" pitchFamily="49" charset="0"/>
              </a:rPr>
              <a:t>Array</a:t>
            </a:r>
            <a:r>
              <a:rPr lang="en-US" sz="1800" kern="1200" dirty="0">
                <a:solidFill>
                  <a:srgbClr val="000000"/>
                </a:solidFill>
                <a:latin typeface="Arial (Body)"/>
                <a:ea typeface="+mn-ea"/>
                <a:cs typeface="+mn-cs"/>
              </a:rPr>
              <a:t> by making a copy of an existing </a:t>
            </a:r>
            <a:r>
              <a:rPr lang="en-US" sz="1800" kern="1200" dirty="0">
                <a:solidFill>
                  <a:srgbClr val="000000"/>
                </a:solidFill>
                <a:latin typeface="Consolas" panose="020B0609020204030204" pitchFamily="49" charset="0"/>
                <a:ea typeface="+mn-ea"/>
                <a:cs typeface="Consolas" panose="020B0609020204030204" pitchFamily="49" charset="0"/>
              </a:rPr>
              <a:t>Array</a:t>
            </a:r>
            <a:r>
              <a:rPr lang="en-US" sz="1800" kern="1200" dirty="0">
                <a:solidFill>
                  <a:srgbClr val="000000"/>
                </a:solidFill>
                <a:latin typeface="Arial (Body)"/>
                <a:ea typeface="+mn-ea"/>
                <a:cs typeface="+mn-cs"/>
              </a:rPr>
              <a:t> object.</a:t>
            </a:r>
          </a:p>
          <a:p>
            <a:pPr marL="255651" indent="-255651" eaLnBrk="1" hangingPunct="1">
              <a:tabLst/>
              <a:defRPr/>
            </a:pPr>
            <a:r>
              <a:rPr lang="en-US" sz="1800" b="1" kern="1200" dirty="0">
                <a:solidFill>
                  <a:srgbClr val="000000"/>
                </a:solidFill>
                <a:latin typeface="Arial (Body)"/>
                <a:ea typeface="+mn-ea"/>
                <a:cs typeface="+mn-cs"/>
              </a:rPr>
              <a:t>Such copying must be done carefully to avoid the pitfall of leaving both </a:t>
            </a:r>
            <a:r>
              <a:rPr lang="en-US" sz="1800" b="1" kern="1200" dirty="0">
                <a:solidFill>
                  <a:srgbClr val="000000"/>
                </a:solidFill>
                <a:latin typeface="Consolas" panose="020B0609020204030204" pitchFamily="49" charset="0"/>
                <a:ea typeface="+mn-ea"/>
                <a:cs typeface="Consolas" panose="020B0609020204030204" pitchFamily="49" charset="0"/>
              </a:rPr>
              <a:t>Array</a:t>
            </a:r>
            <a:r>
              <a:rPr lang="en-US" sz="1800" b="1" kern="1200" dirty="0">
                <a:solidFill>
                  <a:srgbClr val="000000"/>
                </a:solidFill>
                <a:latin typeface="Arial (Body)"/>
                <a:ea typeface="+mn-ea"/>
                <a:cs typeface="+mn-cs"/>
              </a:rPr>
              <a:t> objects pointing to the same dynamically allocated memory</a:t>
            </a:r>
            <a:r>
              <a:rPr lang="en-US" sz="1800" b="1" kern="1200" dirty="0" smtClean="0">
                <a:solidFill>
                  <a:srgbClr val="000000"/>
                </a:solidFill>
                <a:latin typeface="Arial (Body)"/>
                <a:ea typeface="+mn-ea"/>
                <a:cs typeface="+mn-cs"/>
              </a:rPr>
              <a:t>.</a:t>
            </a:r>
          </a:p>
          <a:p>
            <a:pPr marL="255651" indent="-255651" eaLnBrk="1" hangingPunct="1">
              <a:tabLst/>
              <a:defRPr/>
            </a:pPr>
            <a:r>
              <a:rPr lang="en-US" sz="1800" kern="1200" dirty="0">
                <a:solidFill>
                  <a:srgbClr val="000000"/>
                </a:solidFill>
                <a:latin typeface="Arial (Body)"/>
              </a:rPr>
              <a:t>This is exactly the problem that would occur with default memberwise copying, if the compiler is allowed to define a default copy constructor for this class.</a:t>
            </a:r>
          </a:p>
          <a:p>
            <a:pPr marL="255651" indent="-255651" eaLnBrk="1" hangingPunct="1">
              <a:tabLst/>
              <a:defRPr/>
            </a:pPr>
            <a:r>
              <a:rPr lang="en-US" sz="1800" kern="1200" dirty="0">
                <a:solidFill>
                  <a:srgbClr val="000000"/>
                </a:solidFill>
                <a:latin typeface="Arial (Body)"/>
              </a:rPr>
              <a:t>Copy constructors are invoked whenever a copy of an object is needed, such as in passing an object by value to a function, returning an object by value from a function or initializing an object with a copy of another object of the same class.</a:t>
            </a:r>
            <a:endParaRPr lang="en-US" sz="18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(11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632325"/>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The copy constructor for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 copies the </a:t>
            </a:r>
            <a:r>
              <a:rPr lang="en-US" altLang="en-US" sz="2400" kern="1200" dirty="0">
                <a:solidFill>
                  <a:srgbClr val="000000"/>
                </a:solidFill>
                <a:latin typeface="Consolas" panose="020B0609020204030204" pitchFamily="49" charset="0"/>
                <a:ea typeface="+mn-ea"/>
                <a:cs typeface="Consolas" panose="020B0609020204030204" pitchFamily="49" charset="0"/>
              </a:rPr>
              <a:t>size</a:t>
            </a:r>
            <a:r>
              <a:rPr lang="en-US" altLang="en-US" sz="2400" kern="1200" dirty="0">
                <a:solidFill>
                  <a:srgbClr val="000000"/>
                </a:solidFill>
                <a:latin typeface="Arial (Body)"/>
                <a:ea typeface="+mn-ea"/>
                <a:cs typeface="+mn-cs"/>
              </a:rPr>
              <a:t> of the initializer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 into data member </a:t>
            </a:r>
            <a:r>
              <a:rPr lang="en-US" altLang="en-US" sz="2400" kern="1200" dirty="0">
                <a:solidFill>
                  <a:srgbClr val="000000"/>
                </a:solidFill>
                <a:latin typeface="Consolas" panose="020B0609020204030204" pitchFamily="49" charset="0"/>
                <a:ea typeface="+mn-ea"/>
                <a:cs typeface="Consolas" panose="020B0609020204030204" pitchFamily="49" charset="0"/>
              </a:rPr>
              <a:t>size</a:t>
            </a:r>
            <a:r>
              <a:rPr lang="en-US" altLang="en-US" sz="2400" kern="1200" dirty="0">
                <a:solidFill>
                  <a:srgbClr val="000000"/>
                </a:solidFill>
                <a:latin typeface="Arial (Body)"/>
                <a:ea typeface="+mn-ea"/>
                <a:cs typeface="+mn-cs"/>
              </a:rPr>
              <a:t>, uses </a:t>
            </a:r>
            <a:r>
              <a:rPr lang="en-US" altLang="en-US" sz="2400" kern="1200" dirty="0">
                <a:solidFill>
                  <a:srgbClr val="000000"/>
                </a:solidFill>
                <a:latin typeface="Consolas" panose="020B0609020204030204" pitchFamily="49" charset="0"/>
                <a:ea typeface="+mn-ea"/>
                <a:cs typeface="Consolas" panose="020B0609020204030204" pitchFamily="49" charset="0"/>
              </a:rPr>
              <a:t>new</a:t>
            </a:r>
            <a:r>
              <a:rPr lang="en-US" altLang="en-US" sz="2400" kern="1200" dirty="0">
                <a:solidFill>
                  <a:srgbClr val="000000"/>
                </a:solidFill>
                <a:latin typeface="Arial (Body)"/>
                <a:ea typeface="+mn-ea"/>
                <a:cs typeface="+mn-cs"/>
              </a:rPr>
              <a:t> to obtain the memory for the internal pointer-based representation of this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 and assigns the pointer returned by </a:t>
            </a:r>
            <a:r>
              <a:rPr lang="en-US" altLang="en-US" sz="2400" kern="1200" dirty="0">
                <a:solidFill>
                  <a:srgbClr val="000000"/>
                </a:solidFill>
                <a:latin typeface="Consolas" panose="020B0609020204030204" pitchFamily="49" charset="0"/>
                <a:ea typeface="+mn-ea"/>
                <a:cs typeface="Consolas" panose="020B0609020204030204" pitchFamily="49" charset="0"/>
              </a:rPr>
              <a:t>new</a:t>
            </a:r>
            <a:r>
              <a:rPr lang="en-US" altLang="en-US" sz="2400" kern="1200" dirty="0">
                <a:solidFill>
                  <a:srgbClr val="000000"/>
                </a:solidFill>
                <a:latin typeface="Arial (Body)"/>
                <a:ea typeface="+mn-ea"/>
                <a:cs typeface="+mn-cs"/>
              </a:rPr>
              <a:t> to data member </a:t>
            </a:r>
            <a:r>
              <a:rPr lang="en-US" altLang="en-US" sz="2400" kern="1200" dirty="0" smtClean="0">
                <a:solidFill>
                  <a:srgbClr val="000000"/>
                </a:solidFill>
                <a:latin typeface="Arial (Body)"/>
                <a:ea typeface="+mn-ea"/>
                <a:cs typeface="+mn-cs"/>
              </a:rPr>
              <a:t>ptr.</a:t>
            </a:r>
            <a:endParaRPr lang="en-US" altLang="en-US" sz="2400" kern="1200" dirty="0">
              <a:solidFill>
                <a:srgbClr val="000000"/>
              </a:solidFill>
              <a:latin typeface="Arial (Body)"/>
              <a:ea typeface="+mn-ea"/>
              <a:cs typeface="+mn-cs"/>
            </a:endParaRPr>
          </a:p>
          <a:p>
            <a:pPr marL="255651" indent="-255651" eaLnBrk="1" hangingPunct="1">
              <a:tabLst/>
              <a:defRPr/>
            </a:pPr>
            <a:r>
              <a:rPr lang="en-US" altLang="en-US" sz="2400" kern="1200" dirty="0">
                <a:solidFill>
                  <a:srgbClr val="000000"/>
                </a:solidFill>
                <a:latin typeface="Arial (Body)"/>
                <a:ea typeface="+mn-ea"/>
                <a:cs typeface="+mn-cs"/>
              </a:rPr>
              <a:t>Then the copy constructor uses a </a:t>
            </a:r>
            <a:r>
              <a:rPr lang="en-US" altLang="en-US" sz="2400" kern="1200" dirty="0">
                <a:solidFill>
                  <a:srgbClr val="000000"/>
                </a:solidFill>
                <a:latin typeface="Consolas" panose="020B0609020204030204" pitchFamily="49" charset="0"/>
                <a:ea typeface="+mn-ea"/>
                <a:cs typeface="Consolas" panose="020B0609020204030204" pitchFamily="49" charset="0"/>
              </a:rPr>
              <a:t>for</a:t>
            </a:r>
            <a:r>
              <a:rPr lang="en-US" altLang="en-US" sz="2400" kern="1200" dirty="0">
                <a:solidFill>
                  <a:srgbClr val="000000"/>
                </a:solidFill>
                <a:latin typeface="Arial (Body)"/>
                <a:ea typeface="+mn-ea"/>
                <a:cs typeface="+mn-cs"/>
              </a:rPr>
              <a:t> statement to copy all the elements of the initializer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 into the new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 object.</a:t>
            </a:r>
          </a:p>
          <a:p>
            <a:pPr marL="255651" indent="-255651" eaLnBrk="1" hangingPunct="1">
              <a:tabLst/>
              <a:defRPr/>
            </a:pPr>
            <a:r>
              <a:rPr lang="en-US" altLang="en-US" sz="2400" kern="1200" dirty="0">
                <a:solidFill>
                  <a:srgbClr val="000000"/>
                </a:solidFill>
                <a:latin typeface="Arial (Body)"/>
                <a:ea typeface="+mn-ea"/>
                <a:cs typeface="+mn-cs"/>
              </a:rPr>
              <a:t>An object of a class can look at the </a:t>
            </a:r>
            <a:r>
              <a:rPr lang="en-US" altLang="en-US" sz="2400" kern="1200" dirty="0">
                <a:solidFill>
                  <a:srgbClr val="000000"/>
                </a:solidFill>
                <a:latin typeface="Consolas" panose="020B0609020204030204" pitchFamily="49" charset="0"/>
                <a:ea typeface="+mn-ea"/>
                <a:cs typeface="Consolas" panose="020B0609020204030204" pitchFamily="49" charset="0"/>
              </a:rPr>
              <a:t>private</a:t>
            </a:r>
            <a:r>
              <a:rPr lang="en-US" altLang="en-US" sz="2400" kern="1200" dirty="0">
                <a:solidFill>
                  <a:srgbClr val="000000"/>
                </a:solidFill>
                <a:latin typeface="Arial (Body)"/>
                <a:ea typeface="+mn-ea"/>
                <a:cs typeface="+mn-cs"/>
              </a:rPr>
              <a:t> data of any other object of that class (using a handle that indicates which object to access).</a:t>
            </a: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Observation </a:t>
            </a:r>
            <a:r>
              <a:rPr lang="en-US" dirty="0" smtClean="0"/>
              <a:t>18.3</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The argument to a copy constructor should be a </a:t>
            </a:r>
            <a:r>
              <a:rPr lang="en-US" sz="2400" dirty="0">
                <a:latin typeface="Consolas" panose="020B0609020204030204" pitchFamily="49" charset="0"/>
                <a:cs typeface="Consolas" panose="020B0609020204030204" pitchFamily="49" charset="0"/>
              </a:rPr>
              <a:t>const</a:t>
            </a:r>
            <a:r>
              <a:rPr lang="en-US" sz="2400" dirty="0">
                <a:latin typeface="+mn-lt"/>
              </a:rPr>
              <a:t> reference to allow a </a:t>
            </a:r>
            <a:r>
              <a:rPr lang="en-US" sz="2400" dirty="0">
                <a:latin typeface="Consolas" panose="020B0609020204030204" pitchFamily="49" charset="0"/>
                <a:cs typeface="Consolas" panose="020B0609020204030204" pitchFamily="49" charset="0"/>
              </a:rPr>
              <a:t>const</a:t>
            </a:r>
            <a:r>
              <a:rPr lang="en-US" sz="2400" dirty="0">
                <a:latin typeface="+mn-lt"/>
              </a:rPr>
              <a:t> </a:t>
            </a:r>
            <a:r>
              <a:rPr lang="en-US" sz="2400" dirty="0" smtClean="0">
                <a:latin typeface="+mn-lt"/>
              </a:rPr>
              <a:t>object to </a:t>
            </a:r>
            <a:r>
              <a:rPr lang="en-US" sz="2400" dirty="0">
                <a:latin typeface="+mn-lt"/>
              </a:rPr>
              <a:t>be copied.</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Programming Error </a:t>
            </a:r>
            <a:r>
              <a:rPr lang="en-US" dirty="0" smtClean="0"/>
              <a:t>18.4</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If the copy constructor simply copied the pointer in the source object to the target </a:t>
            </a:r>
            <a:r>
              <a:rPr lang="en-US" sz="2400" dirty="0" smtClean="0">
                <a:latin typeface="+mn-lt"/>
              </a:rPr>
              <a:t>object’s pointer</a:t>
            </a:r>
            <a:r>
              <a:rPr lang="en-US" sz="2400" dirty="0">
                <a:latin typeface="+mn-lt"/>
              </a:rPr>
              <a:t>, then both would point to the same dynamically allocated memory. The first </a:t>
            </a:r>
            <a:r>
              <a:rPr lang="en-US" sz="2400" dirty="0" smtClean="0">
                <a:latin typeface="+mn-lt"/>
              </a:rPr>
              <a:t>destructor to </a:t>
            </a:r>
            <a:r>
              <a:rPr lang="en-US" sz="2400" dirty="0">
                <a:latin typeface="+mn-lt"/>
              </a:rPr>
              <a:t>execute would delete the dynamically allocated memory, and the other </a:t>
            </a:r>
            <a:r>
              <a:rPr lang="en-US" sz="2400" dirty="0" smtClean="0">
                <a:latin typeface="+mn-lt"/>
              </a:rPr>
              <a:t>object’s </a:t>
            </a:r>
            <a:r>
              <a:rPr lang="en-US" sz="2400" dirty="0" smtClean="0">
                <a:latin typeface="Consolas" panose="020B0609020204030204" pitchFamily="49" charset="0"/>
                <a:cs typeface="Consolas" panose="020B0609020204030204" pitchFamily="49" charset="0"/>
              </a:rPr>
              <a:t>ptr</a:t>
            </a:r>
            <a:r>
              <a:rPr lang="en-US" sz="2400" dirty="0" smtClean="0">
                <a:latin typeface="+mn-lt"/>
              </a:rPr>
              <a:t> </a:t>
            </a:r>
            <a:r>
              <a:rPr lang="en-US" sz="2400" dirty="0">
                <a:latin typeface="+mn-lt"/>
              </a:rPr>
              <a:t>would point to memory that’s no longer allocated, a situation called a </a:t>
            </a:r>
            <a:r>
              <a:rPr lang="en-US" sz="2400" b="1" dirty="0" smtClean="0">
                <a:latin typeface="+mn-lt"/>
              </a:rPr>
              <a:t>dangling pointer</a:t>
            </a:r>
            <a:r>
              <a:rPr lang="en-US" sz="2400" dirty="0" smtClean="0">
                <a:latin typeface="+mn-lt"/>
              </a:rPr>
              <a:t>—this </a:t>
            </a:r>
            <a:r>
              <a:rPr lang="en-US" sz="2400" dirty="0">
                <a:latin typeface="+mn-lt"/>
              </a:rPr>
              <a:t>would likely result in a serious runtime error (such as early program </a:t>
            </a:r>
            <a:r>
              <a:rPr lang="en-US" sz="2400" dirty="0" smtClean="0">
                <a:latin typeface="+mn-lt"/>
              </a:rPr>
              <a:t>termination) when </a:t>
            </a:r>
            <a:r>
              <a:rPr lang="en-US" sz="2400" dirty="0">
                <a:latin typeface="+mn-lt"/>
              </a:rPr>
              <a:t>the pointer was used.</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(12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716372"/>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Array Destructor</a:t>
            </a:r>
          </a:p>
          <a:p>
            <a:pPr marL="255651" indent="-255651" eaLnBrk="1" hangingPunct="1">
              <a:tabLst/>
              <a:defRPr/>
            </a:pPr>
            <a:r>
              <a:rPr lang="en-US" sz="2400" kern="1200" dirty="0">
                <a:solidFill>
                  <a:srgbClr val="000000"/>
                </a:solidFill>
                <a:latin typeface="Arial (Body)"/>
                <a:ea typeface="+mn-ea"/>
                <a:cs typeface="+mn-cs"/>
              </a:rPr>
              <a:t>Line 16 of </a:t>
            </a:r>
            <a:r>
              <a:rPr lang="en-US" sz="2400" kern="1200" dirty="0" smtClean="0">
                <a:solidFill>
                  <a:srgbClr val="000000"/>
                </a:solidFill>
                <a:latin typeface="Arial (Body)"/>
                <a:ea typeface="+mn-ea"/>
                <a:cs typeface="+mn-cs"/>
              </a:rPr>
              <a:t>Figure</a:t>
            </a:r>
            <a:r>
              <a:rPr lang="en-US" sz="2400" kern="1200" dirty="0">
                <a:solidFill>
                  <a:srgbClr val="000000"/>
                </a:solidFill>
                <a:latin typeface="Arial (Body)"/>
                <a:ea typeface="+mn-ea"/>
                <a:cs typeface="+mn-cs"/>
              </a:rPr>
              <a:t> </a:t>
            </a:r>
            <a:r>
              <a:rPr lang="en-US" sz="2400" kern="1200" dirty="0" smtClean="0">
                <a:solidFill>
                  <a:srgbClr val="000000"/>
                </a:solidFill>
                <a:latin typeface="Arial (Body)"/>
                <a:ea typeface="+mn-ea"/>
                <a:cs typeface="+mn-cs"/>
              </a:rPr>
              <a:t>18.10 (see slide 91) declares </a:t>
            </a:r>
            <a:r>
              <a:rPr lang="en-US" sz="2400" kern="1200" dirty="0">
                <a:solidFill>
                  <a:srgbClr val="000000"/>
                </a:solidFill>
                <a:latin typeface="Arial (Body)"/>
                <a:ea typeface="+mn-ea"/>
                <a:cs typeface="+mn-cs"/>
              </a:rPr>
              <a:t>the class’s destructor (defined in </a:t>
            </a:r>
            <a:r>
              <a:rPr lang="en-US" sz="2400" kern="1200" dirty="0" smtClean="0">
                <a:solidFill>
                  <a:srgbClr val="000000"/>
                </a:solidFill>
                <a:latin typeface="Arial (Body)"/>
                <a:ea typeface="+mn-ea"/>
                <a:cs typeface="+mn-cs"/>
              </a:rPr>
              <a:t>Figure</a:t>
            </a:r>
            <a:r>
              <a:rPr lang="en-US" sz="2400" kern="1200" dirty="0">
                <a:solidFill>
                  <a:srgbClr val="000000"/>
                </a:solidFill>
                <a:latin typeface="Arial (Body)"/>
                <a:ea typeface="+mn-ea"/>
                <a:cs typeface="+mn-cs"/>
              </a:rPr>
              <a:t> </a:t>
            </a:r>
            <a:r>
              <a:rPr lang="en-US" sz="2400" kern="1200" dirty="0" smtClean="0">
                <a:solidFill>
                  <a:srgbClr val="000000"/>
                </a:solidFill>
                <a:latin typeface="Arial (Body)"/>
                <a:ea typeface="+mn-ea"/>
                <a:cs typeface="+mn-cs"/>
              </a:rPr>
              <a:t>18.11 </a:t>
            </a:r>
            <a:r>
              <a:rPr lang="en-US" sz="2400" b="0" i="0" u="none" strike="noStrike" cap="none" dirty="0" smtClean="0">
                <a:solidFill>
                  <a:schemeClr val="dk1"/>
                </a:solidFill>
                <a:effectLst/>
                <a:latin typeface="+mn-lt"/>
                <a:sym typeface="Arial"/>
              </a:rPr>
              <a:t>(see slide 94)</a:t>
            </a:r>
            <a:r>
              <a:rPr lang="en-US" sz="2400" kern="1200" dirty="0" smtClean="0">
                <a:solidFill>
                  <a:srgbClr val="000000"/>
                </a:solidFill>
                <a:latin typeface="Arial (Body)"/>
                <a:ea typeface="+mn-ea"/>
                <a:cs typeface="+mn-cs"/>
              </a:rPr>
              <a:t>, </a:t>
            </a:r>
            <a:r>
              <a:rPr lang="en-US" sz="2400" kern="1200" dirty="0">
                <a:solidFill>
                  <a:srgbClr val="000000"/>
                </a:solidFill>
                <a:latin typeface="Arial (Body)"/>
                <a:ea typeface="+mn-ea"/>
                <a:cs typeface="+mn-cs"/>
              </a:rPr>
              <a:t>lines 31–34</a:t>
            </a:r>
            <a:r>
              <a:rPr lang="en-US" sz="2400" kern="1200" dirty="0" smtClean="0">
                <a:solidFill>
                  <a:srgbClr val="000000"/>
                </a:solidFill>
                <a:latin typeface="Arial (Body)"/>
                <a:ea typeface="+mn-ea"/>
                <a:cs typeface="+mn-cs"/>
              </a:rPr>
              <a:t>).</a:t>
            </a:r>
            <a:endParaRPr lang="en-US" sz="2400" kern="1200" dirty="0">
              <a:solidFill>
                <a:srgbClr val="000000"/>
              </a:solidFill>
              <a:latin typeface="Arial (Body)"/>
              <a:ea typeface="+mn-ea"/>
              <a:cs typeface="+mn-cs"/>
            </a:endParaRPr>
          </a:p>
          <a:p>
            <a:pPr marL="255651" indent="-255651" eaLnBrk="1" hangingPunct="1">
              <a:tabLst/>
              <a:defRPr/>
            </a:pPr>
            <a:r>
              <a:rPr lang="en-US" sz="2400" kern="1200" dirty="0">
                <a:solidFill>
                  <a:srgbClr val="000000"/>
                </a:solidFill>
                <a:latin typeface="Arial (Body)"/>
                <a:ea typeface="+mn-ea"/>
                <a:cs typeface="+mn-cs"/>
              </a:rPr>
              <a:t>The destructor is invoked when an object of class </a:t>
            </a:r>
            <a:r>
              <a:rPr lang="en-US" sz="2400" kern="1200" dirty="0">
                <a:solidFill>
                  <a:srgbClr val="000000"/>
                </a:solidFill>
                <a:latin typeface="Consolas" panose="020B0609020204030204" pitchFamily="49" charset="0"/>
                <a:ea typeface="+mn-ea"/>
                <a:cs typeface="Consolas" panose="020B0609020204030204" pitchFamily="49" charset="0"/>
              </a:rPr>
              <a:t>Array</a:t>
            </a:r>
            <a:r>
              <a:rPr lang="en-US" sz="2400" kern="1200" dirty="0">
                <a:solidFill>
                  <a:srgbClr val="000000"/>
                </a:solidFill>
                <a:latin typeface="Arial (Body)"/>
                <a:ea typeface="+mn-ea"/>
                <a:cs typeface="+mn-cs"/>
              </a:rPr>
              <a:t> goes out of scope.</a:t>
            </a:r>
          </a:p>
          <a:p>
            <a:pPr marL="255651" indent="-255651" eaLnBrk="1" hangingPunct="1">
              <a:tabLst/>
              <a:defRPr/>
            </a:pPr>
            <a:r>
              <a:rPr lang="en-US" sz="2400" kern="1200" dirty="0">
                <a:solidFill>
                  <a:srgbClr val="000000"/>
                </a:solidFill>
                <a:latin typeface="Arial (Body)"/>
                <a:ea typeface="+mn-ea"/>
                <a:cs typeface="+mn-cs"/>
              </a:rPr>
              <a:t>The destructor uses </a:t>
            </a:r>
            <a:r>
              <a:rPr lang="en-US" sz="2400" kern="1200" dirty="0">
                <a:solidFill>
                  <a:srgbClr val="000000"/>
                </a:solidFill>
                <a:latin typeface="Consolas" panose="020B0609020204030204" pitchFamily="49" charset="0"/>
                <a:ea typeface="+mn-ea"/>
                <a:cs typeface="Consolas" panose="020B0609020204030204" pitchFamily="49" charset="0"/>
              </a:rPr>
              <a:t>delete []</a:t>
            </a:r>
            <a:r>
              <a:rPr lang="en-US" sz="2400" kern="1200" dirty="0">
                <a:solidFill>
                  <a:srgbClr val="000000"/>
                </a:solidFill>
                <a:latin typeface="Arial (Body)"/>
                <a:ea typeface="+mn-ea"/>
                <a:cs typeface="+mn-cs"/>
              </a:rPr>
              <a:t> to release the memory allocated dynamically by </a:t>
            </a:r>
            <a:r>
              <a:rPr lang="en-US" sz="2400" kern="1200" dirty="0">
                <a:solidFill>
                  <a:srgbClr val="000000"/>
                </a:solidFill>
                <a:latin typeface="Consolas" panose="020B0609020204030204" pitchFamily="49" charset="0"/>
                <a:ea typeface="+mn-ea"/>
                <a:cs typeface="Consolas" panose="020B0609020204030204" pitchFamily="49" charset="0"/>
              </a:rPr>
              <a:t>new</a:t>
            </a:r>
            <a:r>
              <a:rPr lang="en-US" sz="2400" kern="1200" dirty="0">
                <a:solidFill>
                  <a:srgbClr val="000000"/>
                </a:solidFill>
                <a:latin typeface="Arial (Body)"/>
                <a:ea typeface="+mn-ea"/>
                <a:cs typeface="+mn-cs"/>
              </a:rPr>
              <a:t> in the constructor.</a:t>
            </a: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Error-Prevention Tip </a:t>
            </a:r>
            <a:r>
              <a:rPr lang="en-US" dirty="0" smtClean="0"/>
              <a:t>18.3</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If after deleting dynamically allocated memory, the pointer will continue to exist in </a:t>
            </a:r>
            <a:r>
              <a:rPr lang="en-US" sz="2400" dirty="0" smtClean="0">
                <a:latin typeface="+mn-lt"/>
              </a:rPr>
              <a:t>memory, set </a:t>
            </a:r>
            <a:r>
              <a:rPr lang="en-US" sz="2400" dirty="0">
                <a:latin typeface="+mn-lt"/>
              </a:rPr>
              <a:t>the pointer’s value to </a:t>
            </a:r>
            <a:r>
              <a:rPr lang="en-US" sz="2400" dirty="0">
                <a:latin typeface="Consolas" panose="020B0609020204030204" pitchFamily="49" charset="0"/>
                <a:cs typeface="Consolas" panose="020B0609020204030204" pitchFamily="49" charset="0"/>
              </a:rPr>
              <a:t>nullptr</a:t>
            </a:r>
            <a:r>
              <a:rPr lang="en-US" sz="2400" dirty="0">
                <a:latin typeface="+mn-lt"/>
              </a:rPr>
              <a:t> to indicate that the pointer no longer points to </a:t>
            </a:r>
            <a:r>
              <a:rPr lang="en-US" sz="2400" dirty="0" smtClean="0">
                <a:latin typeface="+mn-lt"/>
              </a:rPr>
              <a:t>memory in </a:t>
            </a:r>
            <a:r>
              <a:rPr lang="en-US" sz="2400" dirty="0">
                <a:latin typeface="+mn-lt"/>
              </a:rPr>
              <a:t>the free store. By setting the pointer to </a:t>
            </a:r>
            <a:r>
              <a:rPr lang="en-US" sz="2400" dirty="0">
                <a:latin typeface="Consolas" panose="020B0609020204030204" pitchFamily="49" charset="0"/>
                <a:cs typeface="Consolas" panose="020B0609020204030204" pitchFamily="49" charset="0"/>
              </a:rPr>
              <a:t>nullptr</a:t>
            </a:r>
            <a:r>
              <a:rPr lang="en-US" sz="2400" dirty="0">
                <a:latin typeface="+mn-lt"/>
              </a:rPr>
              <a:t>, the program loses access to that </a:t>
            </a:r>
            <a:r>
              <a:rPr lang="en-US" sz="2400" dirty="0" smtClean="0">
                <a:latin typeface="+mn-lt"/>
              </a:rPr>
              <a:t>freestore</a:t>
            </a:r>
            <a:r>
              <a:rPr lang="en-US" sz="2400" dirty="0">
                <a:latin typeface="+mn-lt"/>
              </a:rPr>
              <a:t> </a:t>
            </a:r>
            <a:r>
              <a:rPr lang="en-US" sz="2400" dirty="0" smtClean="0">
                <a:latin typeface="+mn-lt"/>
              </a:rPr>
              <a:t>space</a:t>
            </a:r>
            <a:r>
              <a:rPr lang="en-US" sz="2400" dirty="0">
                <a:latin typeface="+mn-lt"/>
              </a:rPr>
              <a:t>, which could be reallocated for a different purpose. If you do not set the </a:t>
            </a:r>
            <a:r>
              <a:rPr lang="en-US" sz="2400" dirty="0" smtClean="0">
                <a:latin typeface="+mn-lt"/>
              </a:rPr>
              <a:t>pointer to </a:t>
            </a:r>
            <a:r>
              <a:rPr lang="en-US" sz="2400" dirty="0">
                <a:latin typeface="Consolas" panose="020B0609020204030204" pitchFamily="49" charset="0"/>
                <a:cs typeface="Consolas" panose="020B0609020204030204" pitchFamily="49" charset="0"/>
              </a:rPr>
              <a:t>nullptr</a:t>
            </a:r>
            <a:r>
              <a:rPr lang="en-US" sz="2400" dirty="0">
                <a:latin typeface="+mn-lt"/>
              </a:rPr>
              <a:t>, your code could inadvertently access the reallocated memory, causing </a:t>
            </a:r>
            <a:r>
              <a:rPr lang="en-US" sz="2400" dirty="0" smtClean="0">
                <a:latin typeface="+mn-lt"/>
              </a:rPr>
              <a:t>subtle, nonrepeatable </a:t>
            </a:r>
            <a:r>
              <a:rPr lang="en-US" sz="2400" dirty="0">
                <a:latin typeface="+mn-lt"/>
              </a:rPr>
              <a:t>logic errors. We did not set </a:t>
            </a:r>
            <a:r>
              <a:rPr lang="en-US" sz="2400" dirty="0">
                <a:latin typeface="Consolas" panose="020B0609020204030204" pitchFamily="49" charset="0"/>
                <a:cs typeface="Consolas" panose="020B0609020204030204" pitchFamily="49" charset="0"/>
              </a:rPr>
              <a:t>ptr</a:t>
            </a:r>
            <a:r>
              <a:rPr lang="en-US" sz="2400" dirty="0">
                <a:latin typeface="+mn-lt"/>
              </a:rPr>
              <a:t> to </a:t>
            </a:r>
            <a:r>
              <a:rPr lang="en-US" sz="2400" dirty="0">
                <a:latin typeface="Consolas" panose="020B0609020204030204" pitchFamily="49" charset="0"/>
                <a:cs typeface="Consolas" panose="020B0609020204030204" pitchFamily="49" charset="0"/>
              </a:rPr>
              <a:t>nullptr</a:t>
            </a:r>
            <a:r>
              <a:rPr lang="en-US" sz="2400" dirty="0">
                <a:latin typeface="+mn-lt"/>
              </a:rPr>
              <a:t> in line 33 of </a:t>
            </a:r>
            <a:r>
              <a:rPr lang="en-US" sz="2400" dirty="0" smtClean="0">
                <a:latin typeface="+mn-lt"/>
              </a:rPr>
              <a:t>Figure 18.11 (see slide 94) because </a:t>
            </a:r>
            <a:r>
              <a:rPr lang="en-US" sz="2400" dirty="0">
                <a:latin typeface="+mn-lt"/>
              </a:rPr>
              <a:t>after the destructor executes, the </a:t>
            </a:r>
            <a:r>
              <a:rPr lang="en-US" sz="2400" dirty="0">
                <a:latin typeface="Consolas" panose="020B0609020204030204" pitchFamily="49" charset="0"/>
                <a:cs typeface="Consolas" panose="020B0609020204030204" pitchFamily="49" charset="0"/>
              </a:rPr>
              <a:t>Array</a:t>
            </a:r>
            <a:r>
              <a:rPr lang="en-US" sz="2400" dirty="0">
                <a:latin typeface="+mn-lt"/>
              </a:rPr>
              <a:t> object no longer exists in memory.</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(13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693015"/>
          </a:xfrm>
        </p:spPr>
        <p:txBody>
          <a:bodyPr>
            <a:spAutoFit/>
          </a:bodyPr>
          <a:lstStyle/>
          <a:p>
            <a:pPr marL="0" indent="0" eaLnBrk="1" hangingPunct="1">
              <a:buNone/>
              <a:tabLst/>
              <a:defRPr/>
            </a:pPr>
            <a:r>
              <a:rPr lang="en-US" sz="1900" b="1" kern="1200" dirty="0">
                <a:solidFill>
                  <a:srgbClr val="000000"/>
                </a:solidFill>
                <a:latin typeface="Arial (Body)"/>
                <a:ea typeface="+mn-ea"/>
                <a:cs typeface="+mn-cs"/>
              </a:rPr>
              <a:t>Overloaded Assignment Operator</a:t>
            </a:r>
          </a:p>
          <a:p>
            <a:pPr marL="255651" indent="-255651" eaLnBrk="1" hangingPunct="1">
              <a:tabLst/>
              <a:defRPr/>
            </a:pPr>
            <a:r>
              <a:rPr lang="en-US" sz="1900" kern="1200" dirty="0">
                <a:solidFill>
                  <a:srgbClr val="000000"/>
                </a:solidFill>
                <a:latin typeface="Arial (Body)"/>
                <a:ea typeface="+mn-ea"/>
                <a:cs typeface="+mn-cs"/>
              </a:rPr>
              <a:t>Line 19 of </a:t>
            </a:r>
            <a:r>
              <a:rPr lang="en-US" sz="1900" kern="1200" dirty="0" smtClean="0">
                <a:solidFill>
                  <a:srgbClr val="000000"/>
                </a:solidFill>
                <a:latin typeface="Arial (Body)"/>
                <a:ea typeface="+mn-ea"/>
                <a:cs typeface="+mn-cs"/>
              </a:rPr>
              <a:t>Figure</a:t>
            </a:r>
            <a:r>
              <a:rPr lang="en-US" sz="1900" kern="1200" dirty="0">
                <a:solidFill>
                  <a:srgbClr val="000000"/>
                </a:solidFill>
                <a:latin typeface="Arial (Body)"/>
                <a:ea typeface="+mn-ea"/>
                <a:cs typeface="+mn-cs"/>
              </a:rPr>
              <a:t> </a:t>
            </a:r>
            <a:r>
              <a:rPr lang="en-US" sz="1900" kern="1200" dirty="0" smtClean="0">
                <a:solidFill>
                  <a:srgbClr val="000000"/>
                </a:solidFill>
                <a:latin typeface="Arial (Body)"/>
                <a:ea typeface="+mn-ea"/>
                <a:cs typeface="+mn-cs"/>
              </a:rPr>
              <a:t>18.10 (see slide 91) declares </a:t>
            </a:r>
            <a:r>
              <a:rPr lang="en-US" sz="1900" kern="1200" dirty="0">
                <a:solidFill>
                  <a:srgbClr val="000000"/>
                </a:solidFill>
                <a:latin typeface="Arial (Body)"/>
                <a:ea typeface="+mn-ea"/>
                <a:cs typeface="+mn-cs"/>
              </a:rPr>
              <a:t>the overloaded assignment operator function for the class.</a:t>
            </a:r>
          </a:p>
          <a:p>
            <a:pPr marL="255651" indent="-255651" eaLnBrk="1" hangingPunct="1">
              <a:tabLst/>
              <a:defRPr/>
            </a:pPr>
            <a:r>
              <a:rPr lang="en-US" sz="1900" kern="1200" dirty="0">
                <a:solidFill>
                  <a:srgbClr val="000000"/>
                </a:solidFill>
                <a:latin typeface="Arial (Body)"/>
                <a:ea typeface="+mn-ea"/>
                <a:cs typeface="+mn-cs"/>
              </a:rPr>
              <a:t>When the compiler sees the expression </a:t>
            </a:r>
            <a:r>
              <a:rPr lang="en-US" sz="1900" kern="1200" dirty="0">
                <a:solidFill>
                  <a:srgbClr val="000000"/>
                </a:solidFill>
                <a:latin typeface="Consolas" panose="020B0609020204030204" pitchFamily="49" charset="0"/>
                <a:ea typeface="+mn-ea"/>
                <a:cs typeface="Consolas" panose="020B0609020204030204" pitchFamily="49" charset="0"/>
              </a:rPr>
              <a:t>integers1 = integers2</a:t>
            </a:r>
            <a:r>
              <a:rPr lang="en-US" sz="1900" kern="1200" dirty="0">
                <a:solidFill>
                  <a:srgbClr val="000000"/>
                </a:solidFill>
                <a:latin typeface="Arial (Body)"/>
                <a:ea typeface="+mn-ea"/>
                <a:cs typeface="+mn-cs"/>
              </a:rPr>
              <a:t> in line 47 of </a:t>
            </a:r>
            <a:r>
              <a:rPr lang="en-US" sz="1900" kern="1200" dirty="0" smtClean="0">
                <a:solidFill>
                  <a:srgbClr val="000000"/>
                </a:solidFill>
                <a:latin typeface="Arial (Body)"/>
                <a:ea typeface="+mn-ea"/>
                <a:cs typeface="+mn-cs"/>
              </a:rPr>
              <a:t>Figure</a:t>
            </a:r>
            <a:r>
              <a:rPr lang="en-US" sz="1900" kern="1200" dirty="0">
                <a:solidFill>
                  <a:srgbClr val="000000"/>
                </a:solidFill>
                <a:latin typeface="Arial (Body)"/>
                <a:ea typeface="+mn-ea"/>
                <a:cs typeface="+mn-cs"/>
              </a:rPr>
              <a:t> </a:t>
            </a:r>
            <a:r>
              <a:rPr lang="en-US" sz="1900" kern="1200" dirty="0" smtClean="0">
                <a:solidFill>
                  <a:srgbClr val="000000"/>
                </a:solidFill>
                <a:latin typeface="Arial (Body)"/>
                <a:ea typeface="+mn-ea"/>
                <a:cs typeface="+mn-cs"/>
              </a:rPr>
              <a:t>18.9 (see slide 80), </a:t>
            </a:r>
            <a:r>
              <a:rPr lang="en-US" sz="1900" kern="1200" dirty="0">
                <a:solidFill>
                  <a:srgbClr val="000000"/>
                </a:solidFill>
                <a:latin typeface="Arial (Body)"/>
                <a:ea typeface="+mn-ea"/>
                <a:cs typeface="+mn-cs"/>
              </a:rPr>
              <a:t>the compiler invokes member function </a:t>
            </a:r>
            <a:r>
              <a:rPr lang="en-US" sz="1900" kern="1200" dirty="0">
                <a:solidFill>
                  <a:srgbClr val="000000"/>
                </a:solidFill>
                <a:latin typeface="Consolas" panose="020B0609020204030204" pitchFamily="49" charset="0"/>
                <a:ea typeface="+mn-ea"/>
                <a:cs typeface="Consolas" panose="020B0609020204030204" pitchFamily="49" charset="0"/>
              </a:rPr>
              <a:t>operator=</a:t>
            </a:r>
            <a:r>
              <a:rPr lang="en-US" sz="1900" kern="1200" dirty="0">
                <a:solidFill>
                  <a:srgbClr val="000000"/>
                </a:solidFill>
                <a:latin typeface="Arial (Body)"/>
                <a:ea typeface="+mn-ea"/>
                <a:cs typeface="+mn-cs"/>
              </a:rPr>
              <a:t> with the </a:t>
            </a:r>
            <a:r>
              <a:rPr lang="en-US" sz="1900" kern="1200" dirty="0" smtClean="0">
                <a:solidFill>
                  <a:srgbClr val="000000"/>
                </a:solidFill>
                <a:latin typeface="Arial (Body)"/>
                <a:ea typeface="+mn-ea"/>
                <a:cs typeface="+mn-cs"/>
              </a:rPr>
              <a:t>call</a:t>
            </a:r>
          </a:p>
          <a:p>
            <a:pPr marL="742569" lvl="1" eaLnBrk="1" hangingPunct="1">
              <a:defRPr/>
            </a:pPr>
            <a:r>
              <a:rPr lang="en-US" sz="1900" kern="1200" dirty="0">
                <a:solidFill>
                  <a:srgbClr val="000000"/>
                </a:solidFill>
                <a:latin typeface="Arial (Body)"/>
                <a:ea typeface="+mn-ea"/>
                <a:cs typeface="+mn-cs"/>
              </a:rPr>
              <a:t> </a:t>
            </a:r>
            <a:endParaRPr lang="en-US" sz="1900" kern="1200" dirty="0" smtClean="0">
              <a:solidFill>
                <a:srgbClr val="000000"/>
              </a:solidFill>
              <a:latin typeface="Arial (Body)"/>
              <a:ea typeface="+mn-ea"/>
              <a:cs typeface="+mn-cs"/>
            </a:endParaRPr>
          </a:p>
        </p:txBody>
      </p:sp>
      <p:pic>
        <p:nvPicPr>
          <p:cNvPr id="6" name="Picture 5" descr="The computer reads as follows. integers 1 period operator equals left parenthesis integers 2 right parenthesis."/>
          <p:cNvPicPr>
            <a:picLocks noChangeAspect="1"/>
          </p:cNvPicPr>
          <p:nvPr/>
        </p:nvPicPr>
        <p:blipFill rotWithShape="1">
          <a:blip r:embed="rId2"/>
          <a:srcRect l="9043" t="14884" r="2499" b="26192"/>
          <a:stretch/>
        </p:blipFill>
        <p:spPr>
          <a:xfrm>
            <a:off x="1223777" y="3867912"/>
            <a:ext cx="4456167" cy="310896"/>
          </a:xfrm>
          <a:prstGeom prst="rect">
            <a:avLst/>
          </a:prstGeom>
        </p:spPr>
      </p:pic>
      <p:sp>
        <p:nvSpPr>
          <p:cNvPr id="5" name="Text Placeholder 4"/>
          <p:cNvSpPr>
            <a:spLocks noGrp="1"/>
          </p:cNvSpPr>
          <p:nvPr>
            <p:ph type="body" idx="2"/>
          </p:nvPr>
        </p:nvSpPr>
        <p:spPr>
          <a:xfrm>
            <a:off x="457200" y="4293215"/>
            <a:ext cx="8229600" cy="1874521"/>
          </a:xfrm>
        </p:spPr>
        <p:txBody>
          <a:bodyPr/>
          <a:lstStyle/>
          <a:p>
            <a:pPr marL="255651" indent="-255651" eaLnBrk="1" hangingPunct="1">
              <a:tabLst/>
              <a:defRPr/>
            </a:pPr>
            <a:r>
              <a:rPr lang="en-US" sz="1900" kern="1200" dirty="0">
                <a:solidFill>
                  <a:srgbClr val="000000"/>
                </a:solidFill>
                <a:latin typeface="Arial (Body)"/>
              </a:rPr>
              <a:t>Member function </a:t>
            </a:r>
            <a:r>
              <a:rPr lang="en-US" sz="1900" kern="1200" dirty="0">
                <a:solidFill>
                  <a:srgbClr val="000000"/>
                </a:solidFill>
                <a:latin typeface="Consolas" panose="020B0609020204030204" pitchFamily="49" charset="0"/>
                <a:cs typeface="Consolas" panose="020B0609020204030204" pitchFamily="49" charset="0"/>
              </a:rPr>
              <a:t>operator=’</a:t>
            </a:r>
            <a:r>
              <a:rPr lang="en-US" sz="1900" kern="1200" dirty="0">
                <a:solidFill>
                  <a:srgbClr val="000000"/>
                </a:solidFill>
                <a:latin typeface="Arial (Body)"/>
              </a:rPr>
              <a:t>s implementation (</a:t>
            </a:r>
            <a:r>
              <a:rPr lang="en-US" sz="1900" kern="1200" dirty="0" smtClean="0">
                <a:solidFill>
                  <a:srgbClr val="000000"/>
                </a:solidFill>
                <a:latin typeface="Arial (Body)"/>
              </a:rPr>
              <a:t>Figure</a:t>
            </a:r>
            <a:r>
              <a:rPr lang="en-US" sz="1900" kern="1200" dirty="0">
                <a:solidFill>
                  <a:srgbClr val="000000"/>
                </a:solidFill>
                <a:latin typeface="Arial (Body)"/>
              </a:rPr>
              <a:t> </a:t>
            </a:r>
            <a:r>
              <a:rPr lang="en-US" sz="1900" kern="1200" dirty="0" smtClean="0">
                <a:solidFill>
                  <a:srgbClr val="000000"/>
                </a:solidFill>
                <a:latin typeface="Arial (Body)"/>
              </a:rPr>
              <a:t>18.11 </a:t>
            </a:r>
            <a:r>
              <a:rPr lang="en-US" sz="1600" b="0" i="0" u="none" strike="noStrike" cap="none" dirty="0" smtClean="0">
                <a:solidFill>
                  <a:schemeClr val="dk1"/>
                </a:solidFill>
                <a:effectLst/>
                <a:latin typeface="Arial"/>
                <a:ea typeface="Arial"/>
                <a:cs typeface="Arial"/>
                <a:sym typeface="Arial"/>
              </a:rPr>
              <a:t>(see slides 95)</a:t>
            </a:r>
            <a:r>
              <a:rPr lang="en-US" sz="1900" kern="1200" dirty="0" smtClean="0">
                <a:solidFill>
                  <a:srgbClr val="000000"/>
                </a:solidFill>
                <a:latin typeface="Arial (Body)"/>
              </a:rPr>
              <a:t>, </a:t>
            </a:r>
            <a:r>
              <a:rPr lang="en-US" sz="1900" kern="1200" dirty="0">
                <a:solidFill>
                  <a:srgbClr val="000000"/>
                </a:solidFill>
                <a:latin typeface="Arial (Body)"/>
              </a:rPr>
              <a:t>lines 44–62</a:t>
            </a:r>
            <a:r>
              <a:rPr lang="en-US" sz="1900" kern="1200" dirty="0" smtClean="0">
                <a:solidFill>
                  <a:srgbClr val="000000"/>
                </a:solidFill>
                <a:latin typeface="Arial (Body)"/>
              </a:rPr>
              <a:t>) tests </a:t>
            </a:r>
            <a:r>
              <a:rPr lang="en-US" sz="1900" kern="1200" dirty="0">
                <a:solidFill>
                  <a:srgbClr val="000000"/>
                </a:solidFill>
                <a:latin typeface="Arial (Body)"/>
              </a:rPr>
              <a:t>for </a:t>
            </a:r>
            <a:r>
              <a:rPr lang="en-US" sz="1900" b="1" kern="1200" dirty="0">
                <a:solidFill>
                  <a:srgbClr val="000000"/>
                </a:solidFill>
                <a:latin typeface="Arial (Body)"/>
              </a:rPr>
              <a:t>self-assignment</a:t>
            </a:r>
            <a:r>
              <a:rPr lang="en-US" sz="1900" kern="1200" dirty="0">
                <a:solidFill>
                  <a:srgbClr val="000000"/>
                </a:solidFill>
                <a:latin typeface="Arial (Body)"/>
              </a:rPr>
              <a:t> (line 46) in which an </a:t>
            </a:r>
            <a:r>
              <a:rPr lang="en-US" sz="1900" kern="1200" dirty="0">
                <a:solidFill>
                  <a:srgbClr val="000000"/>
                </a:solidFill>
                <a:latin typeface="Consolas" panose="020B0609020204030204" pitchFamily="49" charset="0"/>
                <a:cs typeface="Consolas" panose="020B0609020204030204" pitchFamily="49" charset="0"/>
              </a:rPr>
              <a:t>Array</a:t>
            </a:r>
            <a:r>
              <a:rPr lang="en-US" sz="1900" kern="1200" dirty="0">
                <a:solidFill>
                  <a:srgbClr val="000000"/>
                </a:solidFill>
                <a:latin typeface="Arial (Body)"/>
              </a:rPr>
              <a:t> object is being assigned to itself.</a:t>
            </a:r>
          </a:p>
          <a:p>
            <a:pPr marL="255651" indent="-255651" eaLnBrk="1" hangingPunct="1">
              <a:tabLst/>
              <a:defRPr/>
            </a:pPr>
            <a:r>
              <a:rPr lang="en-US" sz="1900" kern="1200" dirty="0">
                <a:solidFill>
                  <a:srgbClr val="000000"/>
                </a:solidFill>
                <a:latin typeface="Arial (Body)"/>
              </a:rPr>
              <a:t>When </a:t>
            </a:r>
            <a:r>
              <a:rPr lang="en-US" sz="1900" kern="1200" dirty="0">
                <a:solidFill>
                  <a:srgbClr val="000000"/>
                </a:solidFill>
                <a:latin typeface="Consolas" panose="020B0609020204030204" pitchFamily="49" charset="0"/>
                <a:cs typeface="Consolas" panose="020B0609020204030204" pitchFamily="49" charset="0"/>
              </a:rPr>
              <a:t>this</a:t>
            </a:r>
            <a:r>
              <a:rPr lang="en-US" sz="1900" kern="1200" dirty="0">
                <a:solidFill>
                  <a:srgbClr val="000000"/>
                </a:solidFill>
                <a:latin typeface="Arial (Body)"/>
              </a:rPr>
              <a:t> is equal to the </a:t>
            </a:r>
            <a:r>
              <a:rPr lang="en-US" sz="1900" kern="1200" dirty="0">
                <a:solidFill>
                  <a:srgbClr val="000000"/>
                </a:solidFill>
                <a:latin typeface="Consolas" panose="020B0609020204030204" pitchFamily="49" charset="0"/>
                <a:cs typeface="Consolas" panose="020B0609020204030204" pitchFamily="49" charset="0"/>
              </a:rPr>
              <a:t>right</a:t>
            </a:r>
            <a:r>
              <a:rPr lang="en-US" sz="1900" kern="1200" dirty="0">
                <a:solidFill>
                  <a:srgbClr val="000000"/>
                </a:solidFill>
                <a:latin typeface="Arial (Body)"/>
              </a:rPr>
              <a:t> operand’s address, a </a:t>
            </a:r>
            <a:r>
              <a:rPr lang="en-US" sz="1900" b="1" kern="1200" dirty="0">
                <a:solidFill>
                  <a:srgbClr val="000000"/>
                </a:solidFill>
                <a:latin typeface="Arial (Body)"/>
              </a:rPr>
              <a:t>self-assignment</a:t>
            </a:r>
            <a:r>
              <a:rPr lang="en-US" sz="1900" kern="1200" dirty="0">
                <a:solidFill>
                  <a:srgbClr val="000000"/>
                </a:solidFill>
                <a:latin typeface="Arial (Body)"/>
              </a:rPr>
              <a:t> is being attempted, so the assignment is skipped</a:t>
            </a:r>
            <a:r>
              <a:rPr lang="en-US" sz="1900" kern="1200" dirty="0" smtClean="0">
                <a:solidFill>
                  <a:srgbClr val="000000"/>
                </a:solidFill>
                <a:latin typeface="Arial (Body)"/>
              </a:rPr>
              <a:t>.</a:t>
            </a:r>
            <a:endParaRPr lang="en-US" sz="19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(14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339345"/>
          </a:xfrm>
        </p:spPr>
        <p:txBody>
          <a:bodyPr>
            <a:spAutoFit/>
          </a:bodyPr>
          <a:lstStyle/>
          <a:p>
            <a:pPr marL="255651" indent="-255651" eaLnBrk="1" hangingPunct="1">
              <a:tabLst/>
              <a:defRPr/>
            </a:pPr>
            <a:r>
              <a:rPr lang="en-US" altLang="en-US" sz="2000" kern="1200" dirty="0">
                <a:solidFill>
                  <a:srgbClr val="000000"/>
                </a:solidFill>
                <a:latin typeface="Consolas" panose="020B0609020204030204" pitchFamily="49" charset="0"/>
                <a:ea typeface="+mn-ea"/>
                <a:cs typeface="Consolas" panose="020B0609020204030204" pitchFamily="49" charset="0"/>
              </a:rPr>
              <a:t>operator=</a:t>
            </a:r>
            <a:r>
              <a:rPr lang="en-US" altLang="en-US" sz="2000" kern="1200" dirty="0">
                <a:solidFill>
                  <a:srgbClr val="000000"/>
                </a:solidFill>
                <a:latin typeface="Arial (Body)"/>
                <a:ea typeface="+mn-ea"/>
                <a:cs typeface="+mn-cs"/>
              </a:rPr>
              <a:t> determines whether the sizes of the two </a:t>
            </a:r>
            <a:r>
              <a:rPr lang="en-US" altLang="en-US" sz="2000" kern="1200" dirty="0">
                <a:solidFill>
                  <a:srgbClr val="000000"/>
                </a:solidFill>
                <a:latin typeface="Consolas" panose="020B0609020204030204" pitchFamily="49" charset="0"/>
                <a:ea typeface="+mn-ea"/>
                <a:cs typeface="Consolas" panose="020B0609020204030204" pitchFamily="49" charset="0"/>
              </a:rPr>
              <a:t>Arrays</a:t>
            </a:r>
            <a:r>
              <a:rPr lang="en-US" altLang="en-US" sz="2000" kern="1200" dirty="0">
                <a:solidFill>
                  <a:srgbClr val="000000"/>
                </a:solidFill>
                <a:latin typeface="Arial (Body)"/>
                <a:ea typeface="+mn-ea"/>
                <a:cs typeface="+mn-cs"/>
              </a:rPr>
              <a:t> are identical (line 50); in that case, the original array of integers in the left-side Array object is </a:t>
            </a:r>
            <a:r>
              <a:rPr lang="en-US" altLang="en-US" sz="2000" b="1" kern="1200" dirty="0">
                <a:solidFill>
                  <a:srgbClr val="000000"/>
                </a:solidFill>
                <a:latin typeface="Arial (Body)"/>
                <a:ea typeface="+mn-ea"/>
                <a:cs typeface="+mn-cs"/>
              </a:rPr>
              <a:t>not</a:t>
            </a:r>
            <a:r>
              <a:rPr lang="en-US" altLang="en-US" sz="2000" kern="1200" dirty="0">
                <a:solidFill>
                  <a:srgbClr val="000000"/>
                </a:solidFill>
                <a:latin typeface="Arial (Body)"/>
                <a:ea typeface="+mn-ea"/>
                <a:cs typeface="+mn-cs"/>
              </a:rPr>
              <a:t> reallocated.</a:t>
            </a:r>
          </a:p>
          <a:p>
            <a:pPr marL="255651" indent="-255651" eaLnBrk="1" hangingPunct="1">
              <a:tabLst/>
              <a:defRPr/>
            </a:pPr>
            <a:r>
              <a:rPr lang="en-US" altLang="en-US" sz="2000" kern="1200" dirty="0">
                <a:solidFill>
                  <a:srgbClr val="000000"/>
                </a:solidFill>
                <a:latin typeface="Arial (Body)"/>
                <a:ea typeface="+mn-ea"/>
                <a:cs typeface="+mn-cs"/>
              </a:rPr>
              <a:t>Otherwise, </a:t>
            </a:r>
            <a:r>
              <a:rPr lang="en-US" altLang="en-US" sz="2000" kern="1200" dirty="0">
                <a:solidFill>
                  <a:srgbClr val="000000"/>
                </a:solidFill>
                <a:latin typeface="Consolas" panose="020B0609020204030204" pitchFamily="49" charset="0"/>
                <a:ea typeface="+mn-ea"/>
                <a:cs typeface="Consolas" panose="020B0609020204030204" pitchFamily="49" charset="0"/>
              </a:rPr>
              <a:t>operator=</a:t>
            </a:r>
            <a:r>
              <a:rPr lang="en-US" altLang="en-US" sz="2000" kern="1200" dirty="0">
                <a:solidFill>
                  <a:srgbClr val="000000"/>
                </a:solidFill>
                <a:latin typeface="Arial (Body)"/>
                <a:ea typeface="+mn-ea"/>
                <a:cs typeface="+mn-cs"/>
              </a:rPr>
              <a:t> uses </a:t>
            </a:r>
            <a:r>
              <a:rPr lang="en-US" altLang="en-US" sz="2000" kern="1200" dirty="0">
                <a:solidFill>
                  <a:srgbClr val="000000"/>
                </a:solidFill>
                <a:latin typeface="Consolas" panose="020B0609020204030204" pitchFamily="49" charset="0"/>
                <a:ea typeface="+mn-ea"/>
                <a:cs typeface="Consolas" panose="020B0609020204030204" pitchFamily="49" charset="0"/>
              </a:rPr>
              <a:t>delete []</a:t>
            </a:r>
            <a:r>
              <a:rPr lang="en-US" altLang="en-US" sz="2000" kern="1200" dirty="0">
                <a:solidFill>
                  <a:srgbClr val="000000"/>
                </a:solidFill>
                <a:latin typeface="Arial (Body)"/>
                <a:ea typeface="+mn-ea"/>
                <a:cs typeface="+mn-cs"/>
              </a:rPr>
              <a:t> (line 52) to release the memory, copies the </a:t>
            </a:r>
            <a:r>
              <a:rPr lang="en-US" altLang="en-US" sz="2000" kern="1200" dirty="0">
                <a:solidFill>
                  <a:srgbClr val="000000"/>
                </a:solidFill>
                <a:latin typeface="Consolas" panose="020B0609020204030204" pitchFamily="49" charset="0"/>
                <a:ea typeface="+mn-ea"/>
                <a:cs typeface="Consolas" panose="020B0609020204030204" pitchFamily="49" charset="0"/>
              </a:rPr>
              <a:t>size</a:t>
            </a:r>
            <a:r>
              <a:rPr lang="en-US" altLang="en-US" sz="2000" kern="1200" dirty="0">
                <a:solidFill>
                  <a:srgbClr val="000000"/>
                </a:solidFill>
                <a:latin typeface="Arial (Body)"/>
                <a:ea typeface="+mn-ea"/>
                <a:cs typeface="+mn-cs"/>
              </a:rPr>
              <a:t> of the source array to the </a:t>
            </a:r>
            <a:r>
              <a:rPr lang="en-US" altLang="en-US" sz="2000" kern="1200" dirty="0">
                <a:solidFill>
                  <a:srgbClr val="000000"/>
                </a:solidFill>
                <a:latin typeface="Consolas" panose="020B0609020204030204" pitchFamily="49" charset="0"/>
                <a:ea typeface="+mn-ea"/>
                <a:cs typeface="Consolas" panose="020B0609020204030204" pitchFamily="49" charset="0"/>
              </a:rPr>
              <a:t>size</a:t>
            </a:r>
            <a:r>
              <a:rPr lang="en-US" altLang="en-US" sz="2000" kern="1200" dirty="0">
                <a:solidFill>
                  <a:srgbClr val="000000"/>
                </a:solidFill>
                <a:latin typeface="Arial (Body)"/>
                <a:ea typeface="+mn-ea"/>
                <a:cs typeface="+mn-cs"/>
              </a:rPr>
              <a:t> of the target </a:t>
            </a:r>
            <a:r>
              <a:rPr lang="en-US" altLang="en-US" sz="2000" kern="1200" dirty="0">
                <a:solidFill>
                  <a:srgbClr val="000000"/>
                </a:solidFill>
                <a:latin typeface="Consolas" panose="020B0609020204030204" pitchFamily="49" charset="0"/>
                <a:ea typeface="+mn-ea"/>
                <a:cs typeface="Consolas" panose="020B0609020204030204" pitchFamily="49" charset="0"/>
              </a:rPr>
              <a:t>Array</a:t>
            </a:r>
            <a:r>
              <a:rPr lang="en-US" altLang="en-US" sz="2000" kern="1200" dirty="0">
                <a:solidFill>
                  <a:srgbClr val="000000"/>
                </a:solidFill>
                <a:latin typeface="Arial (Body)"/>
                <a:ea typeface="+mn-ea"/>
                <a:cs typeface="+mn-cs"/>
              </a:rPr>
              <a:t> (line 53), uses new to allocate memory for the target Array and places the pointer returned by </a:t>
            </a:r>
            <a:r>
              <a:rPr lang="en-US" altLang="en-US" sz="2000" kern="1200" dirty="0">
                <a:solidFill>
                  <a:srgbClr val="000000"/>
                </a:solidFill>
                <a:latin typeface="Consolas" panose="020B0609020204030204" pitchFamily="49" charset="0"/>
                <a:ea typeface="+mn-ea"/>
                <a:cs typeface="Consolas" panose="020B0609020204030204" pitchFamily="49" charset="0"/>
              </a:rPr>
              <a:t>new</a:t>
            </a:r>
            <a:r>
              <a:rPr lang="en-US" altLang="en-US" sz="2000" kern="1200" dirty="0">
                <a:solidFill>
                  <a:srgbClr val="000000"/>
                </a:solidFill>
                <a:latin typeface="Arial (Body)"/>
                <a:ea typeface="+mn-ea"/>
                <a:cs typeface="+mn-cs"/>
              </a:rPr>
              <a:t> into the </a:t>
            </a:r>
            <a:r>
              <a:rPr lang="en-US" altLang="en-US" sz="2000" kern="1200" dirty="0">
                <a:solidFill>
                  <a:srgbClr val="000000"/>
                </a:solidFill>
                <a:latin typeface="Consolas" panose="020B0609020204030204" pitchFamily="49" charset="0"/>
                <a:ea typeface="+mn-ea"/>
                <a:cs typeface="Consolas" panose="020B0609020204030204" pitchFamily="49" charset="0"/>
              </a:rPr>
              <a:t>Array</a:t>
            </a:r>
            <a:r>
              <a:rPr lang="en-US" altLang="en-US" sz="2000" kern="1200" dirty="0">
                <a:solidFill>
                  <a:srgbClr val="000000"/>
                </a:solidFill>
                <a:latin typeface="Arial (Body)"/>
                <a:ea typeface="+mn-ea"/>
                <a:cs typeface="+mn-cs"/>
              </a:rPr>
              <a:t>’s </a:t>
            </a:r>
            <a:r>
              <a:rPr lang="en-US" altLang="en-US" sz="2000" kern="1200" dirty="0">
                <a:solidFill>
                  <a:srgbClr val="000000"/>
                </a:solidFill>
                <a:latin typeface="Consolas" panose="020B0609020204030204" pitchFamily="49" charset="0"/>
                <a:ea typeface="+mn-ea"/>
                <a:cs typeface="Consolas" panose="020B0609020204030204" pitchFamily="49" charset="0"/>
              </a:rPr>
              <a:t>ptr</a:t>
            </a:r>
            <a:r>
              <a:rPr lang="en-US" altLang="en-US" sz="2000" kern="1200" dirty="0">
                <a:solidFill>
                  <a:srgbClr val="000000"/>
                </a:solidFill>
                <a:latin typeface="Arial (Body)"/>
                <a:ea typeface="+mn-ea"/>
                <a:cs typeface="+mn-cs"/>
              </a:rPr>
              <a:t> member.</a:t>
            </a:r>
          </a:p>
          <a:p>
            <a:pPr marL="255651" indent="-255651" eaLnBrk="1" hangingPunct="1">
              <a:tabLst/>
              <a:defRPr/>
            </a:pPr>
            <a:r>
              <a:rPr lang="en-US" altLang="en-US" sz="2000" kern="1200" dirty="0">
                <a:solidFill>
                  <a:srgbClr val="000000"/>
                </a:solidFill>
                <a:latin typeface="Arial (Body)"/>
                <a:ea typeface="+mn-ea"/>
                <a:cs typeface="+mn-cs"/>
              </a:rPr>
              <a:t>Regardless of whether this is a self-assignment, the member function returns the current </a:t>
            </a:r>
            <a:r>
              <a:rPr lang="en-US" altLang="en-US" sz="2000" kern="1200" dirty="0" smtClean="0">
                <a:solidFill>
                  <a:srgbClr val="000000"/>
                </a:solidFill>
                <a:latin typeface="Arial (Body)"/>
                <a:ea typeface="+mn-ea"/>
                <a:cs typeface="+mn-cs"/>
              </a:rPr>
              <a:t>object</a:t>
            </a:r>
            <a:endParaRPr lang="en-US" altLang="en-US" sz="2000" kern="1200" dirty="0">
              <a:solidFill>
                <a:srgbClr val="000000"/>
              </a:solidFill>
              <a:latin typeface="Arial (Body)"/>
              <a:ea typeface="+mn-ea"/>
              <a:cs typeface="+mn-cs"/>
            </a:endParaRPr>
          </a:p>
        </p:txBody>
      </p:sp>
      <p:graphicFrame>
        <p:nvGraphicFramePr>
          <p:cNvPr id="5" name="Object 4" descr="For example, asterisk this in line 61."/>
          <p:cNvGraphicFramePr>
            <a:graphicFrameLocks noChangeAspect="1"/>
          </p:cNvGraphicFramePr>
          <p:nvPr>
            <p:extLst>
              <p:ext uri="{D42A27DB-BD31-4B8C-83A1-F6EECF244321}">
                <p14:modId xmlns:p14="http://schemas.microsoft.com/office/powerpoint/2010/main" val="1656083210"/>
              </p:ext>
            </p:extLst>
          </p:nvPr>
        </p:nvGraphicFramePr>
        <p:xfrm>
          <a:off x="3709690" y="4510716"/>
          <a:ext cx="2434312" cy="347762"/>
        </p:xfrm>
        <a:graphic>
          <a:graphicData uri="http://schemas.openxmlformats.org/presentationml/2006/ole">
            <mc:AlternateContent xmlns:mc="http://schemas.openxmlformats.org/markup-compatibility/2006">
              <mc:Choice xmlns:v="urn:schemas-microsoft-com:vml" Requires="v">
                <p:oleObj spid="_x0000_s39030" name="Equation" r:id="rId3" imgW="1422360" imgH="203040" progId="Equation.DSMT4">
                  <p:embed/>
                </p:oleObj>
              </mc:Choice>
              <mc:Fallback>
                <p:oleObj name="Equation" r:id="rId3" imgW="1422360" imgH="203040" progId="Equation.DSMT4">
                  <p:embed/>
                  <p:pic>
                    <p:nvPicPr>
                      <p:cNvPr id="0" name=""/>
                      <p:cNvPicPr/>
                      <p:nvPr/>
                    </p:nvPicPr>
                    <p:blipFill>
                      <a:blip r:embed="rId4"/>
                      <a:stretch>
                        <a:fillRect/>
                      </a:stretch>
                    </p:blipFill>
                    <p:spPr>
                      <a:xfrm>
                        <a:off x="3709690" y="4510716"/>
                        <a:ext cx="2434312" cy="347762"/>
                      </a:xfrm>
                      <a:prstGeom prst="rect">
                        <a:avLst/>
                      </a:prstGeom>
                    </p:spPr>
                  </p:pic>
                </p:oleObj>
              </mc:Fallback>
            </mc:AlternateContent>
          </a:graphicData>
        </a:graphic>
      </p:graphicFrame>
      <p:sp>
        <p:nvSpPr>
          <p:cNvPr id="4" name="Text Placeholder 3"/>
          <p:cNvSpPr>
            <a:spLocks noGrp="1"/>
          </p:cNvSpPr>
          <p:nvPr>
            <p:ph type="body" idx="2"/>
          </p:nvPr>
        </p:nvSpPr>
        <p:spPr>
          <a:xfrm>
            <a:off x="457200" y="4414476"/>
            <a:ext cx="8229600" cy="1338624"/>
          </a:xfrm>
        </p:spPr>
        <p:txBody>
          <a:bodyPr/>
          <a:lstStyle/>
          <a:p>
            <a:pPr marL="228600" indent="5435600">
              <a:buNone/>
            </a:pPr>
            <a:r>
              <a:rPr lang="en-US" altLang="en-US" sz="2000" kern="1200" dirty="0">
                <a:solidFill>
                  <a:srgbClr val="000000"/>
                </a:solidFill>
                <a:latin typeface="+mn-lt"/>
              </a:rPr>
              <a:t>as a constant reference; this enables cascaded </a:t>
            </a:r>
            <a:r>
              <a:rPr lang="en-US" altLang="en-US" sz="2000" kern="1200" dirty="0">
                <a:solidFill>
                  <a:srgbClr val="000000"/>
                </a:solidFill>
                <a:latin typeface="+mn-lt"/>
                <a:cs typeface="Consolas" panose="020B0609020204030204" pitchFamily="49" charset="0"/>
              </a:rPr>
              <a:t>Array</a:t>
            </a:r>
            <a:r>
              <a:rPr lang="en-US" altLang="en-US" sz="2000" kern="1200" dirty="0">
                <a:solidFill>
                  <a:srgbClr val="000000"/>
                </a:solidFill>
                <a:latin typeface="+mn-lt"/>
              </a:rPr>
              <a:t> assignments such as </a:t>
            </a:r>
            <a:r>
              <a:rPr lang="en-US" altLang="en-US" sz="2000" kern="1200" dirty="0">
                <a:solidFill>
                  <a:srgbClr val="000000"/>
                </a:solidFill>
                <a:latin typeface="+mn-lt"/>
                <a:cs typeface="Consolas" panose="020B0609020204030204" pitchFamily="49" charset="0"/>
              </a:rPr>
              <a:t>x = y = z</a:t>
            </a:r>
            <a:r>
              <a:rPr lang="en-US" altLang="en-US" sz="2000" kern="1200" dirty="0">
                <a:solidFill>
                  <a:srgbClr val="000000"/>
                </a:solidFill>
                <a:latin typeface="+mn-lt"/>
              </a:rPr>
              <a:t>, but prevents ones like </a:t>
            </a:r>
            <a:r>
              <a:rPr lang="en-US" altLang="en-US" sz="2000" kern="1200" dirty="0">
                <a:solidFill>
                  <a:srgbClr val="000000"/>
                </a:solidFill>
                <a:latin typeface="+mn-lt"/>
                <a:cs typeface="Consolas" panose="020B0609020204030204" pitchFamily="49" charset="0"/>
              </a:rPr>
              <a:t>(x = y) = z</a:t>
            </a:r>
            <a:r>
              <a:rPr lang="en-US" altLang="en-US" sz="2000" kern="1200" dirty="0">
                <a:solidFill>
                  <a:srgbClr val="000000"/>
                </a:solidFill>
                <a:latin typeface="+mn-lt"/>
              </a:rPr>
              <a:t> because </a:t>
            </a:r>
            <a:r>
              <a:rPr lang="en-US" altLang="en-US" sz="2000" kern="1200" dirty="0">
                <a:solidFill>
                  <a:srgbClr val="000000"/>
                </a:solidFill>
                <a:latin typeface="+mn-lt"/>
                <a:cs typeface="Consolas" panose="020B0609020204030204" pitchFamily="49" charset="0"/>
              </a:rPr>
              <a:t>z</a:t>
            </a:r>
            <a:r>
              <a:rPr lang="en-US" altLang="en-US" sz="2000" kern="1200" dirty="0">
                <a:solidFill>
                  <a:srgbClr val="000000"/>
                </a:solidFill>
                <a:latin typeface="+mn-lt"/>
              </a:rPr>
              <a:t> cannot be assigned to the </a:t>
            </a:r>
            <a:r>
              <a:rPr lang="en-US" altLang="en-US" sz="2000" kern="1200" dirty="0">
                <a:solidFill>
                  <a:srgbClr val="000000"/>
                </a:solidFill>
                <a:latin typeface="+mn-lt"/>
                <a:cs typeface="Consolas" panose="020B0609020204030204" pitchFamily="49" charset="0"/>
              </a:rPr>
              <a:t>const Array-</a:t>
            </a:r>
            <a:r>
              <a:rPr lang="en-US" altLang="en-US" sz="2000" kern="1200" dirty="0">
                <a:solidFill>
                  <a:srgbClr val="000000"/>
                </a:solidFill>
                <a:latin typeface="+mn-lt"/>
              </a:rPr>
              <a:t> reference that is returned by </a:t>
            </a:r>
            <a:r>
              <a:rPr lang="en-US" altLang="en-US" sz="2000" kern="1200" dirty="0">
                <a:solidFill>
                  <a:srgbClr val="000000"/>
                </a:solidFill>
                <a:latin typeface="+mn-lt"/>
                <a:cs typeface="Consolas" panose="020B0609020204030204" pitchFamily="49" charset="0"/>
              </a:rPr>
              <a:t>(x = y)</a:t>
            </a:r>
            <a:r>
              <a:rPr lang="en-US" altLang="en-US" sz="2000" kern="1200" dirty="0">
                <a:solidFill>
                  <a:srgbClr val="000000"/>
                </a:solidFill>
                <a:latin typeface="+mn-lt"/>
              </a:rPr>
              <a:t>.</a:t>
            </a:r>
            <a:endParaRPr lang="en-US" sz="2000" dirty="0">
              <a:latin typeface="+mn-lt"/>
            </a:endParaRP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Observation </a:t>
            </a:r>
            <a:r>
              <a:rPr lang="en-US" dirty="0" smtClean="0"/>
              <a:t>18.4</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A copy constructor, a destructor and an overloaded assignment operator are </a:t>
            </a:r>
            <a:r>
              <a:rPr lang="en-US" sz="2400" dirty="0" smtClean="0">
                <a:latin typeface="+mn-lt"/>
              </a:rPr>
              <a:t>usually provided </a:t>
            </a:r>
            <a:r>
              <a:rPr lang="en-US" sz="2400" dirty="0">
                <a:latin typeface="+mn-lt"/>
              </a:rPr>
              <a:t>as a group for any class that uses dynamically allocated memory. With </a:t>
            </a:r>
            <a:r>
              <a:rPr lang="en-US" sz="2400" dirty="0" smtClean="0">
                <a:latin typeface="+mn-lt"/>
              </a:rPr>
              <a:t>the addition </a:t>
            </a:r>
            <a:r>
              <a:rPr lang="en-US" sz="2400" dirty="0">
                <a:latin typeface="+mn-lt"/>
              </a:rPr>
              <a:t>of move semantics in C++11, other functions should also be provided, as </a:t>
            </a:r>
            <a:r>
              <a:rPr lang="en-US" sz="2400" dirty="0" smtClean="0">
                <a:latin typeface="+mn-lt"/>
              </a:rPr>
              <a:t>we discuss </a:t>
            </a:r>
            <a:r>
              <a:rPr lang="en-US" sz="2400" dirty="0">
                <a:latin typeface="+mn-lt"/>
              </a:rPr>
              <a:t>in Chapter </a:t>
            </a:r>
            <a:r>
              <a:rPr lang="en-US" sz="2400" dirty="0" smtClean="0">
                <a:latin typeface="+mn-lt"/>
              </a:rPr>
              <a:t>24.</a:t>
            </a:r>
            <a:endParaRPr lang="en-US" sz="2400" dirty="0">
              <a:latin typeface="+mn-lt"/>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Programming Error </a:t>
            </a:r>
            <a:r>
              <a:rPr lang="en-US" dirty="0" smtClean="0"/>
              <a:t>18.5</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Not providing a copy constructor and overloaded assignment operator for a class when </a:t>
            </a:r>
            <a:r>
              <a:rPr lang="en-US" sz="2400" dirty="0" smtClean="0">
                <a:latin typeface="+mn-lt"/>
              </a:rPr>
              <a:t>objects of </a:t>
            </a:r>
            <a:r>
              <a:rPr lang="en-US" sz="2400" dirty="0">
                <a:latin typeface="+mn-lt"/>
              </a:rPr>
              <a:t>that class contain pointers to dynamically allocated memory is a potential logic error.</a:t>
            </a: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smtClean="0">
                <a:latin typeface="Consolas" panose="020B0609020204030204" pitchFamily="49" charset="0"/>
                <a:ea typeface="+mj-ea"/>
                <a:cs typeface="Consolas" panose="020B0609020204030204" pitchFamily="49" charset="0"/>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(15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808705"/>
          </a:xfrm>
        </p:spPr>
        <p:txBody>
          <a:bodyPr>
            <a:spAutoFit/>
          </a:bodyPr>
          <a:lstStyle/>
          <a:p>
            <a:pPr marL="0" indent="0" eaLnBrk="1" hangingPunct="1">
              <a:buNone/>
              <a:tabLst/>
              <a:defRPr/>
            </a:pPr>
            <a:r>
              <a:rPr lang="en-US" sz="2200" b="1" kern="1200" dirty="0">
                <a:solidFill>
                  <a:srgbClr val="000000"/>
                </a:solidFill>
                <a:latin typeface="Arial (Body)"/>
                <a:ea typeface="+mn-ea"/>
                <a:cs typeface="+mn-cs"/>
              </a:rPr>
              <a:t>C++11: Deleting Unwanted Member Functions from Your Class</a:t>
            </a:r>
          </a:p>
          <a:p>
            <a:pPr marL="255651" indent="-255651" eaLnBrk="1" hangingPunct="1">
              <a:tabLst/>
              <a:defRPr/>
            </a:pPr>
            <a:r>
              <a:rPr lang="en-US" sz="2200" kern="1200" dirty="0">
                <a:solidFill>
                  <a:srgbClr val="000000"/>
                </a:solidFill>
                <a:latin typeface="Arial (Body)"/>
                <a:ea typeface="+mn-ea"/>
                <a:cs typeface="+mn-cs"/>
              </a:rPr>
              <a:t>Prior to C++11, you could prevent class objects from being </a:t>
            </a:r>
            <a:r>
              <a:rPr lang="en-US" sz="2200" b="1" kern="1200" dirty="0">
                <a:solidFill>
                  <a:srgbClr val="000000"/>
                </a:solidFill>
                <a:latin typeface="Arial (Body)"/>
                <a:ea typeface="+mn-ea"/>
                <a:cs typeface="+mn-cs"/>
              </a:rPr>
              <a:t>copied</a:t>
            </a:r>
            <a:r>
              <a:rPr lang="en-US" sz="2200" kern="1200" dirty="0">
                <a:solidFill>
                  <a:srgbClr val="000000"/>
                </a:solidFill>
                <a:latin typeface="Arial (Body)"/>
                <a:ea typeface="+mn-ea"/>
                <a:cs typeface="+mn-cs"/>
              </a:rPr>
              <a:t> or </a:t>
            </a:r>
            <a:r>
              <a:rPr lang="en-US" sz="2200" b="1" kern="1200" dirty="0">
                <a:solidFill>
                  <a:srgbClr val="000000"/>
                </a:solidFill>
                <a:latin typeface="Arial (Body)"/>
                <a:ea typeface="+mn-ea"/>
                <a:cs typeface="+mn-cs"/>
              </a:rPr>
              <a:t>assigned </a:t>
            </a:r>
            <a:r>
              <a:rPr lang="en-US" sz="2200" kern="1200" dirty="0">
                <a:solidFill>
                  <a:srgbClr val="000000"/>
                </a:solidFill>
                <a:latin typeface="Arial (Body)"/>
                <a:ea typeface="+mn-ea"/>
                <a:cs typeface="+mn-cs"/>
              </a:rPr>
              <a:t>by declaring as </a:t>
            </a:r>
            <a:r>
              <a:rPr lang="en-US" sz="2200" kern="1200" dirty="0">
                <a:solidFill>
                  <a:srgbClr val="000000"/>
                </a:solidFill>
                <a:latin typeface="Consolas" panose="020B0609020204030204" pitchFamily="49" charset="0"/>
                <a:ea typeface="+mn-ea"/>
                <a:cs typeface="Consolas" panose="020B0609020204030204" pitchFamily="49" charset="0"/>
              </a:rPr>
              <a:t>private</a:t>
            </a:r>
            <a:r>
              <a:rPr lang="en-US" sz="2200" kern="1200" dirty="0">
                <a:solidFill>
                  <a:srgbClr val="000000"/>
                </a:solidFill>
                <a:latin typeface="Arial (Body)"/>
                <a:ea typeface="+mn-ea"/>
                <a:cs typeface="+mn-cs"/>
              </a:rPr>
              <a:t> the class’s copy constructor and overloaded assignment </a:t>
            </a:r>
            <a:r>
              <a:rPr lang="en-US" sz="2200" kern="1200" dirty="0" smtClean="0">
                <a:solidFill>
                  <a:srgbClr val="000000"/>
                </a:solidFill>
                <a:latin typeface="Arial (Body)"/>
                <a:ea typeface="+mn-ea"/>
                <a:cs typeface="+mn-cs"/>
              </a:rPr>
              <a:t>operator.</a:t>
            </a:r>
            <a:endParaRPr lang="en-US" sz="2200" kern="1200" dirty="0">
              <a:solidFill>
                <a:srgbClr val="000000"/>
              </a:solidFill>
              <a:latin typeface="Arial (Body)"/>
              <a:ea typeface="+mn-ea"/>
              <a:cs typeface="+mn-cs"/>
            </a:endParaRPr>
          </a:p>
          <a:p>
            <a:pPr marL="255651" indent="-255651" eaLnBrk="1" hangingPunct="1">
              <a:tabLst/>
              <a:defRPr/>
            </a:pPr>
            <a:r>
              <a:rPr lang="en-US" sz="2200" kern="1200" dirty="0">
                <a:solidFill>
                  <a:srgbClr val="000000"/>
                </a:solidFill>
                <a:latin typeface="Arial (Body)"/>
                <a:ea typeface="+mn-ea"/>
                <a:cs typeface="+mn-cs"/>
              </a:rPr>
              <a:t>As of C++11, you can simply </a:t>
            </a:r>
            <a:r>
              <a:rPr lang="en-US" sz="2200" b="1" kern="1200" dirty="0">
                <a:solidFill>
                  <a:srgbClr val="000000"/>
                </a:solidFill>
                <a:latin typeface="Arial (Body)"/>
                <a:ea typeface="+mn-ea"/>
                <a:cs typeface="+mn-cs"/>
              </a:rPr>
              <a:t>delete</a:t>
            </a:r>
            <a:r>
              <a:rPr lang="en-US" sz="2200" kern="1200" dirty="0">
                <a:solidFill>
                  <a:srgbClr val="000000"/>
                </a:solidFill>
                <a:latin typeface="Arial (Body)"/>
                <a:ea typeface="+mn-ea"/>
                <a:cs typeface="+mn-cs"/>
              </a:rPr>
              <a:t> these functions from your </a:t>
            </a:r>
            <a:r>
              <a:rPr lang="en-US" sz="2200" kern="1200" dirty="0" smtClean="0">
                <a:solidFill>
                  <a:srgbClr val="000000"/>
                </a:solidFill>
                <a:latin typeface="Arial (Body)"/>
                <a:ea typeface="+mn-ea"/>
                <a:cs typeface="+mn-cs"/>
              </a:rPr>
              <a:t>class.</a:t>
            </a:r>
          </a:p>
          <a:p>
            <a:pPr marL="255651" indent="-255651" eaLnBrk="1" hangingPunct="1">
              <a:tabLst/>
              <a:defRPr/>
            </a:pPr>
            <a:r>
              <a:rPr lang="en-US" sz="2200" kern="1200" dirty="0">
                <a:solidFill>
                  <a:srgbClr val="000000"/>
                </a:solidFill>
                <a:latin typeface="Arial (Body)"/>
              </a:rPr>
              <a:t>To do so in class </a:t>
            </a:r>
            <a:r>
              <a:rPr lang="en-US" sz="2200" kern="1200" dirty="0">
                <a:solidFill>
                  <a:srgbClr val="000000"/>
                </a:solidFill>
                <a:latin typeface="Consolas" panose="020B0609020204030204" pitchFamily="49" charset="0"/>
                <a:cs typeface="Consolas" panose="020B0609020204030204" pitchFamily="49" charset="0"/>
              </a:rPr>
              <a:t>Array</a:t>
            </a:r>
            <a:r>
              <a:rPr lang="en-US" sz="2200" kern="1200" dirty="0">
                <a:solidFill>
                  <a:srgbClr val="000000"/>
                </a:solidFill>
                <a:latin typeface="Arial (Body)"/>
              </a:rPr>
              <a:t>, replace the prototypes in lines 15 and 19 of Figure </a:t>
            </a:r>
            <a:r>
              <a:rPr lang="en-US" sz="2200" kern="1200" dirty="0" smtClean="0">
                <a:solidFill>
                  <a:srgbClr val="000000"/>
                </a:solidFill>
                <a:latin typeface="Arial (Body)"/>
              </a:rPr>
              <a:t>18.10 </a:t>
            </a:r>
            <a:r>
              <a:rPr lang="en-US" sz="2200" kern="1200" dirty="0">
                <a:solidFill>
                  <a:srgbClr val="000000"/>
                </a:solidFill>
                <a:latin typeface="Arial (Body)"/>
              </a:rPr>
              <a:t>(see </a:t>
            </a:r>
            <a:r>
              <a:rPr lang="en-US" sz="2200" kern="1200" dirty="0" smtClean="0">
                <a:solidFill>
                  <a:srgbClr val="000000"/>
                </a:solidFill>
                <a:latin typeface="Arial (Body)"/>
              </a:rPr>
              <a:t>slide 91) </a:t>
            </a:r>
            <a:r>
              <a:rPr lang="en-US" sz="2200" kern="1200" dirty="0">
                <a:solidFill>
                  <a:srgbClr val="000000"/>
                </a:solidFill>
                <a:latin typeface="Arial (Body)"/>
              </a:rPr>
              <a:t>with:</a:t>
            </a:r>
            <a:endParaRPr lang="en-US" sz="2200" kern="1200" dirty="0">
              <a:solidFill>
                <a:srgbClr val="000000"/>
              </a:solidFill>
              <a:latin typeface="Arial (Body)"/>
              <a:ea typeface="+mn-ea"/>
              <a:cs typeface="+mn-cs"/>
            </a:endParaRPr>
          </a:p>
        </p:txBody>
      </p:sp>
      <p:pic>
        <p:nvPicPr>
          <p:cNvPr id="4" name="Picture 3" descr="The computer code has 2 lines. The lines read as follows. Line 1. Array left parenthesis c o n s t Array ampersand right parenthesis equals delete semicolon. Line 2. c o n s t Array ampersand operator equals left parenthesis c o n s t Array ampersand right parenthesis equals delete semicolon."/>
          <p:cNvPicPr>
            <a:picLocks noChangeAspect="1"/>
          </p:cNvPicPr>
          <p:nvPr/>
        </p:nvPicPr>
        <p:blipFill>
          <a:blip r:embed="rId2"/>
          <a:stretch>
            <a:fillRect/>
          </a:stretch>
        </p:blipFill>
        <p:spPr>
          <a:xfrm>
            <a:off x="1200612" y="5472913"/>
            <a:ext cx="6925656" cy="585267"/>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smtClean="0">
                <a:latin typeface="Consolas" panose="020B0609020204030204" pitchFamily="49" charset="0"/>
                <a:ea typeface="+mj-ea"/>
                <a:cs typeface="Consolas" panose="020B0609020204030204" pitchFamily="49" charset="0"/>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(16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spAutoFit/>
          </a:bodyPr>
          <a:lstStyle/>
          <a:p>
            <a:pPr marL="255651" indent="-255651" eaLnBrk="1" hangingPunct="1">
              <a:tabLst/>
              <a:defRPr/>
            </a:pPr>
            <a:r>
              <a:rPr lang="en-US" sz="2400" kern="1200" dirty="0">
                <a:solidFill>
                  <a:srgbClr val="000000"/>
                </a:solidFill>
                <a:latin typeface="Arial (Body)"/>
              </a:rPr>
              <a:t>Though you can delete any member function, it’s most commonly used with member functions that the compiler can auto-generate—the default constructor, copy constructor, assignment operator, and in C++ 11, the move constructor and move assignment operator.</a:t>
            </a:r>
            <a:endParaRPr lang="en-US" sz="2400" kern="1200" dirty="0" smtClean="0">
              <a:solidFill>
                <a:srgbClr val="000000"/>
              </a:solidFill>
              <a:latin typeface="Arial (Body)"/>
              <a:ea typeface="+mn-ea"/>
              <a:cs typeface="+mn-cs"/>
            </a:endParaRPr>
          </a:p>
        </p:txBody>
      </p:sp>
    </p:spTree>
    <p:extLst>
      <p:ext uri="{BB962C8B-B14F-4D97-AF65-F5344CB8AC3E}">
        <p14:creationId xmlns:p14="http://schemas.microsoft.com/office/powerpoint/2010/main" val="154620200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(17 of 26)</a:t>
            </a:r>
            <a:endParaRPr lang="en-US" altLang="en-US" sz="2000" b="0" kern="1200" dirty="0">
              <a:latin typeface="Times New Roman" panose="02020603050405020304" pitchFamily="18" charset="0"/>
              <a:ea typeface="+mj-ea"/>
              <a:cs typeface="+mj-cs"/>
            </a:endParaRPr>
          </a:p>
        </p:txBody>
      </p:sp>
      <p:sp>
        <p:nvSpPr>
          <p:cNvPr id="4" name="Text Placeholder 3"/>
          <p:cNvSpPr>
            <a:spLocks noGrp="1"/>
          </p:cNvSpPr>
          <p:nvPr>
            <p:ph type="body" idx="1"/>
          </p:nvPr>
        </p:nvSpPr>
        <p:spPr>
          <a:xfrm>
            <a:off x="457200" y="1600201"/>
            <a:ext cx="8229600" cy="1402306"/>
          </a:xfrm>
        </p:spPr>
        <p:txBody>
          <a:bodyPr/>
          <a:lstStyle/>
          <a:p>
            <a:pPr marL="0" indent="0" eaLnBrk="1" hangingPunct="1">
              <a:buNone/>
              <a:tabLst/>
              <a:defRPr/>
            </a:pPr>
            <a:r>
              <a:rPr lang="en-US" sz="2400" b="1" kern="1200" dirty="0">
                <a:solidFill>
                  <a:srgbClr val="000000"/>
                </a:solidFill>
                <a:latin typeface="Arial (Body)"/>
              </a:rPr>
              <a:t>Overloaded Equality and Inequality Operators</a:t>
            </a:r>
          </a:p>
          <a:p>
            <a:pPr marL="255651" indent="-255651" eaLnBrk="1" hangingPunct="1">
              <a:tabLst/>
              <a:defRPr/>
            </a:pPr>
            <a:r>
              <a:rPr lang="en-US" sz="2400" kern="1200" dirty="0">
                <a:solidFill>
                  <a:srgbClr val="000000"/>
                </a:solidFill>
                <a:latin typeface="Arial (Body)"/>
              </a:rPr>
              <a:t>Line 20 of Figure 18.10 (see slide </a:t>
            </a:r>
            <a:r>
              <a:rPr lang="en-US" sz="2400" kern="1200" dirty="0" smtClean="0">
                <a:solidFill>
                  <a:srgbClr val="000000"/>
                </a:solidFill>
                <a:latin typeface="Arial (Body)"/>
              </a:rPr>
              <a:t>91) </a:t>
            </a:r>
            <a:r>
              <a:rPr lang="en-US" sz="2400" kern="1200" dirty="0">
                <a:solidFill>
                  <a:srgbClr val="000000"/>
                </a:solidFill>
                <a:latin typeface="Arial (Body)"/>
              </a:rPr>
              <a:t>declares the overloaded equality operator</a:t>
            </a:r>
            <a:endParaRPr lang="en-US" sz="2400" dirty="0"/>
          </a:p>
        </p:txBody>
      </p:sp>
      <p:graphicFrame>
        <p:nvGraphicFramePr>
          <p:cNvPr id="9" name="Object 8" descr="Left parenthesis = = right parenthesis."/>
          <p:cNvGraphicFramePr>
            <a:graphicFrameLocks noChangeAspect="1"/>
          </p:cNvGraphicFramePr>
          <p:nvPr>
            <p:extLst>
              <p:ext uri="{D42A27DB-BD31-4B8C-83A1-F6EECF244321}">
                <p14:modId xmlns:p14="http://schemas.microsoft.com/office/powerpoint/2010/main" val="2170056941"/>
              </p:ext>
            </p:extLst>
          </p:nvPr>
        </p:nvGraphicFramePr>
        <p:xfrm>
          <a:off x="4728740" y="2612634"/>
          <a:ext cx="778341" cy="459022"/>
        </p:xfrm>
        <a:graphic>
          <a:graphicData uri="http://schemas.openxmlformats.org/presentationml/2006/ole">
            <mc:AlternateContent xmlns:mc="http://schemas.openxmlformats.org/markup-compatibility/2006">
              <mc:Choice xmlns:v="urn:schemas-microsoft-com:vml" Requires="v">
                <p:oleObj spid="_x0000_s40270" name="Equation" r:id="rId3" imgW="342720" imgH="203040" progId="Equation.DSMT4">
                  <p:embed/>
                </p:oleObj>
              </mc:Choice>
              <mc:Fallback>
                <p:oleObj name="Equation" r:id="rId3" imgW="342720" imgH="203040" progId="Equation.DSMT4">
                  <p:embed/>
                  <p:pic>
                    <p:nvPicPr>
                      <p:cNvPr id="0" name=""/>
                      <p:cNvPicPr/>
                      <p:nvPr/>
                    </p:nvPicPr>
                    <p:blipFill>
                      <a:blip r:embed="rId4"/>
                      <a:stretch>
                        <a:fillRect/>
                      </a:stretch>
                    </p:blipFill>
                    <p:spPr>
                      <a:xfrm>
                        <a:off x="4728740" y="2612634"/>
                        <a:ext cx="778341" cy="459022"/>
                      </a:xfrm>
                      <a:prstGeom prst="rect">
                        <a:avLst/>
                      </a:prstGeom>
                    </p:spPr>
                  </p:pic>
                </p:oleObj>
              </mc:Fallback>
            </mc:AlternateContent>
          </a:graphicData>
        </a:graphic>
      </p:graphicFrame>
      <p:sp>
        <p:nvSpPr>
          <p:cNvPr id="6" name="Content Placeholder 5"/>
          <p:cNvSpPr>
            <a:spLocks noGrp="1"/>
          </p:cNvSpPr>
          <p:nvPr>
            <p:ph sz="quarter" idx="13"/>
          </p:nvPr>
        </p:nvSpPr>
        <p:spPr>
          <a:xfrm>
            <a:off x="463550" y="2540152"/>
            <a:ext cx="8229600" cy="558800"/>
          </a:xfrm>
        </p:spPr>
        <p:txBody>
          <a:bodyPr/>
          <a:lstStyle/>
          <a:p>
            <a:pPr marL="0" indent="4967288" eaLnBrk="1" hangingPunct="1">
              <a:tabLst/>
              <a:defRPr/>
            </a:pPr>
            <a:r>
              <a:rPr lang="en-US" sz="2400" kern="1200" dirty="0">
                <a:latin typeface="+mn-lt"/>
              </a:rPr>
              <a:t>for the class.</a:t>
            </a:r>
          </a:p>
          <a:p>
            <a:pPr marL="256032" indent="-256032" eaLnBrk="1" hangingPunct="1">
              <a:spcBef>
                <a:spcPts val="1500"/>
              </a:spcBef>
              <a:buClr>
                <a:schemeClr val="tx2"/>
              </a:buClr>
              <a:buFont typeface="Arial" panose="020B0604020202020204" pitchFamily="34" charset="0"/>
              <a:buChar char="•"/>
              <a:tabLst/>
              <a:defRPr/>
            </a:pPr>
            <a:r>
              <a:rPr lang="en-US" sz="2400" kern="1200" dirty="0">
                <a:latin typeface="+mn-lt"/>
              </a:rPr>
              <a:t>When the compiler sees the expression </a:t>
            </a:r>
            <a:r>
              <a:rPr lang="en-US" sz="2400" kern="1200" dirty="0" smtClean="0">
                <a:latin typeface="Consolas" panose="020B0609020204030204" pitchFamily="49" charset="0"/>
                <a:cs typeface="Consolas" panose="020B0609020204030204" pitchFamily="49" charset="0"/>
              </a:rPr>
              <a:t>integers1</a:t>
            </a:r>
            <a:endParaRPr lang="en-US" sz="2400" dirty="0">
              <a:latin typeface="Consolas" panose="020B0609020204030204" pitchFamily="49" charset="0"/>
            </a:endParaRPr>
          </a:p>
        </p:txBody>
      </p:sp>
      <p:graphicFrame>
        <p:nvGraphicFramePr>
          <p:cNvPr id="10" name="Object 9" descr="Equals equals."/>
          <p:cNvGraphicFramePr>
            <a:graphicFrameLocks noChangeAspect="1"/>
          </p:cNvGraphicFramePr>
          <p:nvPr>
            <p:extLst>
              <p:ext uri="{D42A27DB-BD31-4B8C-83A1-F6EECF244321}">
                <p14:modId xmlns:p14="http://schemas.microsoft.com/office/powerpoint/2010/main" val="881180571"/>
              </p:ext>
            </p:extLst>
          </p:nvPr>
        </p:nvGraphicFramePr>
        <p:xfrm>
          <a:off x="7771563" y="3274013"/>
          <a:ext cx="533946" cy="282679"/>
        </p:xfrm>
        <a:graphic>
          <a:graphicData uri="http://schemas.openxmlformats.org/presentationml/2006/ole">
            <mc:AlternateContent xmlns:mc="http://schemas.openxmlformats.org/markup-compatibility/2006">
              <mc:Choice xmlns:v="urn:schemas-microsoft-com:vml" Requires="v">
                <p:oleObj spid="_x0000_s40271" name="Equation" r:id="rId5" imgW="215640" imgH="114120" progId="Equation.DSMT4">
                  <p:embed/>
                </p:oleObj>
              </mc:Choice>
              <mc:Fallback>
                <p:oleObj name="Equation" r:id="rId5" imgW="215640" imgH="114120" progId="Equation.DSMT4">
                  <p:embed/>
                  <p:pic>
                    <p:nvPicPr>
                      <p:cNvPr id="0" name=""/>
                      <p:cNvPicPr/>
                      <p:nvPr/>
                    </p:nvPicPr>
                    <p:blipFill>
                      <a:blip r:embed="rId6"/>
                      <a:stretch>
                        <a:fillRect/>
                      </a:stretch>
                    </p:blipFill>
                    <p:spPr>
                      <a:xfrm>
                        <a:off x="7771563" y="3274013"/>
                        <a:ext cx="533946" cy="282679"/>
                      </a:xfrm>
                      <a:prstGeom prst="rect">
                        <a:avLst/>
                      </a:prstGeom>
                    </p:spPr>
                  </p:pic>
                </p:oleObj>
              </mc:Fallback>
            </mc:AlternateContent>
          </a:graphicData>
        </a:graphic>
      </p:graphicFrame>
      <p:sp>
        <p:nvSpPr>
          <p:cNvPr id="7" name="Content Placeholder 6"/>
          <p:cNvSpPr>
            <a:spLocks noGrp="1"/>
          </p:cNvSpPr>
          <p:nvPr>
            <p:ph sz="quarter" idx="14"/>
          </p:nvPr>
        </p:nvSpPr>
        <p:spPr>
          <a:xfrm>
            <a:off x="454025" y="3474803"/>
            <a:ext cx="8232775" cy="861053"/>
          </a:xfrm>
        </p:spPr>
        <p:txBody>
          <a:bodyPr/>
          <a:lstStyle/>
          <a:p>
            <a:pPr marL="287338" indent="0"/>
            <a:r>
              <a:rPr lang="en-US" sz="2400" kern="1200" dirty="0">
                <a:latin typeface="Consolas" panose="020B0609020204030204" pitchFamily="49" charset="0"/>
                <a:cs typeface="Consolas" panose="020B0609020204030204" pitchFamily="49" charset="0"/>
              </a:rPr>
              <a:t>integers2</a:t>
            </a:r>
            <a:r>
              <a:rPr lang="en-US" sz="2400" kern="1200" dirty="0">
                <a:latin typeface="+mn-lt"/>
              </a:rPr>
              <a:t> in line 55 of </a:t>
            </a:r>
            <a:r>
              <a:rPr lang="en-US" sz="2400" kern="1200" dirty="0" smtClean="0">
                <a:latin typeface="+mn-lt"/>
              </a:rPr>
              <a:t>Figure 18.9 </a:t>
            </a:r>
            <a:r>
              <a:rPr lang="en-US" sz="2400" kern="1200" dirty="0">
                <a:latin typeface="+mn-lt"/>
              </a:rPr>
              <a:t>(see slide </a:t>
            </a:r>
            <a:r>
              <a:rPr lang="en-US" sz="2400" kern="1200" dirty="0" smtClean="0">
                <a:latin typeface="+mn-lt"/>
              </a:rPr>
              <a:t>81), </a:t>
            </a:r>
            <a:r>
              <a:rPr lang="en-US" sz="2400" kern="1200" dirty="0">
                <a:latin typeface="+mn-lt"/>
              </a:rPr>
              <a:t>the compiler invokes member function </a:t>
            </a:r>
            <a:r>
              <a:rPr lang="en-US" sz="2400" kern="1200" dirty="0" smtClean="0">
                <a:latin typeface="Consolas" panose="020B0609020204030204" pitchFamily="49" charset="0"/>
                <a:cs typeface="Consolas" panose="020B0609020204030204" pitchFamily="49" charset="0"/>
              </a:rPr>
              <a:t>operator</a:t>
            </a:r>
            <a:endParaRPr lang="en-US" sz="2400" dirty="0">
              <a:latin typeface="+mn-lt"/>
            </a:endParaRPr>
          </a:p>
        </p:txBody>
      </p:sp>
      <p:graphicFrame>
        <p:nvGraphicFramePr>
          <p:cNvPr id="11" name="Object 10" descr="Equals equals."/>
          <p:cNvGraphicFramePr>
            <a:graphicFrameLocks noChangeAspect="1"/>
          </p:cNvGraphicFramePr>
          <p:nvPr>
            <p:extLst>
              <p:ext uri="{D42A27DB-BD31-4B8C-83A1-F6EECF244321}">
                <p14:modId xmlns:p14="http://schemas.microsoft.com/office/powerpoint/2010/main" val="17959390"/>
              </p:ext>
            </p:extLst>
          </p:nvPr>
        </p:nvGraphicFramePr>
        <p:xfrm>
          <a:off x="6927676" y="4021416"/>
          <a:ext cx="533946" cy="282679"/>
        </p:xfrm>
        <a:graphic>
          <a:graphicData uri="http://schemas.openxmlformats.org/presentationml/2006/ole">
            <mc:AlternateContent xmlns:mc="http://schemas.openxmlformats.org/markup-compatibility/2006">
              <mc:Choice xmlns:v="urn:schemas-microsoft-com:vml" Requires="v">
                <p:oleObj spid="_x0000_s40272" name="Equation" r:id="rId7" imgW="215640" imgH="114120" progId="Equation.DSMT4">
                  <p:embed/>
                </p:oleObj>
              </mc:Choice>
              <mc:Fallback>
                <p:oleObj name="Equation" r:id="rId7" imgW="215640" imgH="114120" progId="Equation.DSMT4">
                  <p:embed/>
                  <p:pic>
                    <p:nvPicPr>
                      <p:cNvPr id="10" name="Object 9"/>
                      <p:cNvPicPr/>
                      <p:nvPr/>
                    </p:nvPicPr>
                    <p:blipFill>
                      <a:blip r:embed="rId6"/>
                      <a:stretch>
                        <a:fillRect/>
                      </a:stretch>
                    </p:blipFill>
                    <p:spPr>
                      <a:xfrm>
                        <a:off x="6927676" y="4021416"/>
                        <a:ext cx="533946" cy="282679"/>
                      </a:xfrm>
                      <a:prstGeom prst="rect">
                        <a:avLst/>
                      </a:prstGeom>
                    </p:spPr>
                  </p:pic>
                </p:oleObj>
              </mc:Fallback>
            </mc:AlternateContent>
          </a:graphicData>
        </a:graphic>
      </p:graphicFrame>
      <p:sp>
        <p:nvSpPr>
          <p:cNvPr id="8" name="Content Placeholder 7"/>
          <p:cNvSpPr>
            <a:spLocks noGrp="1"/>
          </p:cNvSpPr>
          <p:nvPr>
            <p:ph sz="quarter" idx="15"/>
          </p:nvPr>
        </p:nvSpPr>
        <p:spPr>
          <a:xfrm>
            <a:off x="454025" y="3830176"/>
            <a:ext cx="8229600" cy="1403633"/>
          </a:xfrm>
        </p:spPr>
        <p:txBody>
          <a:bodyPr/>
          <a:lstStyle/>
          <a:p>
            <a:pPr marL="287338" indent="6686550" eaLnBrk="1" hangingPunct="1">
              <a:tabLst/>
              <a:defRPr/>
            </a:pPr>
            <a:r>
              <a:rPr lang="en-US" sz="2400" kern="1200" dirty="0">
                <a:latin typeface="Arial (Body)"/>
              </a:rPr>
              <a:t>with the </a:t>
            </a:r>
            <a:r>
              <a:rPr lang="en-US" sz="2400" kern="1200" dirty="0" smtClean="0">
                <a:latin typeface="Arial (Body)"/>
              </a:rPr>
              <a:t>call</a:t>
            </a:r>
            <a:endParaRPr lang="en-US" sz="2400" kern="1200" dirty="0">
              <a:latin typeface="Arial (Body)"/>
            </a:endParaRPr>
          </a:p>
          <a:p>
            <a:pPr marL="740664" indent="-283464" eaLnBrk="1" hangingPunct="1">
              <a:spcBef>
                <a:spcPts val="600"/>
              </a:spcBef>
              <a:buClr>
                <a:schemeClr val="tx2"/>
              </a:buClr>
              <a:buFontTx/>
              <a:buChar char="–"/>
              <a:tabLst/>
              <a:defRPr/>
            </a:pPr>
            <a:r>
              <a:rPr lang="en-US" sz="2400" kern="1200" dirty="0" smtClean="0">
                <a:latin typeface="Arial (Body)"/>
              </a:rPr>
              <a:t> </a:t>
            </a:r>
          </a:p>
        </p:txBody>
      </p:sp>
      <p:pic>
        <p:nvPicPr>
          <p:cNvPr id="12" name="Picture 11" descr="The computer reads as follows. integers 1 period operator equals equals left parenthesis integers 2 right parenthesis."/>
          <p:cNvPicPr>
            <a:picLocks noChangeAspect="1"/>
          </p:cNvPicPr>
          <p:nvPr/>
        </p:nvPicPr>
        <p:blipFill rotWithShape="1">
          <a:blip r:embed="rId8"/>
          <a:srcRect l="9374" b="18521"/>
          <a:stretch/>
        </p:blipFill>
        <p:spPr>
          <a:xfrm>
            <a:off x="1274772" y="4695038"/>
            <a:ext cx="4660596" cy="435697"/>
          </a:xfrm>
          <a:prstGeom prst="rect">
            <a:avLst/>
          </a:prstGeom>
        </p:spPr>
      </p:pic>
    </p:spTree>
    <p:extLst>
      <p:ext uri="{BB962C8B-B14F-4D97-AF65-F5344CB8AC3E}">
        <p14:creationId xmlns:p14="http://schemas.microsoft.com/office/powerpoint/2010/main" val="3008984862"/>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(18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1"/>
            <a:ext cx="8229600" cy="553968"/>
          </a:xfrm>
        </p:spPr>
        <p:txBody>
          <a:bodyPr>
            <a:spAutoFit/>
          </a:bodyPr>
          <a:lstStyle/>
          <a:p>
            <a:pPr marL="255651" indent="-255651" eaLnBrk="1" hangingPunct="1">
              <a:tabLst/>
              <a:defRPr/>
            </a:pPr>
            <a:r>
              <a:rPr lang="en-US" sz="2400" kern="1200" dirty="0" smtClean="0">
                <a:solidFill>
                  <a:srgbClr val="000000"/>
                </a:solidFill>
                <a:latin typeface="Arial (Body)"/>
                <a:ea typeface="+mn-ea"/>
                <a:cs typeface="+mn-cs"/>
              </a:rPr>
              <a:t>Member </a:t>
            </a:r>
            <a:r>
              <a:rPr lang="en-US" sz="2400" kern="1200" dirty="0">
                <a:solidFill>
                  <a:srgbClr val="000000"/>
                </a:solidFill>
                <a:latin typeface="Arial (Body)"/>
                <a:ea typeface="+mn-ea"/>
                <a:cs typeface="+mn-cs"/>
              </a:rPr>
              <a:t>function </a:t>
            </a:r>
            <a:r>
              <a:rPr lang="en-US" sz="2400" kern="1200" dirty="0" smtClean="0">
                <a:solidFill>
                  <a:srgbClr val="000000"/>
                </a:solidFill>
                <a:latin typeface="Consolas" panose="020B0609020204030204" pitchFamily="49" charset="0"/>
                <a:ea typeface="+mn-ea"/>
                <a:cs typeface="Consolas" panose="020B0609020204030204" pitchFamily="49" charset="0"/>
              </a:rPr>
              <a:t>operator</a:t>
            </a:r>
            <a:endParaRPr lang="en-US" sz="2400" kern="1200" dirty="0">
              <a:solidFill>
                <a:srgbClr val="000000"/>
              </a:solidFill>
              <a:latin typeface="Arial (Body)"/>
              <a:ea typeface="+mn-ea"/>
              <a:cs typeface="+mn-cs"/>
            </a:endParaRPr>
          </a:p>
        </p:txBody>
      </p:sp>
      <p:graphicFrame>
        <p:nvGraphicFramePr>
          <p:cNvPr id="6" name="Object 5" descr="Equals equals."/>
          <p:cNvGraphicFramePr>
            <a:graphicFrameLocks noChangeAspect="1"/>
          </p:cNvGraphicFramePr>
          <p:nvPr>
            <p:extLst>
              <p:ext uri="{D42A27DB-BD31-4B8C-83A1-F6EECF244321}">
                <p14:modId xmlns:p14="http://schemas.microsoft.com/office/powerpoint/2010/main" val="2431684434"/>
              </p:ext>
            </p:extLst>
          </p:nvPr>
        </p:nvGraphicFramePr>
        <p:xfrm>
          <a:off x="4503761" y="1798556"/>
          <a:ext cx="450851" cy="238686"/>
        </p:xfrm>
        <a:graphic>
          <a:graphicData uri="http://schemas.openxmlformats.org/presentationml/2006/ole">
            <mc:AlternateContent xmlns:mc="http://schemas.openxmlformats.org/markup-compatibility/2006">
              <mc:Choice xmlns:v="urn:schemas-microsoft-com:vml" Requires="v">
                <p:oleObj spid="_x0000_s41174" name="Equation" r:id="rId3" imgW="215640" imgH="114120" progId="Equation.DSMT4">
                  <p:embed/>
                </p:oleObj>
              </mc:Choice>
              <mc:Fallback>
                <p:oleObj name="Equation" r:id="rId3" imgW="215640" imgH="114120" progId="Equation.DSMT4">
                  <p:embed/>
                  <p:pic>
                    <p:nvPicPr>
                      <p:cNvPr id="0" name=""/>
                      <p:cNvPicPr/>
                      <p:nvPr/>
                    </p:nvPicPr>
                    <p:blipFill>
                      <a:blip r:embed="rId4"/>
                      <a:stretch>
                        <a:fillRect/>
                      </a:stretch>
                    </p:blipFill>
                    <p:spPr>
                      <a:xfrm>
                        <a:off x="4503761" y="1798556"/>
                        <a:ext cx="450851" cy="238686"/>
                      </a:xfrm>
                      <a:prstGeom prst="rect">
                        <a:avLst/>
                      </a:prstGeom>
                    </p:spPr>
                  </p:pic>
                </p:oleObj>
              </mc:Fallback>
            </mc:AlternateContent>
          </a:graphicData>
        </a:graphic>
      </p:graphicFrame>
      <p:sp>
        <p:nvSpPr>
          <p:cNvPr id="4" name="Content Placeholder 3"/>
          <p:cNvSpPr>
            <a:spLocks noGrp="1"/>
          </p:cNvSpPr>
          <p:nvPr>
            <p:ph sz="quarter" idx="13"/>
          </p:nvPr>
        </p:nvSpPr>
        <p:spPr>
          <a:xfrm>
            <a:off x="457200" y="1600201"/>
            <a:ext cx="8229600" cy="3272050"/>
          </a:xfrm>
        </p:spPr>
        <p:txBody>
          <a:bodyPr/>
          <a:lstStyle/>
          <a:p>
            <a:pPr marL="287338" indent="4106863" eaLnBrk="1" hangingPunct="1">
              <a:tabLst/>
              <a:defRPr/>
            </a:pPr>
            <a:r>
              <a:rPr lang="en-US" sz="2400" kern="1200" dirty="0">
                <a:latin typeface="+mn-lt"/>
              </a:rPr>
              <a:t>(defined in Figure </a:t>
            </a:r>
            <a:r>
              <a:rPr lang="en-US" sz="2400" kern="1200" dirty="0" smtClean="0">
                <a:latin typeface="+mn-lt"/>
              </a:rPr>
              <a:t>18.11 </a:t>
            </a:r>
            <a:r>
              <a:rPr lang="en-US" sz="2400" kern="1200" dirty="0"/>
              <a:t>(see slide 96)</a:t>
            </a:r>
            <a:r>
              <a:rPr lang="en-US" sz="2400" kern="1200" dirty="0" smtClean="0">
                <a:latin typeface="+mn-lt"/>
              </a:rPr>
              <a:t>, </a:t>
            </a:r>
            <a:r>
              <a:rPr lang="en-US" sz="2400" kern="1200" dirty="0">
                <a:latin typeface="+mn-lt"/>
              </a:rPr>
              <a:t>lines 66–76) </a:t>
            </a:r>
            <a:r>
              <a:rPr lang="en-US" sz="2400" kern="1200" dirty="0" smtClean="0">
                <a:latin typeface="+mn-lt"/>
              </a:rPr>
              <a:t>immediately </a:t>
            </a:r>
            <a:r>
              <a:rPr lang="en-US" sz="2400" kern="1200" dirty="0">
                <a:latin typeface="+mn-lt"/>
              </a:rPr>
              <a:t>returns </a:t>
            </a:r>
            <a:r>
              <a:rPr lang="en-US" sz="2400" kern="1200" dirty="0">
                <a:latin typeface="+mn-lt"/>
                <a:cs typeface="Consolas" panose="020B0609020204030204" pitchFamily="49" charset="0"/>
              </a:rPr>
              <a:t>false</a:t>
            </a:r>
            <a:r>
              <a:rPr lang="en-US" sz="2400" kern="1200" dirty="0">
                <a:latin typeface="+mn-lt"/>
              </a:rPr>
              <a:t> if the </a:t>
            </a:r>
            <a:r>
              <a:rPr lang="en-US" sz="2400" kern="1200" dirty="0">
                <a:latin typeface="+mn-lt"/>
                <a:cs typeface="Consolas" panose="020B0609020204030204" pitchFamily="49" charset="0"/>
              </a:rPr>
              <a:t>size</a:t>
            </a:r>
            <a:r>
              <a:rPr lang="en-US" sz="2400" kern="1200" dirty="0">
                <a:latin typeface="+mn-lt"/>
              </a:rPr>
              <a:t> members of the </a:t>
            </a:r>
            <a:r>
              <a:rPr lang="en-US" sz="2400" kern="1200" dirty="0">
                <a:latin typeface="+mn-lt"/>
                <a:cs typeface="Consolas" panose="020B0609020204030204" pitchFamily="49" charset="0"/>
              </a:rPr>
              <a:t>Array</a:t>
            </a:r>
            <a:r>
              <a:rPr lang="en-US" sz="2400" kern="1200" dirty="0">
                <a:latin typeface="+mn-lt"/>
              </a:rPr>
              <a:t>s are not equal.</a:t>
            </a:r>
          </a:p>
          <a:p>
            <a:pPr marL="256032" indent="-256032" eaLnBrk="1" hangingPunct="1">
              <a:spcBef>
                <a:spcPts val="1500"/>
              </a:spcBef>
              <a:buClr>
                <a:schemeClr val="tx2"/>
              </a:buClr>
              <a:buFont typeface="Arial" panose="020B0604020202020204" pitchFamily="34" charset="0"/>
              <a:buChar char="•"/>
              <a:tabLst/>
              <a:defRPr/>
            </a:pPr>
            <a:r>
              <a:rPr lang="en-US" sz="2400" kern="1200" dirty="0">
                <a:latin typeface="+mn-lt"/>
              </a:rPr>
              <a:t>Otherwise, </a:t>
            </a:r>
            <a:r>
              <a:rPr lang="en-US" sz="2400" kern="1200" dirty="0">
                <a:latin typeface="Consolas" panose="020B0609020204030204" pitchFamily="49" charset="0"/>
                <a:cs typeface="Consolas" panose="020B0609020204030204" pitchFamily="49" charset="0"/>
              </a:rPr>
              <a:t>operator</a:t>
            </a:r>
            <a:endParaRPr lang="en-US" sz="2400" dirty="0">
              <a:latin typeface="Consolas" panose="020B0609020204030204" pitchFamily="49" charset="0"/>
            </a:endParaRPr>
          </a:p>
        </p:txBody>
      </p:sp>
      <p:graphicFrame>
        <p:nvGraphicFramePr>
          <p:cNvPr id="7" name="Object 6" descr="Equals equals."/>
          <p:cNvGraphicFramePr>
            <a:graphicFrameLocks noChangeAspect="1"/>
          </p:cNvGraphicFramePr>
          <p:nvPr>
            <p:extLst>
              <p:ext uri="{D42A27DB-BD31-4B8C-83A1-F6EECF244321}">
                <p14:modId xmlns:p14="http://schemas.microsoft.com/office/powerpoint/2010/main" val="1475747531"/>
              </p:ext>
            </p:extLst>
          </p:nvPr>
        </p:nvGraphicFramePr>
        <p:xfrm>
          <a:off x="3691483" y="3091292"/>
          <a:ext cx="450851" cy="238686"/>
        </p:xfrm>
        <a:graphic>
          <a:graphicData uri="http://schemas.openxmlformats.org/presentationml/2006/ole">
            <mc:AlternateContent xmlns:mc="http://schemas.openxmlformats.org/markup-compatibility/2006">
              <mc:Choice xmlns:v="urn:schemas-microsoft-com:vml" Requires="v">
                <p:oleObj spid="_x0000_s41175" name="Equation" r:id="rId5" imgW="215640" imgH="114120" progId="Equation.DSMT4">
                  <p:embed/>
                </p:oleObj>
              </mc:Choice>
              <mc:Fallback>
                <p:oleObj name="Equation" r:id="rId5" imgW="215640" imgH="114120" progId="Equation.DSMT4">
                  <p:embed/>
                  <p:pic>
                    <p:nvPicPr>
                      <p:cNvPr id="0" name=""/>
                      <p:cNvPicPr/>
                      <p:nvPr/>
                    </p:nvPicPr>
                    <p:blipFill>
                      <a:blip r:embed="rId6"/>
                      <a:stretch>
                        <a:fillRect/>
                      </a:stretch>
                    </p:blipFill>
                    <p:spPr>
                      <a:xfrm>
                        <a:off x="3691483" y="3091292"/>
                        <a:ext cx="450851" cy="238686"/>
                      </a:xfrm>
                      <a:prstGeom prst="rect">
                        <a:avLst/>
                      </a:prstGeom>
                    </p:spPr>
                  </p:pic>
                </p:oleObj>
              </mc:Fallback>
            </mc:AlternateContent>
          </a:graphicData>
        </a:graphic>
      </p:graphicFrame>
      <p:sp>
        <p:nvSpPr>
          <p:cNvPr id="5" name="Content Placeholder 4"/>
          <p:cNvSpPr>
            <a:spLocks noGrp="1"/>
          </p:cNvSpPr>
          <p:nvPr>
            <p:ph sz="quarter" idx="14"/>
          </p:nvPr>
        </p:nvSpPr>
        <p:spPr>
          <a:xfrm>
            <a:off x="457200" y="2892187"/>
            <a:ext cx="8232775" cy="1980064"/>
          </a:xfrm>
        </p:spPr>
        <p:txBody>
          <a:bodyPr/>
          <a:lstStyle/>
          <a:p>
            <a:pPr marL="0" indent="3603625" eaLnBrk="1" hangingPunct="1">
              <a:tabLst/>
              <a:defRPr/>
            </a:pPr>
            <a:r>
              <a:rPr lang="en-US" sz="2400" kern="1200" dirty="0" smtClean="0">
                <a:latin typeface="+mn-lt"/>
              </a:rPr>
              <a:t>compares </a:t>
            </a:r>
            <a:r>
              <a:rPr lang="en-US" sz="2400" kern="1200" dirty="0">
                <a:latin typeface="+mn-lt"/>
              </a:rPr>
              <a:t>each pair of elements.</a:t>
            </a:r>
          </a:p>
          <a:p>
            <a:pPr marL="256032" indent="-256032" eaLnBrk="1" hangingPunct="1">
              <a:spcBef>
                <a:spcPts val="1500"/>
              </a:spcBef>
              <a:buClr>
                <a:schemeClr val="tx2"/>
              </a:buClr>
              <a:buFont typeface="Arial" panose="020B0604020202020204" pitchFamily="34" charset="0"/>
              <a:buChar char="•"/>
              <a:tabLst/>
              <a:defRPr/>
            </a:pPr>
            <a:r>
              <a:rPr lang="en-US" sz="2400" kern="1200" dirty="0">
                <a:latin typeface="+mn-lt"/>
              </a:rPr>
              <a:t>If they’re all equal, the function returns </a:t>
            </a:r>
            <a:r>
              <a:rPr lang="en-US" sz="2400" kern="1200" dirty="0">
                <a:latin typeface="Consolas" panose="020B0609020204030204" pitchFamily="49" charset="0"/>
                <a:cs typeface="Consolas" panose="020B0609020204030204" pitchFamily="49" charset="0"/>
              </a:rPr>
              <a:t>true</a:t>
            </a:r>
            <a:r>
              <a:rPr lang="en-US" sz="2400" kern="1200" dirty="0">
                <a:latin typeface="+mn-lt"/>
              </a:rPr>
              <a:t>.</a:t>
            </a:r>
          </a:p>
          <a:p>
            <a:pPr marL="256032" indent="-256032" eaLnBrk="1" hangingPunct="1">
              <a:spcBef>
                <a:spcPts val="1500"/>
              </a:spcBef>
              <a:buClr>
                <a:schemeClr val="tx2"/>
              </a:buClr>
              <a:buFont typeface="Arial" panose="020B0604020202020204" pitchFamily="34" charset="0"/>
              <a:buChar char="•"/>
              <a:tabLst/>
              <a:defRPr/>
            </a:pPr>
            <a:r>
              <a:rPr lang="en-US" sz="2400" kern="1200" dirty="0">
                <a:latin typeface="+mn-lt"/>
              </a:rPr>
              <a:t>The first pair of elements to differ causes the function to return </a:t>
            </a:r>
            <a:r>
              <a:rPr lang="en-US" sz="2400" kern="1200" dirty="0">
                <a:latin typeface="Consolas" panose="020B0609020204030204" pitchFamily="49" charset="0"/>
                <a:cs typeface="Consolas" panose="020B0609020204030204" pitchFamily="49" charset="0"/>
              </a:rPr>
              <a:t>false</a:t>
            </a:r>
            <a:r>
              <a:rPr lang="en-US" sz="2400" kern="1200" dirty="0">
                <a:latin typeface="+mn-lt"/>
              </a:rPr>
              <a:t> immediately.</a:t>
            </a:r>
            <a:endParaRPr lang="en-US" sz="2400" dirty="0">
              <a:latin typeface="+mn-lt"/>
            </a:endParaRPr>
          </a:p>
        </p:txBody>
      </p:sp>
    </p:spTree>
    <p:extLst>
      <p:ext uri="{BB962C8B-B14F-4D97-AF65-F5344CB8AC3E}">
        <p14:creationId xmlns:p14="http://schemas.microsoft.com/office/powerpoint/2010/main" val="973609706"/>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(19 of 26)</a:t>
            </a:r>
            <a:endParaRPr lang="en-US" altLang="en-US" sz="2000" b="0" kern="1200" dirty="0">
              <a:latin typeface="Times New Roman" panose="02020603050405020304" pitchFamily="18" charset="0"/>
              <a:ea typeface="+mj-ea"/>
              <a:cs typeface="+mj-cs"/>
            </a:endParaRPr>
          </a:p>
        </p:txBody>
      </p:sp>
      <p:sp>
        <p:nvSpPr>
          <p:cNvPr id="4" name="Text Placeholder 3"/>
          <p:cNvSpPr>
            <a:spLocks noGrp="1"/>
          </p:cNvSpPr>
          <p:nvPr>
            <p:ph type="body" idx="1"/>
          </p:nvPr>
        </p:nvSpPr>
        <p:spPr/>
        <p:txBody>
          <a:bodyPr/>
          <a:lstStyle/>
          <a:p>
            <a:r>
              <a:rPr lang="en-US" altLang="en-US" sz="2000" dirty="0">
                <a:solidFill>
                  <a:srgbClr val="000000"/>
                </a:solidFill>
                <a:latin typeface="+mn-lt"/>
              </a:rPr>
              <a:t>Lines 23–26 Figure 18.9 (see </a:t>
            </a:r>
            <a:r>
              <a:rPr lang="en-US" altLang="en-US" sz="2000" dirty="0" smtClean="0">
                <a:solidFill>
                  <a:srgbClr val="000000"/>
                </a:solidFill>
                <a:latin typeface="+mn-lt"/>
              </a:rPr>
              <a:t>slides 79</a:t>
            </a:r>
            <a:r>
              <a:rPr lang="en-US" altLang="en-US" sz="2000" dirty="0">
                <a:solidFill>
                  <a:srgbClr val="000000"/>
                </a:solidFill>
                <a:latin typeface="+mn-lt"/>
              </a:rPr>
              <a:t>-</a:t>
            </a:r>
            <a:r>
              <a:rPr lang="en-US" altLang="en-US" sz="2000" dirty="0" smtClean="0">
                <a:solidFill>
                  <a:srgbClr val="000000"/>
                </a:solidFill>
                <a:latin typeface="+mn-lt"/>
              </a:rPr>
              <a:t>80) </a:t>
            </a:r>
            <a:r>
              <a:rPr lang="en-US" altLang="en-US" sz="2000" dirty="0">
                <a:solidFill>
                  <a:srgbClr val="000000"/>
                </a:solidFill>
                <a:latin typeface="+mn-lt"/>
              </a:rPr>
              <a:t>define the overloaded inequality operator</a:t>
            </a:r>
            <a:endParaRPr lang="en-US" sz="2000" dirty="0">
              <a:latin typeface="+mn-lt"/>
            </a:endParaRPr>
          </a:p>
        </p:txBody>
      </p:sp>
      <p:graphicFrame>
        <p:nvGraphicFramePr>
          <p:cNvPr id="11" name="Object 10" descr="Left parenthesis exclamation point equals right parenthesis for the class."/>
          <p:cNvGraphicFramePr>
            <a:graphicFrameLocks noChangeAspect="1"/>
          </p:cNvGraphicFramePr>
          <p:nvPr>
            <p:extLst>
              <p:ext uri="{D42A27DB-BD31-4B8C-83A1-F6EECF244321}">
                <p14:modId xmlns:p14="http://schemas.microsoft.com/office/powerpoint/2010/main" val="1987790440"/>
              </p:ext>
            </p:extLst>
          </p:nvPr>
        </p:nvGraphicFramePr>
        <p:xfrm>
          <a:off x="2952702" y="2004632"/>
          <a:ext cx="1982996" cy="337535"/>
        </p:xfrm>
        <a:graphic>
          <a:graphicData uri="http://schemas.openxmlformats.org/presentationml/2006/ole">
            <mc:AlternateContent xmlns:mc="http://schemas.openxmlformats.org/markup-compatibility/2006">
              <mc:Choice xmlns:v="urn:schemas-microsoft-com:vml" Requires="v">
                <p:oleObj spid="_x0000_s42591" name="Equation" r:id="rId3" imgW="1193760" imgH="203040" progId="Equation.DSMT4">
                  <p:embed/>
                </p:oleObj>
              </mc:Choice>
              <mc:Fallback>
                <p:oleObj name="Equation" r:id="rId3" imgW="1193760" imgH="203040" progId="Equation.DSMT4">
                  <p:embed/>
                  <p:pic>
                    <p:nvPicPr>
                      <p:cNvPr id="0" name=""/>
                      <p:cNvPicPr/>
                      <p:nvPr/>
                    </p:nvPicPr>
                    <p:blipFill>
                      <a:blip r:embed="rId4"/>
                      <a:stretch>
                        <a:fillRect/>
                      </a:stretch>
                    </p:blipFill>
                    <p:spPr>
                      <a:xfrm>
                        <a:off x="2952702" y="2004632"/>
                        <a:ext cx="1982996" cy="337535"/>
                      </a:xfrm>
                      <a:prstGeom prst="rect">
                        <a:avLst/>
                      </a:prstGeom>
                    </p:spPr>
                  </p:pic>
                </p:oleObj>
              </mc:Fallback>
            </mc:AlternateContent>
          </a:graphicData>
        </a:graphic>
      </p:graphicFrame>
      <p:sp>
        <p:nvSpPr>
          <p:cNvPr id="5" name="Content Placeholder 4"/>
          <p:cNvSpPr>
            <a:spLocks noGrp="1"/>
          </p:cNvSpPr>
          <p:nvPr>
            <p:ph sz="quarter" idx="13"/>
          </p:nvPr>
        </p:nvSpPr>
        <p:spPr>
          <a:xfrm>
            <a:off x="457200" y="2278063"/>
            <a:ext cx="3712187" cy="558800"/>
          </a:xfrm>
        </p:spPr>
        <p:txBody>
          <a:bodyPr/>
          <a:lstStyle/>
          <a:p>
            <a:pPr marL="256032" indent="-256032">
              <a:spcBef>
                <a:spcPts val="1500"/>
              </a:spcBef>
              <a:buClr>
                <a:schemeClr val="tx2"/>
              </a:buClr>
              <a:buFont typeface="Arial" panose="020B0604020202020204" pitchFamily="34" charset="0"/>
              <a:buChar char="•"/>
            </a:pPr>
            <a:r>
              <a:rPr lang="en-US" altLang="en-US" sz="2000" dirty="0">
                <a:latin typeface="+mn-lt"/>
              </a:rPr>
              <a:t>Member function </a:t>
            </a:r>
            <a:r>
              <a:rPr lang="en-US" altLang="en-US" sz="2000" dirty="0">
                <a:latin typeface="Consolas" panose="020B0609020204030204" pitchFamily="49" charset="0"/>
                <a:cs typeface="Consolas" panose="020B0609020204030204" pitchFamily="49" charset="0"/>
              </a:rPr>
              <a:t>operator</a:t>
            </a:r>
            <a:endParaRPr lang="en-US" sz="2000" dirty="0">
              <a:latin typeface="Consolas" panose="020B0609020204030204" pitchFamily="49" charset="0"/>
            </a:endParaRPr>
          </a:p>
        </p:txBody>
      </p:sp>
      <p:graphicFrame>
        <p:nvGraphicFramePr>
          <p:cNvPr id="12" name="Object 11" descr="exclamation point equals"/>
          <p:cNvGraphicFramePr>
            <a:graphicFrameLocks noChangeAspect="1"/>
          </p:cNvGraphicFramePr>
          <p:nvPr>
            <p:extLst>
              <p:ext uri="{D42A27DB-BD31-4B8C-83A1-F6EECF244321}">
                <p14:modId xmlns:p14="http://schemas.microsoft.com/office/powerpoint/2010/main" val="1953876405"/>
              </p:ext>
            </p:extLst>
          </p:nvPr>
        </p:nvGraphicFramePr>
        <p:xfrm>
          <a:off x="3896433" y="2367092"/>
          <a:ext cx="395786" cy="346310"/>
        </p:xfrm>
        <a:graphic>
          <a:graphicData uri="http://schemas.openxmlformats.org/presentationml/2006/ole">
            <mc:AlternateContent xmlns:mc="http://schemas.openxmlformats.org/markup-compatibility/2006">
              <mc:Choice xmlns:v="urn:schemas-microsoft-com:vml" Requires="v">
                <p:oleObj spid="_x0000_s42592" name="Equation" r:id="rId5" imgW="203040" imgH="177480" progId="Equation.DSMT4">
                  <p:embed/>
                </p:oleObj>
              </mc:Choice>
              <mc:Fallback>
                <p:oleObj name="Equation" r:id="rId5" imgW="203040" imgH="177480" progId="Equation.DSMT4">
                  <p:embed/>
                  <p:pic>
                    <p:nvPicPr>
                      <p:cNvPr id="0" name=""/>
                      <p:cNvPicPr/>
                      <p:nvPr/>
                    </p:nvPicPr>
                    <p:blipFill>
                      <a:blip r:embed="rId6"/>
                      <a:stretch>
                        <a:fillRect/>
                      </a:stretch>
                    </p:blipFill>
                    <p:spPr>
                      <a:xfrm>
                        <a:off x="3896433" y="2367092"/>
                        <a:ext cx="395786" cy="346310"/>
                      </a:xfrm>
                      <a:prstGeom prst="rect">
                        <a:avLst/>
                      </a:prstGeom>
                    </p:spPr>
                  </p:pic>
                </p:oleObj>
              </mc:Fallback>
            </mc:AlternateContent>
          </a:graphicData>
        </a:graphic>
      </p:graphicFrame>
      <p:sp>
        <p:nvSpPr>
          <p:cNvPr id="6" name="Content Placeholder 5"/>
          <p:cNvSpPr>
            <a:spLocks noGrp="1"/>
          </p:cNvSpPr>
          <p:nvPr>
            <p:ph sz="quarter" idx="14"/>
          </p:nvPr>
        </p:nvSpPr>
        <p:spPr>
          <a:xfrm>
            <a:off x="457199" y="2298701"/>
            <a:ext cx="8229601" cy="609600"/>
          </a:xfrm>
        </p:spPr>
        <p:txBody>
          <a:bodyPr/>
          <a:lstStyle/>
          <a:p>
            <a:pPr marL="0" indent="3767138"/>
            <a:r>
              <a:rPr lang="en-US" altLang="en-US" sz="2000" dirty="0">
                <a:latin typeface="+mn-lt"/>
              </a:rPr>
              <a:t>uses the overloaded </a:t>
            </a:r>
            <a:r>
              <a:rPr lang="en-US" altLang="en-US" sz="2000" dirty="0">
                <a:latin typeface="Consolas" panose="020B0609020204030204" pitchFamily="49" charset="0"/>
                <a:cs typeface="Consolas" panose="020B0609020204030204" pitchFamily="49" charset="0"/>
              </a:rPr>
              <a:t>operator</a:t>
            </a:r>
            <a:endParaRPr lang="en-US" sz="2000" dirty="0">
              <a:latin typeface="Consolas" panose="020B0609020204030204" pitchFamily="49" charset="0"/>
            </a:endParaRPr>
          </a:p>
        </p:txBody>
      </p:sp>
      <p:graphicFrame>
        <p:nvGraphicFramePr>
          <p:cNvPr id="13" name="Object 12" descr="Equals equals"/>
          <p:cNvGraphicFramePr>
            <a:graphicFrameLocks noChangeAspect="1"/>
          </p:cNvGraphicFramePr>
          <p:nvPr>
            <p:extLst>
              <p:ext uri="{D42A27DB-BD31-4B8C-83A1-F6EECF244321}">
                <p14:modId xmlns:p14="http://schemas.microsoft.com/office/powerpoint/2010/main" val="225948907"/>
              </p:ext>
            </p:extLst>
          </p:nvPr>
        </p:nvGraphicFramePr>
        <p:xfrm>
          <a:off x="7805899" y="2467875"/>
          <a:ext cx="424721" cy="224852"/>
        </p:xfrm>
        <a:graphic>
          <a:graphicData uri="http://schemas.openxmlformats.org/presentationml/2006/ole">
            <mc:AlternateContent xmlns:mc="http://schemas.openxmlformats.org/markup-compatibility/2006">
              <mc:Choice xmlns:v="urn:schemas-microsoft-com:vml" Requires="v">
                <p:oleObj spid="_x0000_s42593" name="Equation" r:id="rId7" imgW="215640" imgH="114120" progId="Equation.DSMT4">
                  <p:embed/>
                </p:oleObj>
              </mc:Choice>
              <mc:Fallback>
                <p:oleObj name="Equation" r:id="rId7" imgW="215640" imgH="114120" progId="Equation.DSMT4">
                  <p:embed/>
                  <p:pic>
                    <p:nvPicPr>
                      <p:cNvPr id="0" name=""/>
                      <p:cNvPicPr/>
                      <p:nvPr/>
                    </p:nvPicPr>
                    <p:blipFill>
                      <a:blip r:embed="rId8"/>
                      <a:stretch>
                        <a:fillRect/>
                      </a:stretch>
                    </p:blipFill>
                    <p:spPr>
                      <a:xfrm>
                        <a:off x="7805899" y="2467875"/>
                        <a:ext cx="424721" cy="224852"/>
                      </a:xfrm>
                      <a:prstGeom prst="rect">
                        <a:avLst/>
                      </a:prstGeom>
                    </p:spPr>
                  </p:pic>
                </p:oleObj>
              </mc:Fallback>
            </mc:AlternateContent>
          </a:graphicData>
        </a:graphic>
      </p:graphicFrame>
      <p:sp>
        <p:nvSpPr>
          <p:cNvPr id="7" name="Content Placeholder 6"/>
          <p:cNvSpPr>
            <a:spLocks noGrp="1"/>
          </p:cNvSpPr>
          <p:nvPr>
            <p:ph sz="quarter" idx="15"/>
          </p:nvPr>
        </p:nvSpPr>
        <p:spPr>
          <a:xfrm>
            <a:off x="457200" y="2586936"/>
            <a:ext cx="8229600" cy="550863"/>
          </a:xfrm>
        </p:spPr>
        <p:txBody>
          <a:bodyPr/>
          <a:lstStyle/>
          <a:p>
            <a:pPr marL="231775" indent="0" eaLnBrk="1" hangingPunct="1"/>
            <a:r>
              <a:rPr lang="en-US" altLang="en-US" sz="2000" dirty="0">
                <a:latin typeface="+mn-lt"/>
              </a:rPr>
              <a:t>function to deter-mine whether one </a:t>
            </a:r>
            <a:r>
              <a:rPr lang="en-US" altLang="en-US" sz="2000" dirty="0">
                <a:latin typeface="Consolas" panose="020B0609020204030204" pitchFamily="49" charset="0"/>
                <a:cs typeface="Consolas" panose="020B0609020204030204" pitchFamily="49" charset="0"/>
              </a:rPr>
              <a:t>Array</a:t>
            </a:r>
            <a:r>
              <a:rPr lang="en-US" altLang="en-US" sz="2000" dirty="0">
                <a:latin typeface="+mn-lt"/>
              </a:rPr>
              <a:t> is equal to another, then returns the opposite of that result.</a:t>
            </a:r>
          </a:p>
          <a:p>
            <a:pPr marL="256032" indent="-256032" eaLnBrk="1" hangingPunct="1">
              <a:spcBef>
                <a:spcPts val="1500"/>
              </a:spcBef>
              <a:buClr>
                <a:schemeClr val="tx2"/>
              </a:buClr>
              <a:buFont typeface="Arial" panose="020B0604020202020204" pitchFamily="34" charset="0"/>
              <a:buChar char="•"/>
            </a:pPr>
            <a:r>
              <a:rPr lang="en-US" altLang="en-US" sz="2000" dirty="0">
                <a:latin typeface="+mn-lt"/>
              </a:rPr>
              <a:t>Writing </a:t>
            </a:r>
            <a:r>
              <a:rPr lang="en-US" altLang="en-US" sz="2000" dirty="0">
                <a:latin typeface="Consolas" panose="020B0609020204030204" pitchFamily="49" charset="0"/>
                <a:cs typeface="Consolas" panose="020B0609020204030204" pitchFamily="49" charset="0"/>
              </a:rPr>
              <a:t>operator</a:t>
            </a:r>
            <a:endParaRPr lang="en-US" sz="2000" dirty="0">
              <a:latin typeface="Consolas" panose="020B0609020204030204" pitchFamily="49" charset="0"/>
            </a:endParaRPr>
          </a:p>
        </p:txBody>
      </p:sp>
      <p:graphicFrame>
        <p:nvGraphicFramePr>
          <p:cNvPr id="14" name="Object 13" descr="exclamation point equals"/>
          <p:cNvGraphicFramePr>
            <a:graphicFrameLocks noChangeAspect="1"/>
          </p:cNvGraphicFramePr>
          <p:nvPr>
            <p:extLst>
              <p:ext uri="{D42A27DB-BD31-4B8C-83A1-F6EECF244321}">
                <p14:modId xmlns:p14="http://schemas.microsoft.com/office/powerpoint/2010/main" val="2838926657"/>
              </p:ext>
            </p:extLst>
          </p:nvPr>
        </p:nvGraphicFramePr>
        <p:xfrm>
          <a:off x="2761630" y="3466154"/>
          <a:ext cx="395786" cy="346310"/>
        </p:xfrm>
        <a:graphic>
          <a:graphicData uri="http://schemas.openxmlformats.org/presentationml/2006/ole">
            <mc:AlternateContent xmlns:mc="http://schemas.openxmlformats.org/markup-compatibility/2006">
              <mc:Choice xmlns:v="urn:schemas-microsoft-com:vml" Requires="v">
                <p:oleObj spid="_x0000_s42594" name="Equation" r:id="rId9" imgW="203040" imgH="177480" progId="Equation.DSMT4">
                  <p:embed/>
                </p:oleObj>
              </mc:Choice>
              <mc:Fallback>
                <p:oleObj name="Equation" r:id="rId9" imgW="203040" imgH="177480" progId="Equation.DSMT4">
                  <p:embed/>
                  <p:pic>
                    <p:nvPicPr>
                      <p:cNvPr id="12" name="Object 11"/>
                      <p:cNvPicPr/>
                      <p:nvPr/>
                    </p:nvPicPr>
                    <p:blipFill>
                      <a:blip r:embed="rId6"/>
                      <a:stretch>
                        <a:fillRect/>
                      </a:stretch>
                    </p:blipFill>
                    <p:spPr>
                      <a:xfrm>
                        <a:off x="2761630" y="3466154"/>
                        <a:ext cx="395786" cy="346310"/>
                      </a:xfrm>
                      <a:prstGeom prst="rect">
                        <a:avLst/>
                      </a:prstGeom>
                    </p:spPr>
                  </p:pic>
                </p:oleObj>
              </mc:Fallback>
            </mc:AlternateContent>
          </a:graphicData>
        </a:graphic>
      </p:graphicFrame>
      <p:sp>
        <p:nvSpPr>
          <p:cNvPr id="8" name="Content Placeholder 7"/>
          <p:cNvSpPr>
            <a:spLocks noGrp="1"/>
          </p:cNvSpPr>
          <p:nvPr>
            <p:ph sz="quarter" idx="16"/>
          </p:nvPr>
        </p:nvSpPr>
        <p:spPr>
          <a:xfrm>
            <a:off x="460374" y="3396400"/>
            <a:ext cx="8226426" cy="652462"/>
          </a:xfrm>
        </p:spPr>
        <p:txBody>
          <a:bodyPr/>
          <a:lstStyle/>
          <a:p>
            <a:pPr marL="2633663" indent="0"/>
            <a:r>
              <a:rPr lang="en-US" altLang="en-US" sz="2000" dirty="0">
                <a:latin typeface="+mn-lt"/>
              </a:rPr>
              <a:t>in this manner enables you to reuse </a:t>
            </a:r>
            <a:r>
              <a:rPr lang="en-US" altLang="en-US" sz="2000" dirty="0">
                <a:latin typeface="Consolas" panose="020B0609020204030204" pitchFamily="49" charset="0"/>
                <a:cs typeface="Consolas" panose="020B0609020204030204" pitchFamily="49" charset="0"/>
              </a:rPr>
              <a:t>operator</a:t>
            </a:r>
            <a:endParaRPr lang="en-US" sz="2000" dirty="0">
              <a:latin typeface="Consolas" panose="020B0609020204030204" pitchFamily="49" charset="0"/>
            </a:endParaRPr>
          </a:p>
        </p:txBody>
      </p:sp>
      <p:graphicFrame>
        <p:nvGraphicFramePr>
          <p:cNvPr id="15" name="Object 14" descr="Equals equals"/>
          <p:cNvGraphicFramePr>
            <a:graphicFrameLocks noChangeAspect="1"/>
          </p:cNvGraphicFramePr>
          <p:nvPr>
            <p:extLst>
              <p:ext uri="{D42A27DB-BD31-4B8C-83A1-F6EECF244321}">
                <p14:modId xmlns:p14="http://schemas.microsoft.com/office/powerpoint/2010/main" val="1324528734"/>
              </p:ext>
            </p:extLst>
          </p:nvPr>
        </p:nvGraphicFramePr>
        <p:xfrm>
          <a:off x="8403208" y="3585359"/>
          <a:ext cx="474662" cy="273050"/>
        </p:xfrm>
        <a:graphic>
          <a:graphicData uri="http://schemas.openxmlformats.org/presentationml/2006/ole">
            <mc:AlternateContent xmlns:mc="http://schemas.openxmlformats.org/markup-compatibility/2006">
              <mc:Choice xmlns:v="urn:schemas-microsoft-com:vml" Requires="v">
                <p:oleObj spid="_x0000_s42595" name="Equation" r:id="rId10" imgW="241200" imgH="139680" progId="Equation.DSMT4">
                  <p:embed/>
                </p:oleObj>
              </mc:Choice>
              <mc:Fallback>
                <p:oleObj name="Equation" r:id="rId10" imgW="241200" imgH="139680" progId="Equation.DSMT4">
                  <p:embed/>
                  <p:pic>
                    <p:nvPicPr>
                      <p:cNvPr id="13" name="Object 12"/>
                      <p:cNvPicPr/>
                      <p:nvPr/>
                    </p:nvPicPr>
                    <p:blipFill>
                      <a:blip r:embed="rId11"/>
                      <a:stretch>
                        <a:fillRect/>
                      </a:stretch>
                    </p:blipFill>
                    <p:spPr>
                      <a:xfrm>
                        <a:off x="8403208" y="3585359"/>
                        <a:ext cx="474662" cy="273050"/>
                      </a:xfrm>
                      <a:prstGeom prst="rect">
                        <a:avLst/>
                      </a:prstGeom>
                    </p:spPr>
                  </p:pic>
                </p:oleObj>
              </mc:Fallback>
            </mc:AlternateContent>
          </a:graphicData>
        </a:graphic>
      </p:graphicFrame>
      <p:sp>
        <p:nvSpPr>
          <p:cNvPr id="9" name="Content Placeholder 8"/>
          <p:cNvSpPr>
            <a:spLocks noGrp="1"/>
          </p:cNvSpPr>
          <p:nvPr>
            <p:ph sz="quarter" idx="17"/>
          </p:nvPr>
        </p:nvSpPr>
        <p:spPr>
          <a:xfrm>
            <a:off x="457200" y="3747059"/>
            <a:ext cx="8229600" cy="1427502"/>
          </a:xfrm>
        </p:spPr>
        <p:txBody>
          <a:bodyPr/>
          <a:lstStyle/>
          <a:p>
            <a:pPr marL="287338" indent="0" eaLnBrk="1" hangingPunct="1"/>
            <a:r>
              <a:rPr lang="en-US" altLang="en-US" sz="2000" dirty="0">
                <a:latin typeface="+mn-lt"/>
              </a:rPr>
              <a:t>which </a:t>
            </a:r>
            <a:r>
              <a:rPr lang="en-US" altLang="en-US" sz="2000" b="1" dirty="0">
                <a:latin typeface="+mn-lt"/>
              </a:rPr>
              <a:t>reduces the amount of code that must be written in the class</a:t>
            </a:r>
            <a:r>
              <a:rPr lang="en-US" altLang="en-US" sz="2000" dirty="0">
                <a:latin typeface="+mn-lt"/>
              </a:rPr>
              <a:t>.</a:t>
            </a:r>
          </a:p>
          <a:p>
            <a:pPr marL="256032" indent="-256032" eaLnBrk="1" hangingPunct="1">
              <a:spcBef>
                <a:spcPts val="1500"/>
              </a:spcBef>
              <a:buClr>
                <a:schemeClr val="tx2"/>
              </a:buClr>
              <a:buFont typeface="Arial" panose="020B0604020202020204" pitchFamily="34" charset="0"/>
              <a:buChar char="•"/>
            </a:pPr>
            <a:r>
              <a:rPr lang="en-US" altLang="en-US" sz="2000" dirty="0">
                <a:latin typeface="+mn-lt"/>
              </a:rPr>
              <a:t>Also, the full function definition for </a:t>
            </a:r>
            <a:r>
              <a:rPr lang="en-US" altLang="en-US" sz="2000" dirty="0">
                <a:latin typeface="Consolas" panose="020B0609020204030204" pitchFamily="49" charset="0"/>
                <a:cs typeface="Consolas" panose="020B0609020204030204" pitchFamily="49" charset="0"/>
              </a:rPr>
              <a:t>operator</a:t>
            </a:r>
            <a:endParaRPr lang="en-US" sz="2000" dirty="0">
              <a:latin typeface="Consolas" panose="020B0609020204030204" pitchFamily="49" charset="0"/>
            </a:endParaRPr>
          </a:p>
        </p:txBody>
      </p:sp>
      <p:graphicFrame>
        <p:nvGraphicFramePr>
          <p:cNvPr id="16" name="Object 15" descr="Equals equals"/>
          <p:cNvGraphicFramePr>
            <a:graphicFrameLocks noChangeAspect="1"/>
          </p:cNvGraphicFramePr>
          <p:nvPr>
            <p:extLst>
              <p:ext uri="{D42A27DB-BD31-4B8C-83A1-F6EECF244321}">
                <p14:modId xmlns:p14="http://schemas.microsoft.com/office/powerpoint/2010/main" val="3122503159"/>
              </p:ext>
            </p:extLst>
          </p:nvPr>
        </p:nvGraphicFramePr>
        <p:xfrm>
          <a:off x="5809394" y="4619119"/>
          <a:ext cx="395786" cy="346310"/>
        </p:xfrm>
        <a:graphic>
          <a:graphicData uri="http://schemas.openxmlformats.org/presentationml/2006/ole">
            <mc:AlternateContent xmlns:mc="http://schemas.openxmlformats.org/markup-compatibility/2006">
              <mc:Choice xmlns:v="urn:schemas-microsoft-com:vml" Requires="v">
                <p:oleObj spid="_x0000_s42596" name="Equation" r:id="rId12" imgW="203040" imgH="177480" progId="Equation.DSMT4">
                  <p:embed/>
                </p:oleObj>
              </mc:Choice>
              <mc:Fallback>
                <p:oleObj name="Equation" r:id="rId12" imgW="203040" imgH="177480" progId="Equation.DSMT4">
                  <p:embed/>
                  <p:pic>
                    <p:nvPicPr>
                      <p:cNvPr id="12" name="Object 11"/>
                      <p:cNvPicPr/>
                      <p:nvPr/>
                    </p:nvPicPr>
                    <p:blipFill>
                      <a:blip r:embed="rId6"/>
                      <a:stretch>
                        <a:fillRect/>
                      </a:stretch>
                    </p:blipFill>
                    <p:spPr>
                      <a:xfrm>
                        <a:off x="5809394" y="4619119"/>
                        <a:ext cx="395786" cy="346310"/>
                      </a:xfrm>
                      <a:prstGeom prst="rect">
                        <a:avLst/>
                      </a:prstGeom>
                    </p:spPr>
                  </p:pic>
                </p:oleObj>
              </mc:Fallback>
            </mc:AlternateContent>
          </a:graphicData>
        </a:graphic>
      </p:graphicFrame>
      <p:sp>
        <p:nvSpPr>
          <p:cNvPr id="10" name="Content Placeholder 9"/>
          <p:cNvSpPr>
            <a:spLocks noGrp="1"/>
          </p:cNvSpPr>
          <p:nvPr>
            <p:ph sz="quarter" idx="18"/>
          </p:nvPr>
        </p:nvSpPr>
        <p:spPr>
          <a:xfrm>
            <a:off x="457199" y="4542835"/>
            <a:ext cx="8232775" cy="1240986"/>
          </a:xfrm>
        </p:spPr>
        <p:txBody>
          <a:bodyPr/>
          <a:lstStyle/>
          <a:p>
            <a:pPr marL="287338" indent="5430838" eaLnBrk="1" hangingPunct="1"/>
            <a:r>
              <a:rPr lang="en-US" altLang="en-US" sz="2000" dirty="0"/>
              <a:t>is in the </a:t>
            </a:r>
            <a:r>
              <a:rPr lang="en-US" altLang="en-US" sz="2000" dirty="0">
                <a:latin typeface="Consolas" panose="020B0609020204030204" pitchFamily="49" charset="0"/>
                <a:cs typeface="Consolas" panose="020B0609020204030204" pitchFamily="49" charset="0"/>
              </a:rPr>
              <a:t>Array</a:t>
            </a:r>
            <a:r>
              <a:rPr lang="en-US" altLang="en-US" sz="2000" dirty="0"/>
              <a:t> </a:t>
            </a:r>
            <a:r>
              <a:rPr lang="en-US" altLang="en-US" sz="2000" dirty="0">
                <a:latin typeface="+mn-lt"/>
              </a:rPr>
              <a:t>header.</a:t>
            </a:r>
          </a:p>
          <a:p>
            <a:pPr marL="740664" indent="-283464" eaLnBrk="1" hangingPunct="1">
              <a:spcBef>
                <a:spcPts val="600"/>
              </a:spcBef>
              <a:buClr>
                <a:schemeClr val="tx2"/>
              </a:buClr>
              <a:buFont typeface="Arial" panose="020B0604020202020204" pitchFamily="34" charset="0"/>
              <a:buChar char="–"/>
            </a:pPr>
            <a:r>
              <a:rPr lang="en-US" altLang="en-US" sz="2000" dirty="0">
                <a:latin typeface="+mn-lt"/>
              </a:rPr>
              <a:t>Allows the compiler to inline the definition.</a:t>
            </a:r>
            <a:endParaRPr lang="en-US" sz="2000" dirty="0">
              <a:latin typeface="+mn-lt"/>
            </a:endParaRPr>
          </a:p>
        </p:txBody>
      </p:sp>
    </p:spTree>
    <p:extLst>
      <p:ext uri="{BB962C8B-B14F-4D97-AF65-F5344CB8AC3E}">
        <p14:creationId xmlns:p14="http://schemas.microsoft.com/office/powerpoint/2010/main" val="1043648044"/>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(20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375904" cy="3108513"/>
          </a:xfrm>
        </p:spPr>
        <p:txBody>
          <a:bodyPr wrap="square">
            <a:spAutoFit/>
          </a:bodyPr>
          <a:lstStyle/>
          <a:p>
            <a:pPr marL="0" indent="0" eaLnBrk="1" hangingPunct="1">
              <a:buNone/>
              <a:tabLst/>
              <a:defRPr/>
            </a:pPr>
            <a:r>
              <a:rPr lang="en-US" sz="2000" b="1" kern="1200" dirty="0" smtClean="0">
                <a:solidFill>
                  <a:srgbClr val="000000"/>
                </a:solidFill>
                <a:latin typeface="Arial (Body)"/>
                <a:ea typeface="+mn-ea"/>
                <a:cs typeface="+mn-cs"/>
              </a:rPr>
              <a:t>Overloaded Subscript Operators</a:t>
            </a:r>
          </a:p>
          <a:p>
            <a:pPr marL="255651" indent="-255651" eaLnBrk="1" hangingPunct="1">
              <a:tabLst/>
              <a:defRPr/>
            </a:pPr>
            <a:r>
              <a:rPr lang="en-US" sz="2000" kern="1200" dirty="0" smtClean="0">
                <a:solidFill>
                  <a:srgbClr val="000000"/>
                </a:solidFill>
                <a:latin typeface="Arial (Body)"/>
                <a:ea typeface="+mn-ea"/>
                <a:cs typeface="+mn-cs"/>
              </a:rPr>
              <a:t>Lines 29 and 32 of Figure 18.10 (see slide 92) declare two overloaded subscript operators (defined in Figure 18.11 </a:t>
            </a:r>
            <a:r>
              <a:rPr lang="en-US" sz="2000" kern="1200" dirty="0">
                <a:solidFill>
                  <a:srgbClr val="000000"/>
                </a:solidFill>
                <a:latin typeface="Arial (Body)"/>
              </a:rPr>
              <a:t>(see slides 96-97</a:t>
            </a:r>
            <a:r>
              <a:rPr lang="en-US" sz="2000" kern="1200" dirty="0" smtClean="0">
                <a:solidFill>
                  <a:srgbClr val="000000"/>
                </a:solidFill>
                <a:latin typeface="Arial (Body)"/>
              </a:rPr>
              <a:t>) </a:t>
            </a:r>
            <a:r>
              <a:rPr lang="en-US" sz="2000" kern="1200" dirty="0" smtClean="0">
                <a:solidFill>
                  <a:srgbClr val="000000"/>
                </a:solidFill>
                <a:latin typeface="Arial (Body)"/>
                <a:ea typeface="+mn-ea"/>
                <a:cs typeface="+mn-cs"/>
              </a:rPr>
              <a:t>in lines 80–87 and 91–98).</a:t>
            </a:r>
          </a:p>
          <a:p>
            <a:pPr marL="255651" indent="-255651" eaLnBrk="1" hangingPunct="1">
              <a:tabLst/>
              <a:defRPr/>
            </a:pPr>
            <a:r>
              <a:rPr lang="en-US" sz="2000" kern="1200" dirty="0" smtClean="0">
                <a:solidFill>
                  <a:srgbClr val="000000"/>
                </a:solidFill>
                <a:latin typeface="Arial (Body)"/>
                <a:ea typeface="+mn-ea"/>
                <a:cs typeface="+mn-cs"/>
              </a:rPr>
              <a:t>When the compiler sees the expression </a:t>
            </a:r>
            <a:r>
              <a:rPr lang="en-US" sz="2000" kern="1200" dirty="0" smtClean="0">
                <a:solidFill>
                  <a:srgbClr val="000000"/>
                </a:solidFill>
                <a:latin typeface="Consolas" panose="020B0609020204030204" pitchFamily="49" charset="0"/>
                <a:ea typeface="+mn-ea"/>
                <a:cs typeface="Consolas" panose="020B0609020204030204" pitchFamily="49" charset="0"/>
              </a:rPr>
              <a:t>integers1[5]</a:t>
            </a:r>
            <a:r>
              <a:rPr lang="en-US" sz="2000" kern="1200" dirty="0" smtClean="0">
                <a:solidFill>
                  <a:srgbClr val="000000"/>
                </a:solidFill>
                <a:latin typeface="Arial (Body)"/>
                <a:ea typeface="+mn-ea"/>
                <a:cs typeface="+mn-cs"/>
              </a:rPr>
              <a:t> (Figure 18.9 </a:t>
            </a:r>
            <a:r>
              <a:rPr lang="en-US" sz="2000" kern="1200" dirty="0">
                <a:solidFill>
                  <a:srgbClr val="000000"/>
                </a:solidFill>
                <a:latin typeface="Arial (Body)"/>
              </a:rPr>
              <a:t>(see slides 81</a:t>
            </a:r>
            <a:r>
              <a:rPr lang="en-US" sz="2000" kern="1200" dirty="0" smtClean="0">
                <a:solidFill>
                  <a:srgbClr val="000000"/>
                </a:solidFill>
                <a:latin typeface="Arial (Body)"/>
              </a:rPr>
              <a:t>)</a:t>
            </a:r>
            <a:r>
              <a:rPr lang="en-US" sz="2000" kern="1200" dirty="0" smtClean="0">
                <a:solidFill>
                  <a:srgbClr val="000000"/>
                </a:solidFill>
                <a:latin typeface="Arial (Body)"/>
                <a:ea typeface="+mn-ea"/>
                <a:cs typeface="+mn-cs"/>
              </a:rPr>
              <a:t>, line 59), it invokes the appropriate overloaded </a:t>
            </a:r>
            <a:r>
              <a:rPr lang="en-US" sz="2000" kern="1200" dirty="0" smtClean="0">
                <a:solidFill>
                  <a:srgbClr val="000000"/>
                </a:solidFill>
                <a:latin typeface="Consolas" panose="020B0609020204030204" pitchFamily="49" charset="0"/>
                <a:ea typeface="+mn-ea"/>
                <a:cs typeface="Consolas" panose="020B0609020204030204" pitchFamily="49" charset="0"/>
              </a:rPr>
              <a:t>operator[]</a:t>
            </a:r>
            <a:r>
              <a:rPr lang="en-US" sz="2000" kern="1200" dirty="0" smtClean="0">
                <a:solidFill>
                  <a:srgbClr val="000000"/>
                </a:solidFill>
                <a:latin typeface="Arial (Body)"/>
                <a:ea typeface="+mn-ea"/>
                <a:cs typeface="+mn-cs"/>
              </a:rPr>
              <a:t> member function by generating the call</a:t>
            </a:r>
          </a:p>
          <a:p>
            <a:pPr marL="742569" lvl="1" eaLnBrk="1" hangingPunct="1">
              <a:defRPr/>
            </a:pPr>
            <a:r>
              <a:rPr lang="en-US" sz="2000" kern="1200" dirty="0">
                <a:solidFill>
                  <a:srgbClr val="000000"/>
                </a:solidFill>
                <a:latin typeface="Arial (Body)"/>
                <a:ea typeface="+mn-ea"/>
                <a:cs typeface="+mn-cs"/>
              </a:rPr>
              <a:t> </a:t>
            </a:r>
            <a:endParaRPr lang="en-US" sz="2000" kern="1200" dirty="0" smtClean="0">
              <a:solidFill>
                <a:srgbClr val="000000"/>
              </a:solidFill>
              <a:latin typeface="Arial (Body)"/>
              <a:ea typeface="+mn-ea"/>
              <a:cs typeface="+mn-cs"/>
            </a:endParaRPr>
          </a:p>
        </p:txBody>
      </p:sp>
      <p:pic>
        <p:nvPicPr>
          <p:cNvPr id="6" name="Picture 5" descr="The computer reads as follows. integers 1 period operator left bracket right bracket left parenthesis 5 right parenthesis."/>
          <p:cNvPicPr>
            <a:picLocks noChangeAspect="1"/>
          </p:cNvPicPr>
          <p:nvPr/>
        </p:nvPicPr>
        <p:blipFill rotWithShape="1">
          <a:blip r:embed="rId2"/>
          <a:srcRect l="8413" t="12504" b="17615"/>
          <a:stretch/>
        </p:blipFill>
        <p:spPr>
          <a:xfrm>
            <a:off x="1225296" y="4261104"/>
            <a:ext cx="3685206" cy="374904"/>
          </a:xfrm>
          <a:prstGeom prst="rect">
            <a:avLst/>
          </a:prstGeom>
        </p:spPr>
      </p:pic>
      <p:sp>
        <p:nvSpPr>
          <p:cNvPr id="5" name="Text Placeholder 4"/>
          <p:cNvSpPr>
            <a:spLocks noGrp="1"/>
          </p:cNvSpPr>
          <p:nvPr>
            <p:ph type="body" idx="2"/>
          </p:nvPr>
        </p:nvSpPr>
        <p:spPr>
          <a:xfrm>
            <a:off x="457200" y="4636008"/>
            <a:ext cx="8229600" cy="1127760"/>
          </a:xfrm>
        </p:spPr>
        <p:txBody>
          <a:bodyPr/>
          <a:lstStyle/>
          <a:p>
            <a:pPr>
              <a:spcBef>
                <a:spcPts val="600"/>
              </a:spcBef>
              <a:buFont typeface="Arial" panose="020B0604020202020204" pitchFamily="34" charset="0"/>
              <a:buChar char="•"/>
            </a:pPr>
            <a:r>
              <a:rPr lang="en-US" sz="2000" kern="1200" dirty="0">
                <a:solidFill>
                  <a:srgbClr val="000000"/>
                </a:solidFill>
                <a:latin typeface="Arial (Body)"/>
              </a:rPr>
              <a:t>The compiler creates a call to the </a:t>
            </a:r>
            <a:r>
              <a:rPr lang="en-US" sz="2000" kern="1200" dirty="0">
                <a:solidFill>
                  <a:srgbClr val="000000"/>
                </a:solidFill>
                <a:latin typeface="Consolas" panose="020B0609020204030204" pitchFamily="49" charset="0"/>
                <a:cs typeface="Consolas" panose="020B0609020204030204" pitchFamily="49" charset="0"/>
              </a:rPr>
              <a:t>const</a:t>
            </a:r>
            <a:r>
              <a:rPr lang="en-US" sz="2000" kern="1200" dirty="0">
                <a:solidFill>
                  <a:srgbClr val="000000"/>
                </a:solidFill>
                <a:latin typeface="Arial (Body)"/>
              </a:rPr>
              <a:t> version of </a:t>
            </a:r>
            <a:r>
              <a:rPr lang="en-US" sz="2000" kern="1200" dirty="0">
                <a:solidFill>
                  <a:srgbClr val="000000"/>
                </a:solidFill>
                <a:latin typeface="Consolas" panose="020B0609020204030204" pitchFamily="49" charset="0"/>
                <a:cs typeface="Consolas" panose="020B0609020204030204" pitchFamily="49" charset="0"/>
              </a:rPr>
              <a:t>operator[]</a:t>
            </a:r>
            <a:r>
              <a:rPr lang="en-US" sz="2000" kern="1200" dirty="0">
                <a:solidFill>
                  <a:srgbClr val="000000"/>
                </a:solidFill>
                <a:latin typeface="Arial (Body)"/>
              </a:rPr>
              <a:t> (</a:t>
            </a:r>
            <a:r>
              <a:rPr lang="en-US" sz="2000" kern="1200" dirty="0" smtClean="0">
                <a:solidFill>
                  <a:srgbClr val="000000"/>
                </a:solidFill>
                <a:latin typeface="Arial (Body)"/>
              </a:rPr>
              <a:t>Figure</a:t>
            </a:r>
            <a:r>
              <a:rPr lang="en-US" sz="2000" kern="1200" dirty="0">
                <a:solidFill>
                  <a:srgbClr val="000000"/>
                </a:solidFill>
                <a:latin typeface="Arial (Body)"/>
              </a:rPr>
              <a:t> 18.11 (see slide 97), lines 91–98</a:t>
            </a:r>
            <a:r>
              <a:rPr lang="en-US" sz="2000" kern="1200" dirty="0" smtClean="0">
                <a:solidFill>
                  <a:srgbClr val="000000"/>
                </a:solidFill>
                <a:latin typeface="Arial (Body)"/>
              </a:rPr>
              <a:t>) when </a:t>
            </a:r>
            <a:r>
              <a:rPr lang="en-US" sz="2000" kern="1200" dirty="0">
                <a:solidFill>
                  <a:srgbClr val="000000"/>
                </a:solidFill>
                <a:latin typeface="Arial (Body)"/>
              </a:rPr>
              <a:t>the subscript operator is used on a </a:t>
            </a:r>
            <a:r>
              <a:rPr lang="en-US" sz="2000" kern="1200" dirty="0">
                <a:solidFill>
                  <a:srgbClr val="000000"/>
                </a:solidFill>
                <a:latin typeface="Consolas" panose="020B0609020204030204" pitchFamily="49" charset="0"/>
                <a:cs typeface="Consolas" panose="020B0609020204030204" pitchFamily="49" charset="0"/>
              </a:rPr>
              <a:t>const</a:t>
            </a:r>
            <a:r>
              <a:rPr lang="en-US" sz="2000" kern="1200" dirty="0">
                <a:solidFill>
                  <a:srgbClr val="000000"/>
                </a:solidFill>
                <a:latin typeface="Arial (Body)"/>
              </a:rPr>
              <a:t> </a:t>
            </a:r>
            <a:r>
              <a:rPr lang="en-US" sz="2000" kern="1200" dirty="0">
                <a:solidFill>
                  <a:srgbClr val="000000"/>
                </a:solidFill>
                <a:latin typeface="Consolas" panose="020B0609020204030204" pitchFamily="49" charset="0"/>
                <a:cs typeface="Consolas" panose="020B0609020204030204" pitchFamily="49" charset="0"/>
              </a:rPr>
              <a:t>Array</a:t>
            </a:r>
            <a:r>
              <a:rPr lang="en-US" sz="2000" kern="1200" dirty="0">
                <a:solidFill>
                  <a:srgbClr val="000000"/>
                </a:solidFill>
                <a:latin typeface="Arial (Body)"/>
              </a:rPr>
              <a:t> object</a:t>
            </a:r>
            <a:r>
              <a:rPr lang="en-US" sz="2000" kern="1200" dirty="0" smtClean="0">
                <a:solidFill>
                  <a:srgbClr val="000000"/>
                </a:solidFill>
                <a:latin typeface="Arial (Body)"/>
              </a:rPr>
              <a:t>.</a:t>
            </a:r>
            <a:endParaRPr lang="en-US" sz="20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(21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455035"/>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Each definition of </a:t>
            </a:r>
            <a:r>
              <a:rPr lang="en-US" altLang="en-US" sz="2400" kern="1200" dirty="0">
                <a:solidFill>
                  <a:srgbClr val="000000"/>
                </a:solidFill>
                <a:latin typeface="Consolas" panose="020B0609020204030204" pitchFamily="49" charset="0"/>
                <a:ea typeface="+mn-ea"/>
                <a:cs typeface="Consolas" panose="020B0609020204030204" pitchFamily="49" charset="0"/>
              </a:rPr>
              <a:t>operator[]</a:t>
            </a:r>
            <a:r>
              <a:rPr lang="en-US" altLang="en-US" sz="2400" kern="1200" dirty="0">
                <a:solidFill>
                  <a:srgbClr val="000000"/>
                </a:solidFill>
                <a:latin typeface="Arial (Body)"/>
                <a:ea typeface="+mn-ea"/>
                <a:cs typeface="+mn-cs"/>
              </a:rPr>
              <a:t> determines whether the subscript it receives as an argument is in range.</a:t>
            </a:r>
          </a:p>
          <a:p>
            <a:pPr marL="255651" indent="-255651" eaLnBrk="1" hangingPunct="1">
              <a:tabLst/>
              <a:defRPr/>
            </a:pPr>
            <a:r>
              <a:rPr lang="en-US" altLang="en-US" sz="2400" kern="1200" dirty="0">
                <a:solidFill>
                  <a:srgbClr val="000000"/>
                </a:solidFill>
                <a:latin typeface="Arial (Body)"/>
                <a:ea typeface="+mn-ea"/>
                <a:cs typeface="+mn-cs"/>
              </a:rPr>
              <a:t>If it isn’t, each function prints an error message and terminates the program with a call to function </a:t>
            </a:r>
            <a:r>
              <a:rPr lang="en-US" altLang="en-US" sz="2400" kern="1200" dirty="0">
                <a:solidFill>
                  <a:srgbClr val="000000"/>
                </a:solidFill>
                <a:latin typeface="Consolas" panose="020B0609020204030204" pitchFamily="49" charset="0"/>
                <a:ea typeface="+mn-ea"/>
                <a:cs typeface="Consolas" panose="020B0609020204030204" pitchFamily="49" charset="0"/>
              </a:rPr>
              <a:t>exit</a:t>
            </a:r>
            <a:r>
              <a:rPr lang="en-US" altLang="en-US" sz="2400" kern="1200" dirty="0">
                <a:solidFill>
                  <a:srgbClr val="000000"/>
                </a:solidFill>
                <a:latin typeface="Arial (Body)"/>
                <a:ea typeface="+mn-ea"/>
                <a:cs typeface="+mn-cs"/>
              </a:rPr>
              <a:t>.</a:t>
            </a:r>
          </a:p>
          <a:p>
            <a:pPr marL="255651" indent="-255651" eaLnBrk="1" hangingPunct="1">
              <a:tabLst/>
              <a:defRPr/>
            </a:pPr>
            <a:r>
              <a:rPr lang="en-US" altLang="en-US" sz="2400" kern="1200" dirty="0">
                <a:solidFill>
                  <a:srgbClr val="000000"/>
                </a:solidFill>
                <a:latin typeface="Arial (Body)"/>
                <a:ea typeface="+mn-ea"/>
                <a:cs typeface="+mn-cs"/>
              </a:rPr>
              <a:t>If the subscript is in range, the non-</a:t>
            </a:r>
            <a:r>
              <a:rPr lang="en-US" altLang="en-US" sz="2400" kern="1200" dirty="0">
                <a:solidFill>
                  <a:srgbClr val="000000"/>
                </a:solidFill>
                <a:latin typeface="Consolas" panose="020B0609020204030204" pitchFamily="49" charset="0"/>
                <a:ea typeface="+mn-ea"/>
                <a:cs typeface="Consolas" panose="020B0609020204030204" pitchFamily="49" charset="0"/>
              </a:rPr>
              <a:t>const</a:t>
            </a:r>
            <a:r>
              <a:rPr lang="en-US" altLang="en-US" sz="2400" kern="1200" dirty="0">
                <a:solidFill>
                  <a:srgbClr val="000000"/>
                </a:solidFill>
                <a:latin typeface="Arial (Body)"/>
                <a:ea typeface="+mn-ea"/>
                <a:cs typeface="+mn-cs"/>
              </a:rPr>
              <a:t> version of </a:t>
            </a:r>
            <a:r>
              <a:rPr lang="en-US" altLang="en-US" sz="2400" kern="1200" dirty="0">
                <a:solidFill>
                  <a:srgbClr val="000000"/>
                </a:solidFill>
                <a:latin typeface="Consolas" panose="020B0609020204030204" pitchFamily="49" charset="0"/>
                <a:ea typeface="+mn-ea"/>
                <a:cs typeface="Consolas" panose="020B0609020204030204" pitchFamily="49" charset="0"/>
              </a:rPr>
              <a:t>operator[]</a:t>
            </a:r>
            <a:r>
              <a:rPr lang="en-US" altLang="en-US" sz="2400" kern="1200" dirty="0">
                <a:solidFill>
                  <a:srgbClr val="000000"/>
                </a:solidFill>
                <a:latin typeface="Arial (Body)"/>
                <a:ea typeface="+mn-ea"/>
                <a:cs typeface="+mn-cs"/>
              </a:rPr>
              <a:t> returns the appropriate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 element as a reference so that it may be used as a modifiable </a:t>
            </a:r>
            <a:r>
              <a:rPr lang="en-US" altLang="en-US" sz="2400" b="1" kern="1200" dirty="0" smtClean="0">
                <a:solidFill>
                  <a:srgbClr val="000000"/>
                </a:solidFill>
                <a:latin typeface="Arial (Body)"/>
                <a:ea typeface="+mn-ea"/>
                <a:cs typeface="+mn-cs"/>
              </a:rPr>
              <a:t>l</a:t>
            </a:r>
            <a:r>
              <a:rPr lang="en-US" altLang="en-US" sz="100" b="1" kern="1200" dirty="0" smtClean="0">
                <a:solidFill>
                  <a:srgbClr val="000000"/>
                </a:solidFill>
                <a:latin typeface="Arial (Body)"/>
                <a:ea typeface="+mn-ea"/>
                <a:cs typeface="+mn-cs"/>
              </a:rPr>
              <a:t> </a:t>
            </a:r>
            <a:r>
              <a:rPr lang="en-US" altLang="en-US" sz="2400" b="1" kern="1200" dirty="0" smtClean="0">
                <a:solidFill>
                  <a:srgbClr val="000000"/>
                </a:solidFill>
                <a:latin typeface="Arial (Body)"/>
                <a:ea typeface="+mn-ea"/>
                <a:cs typeface="+mn-cs"/>
              </a:rPr>
              <a:t>value</a:t>
            </a:r>
            <a:r>
              <a:rPr lang="en-US" altLang="en-US" sz="2400" b="1" kern="1200" dirty="0">
                <a:solidFill>
                  <a:srgbClr val="000000"/>
                </a:solidFill>
                <a:latin typeface="Arial (Body)"/>
                <a:ea typeface="+mn-ea"/>
                <a:cs typeface="+mn-cs"/>
              </a:rPr>
              <a:t>.</a:t>
            </a:r>
          </a:p>
          <a:p>
            <a:pPr marL="255651" indent="-255651" eaLnBrk="1" hangingPunct="1">
              <a:tabLst/>
              <a:defRPr/>
            </a:pPr>
            <a:r>
              <a:rPr lang="en-US" altLang="en-US" sz="2400" kern="1200" dirty="0">
                <a:solidFill>
                  <a:srgbClr val="000000"/>
                </a:solidFill>
                <a:latin typeface="Arial (Body)"/>
                <a:ea typeface="+mn-ea"/>
                <a:cs typeface="+mn-cs"/>
              </a:rPr>
              <a:t>If the subscript is in range, the </a:t>
            </a:r>
            <a:r>
              <a:rPr lang="en-US" altLang="en-US" sz="2400" kern="1200" dirty="0">
                <a:solidFill>
                  <a:srgbClr val="000000"/>
                </a:solidFill>
                <a:latin typeface="Consolas" panose="020B0609020204030204" pitchFamily="49" charset="0"/>
                <a:ea typeface="+mn-ea"/>
                <a:cs typeface="Consolas" panose="020B0609020204030204" pitchFamily="49" charset="0"/>
              </a:rPr>
              <a:t>const</a:t>
            </a:r>
            <a:r>
              <a:rPr lang="en-US" altLang="en-US" sz="2400" kern="1200" dirty="0">
                <a:solidFill>
                  <a:srgbClr val="000000"/>
                </a:solidFill>
                <a:latin typeface="Arial (Body)"/>
                <a:ea typeface="+mn-ea"/>
                <a:cs typeface="+mn-cs"/>
              </a:rPr>
              <a:t> version of </a:t>
            </a:r>
            <a:r>
              <a:rPr lang="en-US" altLang="en-US" sz="2400" kern="1200" dirty="0">
                <a:solidFill>
                  <a:srgbClr val="000000"/>
                </a:solidFill>
                <a:latin typeface="Consolas" panose="020B0609020204030204" pitchFamily="49" charset="0"/>
                <a:ea typeface="+mn-ea"/>
                <a:cs typeface="Consolas" panose="020B0609020204030204" pitchFamily="49" charset="0"/>
              </a:rPr>
              <a:t>operator[]</a:t>
            </a:r>
            <a:r>
              <a:rPr lang="en-US" altLang="en-US" sz="2400" kern="1200" dirty="0">
                <a:solidFill>
                  <a:srgbClr val="000000"/>
                </a:solidFill>
                <a:latin typeface="Arial (Body)"/>
                <a:ea typeface="+mn-ea"/>
                <a:cs typeface="+mn-cs"/>
              </a:rPr>
              <a:t> returns a copy of the appropriate element of the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a:t>
            </a: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(22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spAutoFit/>
          </a:bodyPr>
          <a:lstStyle/>
          <a:p>
            <a:pPr marL="0" indent="0" eaLnBrk="1" hangingPunct="1">
              <a:buNone/>
              <a:tabLst/>
              <a:defRPr/>
            </a:pPr>
            <a:r>
              <a:rPr lang="en-US" sz="2400" b="1" kern="1200" dirty="0">
                <a:solidFill>
                  <a:srgbClr val="000000"/>
                </a:solidFill>
                <a:latin typeface="Arial (Body)"/>
                <a:ea typeface="+mn-ea"/>
                <a:cs typeface="+mn-cs"/>
              </a:rPr>
              <a:t>C++11: Managing Dynamically Allocated Memory with </a:t>
            </a:r>
            <a:r>
              <a:rPr lang="en-US" sz="2400" b="1" kern="1200" dirty="0" smtClean="0">
                <a:solidFill>
                  <a:srgbClr val="000000"/>
                </a:solidFill>
                <a:latin typeface="Consolas" panose="020B0609020204030204" pitchFamily="49" charset="0"/>
                <a:ea typeface="+mn-ea"/>
                <a:cs typeface="Consolas" panose="020B0609020204030204" pitchFamily="49" charset="0"/>
              </a:rPr>
              <a:t>unique_ptr</a:t>
            </a:r>
            <a:endParaRPr lang="en-US" sz="2400" b="1" kern="1200" dirty="0">
              <a:solidFill>
                <a:srgbClr val="000000"/>
              </a:solidFill>
              <a:latin typeface="Consolas" panose="020B0609020204030204" pitchFamily="49" charset="0"/>
              <a:ea typeface="+mn-ea"/>
              <a:cs typeface="Consolas" panose="020B0609020204030204" pitchFamily="49" charset="0"/>
            </a:endParaRPr>
          </a:p>
          <a:p>
            <a:pPr marL="255651" indent="-255651" eaLnBrk="1" hangingPunct="1">
              <a:tabLst/>
              <a:defRPr/>
            </a:pPr>
            <a:r>
              <a:rPr lang="en-US" sz="2400" kern="1200" dirty="0">
                <a:solidFill>
                  <a:srgbClr val="000000"/>
                </a:solidFill>
                <a:latin typeface="Arial (Body)"/>
                <a:ea typeface="+mn-ea"/>
                <a:cs typeface="+mn-cs"/>
              </a:rPr>
              <a:t>In this case study, class </a:t>
            </a:r>
            <a:r>
              <a:rPr lang="en-US" sz="2400" kern="1200" dirty="0">
                <a:solidFill>
                  <a:srgbClr val="000000"/>
                </a:solidFill>
                <a:latin typeface="Consolas" panose="020B0609020204030204" pitchFamily="49" charset="0"/>
                <a:ea typeface="+mn-ea"/>
                <a:cs typeface="Consolas" panose="020B0609020204030204" pitchFamily="49" charset="0"/>
              </a:rPr>
              <a:t>Array</a:t>
            </a:r>
            <a:r>
              <a:rPr lang="en-US" sz="2400" kern="1200" dirty="0">
                <a:solidFill>
                  <a:srgbClr val="000000"/>
                </a:solidFill>
                <a:latin typeface="Arial (Body)"/>
                <a:ea typeface="+mn-ea"/>
                <a:cs typeface="+mn-cs"/>
              </a:rPr>
              <a:t>’s destructor used </a:t>
            </a:r>
            <a:r>
              <a:rPr lang="en-US" sz="2400" kern="1200" dirty="0">
                <a:solidFill>
                  <a:srgbClr val="000000"/>
                </a:solidFill>
                <a:latin typeface="Consolas" panose="020B0609020204030204" pitchFamily="49" charset="0"/>
                <a:ea typeface="+mn-ea"/>
                <a:cs typeface="Consolas" panose="020B0609020204030204" pitchFamily="49" charset="0"/>
              </a:rPr>
              <a:t>delete []</a:t>
            </a:r>
            <a:r>
              <a:rPr lang="en-US" sz="2400" kern="1200" dirty="0">
                <a:solidFill>
                  <a:srgbClr val="000000"/>
                </a:solidFill>
                <a:latin typeface="Arial (Body)"/>
                <a:ea typeface="+mn-ea"/>
                <a:cs typeface="+mn-cs"/>
              </a:rPr>
              <a:t> to return the dynamically allocated built-in array to the free </a:t>
            </a:r>
            <a:r>
              <a:rPr lang="en-US" sz="2400" kern="1200" dirty="0" smtClean="0">
                <a:solidFill>
                  <a:srgbClr val="000000"/>
                </a:solidFill>
                <a:latin typeface="Arial (Body)"/>
                <a:ea typeface="+mn-ea"/>
                <a:cs typeface="+mn-cs"/>
              </a:rPr>
              <a:t>store.</a:t>
            </a:r>
            <a:endParaRPr lang="en-US" sz="2400" kern="1200" dirty="0">
              <a:solidFill>
                <a:srgbClr val="000000"/>
              </a:solidFill>
              <a:latin typeface="Arial (Body)"/>
              <a:ea typeface="+mn-ea"/>
              <a:cs typeface="+mn-cs"/>
            </a:endParaRPr>
          </a:p>
          <a:p>
            <a:pPr marL="255651" indent="-255651" eaLnBrk="1" hangingPunct="1">
              <a:tabLst/>
              <a:defRPr/>
            </a:pPr>
            <a:r>
              <a:rPr lang="en-US" sz="2400" kern="1200" dirty="0">
                <a:solidFill>
                  <a:srgbClr val="000000"/>
                </a:solidFill>
                <a:latin typeface="Arial (Body)"/>
                <a:ea typeface="+mn-ea"/>
                <a:cs typeface="+mn-cs"/>
              </a:rPr>
              <a:t>As you recall, C++11 enables you to use </a:t>
            </a:r>
            <a:r>
              <a:rPr lang="en-US" sz="2400" kern="1200" dirty="0">
                <a:solidFill>
                  <a:srgbClr val="000000"/>
                </a:solidFill>
                <a:latin typeface="Consolas" panose="020B0609020204030204" pitchFamily="49" charset="0"/>
                <a:ea typeface="+mn-ea"/>
                <a:cs typeface="Consolas" panose="020B0609020204030204" pitchFamily="49" charset="0"/>
              </a:rPr>
              <a:t>unique_ptr</a:t>
            </a:r>
            <a:r>
              <a:rPr lang="en-US" sz="2400" kern="1200" dirty="0">
                <a:solidFill>
                  <a:srgbClr val="000000"/>
                </a:solidFill>
                <a:latin typeface="Arial (Body)"/>
                <a:ea typeface="+mn-ea"/>
                <a:cs typeface="+mn-cs"/>
              </a:rPr>
              <a:t> to ensure that this dynamically allocated memory is deleted when the </a:t>
            </a:r>
            <a:r>
              <a:rPr lang="en-US" sz="2400" kern="1200" dirty="0">
                <a:solidFill>
                  <a:srgbClr val="000000"/>
                </a:solidFill>
                <a:latin typeface="Consolas" panose="020B0609020204030204" pitchFamily="49" charset="0"/>
                <a:ea typeface="+mn-ea"/>
                <a:cs typeface="Consolas" panose="020B0609020204030204" pitchFamily="49" charset="0"/>
              </a:rPr>
              <a:t>Array</a:t>
            </a:r>
            <a:r>
              <a:rPr lang="en-US" sz="2400" kern="1200" dirty="0">
                <a:solidFill>
                  <a:srgbClr val="000000"/>
                </a:solidFill>
                <a:latin typeface="Arial (Body)"/>
                <a:ea typeface="+mn-ea"/>
                <a:cs typeface="+mn-cs"/>
              </a:rPr>
              <a:t> object goes out of </a:t>
            </a:r>
            <a:r>
              <a:rPr lang="en-US" sz="2400" kern="1200" dirty="0" smtClean="0">
                <a:solidFill>
                  <a:srgbClr val="000000"/>
                </a:solidFill>
                <a:latin typeface="Arial (Body)"/>
                <a:ea typeface="+mn-ea"/>
                <a:cs typeface="+mn-cs"/>
              </a:rPr>
              <a:t>scope.</a:t>
            </a:r>
            <a:endParaRPr lang="en-US" sz="24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(23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484992"/>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C++11: Passing a List Initializer to a </a:t>
            </a:r>
            <a:r>
              <a:rPr lang="en-US" sz="2400" b="1" kern="1200" dirty="0" smtClean="0">
                <a:solidFill>
                  <a:srgbClr val="000000"/>
                </a:solidFill>
                <a:latin typeface="Arial (Body)"/>
                <a:ea typeface="+mn-ea"/>
                <a:cs typeface="+mn-cs"/>
              </a:rPr>
              <a:t>Constructor</a:t>
            </a:r>
            <a:endParaRPr lang="en-US" sz="2400" b="1" kern="1200" dirty="0">
              <a:solidFill>
                <a:srgbClr val="000000"/>
              </a:solidFill>
              <a:latin typeface="Arial (Body)"/>
              <a:ea typeface="+mn-ea"/>
              <a:cs typeface="+mn-cs"/>
            </a:endParaRPr>
          </a:p>
          <a:p>
            <a:pPr marL="255651" indent="-255651" eaLnBrk="1" hangingPunct="1">
              <a:tabLst/>
              <a:defRPr/>
            </a:pPr>
            <a:r>
              <a:rPr lang="en-US" sz="2400" kern="1200" dirty="0">
                <a:solidFill>
                  <a:srgbClr val="000000"/>
                </a:solidFill>
                <a:latin typeface="Arial (Body)"/>
                <a:ea typeface="+mn-ea"/>
                <a:cs typeface="+mn-cs"/>
              </a:rPr>
              <a:t>In </a:t>
            </a:r>
            <a:r>
              <a:rPr lang="en-US" sz="2400" kern="1200" dirty="0" smtClean="0">
                <a:solidFill>
                  <a:srgbClr val="000000"/>
                </a:solidFill>
                <a:latin typeface="Arial (Body)"/>
                <a:ea typeface="+mn-ea"/>
                <a:cs typeface="+mn-cs"/>
              </a:rPr>
              <a:t>Figure </a:t>
            </a:r>
            <a:r>
              <a:rPr lang="en-US" sz="2400" kern="1200" dirty="0">
                <a:solidFill>
                  <a:srgbClr val="000000"/>
                </a:solidFill>
                <a:latin typeface="Arial (Body)"/>
                <a:ea typeface="+mn-ea"/>
                <a:cs typeface="+mn-cs"/>
              </a:rPr>
              <a:t>7.4, we showed how to initialize an array object with a comma-separated list of initializers in braces, as </a:t>
            </a:r>
            <a:r>
              <a:rPr lang="en-US" sz="2400" kern="1200" dirty="0" smtClean="0">
                <a:solidFill>
                  <a:srgbClr val="000000"/>
                </a:solidFill>
                <a:latin typeface="Arial (Body)"/>
                <a:ea typeface="+mn-ea"/>
                <a:cs typeface="+mn-cs"/>
              </a:rPr>
              <a:t>in</a:t>
            </a:r>
          </a:p>
        </p:txBody>
      </p:sp>
      <p:pic>
        <p:nvPicPr>
          <p:cNvPr id="7" name="Picture 6" descr="The computer reads as follows. array left angle bracket i n t comma 5 right angle bracket n equals left brace 32 comma 27 comma 64 comma 18 comma 95 right brace semicolon."/>
          <p:cNvPicPr>
            <a:picLocks noChangeAspect="1"/>
          </p:cNvPicPr>
          <p:nvPr/>
        </p:nvPicPr>
        <p:blipFill rotWithShape="1">
          <a:blip r:embed="rId2"/>
          <a:srcRect l="6655" t="1" r="1952" b="23983"/>
          <a:stretch/>
        </p:blipFill>
        <p:spPr>
          <a:xfrm>
            <a:off x="857466" y="3092942"/>
            <a:ext cx="6073284" cy="407817"/>
          </a:xfrm>
          <a:prstGeom prst="rect">
            <a:avLst/>
          </a:prstGeom>
        </p:spPr>
      </p:pic>
      <p:sp>
        <p:nvSpPr>
          <p:cNvPr id="6" name="Text Placeholder 5"/>
          <p:cNvSpPr>
            <a:spLocks noGrp="1"/>
          </p:cNvSpPr>
          <p:nvPr>
            <p:ph type="body" idx="2"/>
          </p:nvPr>
        </p:nvSpPr>
        <p:spPr>
          <a:xfrm>
            <a:off x="457200" y="3705330"/>
            <a:ext cx="8229600" cy="1234440"/>
          </a:xfrm>
        </p:spPr>
        <p:txBody>
          <a:bodyPr/>
          <a:lstStyle/>
          <a:p>
            <a:r>
              <a:rPr lang="en-US" sz="2400" kern="1200" dirty="0">
                <a:solidFill>
                  <a:srgbClr val="000000"/>
                </a:solidFill>
                <a:latin typeface="Arial (Body)"/>
              </a:rPr>
              <a:t>C++11 now allows any object to be initialized with a list initializer and that the preceding statement can also be written without the =, as </a:t>
            </a:r>
            <a:r>
              <a:rPr lang="en-US" sz="2400" kern="1200" dirty="0" smtClean="0">
                <a:solidFill>
                  <a:srgbClr val="000000"/>
                </a:solidFill>
                <a:latin typeface="Arial (Body)"/>
              </a:rPr>
              <a:t>in</a:t>
            </a:r>
            <a:endParaRPr lang="en-US" sz="2400" kern="1200" dirty="0">
              <a:solidFill>
                <a:srgbClr val="000000"/>
              </a:solidFill>
              <a:latin typeface="Arial (Body)"/>
            </a:endParaRPr>
          </a:p>
        </p:txBody>
      </p:sp>
      <p:pic>
        <p:nvPicPr>
          <p:cNvPr id="8" name="Picture 7" descr="The computer reads as follows. array left angle bracket i n t comma 5 right angle bracket n left brace 32 comma 27 comma 64 comma 18 comma 95 right brace semicolon."/>
          <p:cNvPicPr>
            <a:picLocks noChangeAspect="1"/>
          </p:cNvPicPr>
          <p:nvPr/>
        </p:nvPicPr>
        <p:blipFill rotWithShape="1">
          <a:blip r:embed="rId3"/>
          <a:srcRect l="7275" t="1" b="24895"/>
          <a:stretch/>
        </p:blipFill>
        <p:spPr>
          <a:xfrm>
            <a:off x="857466" y="4939770"/>
            <a:ext cx="6046680" cy="421713"/>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latin typeface="Times New Roman" panose="02020603050405020304" pitchFamily="18" charset="0"/>
              </a:rPr>
              <a:t>Figure 7.4 Using the </a:t>
            </a:r>
            <a:r>
              <a:rPr lang="en-US" dirty="0">
                <a:latin typeface="Consolas" panose="020B0609020204030204" pitchFamily="49" charset="0"/>
              </a:rPr>
              <a:t>&amp;</a:t>
            </a:r>
            <a:r>
              <a:rPr lang="en-US" dirty="0">
                <a:latin typeface="Times New Roman" panose="02020603050405020304" pitchFamily="18" charset="0"/>
              </a:rPr>
              <a:t> and * Pointer Operators </a:t>
            </a:r>
            <a:r>
              <a:rPr lang="en-US" sz="2000" b="0" dirty="0">
                <a:latin typeface="Times New Roman" panose="02020603050405020304" pitchFamily="18" charset="0"/>
              </a:rPr>
              <a:t>(1 of 2)</a:t>
            </a:r>
            <a:endParaRPr lang="en-US" dirty="0"/>
          </a:p>
        </p:txBody>
      </p:sp>
      <p:pic>
        <p:nvPicPr>
          <p:cNvPr id="7" name="Picture 6" descr="The computer code has19 lines. The lines read as follows. Line 1. forward slash forward slash F i g period 7 period 4 colon f i g 07 underscore 04 period c. Line 2. forward slash forward slash Using the ampersand and asterisk pointer operators period. Line 3. hash include less than sign s t d i o period h greater than sign. Line 4 is blank. Line 5. I n t main left parenthesis void right parenthesis. Line 6. left brace. Line 7, indented once. I n t a equals 7 semicolon. Line 8, indented once. I n t asterisk a P t r equals ampersand a semicolon forward slash forward slash set a P t r to the address of a. Line 9 is blank. Line 10, indented once. print f left parenthesis double quote the address of a is percent sign p double quote. Line 11, indented 3 times. double quote back slash n the value of a P t r is percent sign p double quote comma ampersand a comma a P t r right parenthesis semicolon. Line 12 is blank. Line 13, indented once. print f left parenthesis double quote back slash n back slash n the value of a is percent sign d double quote. Line 14, indented 3 times. double quote back slash n the value of asterisk a P t r is percent sign d double quote comma a comma asterisk a P t r right parenthesis semicolon. Line 15 is blank. Line 16, indented once. print f left parenthesis double quote back slash n back slash n Showing that asterisk and ampersand are complements of double quote. Line 17, indented 3 times. double quote each other back slash n ampersand asterisk a P t r equals percent sign p double quote. Line 18, indented 3 times. double quote back slash n asterisk ampersand a P t r equals percent sign p back slash n double quote comma ampersand asterisk a P t r comma asterisk ampersand a P t r right parenthesis semicolon. Line 19. right brace. Double forward slashes and comments are in green text. hash include, i n t, and void are in blue text. Integers and quotes plus characters within are in cyan text. Line 8 is highlighted, as are characters for pointers with a and a P t r."/>
          <p:cNvPicPr>
            <a:picLocks noChangeAspect="1"/>
          </p:cNvPicPr>
          <p:nvPr/>
        </p:nvPicPr>
        <p:blipFill>
          <a:blip r:embed="rId2"/>
          <a:stretch>
            <a:fillRect/>
          </a:stretch>
        </p:blipFill>
        <p:spPr>
          <a:xfrm>
            <a:off x="480617" y="1631368"/>
            <a:ext cx="8182765" cy="4197696"/>
          </a:xfrm>
          <a:prstGeom prst="rect">
            <a:avLst/>
          </a:prstGeom>
        </p:spPr>
      </p:pic>
    </p:spTree>
    <p:extLst>
      <p:ext uri="{BB962C8B-B14F-4D97-AF65-F5344CB8AC3E}">
        <p14:creationId xmlns:p14="http://schemas.microsoft.com/office/powerpoint/2010/main" val="3457325595"/>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latin typeface="Times New Roman" panose="02020603050405020304" pitchFamily="18" charset="0"/>
              </a:rPr>
              <a:t>Figure 7.4 Using the </a:t>
            </a:r>
            <a:r>
              <a:rPr lang="en-US" dirty="0">
                <a:latin typeface="Consolas" panose="020B0609020204030204" pitchFamily="49" charset="0"/>
              </a:rPr>
              <a:t>&amp;</a:t>
            </a:r>
            <a:r>
              <a:rPr lang="en-US" dirty="0">
                <a:latin typeface="Times New Roman" panose="02020603050405020304" pitchFamily="18" charset="0"/>
              </a:rPr>
              <a:t> and * Pointer Operators </a:t>
            </a:r>
            <a:r>
              <a:rPr lang="en-US" sz="2000" b="0" dirty="0" smtClean="0">
                <a:latin typeface="Times New Roman" panose="02020603050405020304" pitchFamily="18" charset="0"/>
              </a:rPr>
              <a:t>(2 </a:t>
            </a:r>
            <a:r>
              <a:rPr lang="en-US" sz="2000" b="0" dirty="0">
                <a:latin typeface="Times New Roman" panose="02020603050405020304" pitchFamily="18" charset="0"/>
              </a:rPr>
              <a:t>of 2)</a:t>
            </a:r>
            <a:endParaRPr lang="en-US" dirty="0"/>
          </a:p>
        </p:txBody>
      </p:sp>
      <p:pic>
        <p:nvPicPr>
          <p:cNvPr id="4" name="Picture 3" descr="The computer code has has 7 lines. The lines read as follows. Line 1. The address of a is 0 0 2 8 F E C 0. Line 2. The value of a P t r is 0 0 2 8 F  E C 0. Line 3. The value of a is 7. Line 4. The value of asterisk a P t r is 7. Line 5. Showing that asterisk and ampersand are complements of each other. Line 6. ampersand asterisk a P t r equals 0 0 2 8 F E C 0. Line 7. asterisk ampersand a P t r equals 0 0 2 8 F E C 0. "/>
          <p:cNvPicPr>
            <a:picLocks noChangeAspect="1"/>
          </p:cNvPicPr>
          <p:nvPr/>
        </p:nvPicPr>
        <p:blipFill>
          <a:blip r:embed="rId2"/>
          <a:stretch>
            <a:fillRect/>
          </a:stretch>
        </p:blipFill>
        <p:spPr>
          <a:xfrm>
            <a:off x="555080" y="2399039"/>
            <a:ext cx="8033838" cy="2145980"/>
          </a:xfrm>
          <a:prstGeom prst="rect">
            <a:avLst/>
          </a:prstGeom>
        </p:spPr>
      </p:pic>
    </p:spTree>
    <p:extLst>
      <p:ext uri="{BB962C8B-B14F-4D97-AF65-F5344CB8AC3E}">
        <p14:creationId xmlns:p14="http://schemas.microsoft.com/office/powerpoint/2010/main" val="2642597068"/>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(24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1"/>
            <a:ext cx="8229600" cy="1854323"/>
          </a:xfrm>
        </p:spPr>
        <p:txBody>
          <a:bodyPr>
            <a:spAutoFit/>
          </a:bodyPr>
          <a:lstStyle/>
          <a:p>
            <a:pPr marL="255651" indent="-255651" eaLnBrk="1" hangingPunct="1">
              <a:tabLst/>
              <a:defRPr/>
            </a:pPr>
            <a:r>
              <a:rPr lang="en-US" altLang="en-US" sz="2400" kern="1200" dirty="0">
                <a:solidFill>
                  <a:srgbClr val="000000"/>
                </a:solidFill>
                <a:latin typeface="Arial (Body)"/>
              </a:rPr>
              <a:t>C++11 also allows you to use list initializers when you declare objects of your own classes.</a:t>
            </a:r>
          </a:p>
          <a:p>
            <a:pPr marL="255651" indent="-255651" eaLnBrk="1" hangingPunct="1">
              <a:tabLst/>
              <a:defRPr/>
            </a:pPr>
            <a:r>
              <a:rPr lang="en-US" altLang="en-US" sz="2400" kern="1200" dirty="0">
                <a:solidFill>
                  <a:srgbClr val="000000"/>
                </a:solidFill>
                <a:latin typeface="Arial (Body)"/>
              </a:rPr>
              <a:t>For example, you can now provide an Array constructor that would enabled the following declarations</a:t>
            </a:r>
            <a:r>
              <a:rPr lang="en-US" altLang="en-US" sz="2400" kern="1200" dirty="0" smtClean="0">
                <a:solidFill>
                  <a:srgbClr val="000000"/>
                </a:solidFill>
                <a:latin typeface="Arial (Body)"/>
              </a:rPr>
              <a:t>:</a:t>
            </a:r>
            <a:endParaRPr lang="en-US" altLang="en-US" sz="2400" kern="1200" dirty="0">
              <a:solidFill>
                <a:srgbClr val="000000"/>
              </a:solidFill>
              <a:latin typeface="Arial (Body)"/>
            </a:endParaRPr>
          </a:p>
        </p:txBody>
      </p:sp>
      <p:pic>
        <p:nvPicPr>
          <p:cNvPr id="7" name="Picture 6" descr="Array integers equals left brace 1 comma 2 comma 3 comma 4 comma 5 right brace semicolon."/>
          <p:cNvPicPr>
            <a:picLocks noChangeAspect="1"/>
          </p:cNvPicPr>
          <p:nvPr/>
        </p:nvPicPr>
        <p:blipFill rotWithShape="1">
          <a:blip r:embed="rId2"/>
          <a:srcRect l="7599" t="10344" b="22656"/>
          <a:stretch/>
        </p:blipFill>
        <p:spPr>
          <a:xfrm>
            <a:off x="838200" y="3383279"/>
            <a:ext cx="5599438" cy="396219"/>
          </a:xfrm>
          <a:prstGeom prst="rect">
            <a:avLst/>
          </a:prstGeom>
        </p:spPr>
      </p:pic>
      <p:sp>
        <p:nvSpPr>
          <p:cNvPr id="6" name="Text Placeholder 5"/>
          <p:cNvSpPr>
            <a:spLocks noGrp="1"/>
          </p:cNvSpPr>
          <p:nvPr>
            <p:ph sz="quarter" idx="13"/>
          </p:nvPr>
        </p:nvSpPr>
        <p:spPr>
          <a:xfrm>
            <a:off x="457200" y="3789425"/>
            <a:ext cx="8229600" cy="481678"/>
          </a:xfrm>
        </p:spPr>
        <p:txBody>
          <a:bodyPr/>
          <a:lstStyle/>
          <a:p>
            <a:pPr marL="255600">
              <a:spcBef>
                <a:spcPts val="1500"/>
              </a:spcBef>
              <a:buClr>
                <a:schemeClr val="tx2"/>
              </a:buClr>
              <a:buFont typeface="Arial" panose="020B0604020202020204" pitchFamily="34" charset="0"/>
              <a:buChar char="•"/>
            </a:pPr>
            <a:r>
              <a:rPr lang="en-US" altLang="en-US" sz="2400" kern="1200" dirty="0" smtClean="0">
                <a:latin typeface="Arial (Body)"/>
              </a:rPr>
              <a:t>or</a:t>
            </a:r>
            <a:endParaRPr lang="en-US" altLang="en-US" sz="2400" kern="1200" dirty="0">
              <a:latin typeface="Arial (Body)"/>
            </a:endParaRPr>
          </a:p>
        </p:txBody>
      </p:sp>
      <p:pic>
        <p:nvPicPr>
          <p:cNvPr id="8" name="Picture 7" descr="Array integers left brace 1 comma 2 comma 3 comma 4 comma 5 right brace semicolon."/>
          <p:cNvPicPr>
            <a:picLocks noChangeAspect="1"/>
          </p:cNvPicPr>
          <p:nvPr/>
        </p:nvPicPr>
        <p:blipFill rotWithShape="1">
          <a:blip r:embed="rId3"/>
          <a:srcRect l="8010" t="13213" b="24936"/>
          <a:stretch/>
        </p:blipFill>
        <p:spPr>
          <a:xfrm>
            <a:off x="838200" y="4515136"/>
            <a:ext cx="5148314" cy="365761"/>
          </a:xfrm>
          <a:prstGeom prst="rect">
            <a:avLst/>
          </a:prstGeom>
        </p:spPr>
      </p:pic>
      <p:sp>
        <p:nvSpPr>
          <p:cNvPr id="11" name="Content Placeholder 10"/>
          <p:cNvSpPr>
            <a:spLocks noGrp="1"/>
          </p:cNvSpPr>
          <p:nvPr>
            <p:ph sz="quarter" idx="14"/>
          </p:nvPr>
        </p:nvSpPr>
        <p:spPr>
          <a:xfrm>
            <a:off x="457200" y="4901757"/>
            <a:ext cx="8232775" cy="802004"/>
          </a:xfrm>
        </p:spPr>
        <p:txBody>
          <a:bodyPr/>
          <a:lstStyle/>
          <a:p>
            <a:pPr marL="255600">
              <a:spcBef>
                <a:spcPts val="1500"/>
              </a:spcBef>
              <a:buClr>
                <a:schemeClr val="tx2"/>
              </a:buClr>
              <a:buFont typeface="Arial" panose="020B0604020202020204" pitchFamily="34" charset="0"/>
              <a:buChar char="•"/>
            </a:pPr>
            <a:r>
              <a:rPr lang="en-US" altLang="en-US" sz="2400" kern="1200" dirty="0">
                <a:latin typeface="Arial (Body)"/>
              </a:rPr>
              <a:t>each of which creates an </a:t>
            </a:r>
            <a:r>
              <a:rPr lang="en-US" altLang="en-US" sz="2400" kern="1200" dirty="0">
                <a:latin typeface="Consolas" panose="020B0609020204030204" pitchFamily="49" charset="0"/>
              </a:rPr>
              <a:t>Array</a:t>
            </a:r>
            <a:r>
              <a:rPr lang="en-US" altLang="en-US" sz="2400" kern="1200" dirty="0">
                <a:latin typeface="Arial (Body)"/>
              </a:rPr>
              <a:t> object with five elements containing the integers from 1 to 5</a:t>
            </a:r>
            <a:r>
              <a:rPr lang="en-US" altLang="en-US" sz="2400" kern="1200" dirty="0" smtClean="0">
                <a:latin typeface="Arial (Body)"/>
              </a:rPr>
              <a:t>.</a:t>
            </a:r>
            <a:endParaRPr lang="en-US" altLang="en-US" sz="2400" kern="1200" dirty="0">
              <a:latin typeface="Arial (Body)"/>
            </a:endParaRP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(25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223655"/>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To support list initialization, you can define a constructor that receives an </a:t>
            </a:r>
            <a:r>
              <a:rPr lang="en-US" altLang="en-US" sz="2400" b="1" kern="1200" dirty="0">
                <a:solidFill>
                  <a:srgbClr val="000000"/>
                </a:solidFill>
                <a:latin typeface="Arial (Body)"/>
                <a:ea typeface="+mn-ea"/>
                <a:cs typeface="+mn-cs"/>
              </a:rPr>
              <a:t>object</a:t>
            </a:r>
            <a:r>
              <a:rPr lang="en-US" altLang="en-US" sz="2400" kern="1200" dirty="0">
                <a:solidFill>
                  <a:srgbClr val="000000"/>
                </a:solidFill>
                <a:latin typeface="Arial (Body)"/>
                <a:ea typeface="+mn-ea"/>
                <a:cs typeface="+mn-cs"/>
              </a:rPr>
              <a:t> of the class template </a:t>
            </a:r>
            <a:r>
              <a:rPr lang="en-US" altLang="en-US" sz="2400" kern="1200" dirty="0">
                <a:solidFill>
                  <a:srgbClr val="000000"/>
                </a:solidFill>
                <a:latin typeface="Consolas" panose="020B0609020204030204" pitchFamily="49" charset="0"/>
                <a:ea typeface="+mn-ea"/>
                <a:cs typeface="Consolas" panose="020B0609020204030204" pitchFamily="49" charset="0"/>
              </a:rPr>
              <a:t>initializer_list</a:t>
            </a:r>
            <a:r>
              <a:rPr lang="en-US" altLang="en-US" sz="2400" kern="1200" dirty="0">
                <a:solidFill>
                  <a:srgbClr val="000000"/>
                </a:solidFill>
                <a:latin typeface="Arial (Body)"/>
                <a:ea typeface="+mn-ea"/>
                <a:cs typeface="+mn-cs"/>
              </a:rPr>
              <a:t>. For class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 you’d include the </a:t>
            </a:r>
            <a:r>
              <a:rPr lang="en-US" altLang="en-US" sz="2400" kern="1200" dirty="0">
                <a:solidFill>
                  <a:srgbClr val="000000"/>
                </a:solidFill>
                <a:latin typeface="Consolas" panose="020B0609020204030204" pitchFamily="49" charset="0"/>
                <a:ea typeface="+mn-ea"/>
                <a:cs typeface="Consolas" panose="020B0609020204030204" pitchFamily="49" charset="0"/>
              </a:rPr>
              <a:t>&lt;initializer_list&gt;</a:t>
            </a:r>
            <a:r>
              <a:rPr lang="en-US" altLang="en-US" sz="2400" kern="1200" dirty="0">
                <a:solidFill>
                  <a:srgbClr val="000000"/>
                </a:solidFill>
                <a:latin typeface="Arial (Body)"/>
                <a:ea typeface="+mn-ea"/>
                <a:cs typeface="+mn-cs"/>
              </a:rPr>
              <a:t> </a:t>
            </a:r>
            <a:r>
              <a:rPr lang="en-US" altLang="en-US" sz="2400" kern="1200" dirty="0" smtClean="0">
                <a:solidFill>
                  <a:srgbClr val="000000"/>
                </a:solidFill>
                <a:latin typeface="Arial (Body)"/>
                <a:ea typeface="+mn-ea"/>
                <a:cs typeface="+mn-cs"/>
              </a:rPr>
              <a:t>header.</a:t>
            </a:r>
            <a:endParaRPr lang="en-US" altLang="en-US" sz="2400" kern="1200" dirty="0">
              <a:solidFill>
                <a:srgbClr val="000000"/>
              </a:solidFill>
              <a:latin typeface="Arial (Body)"/>
              <a:ea typeface="+mn-ea"/>
              <a:cs typeface="+mn-cs"/>
            </a:endParaRPr>
          </a:p>
          <a:p>
            <a:pPr marL="255651" indent="-255651" eaLnBrk="1" hangingPunct="1">
              <a:tabLst/>
              <a:defRPr/>
            </a:pPr>
            <a:r>
              <a:rPr lang="en-US" altLang="en-US" sz="2400" kern="1200" dirty="0">
                <a:solidFill>
                  <a:srgbClr val="000000"/>
                </a:solidFill>
                <a:latin typeface="Arial (Body)"/>
                <a:ea typeface="+mn-ea"/>
                <a:cs typeface="+mn-cs"/>
              </a:rPr>
              <a:t>Then, you’d define a constructor with the first line</a:t>
            </a:r>
            <a:r>
              <a:rPr lang="en-US" altLang="en-US" sz="2400" kern="1200" dirty="0" smtClean="0">
                <a:solidFill>
                  <a:srgbClr val="000000"/>
                </a:solidFill>
                <a:latin typeface="Arial (Body)"/>
                <a:ea typeface="+mn-ea"/>
                <a:cs typeface="+mn-cs"/>
              </a:rPr>
              <a:t>:</a:t>
            </a:r>
          </a:p>
        </p:txBody>
      </p:sp>
      <p:pic>
        <p:nvPicPr>
          <p:cNvPr id="6" name="Picture 5" descr="The computer reads as follows. Array colon colon Array left parenthesis initializer underscore list left angle bracket right angle bracket list right parenthesis."/>
          <p:cNvPicPr>
            <a:picLocks noChangeAspect="1"/>
          </p:cNvPicPr>
          <p:nvPr/>
        </p:nvPicPr>
        <p:blipFill rotWithShape="1">
          <a:blip r:embed="rId2"/>
          <a:srcRect l="6355" t="19097" r="2733" b="27482"/>
          <a:stretch/>
        </p:blipFill>
        <p:spPr>
          <a:xfrm>
            <a:off x="1241947" y="3823855"/>
            <a:ext cx="6168788" cy="286603"/>
          </a:xfrm>
          <a:prstGeom prst="rect">
            <a:avLst/>
          </a:prstGeom>
        </p:spPr>
      </p:pic>
      <p:sp>
        <p:nvSpPr>
          <p:cNvPr id="5" name="Text Placeholder 4"/>
          <p:cNvSpPr>
            <a:spLocks noGrp="1"/>
          </p:cNvSpPr>
          <p:nvPr>
            <p:ph type="body" idx="2"/>
          </p:nvPr>
        </p:nvSpPr>
        <p:spPr>
          <a:xfrm>
            <a:off x="457200" y="4120896"/>
            <a:ext cx="8229600" cy="899159"/>
          </a:xfrm>
        </p:spPr>
        <p:txBody>
          <a:bodyPr/>
          <a:lstStyle/>
          <a:p>
            <a:r>
              <a:rPr lang="en-US" altLang="en-US" sz="2400" kern="1200" dirty="0">
                <a:solidFill>
                  <a:srgbClr val="000000"/>
                </a:solidFill>
                <a:latin typeface="Arial (Body)"/>
              </a:rPr>
              <a:t>You can determine the number of elements in the list parameter by calling its size member function</a:t>
            </a:r>
            <a:r>
              <a:rPr lang="en-US" altLang="en-US" sz="2400" kern="1200" dirty="0" smtClean="0">
                <a:solidFill>
                  <a:srgbClr val="000000"/>
                </a:solidFill>
                <a:latin typeface="Arial (Body)"/>
              </a:rPr>
              <a:t>.</a:t>
            </a:r>
            <a:endParaRPr lang="en-US" altLang="en-US" sz="24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18.10 Case Study: </a:t>
            </a:r>
            <a:r>
              <a:rPr lang="en-US" altLang="en-US" kern="1200" dirty="0">
                <a:latin typeface="Consolas" panose="020B0609020204030204" pitchFamily="49" charset="0"/>
                <a:ea typeface="+mj-ea"/>
                <a:cs typeface="+mj-cs"/>
              </a:rPr>
              <a:t>Array</a:t>
            </a:r>
            <a:r>
              <a:rPr lang="en-US" altLang="en-US" kern="1200" dirty="0" smtClean="0">
                <a:latin typeface="Times New Roman" panose="02020603050405020304" pitchFamily="18" charset="0"/>
                <a:ea typeface="+mj-ea"/>
                <a:cs typeface="+mj-cs"/>
              </a:rPr>
              <a:t> Class </a:t>
            </a:r>
            <a:r>
              <a:rPr lang="en-US" altLang="en-US" sz="2000" b="0" kern="1200" dirty="0" smtClean="0">
                <a:latin typeface="Times New Roman" panose="02020603050405020304" pitchFamily="18" charset="0"/>
                <a:ea typeface="+mj-ea"/>
                <a:cs typeface="+mj-cs"/>
              </a:rPr>
              <a:t>(26 of 26)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292631"/>
          </a:xfrm>
        </p:spPr>
        <p:txBody>
          <a:bodyPr>
            <a:spAutoFit/>
          </a:bodyPr>
          <a:lstStyle/>
          <a:p>
            <a:pPr marL="255651" indent="-255651" eaLnBrk="1" hangingPunct="1">
              <a:tabLst/>
              <a:defRPr/>
            </a:pPr>
            <a:r>
              <a:rPr lang="en-US" altLang="en-US" sz="2400" kern="1200" dirty="0" smtClean="0">
                <a:solidFill>
                  <a:srgbClr val="000000"/>
                </a:solidFill>
                <a:latin typeface="Arial (Body)"/>
                <a:ea typeface="+mn-ea"/>
                <a:cs typeface="+mn-cs"/>
              </a:rPr>
              <a:t>To </a:t>
            </a:r>
            <a:r>
              <a:rPr lang="en-US" altLang="en-US" sz="2400" kern="1200" dirty="0">
                <a:solidFill>
                  <a:srgbClr val="000000"/>
                </a:solidFill>
                <a:latin typeface="Arial (Body)"/>
                <a:ea typeface="+mn-ea"/>
                <a:cs typeface="+mn-cs"/>
              </a:rPr>
              <a:t>obtain each initializer and copy it into the </a:t>
            </a:r>
            <a:r>
              <a:rPr lang="en-US" altLang="en-US" sz="2400" kern="1200" dirty="0">
                <a:solidFill>
                  <a:srgbClr val="000000"/>
                </a:solidFill>
                <a:latin typeface="Consolas" panose="020B0609020204030204" pitchFamily="49" charset="0"/>
                <a:ea typeface="+mn-ea"/>
                <a:cs typeface="Consolas" panose="020B0609020204030204" pitchFamily="49" charset="0"/>
              </a:rPr>
              <a:t>Array</a:t>
            </a:r>
            <a:r>
              <a:rPr lang="en-US" altLang="en-US" sz="2400" kern="1200" dirty="0">
                <a:solidFill>
                  <a:srgbClr val="000000"/>
                </a:solidFill>
                <a:latin typeface="Arial (Body)"/>
                <a:ea typeface="+mn-ea"/>
                <a:cs typeface="+mn-cs"/>
              </a:rPr>
              <a:t> object’s dynamically allocated built-in array, you can use a range-based for as follows</a:t>
            </a:r>
            <a:r>
              <a:rPr lang="en-US" altLang="en-US" sz="2400" kern="1200" dirty="0" smtClean="0">
                <a:solidFill>
                  <a:srgbClr val="000000"/>
                </a:solidFill>
                <a:latin typeface="Arial (Body)"/>
                <a:ea typeface="+mn-ea"/>
                <a:cs typeface="+mn-cs"/>
              </a:rPr>
              <a:t>:</a:t>
            </a:r>
          </a:p>
        </p:txBody>
      </p:sp>
      <p:pic>
        <p:nvPicPr>
          <p:cNvPr id="5" name="Picture 4" descr="The computer code has 3 lines. The lines read as follows. Line 1. size underscore t i equals 0. Line 2. for left parenthesis i n t item colon list right parenthesis. Line 3, indented once. p t r left bracket i plus plus right bracket equals item semicolon."/>
          <p:cNvPicPr>
            <a:picLocks noChangeAspect="1"/>
          </p:cNvPicPr>
          <p:nvPr/>
        </p:nvPicPr>
        <p:blipFill rotWithShape="1">
          <a:blip r:embed="rId2"/>
          <a:srcRect l="2950" t="8711"/>
          <a:stretch/>
        </p:blipFill>
        <p:spPr>
          <a:xfrm>
            <a:off x="1158088" y="2920127"/>
            <a:ext cx="3413912" cy="990647"/>
          </a:xfrm>
          <a:prstGeom prst="rect">
            <a:avLst/>
          </a:prstGeom>
        </p:spPr>
      </p:pic>
    </p:spTree>
    <p:extLst>
      <p:ext uri="{BB962C8B-B14F-4D97-AF65-F5344CB8AC3E}">
        <p14:creationId xmlns:p14="http://schemas.microsoft.com/office/powerpoint/2010/main" val="1467697276"/>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18.11 Operators as Member v</a:t>
            </a:r>
            <a:r>
              <a:rPr lang="en-US" altLang="en-US" sz="100" kern="1200" dirty="0" smtClean="0">
                <a:solidFill>
                  <a:schemeClr val="bg1"/>
                </a:solidFill>
                <a:latin typeface="Times New Roman" panose="02020603050405020304" pitchFamily="18" charset="0"/>
                <a:ea typeface="+mj-ea"/>
                <a:cs typeface="+mj-cs"/>
              </a:rPr>
              <a:t>ersu</a:t>
            </a:r>
            <a:r>
              <a:rPr lang="en-US" altLang="en-US" sz="3200" kern="1200" dirty="0" smtClean="0">
                <a:latin typeface="Times New Roman" panose="02020603050405020304" pitchFamily="18" charset="0"/>
                <a:ea typeface="+mj-ea"/>
                <a:cs typeface="+mj-cs"/>
              </a:rPr>
              <a:t>s. Non-Member Functions </a:t>
            </a:r>
            <a:r>
              <a:rPr lang="en-US" altLang="en-US" sz="2000" b="0" kern="1200" dirty="0" smtClean="0">
                <a:latin typeface="Times New Roman" panose="02020603050405020304" pitchFamily="18" charset="0"/>
                <a:ea typeface="+mj-ea"/>
                <a:cs typeface="+mj-cs"/>
              </a:rPr>
              <a:t>(1 of 2)</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785348"/>
          </a:xfrm>
        </p:spPr>
        <p:txBody>
          <a:bodyPr>
            <a:spAutoFit/>
          </a:bodyPr>
          <a:lstStyle/>
          <a:p>
            <a:pPr marL="255651" indent="-255651" eaLnBrk="1" hangingPunct="1">
              <a:tabLst/>
              <a:defRPr/>
            </a:pPr>
            <a:r>
              <a:rPr lang="en-US" altLang="en-US" sz="1800" kern="1200" dirty="0">
                <a:solidFill>
                  <a:srgbClr val="000000"/>
                </a:solidFill>
                <a:latin typeface="Arial (Body)"/>
                <a:ea typeface="+mn-ea"/>
                <a:cs typeface="+mn-cs"/>
              </a:rPr>
              <a:t>Whether an operator function is implemented as a </a:t>
            </a:r>
            <a:r>
              <a:rPr lang="en-US" altLang="en-US" sz="1800" b="1" kern="1200" dirty="0">
                <a:solidFill>
                  <a:srgbClr val="000000"/>
                </a:solidFill>
                <a:latin typeface="Arial (Body)"/>
                <a:ea typeface="+mn-ea"/>
                <a:cs typeface="+mn-cs"/>
              </a:rPr>
              <a:t>member function </a:t>
            </a:r>
            <a:r>
              <a:rPr lang="en-US" altLang="en-US" sz="1800" kern="1200" dirty="0">
                <a:solidFill>
                  <a:srgbClr val="000000"/>
                </a:solidFill>
                <a:latin typeface="Arial (Body)"/>
                <a:ea typeface="+mn-ea"/>
                <a:cs typeface="+mn-cs"/>
              </a:rPr>
              <a:t>or as a non-member function, the operator is still used the same way in expressions.</a:t>
            </a:r>
          </a:p>
          <a:p>
            <a:pPr marL="255651" indent="-255651" eaLnBrk="1" hangingPunct="1">
              <a:tabLst/>
              <a:defRPr/>
            </a:pPr>
            <a:r>
              <a:rPr lang="en-US" altLang="en-US" sz="1800" kern="1200" dirty="0">
                <a:solidFill>
                  <a:srgbClr val="000000"/>
                </a:solidFill>
                <a:latin typeface="Arial (Body)"/>
                <a:ea typeface="+mn-ea"/>
                <a:cs typeface="+mn-cs"/>
              </a:rPr>
              <a:t>When an operator function is implemented as a </a:t>
            </a:r>
            <a:r>
              <a:rPr lang="en-US" altLang="en-US" sz="1800" b="1" kern="1200" dirty="0">
                <a:solidFill>
                  <a:srgbClr val="000000"/>
                </a:solidFill>
                <a:latin typeface="Arial (Body)"/>
                <a:ea typeface="+mn-ea"/>
                <a:cs typeface="+mn-cs"/>
              </a:rPr>
              <a:t>member function</a:t>
            </a:r>
            <a:r>
              <a:rPr lang="en-US" altLang="en-US" sz="1800" kern="1200" dirty="0">
                <a:solidFill>
                  <a:srgbClr val="000000"/>
                </a:solidFill>
                <a:latin typeface="Arial (Body)"/>
                <a:ea typeface="+mn-ea"/>
                <a:cs typeface="+mn-cs"/>
              </a:rPr>
              <a:t>, the </a:t>
            </a:r>
            <a:r>
              <a:rPr lang="en-US" altLang="en-US" sz="1800" b="1" kern="1200" dirty="0">
                <a:solidFill>
                  <a:srgbClr val="000000"/>
                </a:solidFill>
                <a:latin typeface="Arial (Body)"/>
                <a:ea typeface="+mn-ea"/>
                <a:cs typeface="+mn-cs"/>
              </a:rPr>
              <a:t>leftmost</a:t>
            </a:r>
            <a:r>
              <a:rPr lang="en-US" altLang="en-US" sz="1800" kern="1200" dirty="0">
                <a:solidFill>
                  <a:srgbClr val="000000"/>
                </a:solidFill>
                <a:latin typeface="Arial (Body)"/>
                <a:ea typeface="+mn-ea"/>
                <a:cs typeface="+mn-cs"/>
              </a:rPr>
              <a:t> (or only) operand must be an object (or a reference to an object) of the operator’s class</a:t>
            </a:r>
            <a:r>
              <a:rPr lang="en-US" altLang="en-US" sz="1800" kern="1200" dirty="0" smtClean="0">
                <a:solidFill>
                  <a:srgbClr val="000000"/>
                </a:solidFill>
                <a:latin typeface="Arial (Body)"/>
                <a:ea typeface="+mn-ea"/>
                <a:cs typeface="+mn-cs"/>
              </a:rPr>
              <a:t>.</a:t>
            </a:r>
          </a:p>
          <a:p>
            <a:pPr marL="255651" indent="-255651" eaLnBrk="1" hangingPunct="1">
              <a:tabLst/>
              <a:defRPr/>
            </a:pPr>
            <a:r>
              <a:rPr lang="en-US" altLang="en-US" sz="1800" kern="1200" dirty="0">
                <a:solidFill>
                  <a:srgbClr val="000000"/>
                </a:solidFill>
                <a:latin typeface="Arial (Body)"/>
              </a:rPr>
              <a:t>If the left operand </a:t>
            </a:r>
            <a:r>
              <a:rPr lang="en-US" altLang="en-US" sz="1800" b="1" kern="1200" dirty="0">
                <a:solidFill>
                  <a:srgbClr val="000000"/>
                </a:solidFill>
                <a:latin typeface="Arial (Body)"/>
              </a:rPr>
              <a:t>must</a:t>
            </a:r>
            <a:r>
              <a:rPr lang="en-US" altLang="en-US" sz="1800" kern="1200" dirty="0">
                <a:solidFill>
                  <a:srgbClr val="000000"/>
                </a:solidFill>
                <a:latin typeface="Arial (Body)"/>
              </a:rPr>
              <a:t> be an object of a different class or a fundamental type, this operator function </a:t>
            </a:r>
            <a:r>
              <a:rPr lang="en-US" altLang="en-US" sz="1800" b="1" kern="1200" dirty="0">
                <a:solidFill>
                  <a:srgbClr val="000000"/>
                </a:solidFill>
                <a:latin typeface="Arial (Body)"/>
              </a:rPr>
              <a:t>must</a:t>
            </a:r>
            <a:r>
              <a:rPr lang="en-US" altLang="en-US" sz="1800" kern="1200" dirty="0">
                <a:solidFill>
                  <a:srgbClr val="000000"/>
                </a:solidFill>
                <a:latin typeface="Arial (Body)"/>
              </a:rPr>
              <a:t> be implemented as a non-member function (as we did in Section </a:t>
            </a:r>
            <a:r>
              <a:rPr lang="en-US" altLang="en-US" sz="1800" kern="1200" dirty="0" smtClean="0">
                <a:solidFill>
                  <a:srgbClr val="000000"/>
                </a:solidFill>
                <a:latin typeface="Arial (Body)"/>
              </a:rPr>
              <a:t>18.5 </a:t>
            </a:r>
            <a:r>
              <a:rPr lang="en-US" altLang="en-US" sz="1800" kern="1200" dirty="0">
                <a:solidFill>
                  <a:srgbClr val="000000"/>
                </a:solidFill>
                <a:latin typeface="Arial (Body)"/>
              </a:rPr>
              <a:t>when </a:t>
            </a:r>
            <a:r>
              <a:rPr lang="en-US" altLang="en-US" sz="1800" kern="1200" dirty="0" smtClean="0">
                <a:solidFill>
                  <a:srgbClr val="000000"/>
                </a:solidFill>
                <a:latin typeface="Arial (Body)"/>
              </a:rPr>
              <a:t>overloading</a:t>
            </a:r>
            <a:endParaRPr lang="en-US" altLang="en-US" sz="1800" kern="1200" dirty="0">
              <a:solidFill>
                <a:srgbClr val="000000"/>
              </a:solidFill>
              <a:latin typeface="Arial (Body)"/>
              <a:ea typeface="+mn-ea"/>
              <a:cs typeface="+mn-cs"/>
            </a:endParaRPr>
          </a:p>
        </p:txBody>
      </p:sp>
      <p:graphicFrame>
        <p:nvGraphicFramePr>
          <p:cNvPr id="5" name="Object 4" descr="Left angle bracket left angle bracket and right angle bracket right angle bracket."/>
          <p:cNvGraphicFramePr>
            <a:graphicFrameLocks noChangeAspect="1"/>
          </p:cNvGraphicFramePr>
          <p:nvPr>
            <p:extLst>
              <p:ext uri="{D42A27DB-BD31-4B8C-83A1-F6EECF244321}">
                <p14:modId xmlns:p14="http://schemas.microsoft.com/office/powerpoint/2010/main" val="2563352449"/>
              </p:ext>
            </p:extLst>
          </p:nvPr>
        </p:nvGraphicFramePr>
        <p:xfrm>
          <a:off x="5338658" y="3999058"/>
          <a:ext cx="1063580" cy="286349"/>
        </p:xfrm>
        <a:graphic>
          <a:graphicData uri="http://schemas.openxmlformats.org/presentationml/2006/ole">
            <mc:AlternateContent xmlns:mc="http://schemas.openxmlformats.org/markup-compatibility/2006">
              <mc:Choice xmlns:v="urn:schemas-microsoft-com:vml" Requires="v">
                <p:oleObj spid="_x0000_s21781" name="Equation" r:id="rId3" imgW="660240" imgH="177480" progId="Equation.DSMT4">
                  <p:embed/>
                </p:oleObj>
              </mc:Choice>
              <mc:Fallback>
                <p:oleObj name="Equation" r:id="rId3" imgW="660240" imgH="177480" progId="Equation.DSMT4">
                  <p:embed/>
                  <p:pic>
                    <p:nvPicPr>
                      <p:cNvPr id="0" name=""/>
                      <p:cNvPicPr/>
                      <p:nvPr/>
                    </p:nvPicPr>
                    <p:blipFill>
                      <a:blip r:embed="rId4"/>
                      <a:stretch>
                        <a:fillRect/>
                      </a:stretch>
                    </p:blipFill>
                    <p:spPr>
                      <a:xfrm>
                        <a:off x="5338658" y="3999058"/>
                        <a:ext cx="1063580" cy="286349"/>
                      </a:xfrm>
                      <a:prstGeom prst="rect">
                        <a:avLst/>
                      </a:prstGeom>
                    </p:spPr>
                  </p:pic>
                </p:oleObj>
              </mc:Fallback>
            </mc:AlternateContent>
          </a:graphicData>
        </a:graphic>
      </p:graphicFrame>
      <p:sp>
        <p:nvSpPr>
          <p:cNvPr id="4" name="Text Placeholder 3"/>
          <p:cNvSpPr>
            <a:spLocks noGrp="1"/>
          </p:cNvSpPr>
          <p:nvPr>
            <p:ph type="body" idx="2"/>
          </p:nvPr>
        </p:nvSpPr>
        <p:spPr>
          <a:xfrm>
            <a:off x="457200" y="3900448"/>
            <a:ext cx="8229600" cy="2452259"/>
          </a:xfrm>
        </p:spPr>
        <p:txBody>
          <a:bodyPr/>
          <a:lstStyle/>
          <a:p>
            <a:pPr marL="255588" indent="5641975" eaLnBrk="1" hangingPunct="1">
              <a:buNone/>
              <a:tabLst/>
              <a:defRPr/>
            </a:pPr>
            <a:r>
              <a:rPr lang="en-US" altLang="en-US" sz="1800" kern="1200" dirty="0">
                <a:solidFill>
                  <a:srgbClr val="000000"/>
                </a:solidFill>
                <a:latin typeface="Arial (Body)"/>
              </a:rPr>
              <a:t>as the stream insertion and extraction operators, respectively).</a:t>
            </a:r>
          </a:p>
          <a:p>
            <a:pPr marL="255651" indent="-255651" eaLnBrk="1" hangingPunct="1">
              <a:tabLst/>
              <a:defRPr/>
            </a:pPr>
            <a:r>
              <a:rPr lang="en-US" altLang="en-US" sz="1800" kern="1200" dirty="0">
                <a:solidFill>
                  <a:srgbClr val="000000"/>
                </a:solidFill>
                <a:latin typeface="Arial (Body)"/>
              </a:rPr>
              <a:t>A non-member operator function can be made a </a:t>
            </a:r>
            <a:r>
              <a:rPr lang="en-US" altLang="en-US" sz="1800" kern="1200" dirty="0">
                <a:solidFill>
                  <a:srgbClr val="000000"/>
                </a:solidFill>
                <a:latin typeface="Consolas" panose="020B0609020204030204" pitchFamily="49" charset="0"/>
                <a:cs typeface="Consolas" panose="020B0609020204030204" pitchFamily="49" charset="0"/>
              </a:rPr>
              <a:t>friend</a:t>
            </a:r>
            <a:r>
              <a:rPr lang="en-US" altLang="en-US" sz="1800" kern="1200" dirty="0">
                <a:solidFill>
                  <a:srgbClr val="000000"/>
                </a:solidFill>
                <a:latin typeface="Arial (Body)"/>
              </a:rPr>
              <a:t> of a class if that function must access </a:t>
            </a:r>
            <a:r>
              <a:rPr lang="en-US" altLang="en-US" sz="1800" kern="1200" dirty="0">
                <a:solidFill>
                  <a:srgbClr val="000000"/>
                </a:solidFill>
                <a:latin typeface="Consolas" panose="020B0609020204030204" pitchFamily="49" charset="0"/>
                <a:cs typeface="Consolas" panose="020B0609020204030204" pitchFamily="49" charset="0"/>
              </a:rPr>
              <a:t>private</a:t>
            </a:r>
            <a:r>
              <a:rPr lang="en-US" altLang="en-US" sz="1800" kern="1200" dirty="0">
                <a:solidFill>
                  <a:srgbClr val="000000"/>
                </a:solidFill>
                <a:latin typeface="Arial (Body)"/>
              </a:rPr>
              <a:t> or </a:t>
            </a:r>
            <a:r>
              <a:rPr lang="en-US" altLang="en-US" sz="1800" kern="1200" dirty="0">
                <a:solidFill>
                  <a:srgbClr val="000000"/>
                </a:solidFill>
                <a:latin typeface="Consolas" panose="020B0609020204030204" pitchFamily="49" charset="0"/>
                <a:cs typeface="Consolas" panose="020B0609020204030204" pitchFamily="49" charset="0"/>
              </a:rPr>
              <a:t>protected</a:t>
            </a:r>
            <a:r>
              <a:rPr lang="en-US" altLang="en-US" sz="1800" kern="1200" dirty="0">
                <a:solidFill>
                  <a:srgbClr val="000000"/>
                </a:solidFill>
                <a:latin typeface="Arial (Body)"/>
              </a:rPr>
              <a:t> members of that class directly.</a:t>
            </a:r>
          </a:p>
          <a:p>
            <a:pPr marL="255651" indent="-255651" eaLnBrk="1" hangingPunct="1">
              <a:tabLst/>
              <a:defRPr/>
            </a:pPr>
            <a:r>
              <a:rPr lang="en-US" altLang="en-US" sz="1800" kern="1200" dirty="0">
                <a:solidFill>
                  <a:srgbClr val="000000"/>
                </a:solidFill>
                <a:latin typeface="Arial (Body)"/>
              </a:rPr>
              <a:t>Operator member functions of a specific class are called only when the left operand of a binary operator is specifically an object of that class, or when the </a:t>
            </a:r>
            <a:r>
              <a:rPr lang="en-US" altLang="en-US" sz="1800" b="1" kern="1200" dirty="0">
                <a:solidFill>
                  <a:srgbClr val="000000"/>
                </a:solidFill>
                <a:latin typeface="Arial (Body)"/>
              </a:rPr>
              <a:t>single operand of a unary operator </a:t>
            </a:r>
            <a:r>
              <a:rPr lang="en-US" altLang="en-US" sz="1800" kern="1200" dirty="0">
                <a:solidFill>
                  <a:srgbClr val="000000"/>
                </a:solidFill>
                <a:latin typeface="Arial (Body)"/>
              </a:rPr>
              <a:t>is an object of that class.</a:t>
            </a: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75"/>
            <a:ext cx="8229600" cy="1169988"/>
          </a:xfrm>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18.11 Operators as Member v</a:t>
            </a:r>
            <a:r>
              <a:rPr lang="en-US" altLang="en-US" sz="100" kern="1200" dirty="0" smtClean="0">
                <a:solidFill>
                  <a:schemeClr val="bg1"/>
                </a:solidFill>
                <a:latin typeface="Times New Roman" panose="02020603050405020304" pitchFamily="18" charset="0"/>
                <a:ea typeface="+mj-ea"/>
                <a:cs typeface="+mj-cs"/>
              </a:rPr>
              <a:t>ersu</a:t>
            </a:r>
            <a:r>
              <a:rPr lang="en-US" altLang="en-US" sz="3200" kern="1200" dirty="0" smtClean="0">
                <a:latin typeface="Times New Roman" panose="02020603050405020304" pitchFamily="18" charset="0"/>
                <a:ea typeface="+mj-ea"/>
                <a:cs typeface="+mj-cs"/>
              </a:rPr>
              <a:t>s. Non-Member Functions </a:t>
            </a:r>
            <a:r>
              <a:rPr lang="en-US" altLang="en-US" sz="2000" b="0" kern="1200" dirty="0" smtClean="0">
                <a:latin typeface="Times New Roman" panose="02020603050405020304" pitchFamily="18" charset="0"/>
                <a:ea typeface="+mj-ea"/>
                <a:cs typeface="+mj-cs"/>
              </a:rPr>
              <a:t>(2 of 2)</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786063"/>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You might choose a non-member function to overload an </a:t>
            </a:r>
            <a:r>
              <a:rPr lang="en-US" altLang="en-US" sz="2400" kern="1200" dirty="0" smtClean="0">
                <a:solidFill>
                  <a:srgbClr val="000000"/>
                </a:solidFill>
                <a:latin typeface="Arial (Body)"/>
                <a:ea typeface="+mn-ea"/>
                <a:cs typeface="+mn-cs"/>
              </a:rPr>
              <a:t>operator to </a:t>
            </a:r>
            <a:r>
              <a:rPr lang="en-US" altLang="en-US" sz="2400" kern="1200" dirty="0">
                <a:solidFill>
                  <a:srgbClr val="000000"/>
                </a:solidFill>
                <a:latin typeface="Arial (Body)"/>
                <a:ea typeface="+mn-ea"/>
                <a:cs typeface="+mn-cs"/>
              </a:rPr>
              <a:t>enable the operator to be </a:t>
            </a:r>
            <a:r>
              <a:rPr lang="en-US" altLang="en-US" sz="2400" b="1" kern="1200" dirty="0">
                <a:solidFill>
                  <a:srgbClr val="000000"/>
                </a:solidFill>
                <a:latin typeface="Arial (Body)"/>
                <a:ea typeface="+mn-ea"/>
                <a:cs typeface="+mn-cs"/>
              </a:rPr>
              <a:t>commutative</a:t>
            </a:r>
            <a:r>
              <a:rPr lang="en-US" altLang="en-US" sz="2400" kern="1200" dirty="0">
                <a:solidFill>
                  <a:srgbClr val="000000"/>
                </a:solidFill>
                <a:latin typeface="Arial (Body)"/>
                <a:ea typeface="+mn-ea"/>
                <a:cs typeface="+mn-cs"/>
              </a:rPr>
              <a:t>.</a:t>
            </a:r>
          </a:p>
          <a:p>
            <a:pPr marL="255651" indent="-255651" eaLnBrk="1" hangingPunct="1">
              <a:tabLst/>
              <a:defRPr/>
            </a:pPr>
            <a:r>
              <a:rPr lang="en-US" altLang="en-US" sz="2400" kern="1200" dirty="0">
                <a:solidFill>
                  <a:srgbClr val="000000"/>
                </a:solidFill>
                <a:latin typeface="Arial (Body)"/>
                <a:ea typeface="+mn-ea"/>
                <a:cs typeface="+mn-cs"/>
              </a:rPr>
              <a:t>The </a:t>
            </a:r>
            <a:r>
              <a:rPr lang="en-US" altLang="en-US" sz="2400" kern="1200" dirty="0">
                <a:solidFill>
                  <a:srgbClr val="000000"/>
                </a:solidFill>
                <a:latin typeface="Consolas" panose="020B0609020204030204" pitchFamily="49" charset="0"/>
                <a:ea typeface="+mn-ea"/>
                <a:cs typeface="Consolas" panose="020B0609020204030204" pitchFamily="49" charset="0"/>
              </a:rPr>
              <a:t>operator+</a:t>
            </a:r>
            <a:r>
              <a:rPr lang="en-US" altLang="en-US" sz="2400" kern="1200" dirty="0">
                <a:solidFill>
                  <a:srgbClr val="000000"/>
                </a:solidFill>
                <a:latin typeface="Arial (Body)"/>
                <a:ea typeface="+mn-ea"/>
                <a:cs typeface="+mn-cs"/>
              </a:rPr>
              <a:t> function that deals with the </a:t>
            </a:r>
            <a:r>
              <a:rPr lang="en-US" altLang="en-US" sz="2400" kern="1200" dirty="0" smtClean="0">
                <a:solidFill>
                  <a:srgbClr val="000000"/>
                </a:solidFill>
                <a:latin typeface="Consolas" panose="020B0609020204030204" pitchFamily="49" charset="0"/>
                <a:ea typeface="+mn-ea"/>
                <a:cs typeface="Consolas" panose="020B0609020204030204" pitchFamily="49" charset="0"/>
              </a:rPr>
              <a:t>Huge</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Int</a:t>
            </a:r>
            <a:r>
              <a:rPr lang="en-US" altLang="en-US" sz="2400" kern="1200" dirty="0" smtClean="0">
                <a:solidFill>
                  <a:srgbClr val="000000"/>
                </a:solidFill>
                <a:latin typeface="Arial (Body)"/>
                <a:ea typeface="+mn-ea"/>
                <a:cs typeface="+mn-cs"/>
              </a:rPr>
              <a:t> </a:t>
            </a:r>
            <a:r>
              <a:rPr lang="en-US" altLang="en-US" sz="2400" kern="1200" dirty="0">
                <a:solidFill>
                  <a:srgbClr val="000000"/>
                </a:solidFill>
                <a:latin typeface="Arial (Body)"/>
                <a:ea typeface="+mn-ea"/>
                <a:cs typeface="+mn-cs"/>
              </a:rPr>
              <a:t>on the left, can still be a </a:t>
            </a:r>
            <a:r>
              <a:rPr lang="en-US" altLang="en-US" sz="2400" b="1" kern="1200" dirty="0">
                <a:solidFill>
                  <a:srgbClr val="000000"/>
                </a:solidFill>
                <a:latin typeface="Arial (Body)"/>
                <a:ea typeface="+mn-ea"/>
                <a:cs typeface="+mn-cs"/>
              </a:rPr>
              <a:t>member function</a:t>
            </a:r>
            <a:r>
              <a:rPr lang="en-US" altLang="en-US" sz="2400" kern="1200" dirty="0">
                <a:solidFill>
                  <a:srgbClr val="000000"/>
                </a:solidFill>
                <a:latin typeface="Arial (Body)"/>
                <a:ea typeface="+mn-ea"/>
                <a:cs typeface="+mn-cs"/>
              </a:rPr>
              <a:t>.</a:t>
            </a:r>
          </a:p>
          <a:p>
            <a:pPr marL="255651" indent="-255651" eaLnBrk="1" hangingPunct="1">
              <a:tabLst/>
              <a:defRPr/>
            </a:pPr>
            <a:r>
              <a:rPr lang="en-US" altLang="en-US" sz="2400" kern="1200" dirty="0">
                <a:solidFill>
                  <a:srgbClr val="000000"/>
                </a:solidFill>
                <a:latin typeface="Arial (Body)"/>
                <a:ea typeface="+mn-ea"/>
                <a:cs typeface="+mn-cs"/>
              </a:rPr>
              <a:t>The </a:t>
            </a:r>
            <a:r>
              <a:rPr lang="en-US" altLang="en-US" sz="2400" b="1" kern="1200" dirty="0">
                <a:solidFill>
                  <a:srgbClr val="000000"/>
                </a:solidFill>
                <a:latin typeface="Arial (Body)"/>
                <a:ea typeface="+mn-ea"/>
                <a:cs typeface="+mn-cs"/>
              </a:rPr>
              <a:t>non-member function </a:t>
            </a:r>
            <a:r>
              <a:rPr lang="en-US" altLang="en-US" sz="2400" kern="1200" dirty="0">
                <a:solidFill>
                  <a:srgbClr val="000000"/>
                </a:solidFill>
                <a:latin typeface="Arial (Body)"/>
                <a:ea typeface="+mn-ea"/>
                <a:cs typeface="+mn-cs"/>
              </a:rPr>
              <a:t>simply swaps its arguments and calls the </a:t>
            </a:r>
            <a:r>
              <a:rPr lang="en-US" altLang="en-US" sz="2400" b="1" kern="1200" dirty="0">
                <a:solidFill>
                  <a:srgbClr val="000000"/>
                </a:solidFill>
                <a:latin typeface="Arial (Body)"/>
                <a:ea typeface="+mn-ea"/>
                <a:cs typeface="+mn-cs"/>
              </a:rPr>
              <a:t>member function</a:t>
            </a:r>
            <a:r>
              <a:rPr lang="en-US" altLang="en-US" sz="2400" kern="1200" dirty="0">
                <a:solidFill>
                  <a:srgbClr val="000000"/>
                </a:solidFill>
                <a:latin typeface="Arial (Body)"/>
                <a:ea typeface="+mn-ea"/>
                <a:cs typeface="+mn-cs"/>
              </a:rPr>
              <a:t>.</a:t>
            </a: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18.12 Converting Between Types </a:t>
            </a:r>
            <a:r>
              <a:rPr lang="en-US" altLang="en-US" sz="2000" b="0" kern="1200" dirty="0" smtClean="0">
                <a:latin typeface="Times New Roman" panose="02020603050405020304" pitchFamily="18" charset="0"/>
                <a:ea typeface="+mj-ea"/>
                <a:cs typeface="+mj-cs"/>
              </a:rPr>
              <a:t>(1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678173"/>
          </a:xfrm>
        </p:spPr>
        <p:txBody>
          <a:bodyPr>
            <a:spAutoFit/>
          </a:bodyPr>
          <a:lstStyle/>
          <a:p>
            <a:pPr marL="255651" indent="-255651" eaLnBrk="1" hangingPunct="1">
              <a:tabLst/>
              <a:defRPr/>
            </a:pPr>
            <a:r>
              <a:rPr lang="en-US" altLang="en-US" sz="2200" kern="1200" dirty="0">
                <a:solidFill>
                  <a:srgbClr val="000000"/>
                </a:solidFill>
                <a:latin typeface="Arial (Body)"/>
                <a:ea typeface="+mn-ea"/>
                <a:cs typeface="+mn-cs"/>
              </a:rPr>
              <a:t>Sometimes all the operations “stay within a type.” For example, adding an </a:t>
            </a:r>
            <a:r>
              <a:rPr lang="en-US" altLang="en-US" sz="2200" kern="1200" dirty="0">
                <a:solidFill>
                  <a:srgbClr val="000000"/>
                </a:solidFill>
                <a:latin typeface="Consolas" panose="020B0609020204030204" pitchFamily="49" charset="0"/>
                <a:ea typeface="+mn-ea"/>
                <a:cs typeface="Consolas" panose="020B0609020204030204" pitchFamily="49" charset="0"/>
              </a:rPr>
              <a:t>int</a:t>
            </a:r>
            <a:r>
              <a:rPr lang="en-US" altLang="en-US" sz="2200" kern="1200" dirty="0">
                <a:solidFill>
                  <a:srgbClr val="000000"/>
                </a:solidFill>
                <a:latin typeface="Arial (Body)"/>
                <a:ea typeface="+mn-ea"/>
                <a:cs typeface="+mn-cs"/>
              </a:rPr>
              <a:t> to an </a:t>
            </a:r>
            <a:r>
              <a:rPr lang="en-US" altLang="en-US" sz="2200" kern="1200" dirty="0">
                <a:solidFill>
                  <a:srgbClr val="000000"/>
                </a:solidFill>
                <a:latin typeface="Consolas" panose="020B0609020204030204" pitchFamily="49" charset="0"/>
                <a:ea typeface="+mn-ea"/>
                <a:cs typeface="Consolas" panose="020B0609020204030204" pitchFamily="49" charset="0"/>
              </a:rPr>
              <a:t>int</a:t>
            </a:r>
            <a:r>
              <a:rPr lang="en-US" altLang="en-US" sz="2200" kern="1200" dirty="0">
                <a:solidFill>
                  <a:srgbClr val="000000"/>
                </a:solidFill>
                <a:latin typeface="Arial (Body)"/>
                <a:ea typeface="+mn-ea"/>
                <a:cs typeface="+mn-cs"/>
              </a:rPr>
              <a:t> produces an </a:t>
            </a:r>
            <a:r>
              <a:rPr lang="en-US" altLang="en-US" sz="2200" kern="1200" dirty="0">
                <a:solidFill>
                  <a:srgbClr val="000000"/>
                </a:solidFill>
                <a:latin typeface="Consolas" panose="020B0609020204030204" pitchFamily="49" charset="0"/>
                <a:ea typeface="+mn-ea"/>
                <a:cs typeface="Consolas" panose="020B0609020204030204" pitchFamily="49" charset="0"/>
              </a:rPr>
              <a:t>int</a:t>
            </a:r>
            <a:r>
              <a:rPr lang="en-US" altLang="en-US" sz="2200" kern="1200" dirty="0">
                <a:solidFill>
                  <a:srgbClr val="000000"/>
                </a:solidFill>
                <a:latin typeface="Arial (Body)"/>
                <a:ea typeface="+mn-ea"/>
                <a:cs typeface="+mn-cs"/>
              </a:rPr>
              <a:t>.</a:t>
            </a:r>
          </a:p>
          <a:p>
            <a:pPr marL="255651" indent="-255651" eaLnBrk="1" hangingPunct="1">
              <a:tabLst/>
              <a:defRPr/>
            </a:pPr>
            <a:r>
              <a:rPr lang="en-US" altLang="en-US" sz="2200" kern="1200" dirty="0">
                <a:solidFill>
                  <a:srgbClr val="000000"/>
                </a:solidFill>
                <a:latin typeface="Arial (Body)"/>
                <a:ea typeface="+mn-ea"/>
                <a:cs typeface="+mn-cs"/>
              </a:rPr>
              <a:t>It’s often necessary, however, to convert data of one type to data of another type.</a:t>
            </a:r>
          </a:p>
          <a:p>
            <a:pPr marL="255651" indent="-255651" eaLnBrk="1" hangingPunct="1">
              <a:tabLst/>
              <a:defRPr/>
            </a:pPr>
            <a:r>
              <a:rPr lang="en-US" altLang="en-US" sz="2200" kern="1200" dirty="0">
                <a:solidFill>
                  <a:srgbClr val="000000"/>
                </a:solidFill>
                <a:latin typeface="Arial (Body)"/>
                <a:ea typeface="+mn-ea"/>
                <a:cs typeface="+mn-cs"/>
              </a:rPr>
              <a:t>The compiler knows how to perform certain conversions among fundamental types.</a:t>
            </a:r>
          </a:p>
          <a:p>
            <a:pPr marL="255651" indent="-255651" eaLnBrk="1" hangingPunct="1">
              <a:tabLst/>
              <a:defRPr/>
            </a:pPr>
            <a:r>
              <a:rPr lang="en-US" altLang="en-US" sz="2200" kern="1200" dirty="0">
                <a:solidFill>
                  <a:srgbClr val="000000"/>
                </a:solidFill>
                <a:latin typeface="Arial (Body)"/>
                <a:ea typeface="+mn-ea"/>
                <a:cs typeface="+mn-cs"/>
              </a:rPr>
              <a:t>You can use </a:t>
            </a:r>
            <a:r>
              <a:rPr lang="en-US" altLang="en-US" sz="2200" b="1" kern="1200" dirty="0">
                <a:solidFill>
                  <a:srgbClr val="000000"/>
                </a:solidFill>
                <a:latin typeface="Arial (Body)"/>
                <a:ea typeface="+mn-ea"/>
                <a:cs typeface="+mn-cs"/>
              </a:rPr>
              <a:t>cast operators </a:t>
            </a:r>
            <a:r>
              <a:rPr lang="en-US" altLang="en-US" sz="2200" kern="1200" dirty="0">
                <a:solidFill>
                  <a:srgbClr val="000000"/>
                </a:solidFill>
                <a:latin typeface="Arial (Body)"/>
                <a:ea typeface="+mn-ea"/>
                <a:cs typeface="+mn-cs"/>
              </a:rPr>
              <a:t>to </a:t>
            </a:r>
            <a:r>
              <a:rPr lang="en-US" altLang="en-US" sz="2200" b="1" kern="1200" dirty="0">
                <a:solidFill>
                  <a:srgbClr val="000000"/>
                </a:solidFill>
                <a:latin typeface="Arial (Body)"/>
                <a:ea typeface="+mn-ea"/>
                <a:cs typeface="+mn-cs"/>
              </a:rPr>
              <a:t>force</a:t>
            </a:r>
            <a:r>
              <a:rPr lang="en-US" altLang="en-US" sz="2200" kern="1200" dirty="0">
                <a:solidFill>
                  <a:srgbClr val="000000"/>
                </a:solidFill>
                <a:latin typeface="Arial (Body)"/>
                <a:ea typeface="+mn-ea"/>
                <a:cs typeface="+mn-cs"/>
              </a:rPr>
              <a:t> conversions among fundamental types.</a:t>
            </a:r>
          </a:p>
          <a:p>
            <a:pPr marL="255651" indent="-255651" eaLnBrk="1" hangingPunct="1">
              <a:tabLst/>
              <a:defRPr/>
            </a:pPr>
            <a:r>
              <a:rPr lang="en-US" altLang="en-US" sz="2200" kern="1200" dirty="0">
                <a:solidFill>
                  <a:srgbClr val="000000"/>
                </a:solidFill>
                <a:latin typeface="Arial (Body)"/>
                <a:ea typeface="+mn-ea"/>
                <a:cs typeface="+mn-cs"/>
              </a:rPr>
              <a:t>The compiler cannot know in advance how to convert among user-defined types, and between user-defined types and fundamental types, so you must specify how to do this.</a:t>
            </a: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rPr>
              <a:t>18.12 </a:t>
            </a:r>
            <a:r>
              <a:rPr lang="en-US" altLang="en-US" kern="1200" dirty="0">
                <a:latin typeface="Times New Roman" panose="02020603050405020304" pitchFamily="18" charset="0"/>
              </a:rPr>
              <a:t>Converting Between Types </a:t>
            </a:r>
            <a:r>
              <a:rPr lang="en-US" altLang="en-US" sz="2000" b="0" kern="1200" dirty="0" smtClean="0">
                <a:latin typeface="Times New Roman" panose="02020603050405020304" pitchFamily="18" charset="0"/>
              </a:rPr>
              <a:t>(2 </a:t>
            </a:r>
            <a:r>
              <a:rPr lang="en-US" altLang="en-US" sz="2000" b="0" kern="1200" dirty="0">
                <a:latin typeface="Times New Roman" panose="02020603050405020304" pitchFamily="18" charset="0"/>
              </a:rPr>
              <a:t>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Such conversions can be performed with </a:t>
            </a:r>
            <a:r>
              <a:rPr lang="en-US" altLang="en-US" sz="2400" b="1" kern="1200" dirty="0">
                <a:solidFill>
                  <a:srgbClr val="000000"/>
                </a:solidFill>
                <a:latin typeface="Arial (Body)"/>
                <a:ea typeface="+mn-ea"/>
                <a:cs typeface="+mn-cs"/>
              </a:rPr>
              <a:t>conversion constructors</a:t>
            </a:r>
            <a:r>
              <a:rPr lang="en-US" altLang="en-US" sz="2400" kern="1200" dirty="0">
                <a:solidFill>
                  <a:srgbClr val="000000"/>
                </a:solidFill>
                <a:latin typeface="Arial (Body)"/>
                <a:ea typeface="+mn-ea"/>
                <a:cs typeface="+mn-cs"/>
              </a:rPr>
              <a:t>—constructors that can be called with a single argument (we’ll refer to these as </a:t>
            </a:r>
            <a:r>
              <a:rPr lang="en-US" altLang="en-US" sz="2400" b="1" kern="1200" dirty="0">
                <a:solidFill>
                  <a:srgbClr val="000000"/>
                </a:solidFill>
                <a:latin typeface="Arial (Body)"/>
                <a:ea typeface="+mn-ea"/>
                <a:cs typeface="+mn-cs"/>
              </a:rPr>
              <a:t>single-argument </a:t>
            </a:r>
            <a:r>
              <a:rPr lang="en-US" altLang="en-US" sz="2400" b="1" kern="1200" dirty="0" smtClean="0">
                <a:solidFill>
                  <a:srgbClr val="000000"/>
                </a:solidFill>
                <a:latin typeface="Arial (Body)"/>
                <a:ea typeface="+mn-ea"/>
                <a:cs typeface="+mn-cs"/>
              </a:rPr>
              <a:t>constructors</a:t>
            </a:r>
            <a:r>
              <a:rPr lang="en-US" altLang="en-US" sz="2400" kern="1200" dirty="0" smtClean="0">
                <a:solidFill>
                  <a:srgbClr val="000000"/>
                </a:solidFill>
                <a:latin typeface="Arial (Body)"/>
                <a:ea typeface="+mn-ea"/>
                <a:cs typeface="+mn-cs"/>
              </a:rPr>
              <a:t>).</a:t>
            </a:r>
            <a:endParaRPr lang="en-US" altLang="en-US" sz="2400" kern="1200" dirty="0">
              <a:solidFill>
                <a:srgbClr val="000000"/>
              </a:solidFill>
              <a:latin typeface="Arial (Body)"/>
              <a:ea typeface="+mn-ea"/>
              <a:cs typeface="+mn-cs"/>
            </a:endParaRPr>
          </a:p>
          <a:p>
            <a:pPr marL="255651" indent="-255651" eaLnBrk="1" hangingPunct="1">
              <a:tabLst/>
              <a:defRPr/>
            </a:pPr>
            <a:r>
              <a:rPr lang="en-US" altLang="en-US" sz="2400" kern="1200" dirty="0">
                <a:solidFill>
                  <a:srgbClr val="000000"/>
                </a:solidFill>
                <a:latin typeface="Arial (Body)"/>
                <a:ea typeface="+mn-ea"/>
                <a:cs typeface="+mn-cs"/>
              </a:rPr>
              <a:t>Such constructors can turn objects of other types (including fundamental types) into objects of a particular </a:t>
            </a:r>
            <a:r>
              <a:rPr lang="en-US" altLang="en-US" sz="2400" kern="1200" dirty="0" smtClean="0">
                <a:solidFill>
                  <a:srgbClr val="000000"/>
                </a:solidFill>
                <a:latin typeface="Arial (Body)"/>
                <a:ea typeface="+mn-ea"/>
                <a:cs typeface="+mn-cs"/>
              </a:rPr>
              <a:t>class.</a:t>
            </a:r>
            <a:endParaRPr lang="en-US" altLang="en-US" sz="24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18.12 Converting Between Types </a:t>
            </a:r>
            <a:r>
              <a:rPr lang="en-US" altLang="en-US" sz="2000" b="0" kern="1200" dirty="0" smtClean="0">
                <a:latin typeface="Times New Roman" panose="02020603050405020304" pitchFamily="18" charset="0"/>
                <a:ea typeface="+mj-ea"/>
                <a:cs typeface="+mj-cs"/>
              </a:rPr>
              <a:t>(3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1"/>
            <a:ext cx="8229600" cy="2993097"/>
          </a:xfrm>
        </p:spPr>
        <p:txBody>
          <a:bodyPr>
            <a:spAutoFit/>
          </a:bodyPr>
          <a:lstStyle/>
          <a:p>
            <a:pPr marL="0" indent="0" eaLnBrk="1" hangingPunct="1">
              <a:buNone/>
              <a:tabLst/>
              <a:defRPr/>
            </a:pPr>
            <a:r>
              <a:rPr lang="en-US" sz="2000" b="1" kern="1200" dirty="0">
                <a:solidFill>
                  <a:srgbClr val="000000"/>
                </a:solidFill>
                <a:latin typeface="Arial (Body)"/>
                <a:ea typeface="+mn-ea"/>
                <a:cs typeface="+mn-cs"/>
              </a:rPr>
              <a:t>Conversion Operators</a:t>
            </a:r>
          </a:p>
          <a:p>
            <a:pPr marL="255651" indent="-255651" eaLnBrk="1" hangingPunct="1">
              <a:tabLst/>
              <a:defRPr/>
            </a:pPr>
            <a:r>
              <a:rPr lang="en-US" sz="2000" kern="1200" dirty="0">
                <a:solidFill>
                  <a:srgbClr val="000000"/>
                </a:solidFill>
                <a:latin typeface="Arial (Body)"/>
                <a:ea typeface="+mn-ea"/>
                <a:cs typeface="+mn-cs"/>
              </a:rPr>
              <a:t>A </a:t>
            </a:r>
            <a:r>
              <a:rPr lang="en-US" sz="2000" b="1" kern="1200" dirty="0">
                <a:solidFill>
                  <a:srgbClr val="000000"/>
                </a:solidFill>
                <a:latin typeface="Arial (Body)"/>
                <a:ea typeface="+mn-ea"/>
                <a:cs typeface="+mn-cs"/>
              </a:rPr>
              <a:t>conversion operator</a:t>
            </a:r>
            <a:r>
              <a:rPr lang="en-US" sz="2000" kern="1200" dirty="0">
                <a:solidFill>
                  <a:srgbClr val="000000"/>
                </a:solidFill>
                <a:latin typeface="Arial (Body)"/>
                <a:ea typeface="+mn-ea"/>
                <a:cs typeface="+mn-cs"/>
              </a:rPr>
              <a:t> (also called a </a:t>
            </a:r>
            <a:r>
              <a:rPr lang="en-US" sz="2000" b="1" kern="1200" dirty="0">
                <a:solidFill>
                  <a:srgbClr val="000000"/>
                </a:solidFill>
                <a:latin typeface="Arial (Body)"/>
                <a:ea typeface="+mn-ea"/>
                <a:cs typeface="+mn-cs"/>
              </a:rPr>
              <a:t>cast operator</a:t>
            </a:r>
            <a:r>
              <a:rPr lang="en-US" sz="2000" kern="1200" dirty="0">
                <a:solidFill>
                  <a:srgbClr val="000000"/>
                </a:solidFill>
                <a:latin typeface="Arial (Body)"/>
                <a:ea typeface="+mn-ea"/>
                <a:cs typeface="+mn-cs"/>
              </a:rPr>
              <a:t>) can be used to convert an object of one class to another type.</a:t>
            </a:r>
          </a:p>
          <a:p>
            <a:pPr marL="255651" indent="-255651" eaLnBrk="1" hangingPunct="1">
              <a:tabLst/>
              <a:defRPr/>
            </a:pPr>
            <a:r>
              <a:rPr lang="en-US" sz="2000" kern="1200" dirty="0">
                <a:solidFill>
                  <a:srgbClr val="000000"/>
                </a:solidFill>
                <a:latin typeface="Arial (Body)"/>
                <a:ea typeface="+mn-ea"/>
                <a:cs typeface="+mn-cs"/>
              </a:rPr>
              <a:t>Such a conversion operator must be a </a:t>
            </a:r>
            <a:r>
              <a:rPr lang="en-US" sz="2000" b="1" kern="1200" dirty="0">
                <a:solidFill>
                  <a:srgbClr val="000000"/>
                </a:solidFill>
                <a:latin typeface="Arial (Body)"/>
                <a:ea typeface="+mn-ea"/>
                <a:cs typeface="+mn-cs"/>
              </a:rPr>
              <a:t>non-</a:t>
            </a:r>
            <a:r>
              <a:rPr lang="en-US" sz="2000" b="1" kern="1200" dirty="0">
                <a:solidFill>
                  <a:srgbClr val="000000"/>
                </a:solidFill>
                <a:latin typeface="Consolas" panose="020B0609020204030204" pitchFamily="49" charset="0"/>
                <a:ea typeface="+mn-ea"/>
                <a:cs typeface="Consolas" panose="020B0609020204030204" pitchFamily="49" charset="0"/>
              </a:rPr>
              <a:t>static</a:t>
            </a:r>
            <a:r>
              <a:rPr lang="en-US" sz="2000" b="1" kern="1200" dirty="0">
                <a:solidFill>
                  <a:srgbClr val="000000"/>
                </a:solidFill>
                <a:latin typeface="Arial (Body)"/>
                <a:ea typeface="+mn-ea"/>
                <a:cs typeface="+mn-cs"/>
              </a:rPr>
              <a:t> member function.</a:t>
            </a:r>
          </a:p>
          <a:p>
            <a:pPr marL="255651" indent="-255651" eaLnBrk="1" hangingPunct="1">
              <a:tabLst/>
              <a:defRPr/>
            </a:pPr>
            <a:r>
              <a:rPr lang="en-US" sz="2000" kern="1200" dirty="0">
                <a:solidFill>
                  <a:srgbClr val="000000"/>
                </a:solidFill>
                <a:latin typeface="Arial (Body)"/>
                <a:ea typeface="+mn-ea"/>
                <a:cs typeface="+mn-cs"/>
              </a:rPr>
              <a:t>The function </a:t>
            </a:r>
            <a:r>
              <a:rPr lang="en-US" sz="2000" kern="1200" dirty="0" smtClean="0">
                <a:solidFill>
                  <a:srgbClr val="000000"/>
                </a:solidFill>
                <a:latin typeface="Arial (Body)"/>
                <a:ea typeface="+mn-ea"/>
                <a:cs typeface="+mn-cs"/>
              </a:rPr>
              <a:t>prototype</a:t>
            </a:r>
          </a:p>
          <a:p>
            <a:pPr marL="742569" lvl="1" indent="-283464" eaLnBrk="1" hangingPunct="1">
              <a:defRPr/>
            </a:pPr>
            <a:r>
              <a:rPr lang="en-US" sz="2000" kern="1200" dirty="0">
                <a:solidFill>
                  <a:srgbClr val="000000"/>
                </a:solidFill>
                <a:latin typeface="Arial (Body)"/>
                <a:ea typeface="+mn-ea"/>
                <a:cs typeface="+mn-cs"/>
              </a:rPr>
              <a:t> </a:t>
            </a:r>
            <a:endParaRPr lang="en-US" sz="2000" kern="1200" dirty="0" smtClean="0">
              <a:solidFill>
                <a:srgbClr val="000000"/>
              </a:solidFill>
              <a:latin typeface="Arial (Body)"/>
              <a:ea typeface="+mn-ea"/>
              <a:cs typeface="+mn-cs"/>
            </a:endParaRPr>
          </a:p>
        </p:txBody>
      </p:sp>
      <p:pic>
        <p:nvPicPr>
          <p:cNvPr id="6" name="Picture 5" descr="The computer reads as follows. My Class colon colon operator c h a r asterisk left parenthesis right parenthesis c o n s t semicolon."/>
          <p:cNvPicPr>
            <a:picLocks noChangeAspect="1"/>
          </p:cNvPicPr>
          <p:nvPr/>
        </p:nvPicPr>
        <p:blipFill rotWithShape="1">
          <a:blip r:embed="rId3"/>
          <a:srcRect l="8797" b="14817"/>
          <a:stretch/>
        </p:blipFill>
        <p:spPr>
          <a:xfrm>
            <a:off x="1209198" y="4113365"/>
            <a:ext cx="4418475" cy="429101"/>
          </a:xfrm>
          <a:prstGeom prst="rect">
            <a:avLst/>
          </a:prstGeom>
        </p:spPr>
      </p:pic>
      <p:sp>
        <p:nvSpPr>
          <p:cNvPr id="5" name="Text Placeholder 4"/>
          <p:cNvSpPr>
            <a:spLocks noGrp="1"/>
          </p:cNvSpPr>
          <p:nvPr>
            <p:ph sz="quarter" idx="13"/>
          </p:nvPr>
        </p:nvSpPr>
        <p:spPr>
          <a:xfrm>
            <a:off x="460849" y="4446585"/>
            <a:ext cx="8229600" cy="558800"/>
          </a:xfrm>
        </p:spPr>
        <p:txBody>
          <a:bodyPr/>
          <a:lstStyle/>
          <a:p>
            <a:pPr marL="256032" indent="-256032" eaLnBrk="1" hangingPunct="1">
              <a:spcBef>
                <a:spcPts val="1500"/>
              </a:spcBef>
              <a:buClr>
                <a:schemeClr val="tx2"/>
              </a:buClr>
              <a:buFont typeface="Arial" panose="020B0604020202020204" pitchFamily="34" charset="0"/>
              <a:buChar char="•"/>
              <a:tabLst/>
              <a:defRPr/>
            </a:pPr>
            <a:r>
              <a:rPr lang="en-US" sz="2000" kern="1200" dirty="0">
                <a:solidFill>
                  <a:srgbClr val="000000"/>
                </a:solidFill>
                <a:latin typeface="Arial (Body)"/>
              </a:rPr>
              <a:t>declares an overloaded cast operator function for converting an object of class </a:t>
            </a:r>
            <a:r>
              <a:rPr lang="en-US" sz="2000" kern="1200" dirty="0">
                <a:solidFill>
                  <a:srgbClr val="000000"/>
                </a:solidFill>
                <a:latin typeface="Consolas" panose="020B0609020204030204" pitchFamily="49" charset="0"/>
                <a:cs typeface="Consolas" panose="020B0609020204030204" pitchFamily="49" charset="0"/>
              </a:rPr>
              <a:t>MyClass</a:t>
            </a:r>
            <a:r>
              <a:rPr lang="en-US" sz="2000" kern="1200" dirty="0">
                <a:solidFill>
                  <a:srgbClr val="000000"/>
                </a:solidFill>
                <a:latin typeface="Arial (Body)"/>
              </a:rPr>
              <a:t> into a temporary </a:t>
            </a:r>
            <a:r>
              <a:rPr lang="en-US" sz="2000" kern="1200" dirty="0" smtClean="0">
                <a:solidFill>
                  <a:srgbClr val="000000"/>
                </a:solidFill>
                <a:latin typeface="Consolas" panose="020B0609020204030204" pitchFamily="49" charset="0"/>
                <a:cs typeface="Consolas" panose="020B0609020204030204" pitchFamily="49" charset="0"/>
              </a:rPr>
              <a:t>char</a:t>
            </a:r>
            <a:endParaRPr lang="en-US" sz="2000" kern="1200" dirty="0">
              <a:solidFill>
                <a:srgbClr val="000000"/>
              </a:solidFill>
              <a:latin typeface="Arial (Body)"/>
            </a:endParaRPr>
          </a:p>
        </p:txBody>
      </p:sp>
      <p:graphicFrame>
        <p:nvGraphicFramePr>
          <p:cNvPr id="10" name="Object 9" descr="Asterisk object."/>
          <p:cNvGraphicFramePr>
            <a:graphicFrameLocks noChangeAspect="1"/>
          </p:cNvGraphicFramePr>
          <p:nvPr>
            <p:extLst>
              <p:ext uri="{D42A27DB-BD31-4B8C-83A1-F6EECF244321}">
                <p14:modId xmlns:p14="http://schemas.microsoft.com/office/powerpoint/2010/main" val="2046710471"/>
              </p:ext>
            </p:extLst>
          </p:nvPr>
        </p:nvGraphicFramePr>
        <p:xfrm>
          <a:off x="6025399" y="4875635"/>
          <a:ext cx="1023763" cy="327608"/>
        </p:xfrm>
        <a:graphic>
          <a:graphicData uri="http://schemas.openxmlformats.org/presentationml/2006/ole">
            <mc:AlternateContent xmlns:mc="http://schemas.openxmlformats.org/markup-compatibility/2006">
              <mc:Choice xmlns:v="urn:schemas-microsoft-com:vml" Requires="v">
                <p:oleObj spid="_x0000_s47165" name="Equation" r:id="rId4" imgW="634680" imgH="203040" progId="Equation.DSMT4">
                  <p:embed/>
                </p:oleObj>
              </mc:Choice>
              <mc:Fallback>
                <p:oleObj name="Equation" r:id="rId4" imgW="634680" imgH="203040" progId="Equation.DSMT4">
                  <p:embed/>
                  <p:pic>
                    <p:nvPicPr>
                      <p:cNvPr id="10" name="Object 9"/>
                      <p:cNvPicPr/>
                      <p:nvPr/>
                    </p:nvPicPr>
                    <p:blipFill>
                      <a:blip r:embed="rId5"/>
                      <a:stretch>
                        <a:fillRect/>
                      </a:stretch>
                    </p:blipFill>
                    <p:spPr>
                      <a:xfrm>
                        <a:off x="6025399" y="4875635"/>
                        <a:ext cx="1023763" cy="327608"/>
                      </a:xfrm>
                      <a:prstGeom prst="rect">
                        <a:avLst/>
                      </a:prstGeom>
                    </p:spPr>
                  </p:pic>
                </p:oleObj>
              </mc:Fallback>
            </mc:AlternateContent>
          </a:graphicData>
        </a:graphic>
      </p:graphicFrame>
      <p:sp>
        <p:nvSpPr>
          <p:cNvPr id="7" name="Content Placeholder 6"/>
          <p:cNvSpPr>
            <a:spLocks noGrp="1"/>
          </p:cNvSpPr>
          <p:nvPr>
            <p:ph sz="quarter" idx="15"/>
          </p:nvPr>
        </p:nvSpPr>
        <p:spPr>
          <a:xfrm>
            <a:off x="454025" y="5228298"/>
            <a:ext cx="8229600" cy="831308"/>
          </a:xfrm>
        </p:spPr>
        <p:txBody>
          <a:bodyPr/>
          <a:lstStyle/>
          <a:p>
            <a:pPr marL="256032" indent="-256032">
              <a:spcBef>
                <a:spcPts val="1500"/>
              </a:spcBef>
              <a:buClr>
                <a:schemeClr val="tx2"/>
              </a:buClr>
              <a:buFont typeface="Arial" panose="020B0604020202020204" pitchFamily="34" charset="0"/>
              <a:buChar char="•"/>
              <a:tabLst>
                <a:tab pos="341313" algn="l"/>
              </a:tabLst>
            </a:pPr>
            <a:r>
              <a:rPr lang="en-US" sz="2000" kern="1200" dirty="0">
                <a:latin typeface="+mn-lt"/>
              </a:rPr>
              <a:t>The operator function is declared </a:t>
            </a:r>
            <a:r>
              <a:rPr lang="en-US" sz="2000" kern="1200" dirty="0">
                <a:latin typeface="+mn-lt"/>
                <a:cs typeface="Consolas" panose="020B0609020204030204" pitchFamily="49" charset="0"/>
              </a:rPr>
              <a:t>const</a:t>
            </a:r>
            <a:r>
              <a:rPr lang="en-US" sz="2000" kern="1200" dirty="0">
                <a:latin typeface="+mn-lt"/>
              </a:rPr>
              <a:t> because it does </a:t>
            </a:r>
            <a:r>
              <a:rPr lang="en-US" sz="2000" b="1" kern="1200" dirty="0">
                <a:latin typeface="+mn-lt"/>
              </a:rPr>
              <a:t>not </a:t>
            </a:r>
            <a:r>
              <a:rPr lang="en-US" sz="2000" kern="1200" dirty="0">
                <a:latin typeface="+mn-lt"/>
              </a:rPr>
              <a:t>modify the original object</a:t>
            </a:r>
            <a:r>
              <a:rPr lang="en-US" sz="2000" kern="1200" dirty="0" smtClean="0">
                <a:latin typeface="+mn-lt"/>
              </a:rPr>
              <a:t>.</a:t>
            </a:r>
            <a:endParaRPr lang="en-US" sz="2000" kern="1200" dirty="0">
              <a:latin typeface="+mn-lt"/>
            </a:endParaRPr>
          </a:p>
        </p:txBody>
      </p:sp>
    </p:spTree>
    <p:extLst>
      <p:ext uri="{BB962C8B-B14F-4D97-AF65-F5344CB8AC3E}">
        <p14:creationId xmlns:p14="http://schemas.microsoft.com/office/powerpoint/2010/main" val="4280717295"/>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18.12 Converting Between Types </a:t>
            </a:r>
            <a:r>
              <a:rPr lang="en-US" altLang="en-US" sz="2000" b="0" kern="1200" dirty="0" smtClean="0">
                <a:latin typeface="Times New Roman" panose="02020603050405020304" pitchFamily="18" charset="0"/>
                <a:ea typeface="+mj-ea"/>
                <a:cs typeface="+mj-cs"/>
              </a:rPr>
              <a:t>(4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223655"/>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The return type of an overloaded </a:t>
            </a:r>
            <a:r>
              <a:rPr lang="en-US" altLang="en-US" sz="2400" b="1" kern="1200" dirty="0">
                <a:solidFill>
                  <a:srgbClr val="000000"/>
                </a:solidFill>
                <a:latin typeface="Arial (Body)"/>
                <a:ea typeface="+mn-ea"/>
                <a:cs typeface="+mn-cs"/>
              </a:rPr>
              <a:t>cast operator function</a:t>
            </a:r>
            <a:r>
              <a:rPr lang="en-US" altLang="en-US" sz="2400" kern="1200" dirty="0">
                <a:solidFill>
                  <a:srgbClr val="000000"/>
                </a:solidFill>
                <a:latin typeface="Arial (Body)"/>
                <a:ea typeface="+mn-ea"/>
                <a:cs typeface="+mn-cs"/>
              </a:rPr>
              <a:t> is implicitly the type to which the object is being converted.</a:t>
            </a:r>
          </a:p>
          <a:p>
            <a:pPr marL="255651" indent="-255651" eaLnBrk="1" hangingPunct="1">
              <a:tabLst/>
              <a:defRPr/>
            </a:pPr>
            <a:r>
              <a:rPr lang="en-US" altLang="en-US" sz="2400" kern="1200" dirty="0">
                <a:solidFill>
                  <a:srgbClr val="000000"/>
                </a:solidFill>
                <a:latin typeface="Arial (Body)"/>
                <a:ea typeface="+mn-ea"/>
                <a:cs typeface="+mn-cs"/>
              </a:rPr>
              <a:t>If </a:t>
            </a:r>
            <a:r>
              <a:rPr lang="en-US" altLang="en-US" sz="2400" kern="1200" dirty="0">
                <a:solidFill>
                  <a:srgbClr val="000000"/>
                </a:solidFill>
                <a:latin typeface="Consolas" panose="020B0609020204030204" pitchFamily="49" charset="0"/>
                <a:ea typeface="+mn-ea"/>
                <a:cs typeface="Consolas" panose="020B0609020204030204" pitchFamily="49" charset="0"/>
              </a:rPr>
              <a:t>s</a:t>
            </a:r>
            <a:r>
              <a:rPr lang="en-US" altLang="en-US" sz="2400" kern="1200" dirty="0">
                <a:solidFill>
                  <a:srgbClr val="000000"/>
                </a:solidFill>
                <a:latin typeface="Arial (Body)"/>
                <a:ea typeface="+mn-ea"/>
                <a:cs typeface="+mn-cs"/>
              </a:rPr>
              <a:t> is a class object, when the compiler sees the </a:t>
            </a:r>
            <a:r>
              <a:rPr lang="en-US" altLang="en-US" sz="2400" kern="1200" dirty="0" smtClean="0">
                <a:solidFill>
                  <a:srgbClr val="000000"/>
                </a:solidFill>
                <a:latin typeface="Arial (Body)"/>
                <a:ea typeface="+mn-ea"/>
                <a:cs typeface="+mn-cs"/>
              </a:rPr>
              <a:t>expression</a:t>
            </a:r>
          </a:p>
        </p:txBody>
      </p:sp>
      <p:graphicFrame>
        <p:nvGraphicFramePr>
          <p:cNvPr id="6" name="Object 5" descr="Static underscore cast left angle bracket c h a r asterisk right angle bracket left parenthesis s right parenthesis."/>
          <p:cNvGraphicFramePr>
            <a:graphicFrameLocks noChangeAspect="1"/>
          </p:cNvGraphicFramePr>
          <p:nvPr>
            <p:extLst>
              <p:ext uri="{D42A27DB-BD31-4B8C-83A1-F6EECF244321}">
                <p14:modId xmlns:p14="http://schemas.microsoft.com/office/powerpoint/2010/main" val="3238639306"/>
              </p:ext>
            </p:extLst>
          </p:nvPr>
        </p:nvGraphicFramePr>
        <p:xfrm>
          <a:off x="2356282" y="3355178"/>
          <a:ext cx="4467949" cy="403233"/>
        </p:xfrm>
        <a:graphic>
          <a:graphicData uri="http://schemas.openxmlformats.org/presentationml/2006/ole">
            <mc:AlternateContent xmlns:mc="http://schemas.openxmlformats.org/markup-compatibility/2006">
              <mc:Choice xmlns:v="urn:schemas-microsoft-com:vml" Requires="v">
                <p:oleObj spid="_x0000_s22793" name="Equation" r:id="rId3" imgW="2247840" imgH="203040" progId="Equation.DSMT4">
                  <p:embed/>
                </p:oleObj>
              </mc:Choice>
              <mc:Fallback>
                <p:oleObj name="Equation" r:id="rId3" imgW="2247840" imgH="203040" progId="Equation.DSMT4">
                  <p:embed/>
                  <p:pic>
                    <p:nvPicPr>
                      <p:cNvPr id="0" name=""/>
                      <p:cNvPicPr/>
                      <p:nvPr/>
                    </p:nvPicPr>
                    <p:blipFill>
                      <a:blip r:embed="rId4"/>
                      <a:stretch>
                        <a:fillRect/>
                      </a:stretch>
                    </p:blipFill>
                    <p:spPr>
                      <a:xfrm>
                        <a:off x="2356282" y="3355178"/>
                        <a:ext cx="4467949" cy="403233"/>
                      </a:xfrm>
                      <a:prstGeom prst="rect">
                        <a:avLst/>
                      </a:prstGeom>
                    </p:spPr>
                  </p:pic>
                </p:oleObj>
              </mc:Fallback>
            </mc:AlternateContent>
          </a:graphicData>
        </a:graphic>
      </p:graphicFrame>
      <p:sp>
        <p:nvSpPr>
          <p:cNvPr id="5" name="Text Placeholder 4"/>
          <p:cNvSpPr>
            <a:spLocks noGrp="1"/>
          </p:cNvSpPr>
          <p:nvPr>
            <p:ph type="body" idx="2"/>
          </p:nvPr>
        </p:nvSpPr>
        <p:spPr>
          <a:xfrm>
            <a:off x="457200" y="3250434"/>
            <a:ext cx="8229600" cy="917646"/>
          </a:xfrm>
        </p:spPr>
        <p:txBody>
          <a:bodyPr/>
          <a:lstStyle/>
          <a:p>
            <a:pPr marL="255588" indent="6099175" eaLnBrk="1" hangingPunct="1">
              <a:buNone/>
              <a:tabLst/>
              <a:defRPr/>
            </a:pPr>
            <a:r>
              <a:rPr lang="en-US" altLang="en-US" sz="2400" kern="1200" dirty="0">
                <a:solidFill>
                  <a:srgbClr val="000000"/>
                </a:solidFill>
                <a:latin typeface="Arial (Body)"/>
              </a:rPr>
              <a:t>the compiler generates the </a:t>
            </a:r>
            <a:r>
              <a:rPr lang="en-US" altLang="en-US" sz="2400" kern="1200" dirty="0" smtClean="0">
                <a:solidFill>
                  <a:srgbClr val="000000"/>
                </a:solidFill>
                <a:latin typeface="Arial (Body)"/>
              </a:rPr>
              <a:t>call</a:t>
            </a:r>
          </a:p>
          <a:p>
            <a:pPr marL="740664" lvl="1" eaLnBrk="1" hangingPunct="1">
              <a:defRPr/>
            </a:pPr>
            <a:r>
              <a:rPr lang="en-US" altLang="en-US" sz="2400" kern="1200" dirty="0" smtClean="0">
                <a:solidFill>
                  <a:srgbClr val="000000"/>
                </a:solidFill>
                <a:latin typeface="Arial (Body)"/>
              </a:rPr>
              <a:t> </a:t>
            </a:r>
            <a:endParaRPr lang="en-US" altLang="en-US" sz="2400" kern="1200" dirty="0">
              <a:solidFill>
                <a:srgbClr val="000000"/>
              </a:solidFill>
              <a:latin typeface="Arial (Body)"/>
            </a:endParaRPr>
          </a:p>
        </p:txBody>
      </p:sp>
      <p:pic>
        <p:nvPicPr>
          <p:cNvPr id="4" name="Picture 3" descr="The computer reads as follows. s period operator c h a t asterisk left parenthesis right parenthesis."/>
          <p:cNvPicPr>
            <a:picLocks noChangeAspect="1"/>
          </p:cNvPicPr>
          <p:nvPr/>
        </p:nvPicPr>
        <p:blipFill rotWithShape="1">
          <a:blip r:embed="rId5"/>
          <a:srcRect l="13806" t="8935" b="22619"/>
          <a:stretch/>
        </p:blipFill>
        <p:spPr>
          <a:xfrm>
            <a:off x="1279564" y="4163280"/>
            <a:ext cx="2860850" cy="368400"/>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18.12 Converting Between Types </a:t>
            </a:r>
            <a:r>
              <a:rPr lang="en-US" altLang="en-US" sz="2000" b="0" kern="1200" dirty="0" smtClean="0">
                <a:latin typeface="Times New Roman" panose="02020603050405020304" pitchFamily="18" charset="0"/>
                <a:ea typeface="+mj-ea"/>
                <a:cs typeface="+mj-cs"/>
              </a:rPr>
              <a:t>(5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a:spAutoFit/>
          </a:bodyPr>
          <a:lstStyle/>
          <a:p>
            <a:pPr marL="0" indent="0" eaLnBrk="1" hangingPunct="1">
              <a:buNone/>
              <a:tabLst/>
              <a:defRPr/>
            </a:pPr>
            <a:r>
              <a:rPr lang="en-US" sz="2400" b="1" kern="1200" dirty="0">
                <a:solidFill>
                  <a:srgbClr val="000000"/>
                </a:solidFill>
                <a:latin typeface="Arial (Body)"/>
                <a:ea typeface="+mn-ea"/>
                <a:cs typeface="+mn-cs"/>
              </a:rPr>
              <a:t>Overloaded Cast Operator Functions</a:t>
            </a:r>
          </a:p>
          <a:p>
            <a:pPr marL="255651" indent="-255651" eaLnBrk="1" hangingPunct="1">
              <a:tabLst/>
              <a:defRPr/>
            </a:pPr>
            <a:r>
              <a:rPr lang="en-US" sz="2400" kern="1200" dirty="0">
                <a:solidFill>
                  <a:srgbClr val="000000"/>
                </a:solidFill>
                <a:latin typeface="Arial (Body)"/>
                <a:ea typeface="+mn-ea"/>
                <a:cs typeface="+mn-cs"/>
              </a:rPr>
              <a:t>Overloaded cast operator functions can be defined to convert objects of user-defined types into fundamental types or into objects of other user-defined types.</a:t>
            </a:r>
          </a:p>
          <a:p>
            <a:pPr marL="0" indent="0" eaLnBrk="1" hangingPunct="1">
              <a:buNone/>
              <a:tabLst/>
              <a:defRPr/>
            </a:pPr>
            <a:r>
              <a:rPr lang="en-US" sz="2400" b="1" kern="1200" dirty="0">
                <a:solidFill>
                  <a:srgbClr val="000000"/>
                </a:solidFill>
                <a:latin typeface="Arial (Body)"/>
                <a:ea typeface="+mn-ea"/>
                <a:cs typeface="+mn-cs"/>
              </a:rPr>
              <a:t>Implicit Calls to Cast Operators and Conversion Constructors</a:t>
            </a:r>
          </a:p>
          <a:p>
            <a:pPr marL="255651" indent="-255651" eaLnBrk="1" hangingPunct="1">
              <a:tabLst/>
              <a:defRPr/>
            </a:pPr>
            <a:r>
              <a:rPr lang="en-US" sz="2400" kern="1200" dirty="0">
                <a:solidFill>
                  <a:srgbClr val="000000"/>
                </a:solidFill>
                <a:latin typeface="Arial (Body)"/>
                <a:ea typeface="+mn-ea"/>
                <a:cs typeface="+mn-cs"/>
              </a:rPr>
              <a:t>One of the nice features of cast operators and conversion constructors is that, when necessary, the compiler can call these functions </a:t>
            </a:r>
            <a:r>
              <a:rPr lang="en-US" sz="2400" b="1" kern="1200" dirty="0">
                <a:solidFill>
                  <a:srgbClr val="000000"/>
                </a:solidFill>
                <a:latin typeface="Arial (Body)"/>
                <a:ea typeface="+mn-ea"/>
                <a:cs typeface="+mn-cs"/>
              </a:rPr>
              <a:t>implicitly</a:t>
            </a:r>
            <a:r>
              <a:rPr lang="en-US" sz="2400" kern="1200" dirty="0">
                <a:solidFill>
                  <a:srgbClr val="000000"/>
                </a:solidFill>
                <a:latin typeface="Arial (Body)"/>
                <a:ea typeface="+mn-ea"/>
                <a:cs typeface="+mn-cs"/>
              </a:rPr>
              <a:t> to create </a:t>
            </a:r>
            <a:r>
              <a:rPr lang="en-US" sz="2400" b="1" kern="1200" dirty="0">
                <a:solidFill>
                  <a:srgbClr val="000000"/>
                </a:solidFill>
                <a:latin typeface="Arial (Body)"/>
                <a:ea typeface="+mn-ea"/>
                <a:cs typeface="+mn-cs"/>
              </a:rPr>
              <a:t>temporary objects</a:t>
            </a:r>
            <a:r>
              <a:rPr lang="en-US" sz="2400" kern="1200" dirty="0">
                <a:solidFill>
                  <a:srgbClr val="000000"/>
                </a:solidFill>
                <a:latin typeface="Arial (Body)"/>
                <a:ea typeface="+mn-ea"/>
                <a:cs typeface="+mn-cs"/>
              </a:rPr>
              <a:t>.</a:t>
            </a: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Observation </a:t>
            </a:r>
            <a:r>
              <a:rPr lang="en-US" dirty="0" smtClean="0"/>
              <a:t>18.5</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When a conversion constructor or conversion operator is used to perform an </a:t>
            </a:r>
            <a:r>
              <a:rPr lang="en-US" sz="2400" dirty="0" smtClean="0">
                <a:latin typeface="+mn-lt"/>
              </a:rPr>
              <a:t>implicit conversion</a:t>
            </a:r>
            <a:r>
              <a:rPr lang="en-US" sz="2400" dirty="0">
                <a:latin typeface="+mn-lt"/>
              </a:rPr>
              <a:t>, C++ can apply only one implicit constructor or operator function call (i.e</a:t>
            </a:r>
            <a:r>
              <a:rPr lang="en-US" sz="2400" dirty="0" smtClean="0">
                <a:latin typeface="+mn-lt"/>
              </a:rPr>
              <a:t>., a </a:t>
            </a:r>
            <a:r>
              <a:rPr lang="en-US" sz="2400" dirty="0">
                <a:latin typeface="+mn-lt"/>
              </a:rPr>
              <a:t>single user-defined conversion) to try to match the needs of another overloaded </a:t>
            </a:r>
            <a:r>
              <a:rPr lang="en-US" sz="2400" dirty="0" smtClean="0">
                <a:latin typeface="+mn-lt"/>
              </a:rPr>
              <a:t>operator. The </a:t>
            </a:r>
            <a:r>
              <a:rPr lang="en-US" sz="2400" dirty="0">
                <a:latin typeface="+mn-lt"/>
              </a:rPr>
              <a:t>compiler will not satisfy an overloaded operator’s needs by performing a series </a:t>
            </a:r>
            <a:r>
              <a:rPr lang="en-US" sz="2400" dirty="0" smtClean="0">
                <a:latin typeface="+mn-lt"/>
              </a:rPr>
              <a:t>of implicit</a:t>
            </a:r>
            <a:r>
              <a:rPr lang="en-US" sz="2400" dirty="0">
                <a:latin typeface="+mn-lt"/>
              </a:rPr>
              <a:t>, user-defined conversions.</a:t>
            </a: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75"/>
            <a:ext cx="8229600" cy="1169988"/>
          </a:xfrm>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18.13 </a:t>
            </a:r>
            <a:r>
              <a:rPr lang="en-US" altLang="en-US" sz="3200" kern="1200" dirty="0" smtClean="0">
                <a:latin typeface="Consolas" panose="020B0609020204030204" pitchFamily="49" charset="0"/>
                <a:ea typeface="+mj-ea"/>
                <a:cs typeface="Consolas" panose="020B0609020204030204" pitchFamily="49" charset="0"/>
              </a:rPr>
              <a:t>explicit</a:t>
            </a:r>
            <a:r>
              <a:rPr lang="en-US" altLang="en-US" sz="3200" kern="1200" dirty="0" smtClean="0">
                <a:latin typeface="Times New Roman" panose="02020603050405020304" pitchFamily="18" charset="0"/>
                <a:ea typeface="+mj-ea"/>
                <a:cs typeface="+mj-cs"/>
              </a:rPr>
              <a:t> Constructors and Conversion Operators </a:t>
            </a:r>
            <a:r>
              <a:rPr lang="en-US" altLang="en-US" sz="2000" b="0" kern="1200" dirty="0" smtClean="0">
                <a:latin typeface="Times New Roman" panose="02020603050405020304" pitchFamily="18" charset="0"/>
                <a:ea typeface="+mj-ea"/>
                <a:cs typeface="+mj-cs"/>
              </a:rPr>
              <a:t>(1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939784"/>
          </a:xfrm>
        </p:spPr>
        <p:txBody>
          <a:bodyPr>
            <a:spAutoFit/>
          </a:bodyPr>
          <a:lstStyle/>
          <a:p>
            <a:pPr marL="255651" indent="-255651" eaLnBrk="1" hangingPunct="1">
              <a:tabLst/>
              <a:defRPr/>
            </a:pPr>
            <a:r>
              <a:rPr lang="en-US" altLang="en-US" sz="1800" kern="1200" dirty="0">
                <a:solidFill>
                  <a:srgbClr val="000000"/>
                </a:solidFill>
                <a:latin typeface="Arial (Body)"/>
                <a:ea typeface="+mn-ea"/>
                <a:cs typeface="+mn-cs"/>
              </a:rPr>
              <a:t>Recall that we’ve been declaring as </a:t>
            </a:r>
            <a:r>
              <a:rPr lang="en-US" altLang="en-US" sz="1800" kern="1200" dirty="0">
                <a:solidFill>
                  <a:srgbClr val="000000"/>
                </a:solidFill>
                <a:latin typeface="Consolas" panose="020B0609020204030204" pitchFamily="49" charset="0"/>
                <a:ea typeface="+mn-ea"/>
                <a:cs typeface="Consolas" panose="020B0609020204030204" pitchFamily="49" charset="0"/>
              </a:rPr>
              <a:t>explicit</a:t>
            </a:r>
            <a:r>
              <a:rPr lang="en-US" altLang="en-US" sz="1800" kern="1200" dirty="0">
                <a:solidFill>
                  <a:srgbClr val="000000"/>
                </a:solidFill>
                <a:latin typeface="Arial (Body)"/>
                <a:ea typeface="+mn-ea"/>
                <a:cs typeface="+mn-cs"/>
              </a:rPr>
              <a:t> every constructor that can be called with one </a:t>
            </a:r>
            <a:r>
              <a:rPr lang="en-US" altLang="en-US" sz="1800" kern="1200" dirty="0" smtClean="0">
                <a:solidFill>
                  <a:srgbClr val="000000"/>
                </a:solidFill>
                <a:latin typeface="Arial (Body)"/>
                <a:ea typeface="+mn-ea"/>
                <a:cs typeface="+mn-cs"/>
              </a:rPr>
              <a:t>argument.</a:t>
            </a:r>
            <a:endParaRPr lang="en-US" altLang="en-US" sz="1800" kern="1200" dirty="0">
              <a:solidFill>
                <a:srgbClr val="000000"/>
              </a:solidFill>
              <a:latin typeface="Arial (Body)"/>
              <a:ea typeface="+mn-ea"/>
              <a:cs typeface="+mn-cs"/>
            </a:endParaRPr>
          </a:p>
          <a:p>
            <a:pPr marL="255651" indent="-255651" eaLnBrk="1" hangingPunct="1">
              <a:tabLst/>
              <a:defRPr/>
            </a:pPr>
            <a:r>
              <a:rPr lang="en-US" altLang="en-US" sz="1800" kern="1200" dirty="0">
                <a:solidFill>
                  <a:srgbClr val="000000"/>
                </a:solidFill>
                <a:latin typeface="Arial (Body)"/>
                <a:ea typeface="+mn-ea"/>
                <a:cs typeface="+mn-cs"/>
              </a:rPr>
              <a:t>With the exception of copy constructors, any constructor that can be called with a </a:t>
            </a:r>
            <a:r>
              <a:rPr lang="en-US" altLang="en-US" sz="1800" b="1" kern="1200" dirty="0">
                <a:solidFill>
                  <a:srgbClr val="000000"/>
                </a:solidFill>
                <a:latin typeface="Arial (Body)"/>
                <a:ea typeface="+mn-ea"/>
                <a:cs typeface="+mn-cs"/>
              </a:rPr>
              <a:t>single argument </a:t>
            </a:r>
            <a:r>
              <a:rPr lang="en-US" altLang="en-US" sz="1800" kern="1200" dirty="0">
                <a:solidFill>
                  <a:srgbClr val="000000"/>
                </a:solidFill>
                <a:latin typeface="Arial (Body)"/>
                <a:ea typeface="+mn-ea"/>
                <a:cs typeface="+mn-cs"/>
              </a:rPr>
              <a:t>and is not declared </a:t>
            </a:r>
            <a:r>
              <a:rPr lang="en-US" altLang="en-US" sz="1800" kern="1200" dirty="0">
                <a:solidFill>
                  <a:srgbClr val="000000"/>
                </a:solidFill>
                <a:latin typeface="Consolas" panose="020B0609020204030204" pitchFamily="49" charset="0"/>
                <a:ea typeface="+mn-ea"/>
                <a:cs typeface="Consolas" panose="020B0609020204030204" pitchFamily="49" charset="0"/>
              </a:rPr>
              <a:t>explicit</a:t>
            </a:r>
            <a:r>
              <a:rPr lang="en-US" altLang="en-US" sz="1800" kern="1200" dirty="0">
                <a:solidFill>
                  <a:srgbClr val="000000"/>
                </a:solidFill>
                <a:latin typeface="Arial (Body)"/>
                <a:ea typeface="+mn-ea"/>
                <a:cs typeface="+mn-cs"/>
              </a:rPr>
              <a:t> can be used by the compiler to perform an </a:t>
            </a:r>
            <a:r>
              <a:rPr lang="en-US" altLang="en-US" sz="1800" b="1" kern="1200" dirty="0">
                <a:solidFill>
                  <a:srgbClr val="000000"/>
                </a:solidFill>
                <a:latin typeface="Arial (Body)"/>
                <a:ea typeface="+mn-ea"/>
                <a:cs typeface="+mn-cs"/>
              </a:rPr>
              <a:t>implicit </a:t>
            </a:r>
            <a:r>
              <a:rPr lang="en-US" altLang="en-US" sz="1800" b="1" kern="1200" dirty="0" smtClean="0">
                <a:solidFill>
                  <a:srgbClr val="000000"/>
                </a:solidFill>
                <a:latin typeface="Arial (Body)"/>
                <a:ea typeface="+mn-ea"/>
                <a:cs typeface="+mn-cs"/>
              </a:rPr>
              <a:t>conversion</a:t>
            </a:r>
            <a:r>
              <a:rPr lang="en-US" altLang="en-US" sz="1800" kern="1200" dirty="0" smtClean="0">
                <a:solidFill>
                  <a:srgbClr val="000000"/>
                </a:solidFill>
                <a:latin typeface="Arial (Body)"/>
                <a:ea typeface="+mn-ea"/>
                <a:cs typeface="+mn-cs"/>
              </a:rPr>
              <a:t>.</a:t>
            </a:r>
            <a:endParaRPr lang="en-US" altLang="en-US" sz="1800" kern="1200" dirty="0">
              <a:solidFill>
                <a:srgbClr val="000000"/>
              </a:solidFill>
              <a:latin typeface="Arial (Body)"/>
              <a:ea typeface="+mn-ea"/>
              <a:cs typeface="+mn-cs"/>
            </a:endParaRPr>
          </a:p>
          <a:p>
            <a:pPr marL="255651" indent="-255651" eaLnBrk="1" hangingPunct="1">
              <a:tabLst/>
              <a:defRPr/>
            </a:pPr>
            <a:r>
              <a:rPr lang="en-US" altLang="en-US" sz="1800" kern="1200" dirty="0">
                <a:solidFill>
                  <a:srgbClr val="000000"/>
                </a:solidFill>
                <a:latin typeface="Arial (Body)"/>
                <a:ea typeface="+mn-ea"/>
                <a:cs typeface="+mn-cs"/>
              </a:rPr>
              <a:t>The conversion is automatic and you need not use a cast operator</a:t>
            </a:r>
            <a:r>
              <a:rPr lang="en-US" altLang="en-US" sz="1800" kern="1200" dirty="0" smtClean="0">
                <a:solidFill>
                  <a:srgbClr val="000000"/>
                </a:solidFill>
                <a:latin typeface="Arial (Body)"/>
                <a:ea typeface="+mn-ea"/>
                <a:cs typeface="+mn-cs"/>
              </a:rPr>
              <a:t>.</a:t>
            </a:r>
          </a:p>
          <a:p>
            <a:pPr marL="255651" indent="-255651" eaLnBrk="1" hangingPunct="1">
              <a:tabLst/>
              <a:defRPr/>
            </a:pPr>
            <a:r>
              <a:rPr lang="en-US" altLang="en-US" sz="1800" b="1" kern="1200" dirty="0">
                <a:solidFill>
                  <a:srgbClr val="000000"/>
                </a:solidFill>
                <a:latin typeface="Arial (Body)"/>
              </a:rPr>
              <a:t>In some situations, implicit conversions are undesirable or error-prone.</a:t>
            </a:r>
          </a:p>
          <a:p>
            <a:pPr marL="255651" indent="-255651" eaLnBrk="1" hangingPunct="1">
              <a:tabLst/>
              <a:defRPr/>
            </a:pPr>
            <a:r>
              <a:rPr lang="en-US" altLang="en-US" sz="1800" kern="1200" dirty="0">
                <a:solidFill>
                  <a:srgbClr val="000000"/>
                </a:solidFill>
                <a:latin typeface="Arial (Body)"/>
              </a:rPr>
              <a:t>For example, our </a:t>
            </a:r>
            <a:r>
              <a:rPr lang="en-US" altLang="en-US" sz="1800" kern="1200" dirty="0">
                <a:solidFill>
                  <a:srgbClr val="000000"/>
                </a:solidFill>
                <a:latin typeface="Consolas" panose="020B0609020204030204" pitchFamily="49" charset="0"/>
                <a:cs typeface="Consolas" panose="020B0609020204030204" pitchFamily="49" charset="0"/>
              </a:rPr>
              <a:t>Array</a:t>
            </a:r>
            <a:r>
              <a:rPr lang="en-US" altLang="en-US" sz="1800" kern="1200" dirty="0">
                <a:solidFill>
                  <a:srgbClr val="000000"/>
                </a:solidFill>
                <a:latin typeface="Arial (Body)"/>
              </a:rPr>
              <a:t> class in Figure </a:t>
            </a:r>
            <a:r>
              <a:rPr lang="en-US" altLang="en-US" sz="1800" kern="1200" dirty="0" smtClean="0">
                <a:solidFill>
                  <a:srgbClr val="000000"/>
                </a:solidFill>
                <a:latin typeface="Arial (Body)"/>
              </a:rPr>
              <a:t>18.10 </a:t>
            </a:r>
            <a:r>
              <a:rPr lang="en-US" altLang="en-US" sz="1800" kern="1200" dirty="0">
                <a:solidFill>
                  <a:srgbClr val="000000"/>
                </a:solidFill>
                <a:latin typeface="Arial (Body)"/>
              </a:rPr>
              <a:t>(see </a:t>
            </a:r>
            <a:r>
              <a:rPr lang="en-US" altLang="en-US" sz="1800" kern="1200" dirty="0" smtClean="0">
                <a:solidFill>
                  <a:srgbClr val="000000"/>
                </a:solidFill>
                <a:latin typeface="Arial (Body)"/>
              </a:rPr>
              <a:t>slides 91 </a:t>
            </a:r>
            <a:r>
              <a:rPr lang="en-US" altLang="en-US" sz="1800" kern="1200" dirty="0">
                <a:solidFill>
                  <a:srgbClr val="000000"/>
                </a:solidFill>
                <a:latin typeface="Arial (Body)"/>
              </a:rPr>
              <a:t>to </a:t>
            </a:r>
            <a:r>
              <a:rPr lang="en-US" altLang="en-US" sz="1800" kern="1200" dirty="0" smtClean="0">
                <a:solidFill>
                  <a:srgbClr val="000000"/>
                </a:solidFill>
                <a:latin typeface="Arial (Body)"/>
              </a:rPr>
              <a:t>92) </a:t>
            </a:r>
            <a:r>
              <a:rPr lang="en-US" altLang="en-US" sz="1800" kern="1200" dirty="0">
                <a:solidFill>
                  <a:srgbClr val="000000"/>
                </a:solidFill>
                <a:latin typeface="Arial (Body)"/>
              </a:rPr>
              <a:t>defines a constructor that takes a single int argument.</a:t>
            </a:r>
          </a:p>
          <a:p>
            <a:pPr marL="255651" indent="-255651" eaLnBrk="1" hangingPunct="1">
              <a:tabLst/>
              <a:defRPr/>
            </a:pPr>
            <a:r>
              <a:rPr lang="en-US" altLang="en-US" sz="1800" kern="1200" dirty="0">
                <a:solidFill>
                  <a:srgbClr val="000000"/>
                </a:solidFill>
                <a:latin typeface="Arial (Body)"/>
              </a:rPr>
              <a:t>The intent of this constructor is to create an </a:t>
            </a:r>
            <a:r>
              <a:rPr lang="en-US" altLang="en-US" sz="1800" kern="1200" dirty="0">
                <a:solidFill>
                  <a:srgbClr val="000000"/>
                </a:solidFill>
                <a:latin typeface="Consolas" panose="020B0609020204030204" pitchFamily="49" charset="0"/>
                <a:cs typeface="Consolas" panose="020B0609020204030204" pitchFamily="49" charset="0"/>
              </a:rPr>
              <a:t>Array</a:t>
            </a:r>
            <a:r>
              <a:rPr lang="en-US" altLang="en-US" sz="1800" kern="1200" dirty="0">
                <a:solidFill>
                  <a:srgbClr val="000000"/>
                </a:solidFill>
                <a:latin typeface="Arial (Body)"/>
              </a:rPr>
              <a:t> object containing the number of elements specified by the int argument.</a:t>
            </a:r>
          </a:p>
          <a:p>
            <a:pPr marL="255651" indent="-255651" eaLnBrk="1" hangingPunct="1">
              <a:tabLst/>
              <a:defRPr/>
            </a:pPr>
            <a:r>
              <a:rPr lang="en-US" altLang="en-US" sz="1800" kern="1200" dirty="0">
                <a:solidFill>
                  <a:srgbClr val="000000"/>
                </a:solidFill>
                <a:latin typeface="Arial (Body)"/>
              </a:rPr>
              <a:t>However, if this constructor were not declared </a:t>
            </a:r>
            <a:r>
              <a:rPr lang="en-US" altLang="en-US" sz="1800" kern="1200" dirty="0">
                <a:solidFill>
                  <a:srgbClr val="000000"/>
                </a:solidFill>
                <a:latin typeface="Consolas" panose="020B0609020204030204" pitchFamily="49" charset="0"/>
                <a:cs typeface="Consolas" panose="020B0609020204030204" pitchFamily="49" charset="0"/>
              </a:rPr>
              <a:t>explicit</a:t>
            </a:r>
            <a:r>
              <a:rPr lang="en-US" altLang="en-US" sz="1800" kern="1200" dirty="0">
                <a:solidFill>
                  <a:srgbClr val="000000"/>
                </a:solidFill>
                <a:latin typeface="Arial (Body)"/>
              </a:rPr>
              <a:t> it could be misused by the compiler to perform an </a:t>
            </a:r>
            <a:r>
              <a:rPr lang="en-US" altLang="en-US" sz="1800" b="1" kern="1200" dirty="0">
                <a:solidFill>
                  <a:srgbClr val="000000"/>
                </a:solidFill>
                <a:latin typeface="Arial (Body)"/>
              </a:rPr>
              <a:t>implicit</a:t>
            </a:r>
            <a:r>
              <a:rPr lang="en-US" altLang="en-US" sz="1800" kern="1200" dirty="0">
                <a:solidFill>
                  <a:srgbClr val="000000"/>
                </a:solidFill>
                <a:latin typeface="Arial (Body)"/>
              </a:rPr>
              <a:t> </a:t>
            </a:r>
            <a:r>
              <a:rPr lang="en-US" altLang="en-US" sz="1800" b="1" kern="1200" dirty="0">
                <a:solidFill>
                  <a:srgbClr val="000000"/>
                </a:solidFill>
                <a:latin typeface="Arial (Body)"/>
              </a:rPr>
              <a:t>conversion</a:t>
            </a:r>
            <a:r>
              <a:rPr lang="en-US" altLang="en-US" sz="1800" kern="1200" dirty="0">
                <a:solidFill>
                  <a:srgbClr val="000000"/>
                </a:solidFill>
                <a:latin typeface="Arial (Body)"/>
              </a:rPr>
              <a:t>.</a:t>
            </a:r>
            <a:endParaRPr lang="en-US" altLang="en-US" sz="18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Programming Error </a:t>
            </a:r>
            <a:r>
              <a:rPr lang="en-US" dirty="0" smtClean="0"/>
              <a:t>18.6</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mn-lt"/>
              </a:rPr>
              <a:t>Unfortunately, the compiler might use implicit conversions in cases that you do not </a:t>
            </a:r>
            <a:r>
              <a:rPr lang="en-US" sz="2400" dirty="0" smtClean="0">
                <a:latin typeface="+mn-lt"/>
              </a:rPr>
              <a:t>expect, resulting </a:t>
            </a:r>
            <a:r>
              <a:rPr lang="en-US" sz="2400" dirty="0">
                <a:latin typeface="+mn-lt"/>
              </a:rPr>
              <a:t>in ambiguous expressions that generate compilation errors or result in </a:t>
            </a:r>
            <a:r>
              <a:rPr lang="en-US" sz="2400" dirty="0" smtClean="0">
                <a:latin typeface="+mn-lt"/>
              </a:rPr>
              <a:t>execution-time logic </a:t>
            </a:r>
            <a:r>
              <a:rPr lang="en-US" sz="2400" dirty="0">
                <a:latin typeface="+mn-lt"/>
              </a:rPr>
              <a:t>errors.</a:t>
            </a: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75"/>
            <a:ext cx="8229600" cy="1169988"/>
          </a:xfrm>
        </p:spPr>
        <p:txBody>
          <a:bodyPr>
            <a:spAutoFit/>
          </a:bodyPr>
          <a:lstStyle/>
          <a:p>
            <a:pPr eaLnBrk="1" hangingPunct="1">
              <a:spcBef>
                <a:spcPct val="0"/>
              </a:spcBef>
              <a:buClrTx/>
              <a:defRPr/>
            </a:pPr>
            <a:r>
              <a:rPr lang="en-US" altLang="en-US" sz="3200" kern="1200" dirty="0" smtClean="0">
                <a:latin typeface="Times New Roman" panose="02020603050405020304" pitchFamily="18" charset="0"/>
              </a:rPr>
              <a:t>18.13 </a:t>
            </a:r>
            <a:r>
              <a:rPr lang="en-US" altLang="en-US" sz="3200" kern="1200" dirty="0">
                <a:latin typeface="Consolas" panose="020B0609020204030204" pitchFamily="49" charset="0"/>
                <a:cs typeface="Consolas" panose="020B0609020204030204" pitchFamily="49" charset="0"/>
              </a:rPr>
              <a:t>explicit</a:t>
            </a:r>
            <a:r>
              <a:rPr lang="en-US" altLang="en-US" sz="3200" kern="1200" dirty="0">
                <a:latin typeface="Times New Roman" panose="02020603050405020304" pitchFamily="18" charset="0"/>
              </a:rPr>
              <a:t> Constructors and Conversion Operators</a:t>
            </a:r>
            <a:r>
              <a:rPr lang="en-US" altLang="en-US" sz="3200" kern="1200" dirty="0" smtClean="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(2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124176"/>
          </a:xfrm>
        </p:spPr>
        <p:txBody>
          <a:bodyPr>
            <a:spAutoFit/>
          </a:bodyPr>
          <a:lstStyle/>
          <a:p>
            <a:pPr marL="255651" indent="-255651" eaLnBrk="1" hangingPunct="1">
              <a:tabLst/>
              <a:defRPr/>
            </a:pPr>
            <a:r>
              <a:rPr lang="en-US" altLang="en-US" sz="1800" kern="1200" dirty="0">
                <a:solidFill>
                  <a:srgbClr val="000000"/>
                </a:solidFill>
                <a:latin typeface="Arial (Body)"/>
                <a:ea typeface="+mn-ea"/>
                <a:cs typeface="+mn-cs"/>
              </a:rPr>
              <a:t>The program (</a:t>
            </a:r>
            <a:r>
              <a:rPr lang="en-US" altLang="en-US" sz="1800" kern="1200" dirty="0" smtClean="0">
                <a:solidFill>
                  <a:srgbClr val="000000"/>
                </a:solidFill>
                <a:latin typeface="Arial (Body)"/>
                <a:ea typeface="+mn-ea"/>
                <a:cs typeface="+mn-cs"/>
              </a:rPr>
              <a:t>Figure</a:t>
            </a:r>
            <a:r>
              <a:rPr lang="en-US" altLang="en-US" sz="1800" kern="1200" dirty="0">
                <a:solidFill>
                  <a:srgbClr val="000000"/>
                </a:solidFill>
                <a:latin typeface="Arial (Body)"/>
                <a:ea typeface="+mn-ea"/>
                <a:cs typeface="+mn-cs"/>
              </a:rPr>
              <a:t> </a:t>
            </a:r>
            <a:r>
              <a:rPr lang="en-US" altLang="en-US" sz="1800" kern="1200" dirty="0" smtClean="0">
                <a:solidFill>
                  <a:srgbClr val="000000"/>
                </a:solidFill>
                <a:latin typeface="Arial (Body)"/>
                <a:ea typeface="+mn-ea"/>
                <a:cs typeface="+mn-cs"/>
              </a:rPr>
              <a:t>18.12) uses </a:t>
            </a:r>
            <a:r>
              <a:rPr lang="en-US" altLang="en-US" sz="1800" kern="1200" dirty="0">
                <a:solidFill>
                  <a:srgbClr val="000000"/>
                </a:solidFill>
                <a:latin typeface="Arial (Body)"/>
                <a:ea typeface="+mn-ea"/>
                <a:cs typeface="+mn-cs"/>
              </a:rPr>
              <a:t>the </a:t>
            </a:r>
            <a:r>
              <a:rPr lang="en-US" altLang="en-US" sz="1800" kern="1200" dirty="0">
                <a:solidFill>
                  <a:srgbClr val="000000"/>
                </a:solidFill>
                <a:latin typeface="Consolas" panose="020B0609020204030204" pitchFamily="49" charset="0"/>
                <a:ea typeface="+mn-ea"/>
                <a:cs typeface="Consolas" panose="020B0609020204030204" pitchFamily="49" charset="0"/>
              </a:rPr>
              <a:t>Array</a:t>
            </a:r>
            <a:r>
              <a:rPr lang="en-US" altLang="en-US" sz="1800" kern="1200" dirty="0">
                <a:solidFill>
                  <a:srgbClr val="000000"/>
                </a:solidFill>
                <a:latin typeface="Arial (Body)"/>
                <a:ea typeface="+mn-ea"/>
                <a:cs typeface="+mn-cs"/>
              </a:rPr>
              <a:t> class of </a:t>
            </a:r>
            <a:r>
              <a:rPr lang="en-US" altLang="en-US" sz="1800" kern="1200" dirty="0" smtClean="0">
                <a:solidFill>
                  <a:srgbClr val="000000"/>
                </a:solidFill>
                <a:latin typeface="Arial (Body)"/>
                <a:ea typeface="+mn-ea"/>
                <a:cs typeface="+mn-cs"/>
              </a:rPr>
              <a:t>Figure</a:t>
            </a:r>
            <a:r>
              <a:rPr lang="en-US" altLang="en-US" sz="1800" kern="1200" dirty="0">
                <a:solidFill>
                  <a:srgbClr val="000000"/>
                </a:solidFill>
                <a:latin typeface="Arial (Body)"/>
              </a:rPr>
              <a:t>s</a:t>
            </a:r>
            <a:r>
              <a:rPr lang="en-US" altLang="en-US" sz="1800" kern="1200" dirty="0">
                <a:solidFill>
                  <a:srgbClr val="000000"/>
                </a:solidFill>
                <a:latin typeface="Arial (Body)"/>
                <a:ea typeface="+mn-ea"/>
                <a:cs typeface="+mn-cs"/>
              </a:rPr>
              <a:t> </a:t>
            </a:r>
            <a:r>
              <a:rPr lang="en-US" altLang="en-US" sz="1800" kern="1200" dirty="0" smtClean="0">
                <a:solidFill>
                  <a:srgbClr val="000000"/>
                </a:solidFill>
                <a:latin typeface="Arial (Body)"/>
                <a:ea typeface="+mn-ea"/>
                <a:cs typeface="+mn-cs"/>
              </a:rPr>
              <a:t>18.10</a:t>
            </a:r>
            <a:r>
              <a:rPr lang="en-US" altLang="en-US" sz="1800" kern="1200" dirty="0">
                <a:solidFill>
                  <a:srgbClr val="000000"/>
                </a:solidFill>
                <a:latin typeface="Arial (Body)"/>
              </a:rPr>
              <a:t>–</a:t>
            </a:r>
            <a:r>
              <a:rPr lang="en-US" altLang="en-US" sz="1800" kern="1200" dirty="0" smtClean="0">
                <a:solidFill>
                  <a:srgbClr val="000000"/>
                </a:solidFill>
                <a:latin typeface="Arial (Body)"/>
                <a:ea typeface="+mn-ea"/>
                <a:cs typeface="+mn-cs"/>
              </a:rPr>
              <a:t>18.11 </a:t>
            </a:r>
            <a:r>
              <a:rPr lang="en-US" altLang="en-US" sz="1800" kern="1200" dirty="0">
                <a:solidFill>
                  <a:srgbClr val="000000"/>
                </a:solidFill>
                <a:latin typeface="Arial (Body)"/>
              </a:rPr>
              <a:t>(see </a:t>
            </a:r>
            <a:r>
              <a:rPr lang="en-US" altLang="en-US" sz="1800" kern="1200" dirty="0" smtClean="0">
                <a:solidFill>
                  <a:srgbClr val="000000"/>
                </a:solidFill>
                <a:latin typeface="Arial (Body)"/>
              </a:rPr>
              <a:t>slides 91–98)</a:t>
            </a:r>
            <a:r>
              <a:rPr lang="en-US" altLang="en-US" sz="1800" kern="1200" dirty="0" smtClean="0">
                <a:solidFill>
                  <a:srgbClr val="000000"/>
                </a:solidFill>
                <a:latin typeface="Arial (Body)"/>
                <a:ea typeface="+mn-ea"/>
                <a:cs typeface="+mn-cs"/>
              </a:rPr>
              <a:t> to </a:t>
            </a:r>
            <a:r>
              <a:rPr lang="en-US" altLang="en-US" sz="1800" kern="1200" dirty="0">
                <a:solidFill>
                  <a:srgbClr val="000000"/>
                </a:solidFill>
                <a:latin typeface="Arial (Body)"/>
                <a:ea typeface="+mn-ea"/>
                <a:cs typeface="+mn-cs"/>
              </a:rPr>
              <a:t>demonstrate an improper implicit conversion.</a:t>
            </a:r>
          </a:p>
          <a:p>
            <a:pPr marL="255651" indent="-255651" eaLnBrk="1" hangingPunct="1">
              <a:tabLst/>
              <a:defRPr/>
            </a:pPr>
            <a:r>
              <a:rPr lang="en-US" altLang="en-US" sz="1800" kern="1200" dirty="0">
                <a:solidFill>
                  <a:srgbClr val="000000"/>
                </a:solidFill>
                <a:latin typeface="Arial (Body)"/>
                <a:ea typeface="+mn-ea"/>
                <a:cs typeface="+mn-cs"/>
              </a:rPr>
              <a:t>Line 13 calls function </a:t>
            </a:r>
            <a:r>
              <a:rPr lang="en-US" altLang="en-US" sz="1800" kern="1200" dirty="0" smtClean="0">
                <a:solidFill>
                  <a:srgbClr val="000000"/>
                </a:solidFill>
                <a:latin typeface="Consolas" panose="020B0609020204030204" pitchFamily="49" charset="0"/>
                <a:ea typeface="+mn-ea"/>
                <a:cs typeface="Consolas" panose="020B0609020204030204" pitchFamily="49" charset="0"/>
              </a:rPr>
              <a:t>output</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1800" kern="1200" dirty="0" smtClean="0">
                <a:solidFill>
                  <a:srgbClr val="000000"/>
                </a:solidFill>
                <a:latin typeface="Consolas" panose="020B0609020204030204" pitchFamily="49" charset="0"/>
                <a:ea typeface="+mn-ea"/>
                <a:cs typeface="Consolas" panose="020B0609020204030204" pitchFamily="49" charset="0"/>
              </a:rPr>
              <a:t>Array</a:t>
            </a:r>
            <a:r>
              <a:rPr lang="en-US" altLang="en-US" sz="1800" kern="1200" dirty="0" smtClean="0">
                <a:solidFill>
                  <a:srgbClr val="000000"/>
                </a:solidFill>
                <a:latin typeface="Arial (Body)"/>
                <a:ea typeface="+mn-ea"/>
                <a:cs typeface="+mn-cs"/>
              </a:rPr>
              <a:t> </a:t>
            </a:r>
            <a:r>
              <a:rPr lang="en-US" altLang="en-US" sz="1800" kern="1200" dirty="0">
                <a:solidFill>
                  <a:srgbClr val="000000"/>
                </a:solidFill>
                <a:latin typeface="Arial (Body)"/>
                <a:ea typeface="+mn-ea"/>
                <a:cs typeface="+mn-cs"/>
              </a:rPr>
              <a:t>with the </a:t>
            </a:r>
            <a:r>
              <a:rPr lang="en-US" altLang="en-US" sz="1800" kern="1200" dirty="0">
                <a:solidFill>
                  <a:srgbClr val="000000"/>
                </a:solidFill>
                <a:latin typeface="Consolas" panose="020B0609020204030204" pitchFamily="49" charset="0"/>
                <a:ea typeface="+mn-ea"/>
                <a:cs typeface="Consolas" panose="020B0609020204030204" pitchFamily="49" charset="0"/>
              </a:rPr>
              <a:t>int</a:t>
            </a:r>
            <a:r>
              <a:rPr lang="en-US" altLang="en-US" sz="1800" kern="1200" dirty="0">
                <a:solidFill>
                  <a:srgbClr val="000000"/>
                </a:solidFill>
                <a:latin typeface="Arial (Body)"/>
                <a:ea typeface="+mn-ea"/>
                <a:cs typeface="+mn-cs"/>
              </a:rPr>
              <a:t> value </a:t>
            </a:r>
            <a:r>
              <a:rPr lang="en-US" altLang="en-US" sz="1800" kern="1200" dirty="0">
                <a:solidFill>
                  <a:srgbClr val="000000"/>
                </a:solidFill>
                <a:latin typeface="Consolas" panose="020B0609020204030204" pitchFamily="49" charset="0"/>
                <a:ea typeface="+mn-ea"/>
                <a:cs typeface="Consolas" panose="020B0609020204030204" pitchFamily="49" charset="0"/>
              </a:rPr>
              <a:t>3</a:t>
            </a:r>
            <a:r>
              <a:rPr lang="en-US" altLang="en-US" sz="1800" kern="1200" dirty="0">
                <a:solidFill>
                  <a:srgbClr val="000000"/>
                </a:solidFill>
                <a:latin typeface="Arial (Body)"/>
                <a:ea typeface="+mn-ea"/>
                <a:cs typeface="+mn-cs"/>
              </a:rPr>
              <a:t> as an argument.</a:t>
            </a:r>
          </a:p>
          <a:p>
            <a:pPr marL="255651" indent="-255651" eaLnBrk="1" hangingPunct="1">
              <a:tabLst/>
              <a:defRPr/>
            </a:pPr>
            <a:r>
              <a:rPr lang="en-US" altLang="en-US" sz="1800" kern="1200" dirty="0">
                <a:solidFill>
                  <a:srgbClr val="000000"/>
                </a:solidFill>
                <a:latin typeface="Arial (Body)"/>
                <a:ea typeface="+mn-ea"/>
                <a:cs typeface="+mn-cs"/>
              </a:rPr>
              <a:t>This program does not contain a function called </a:t>
            </a:r>
            <a:r>
              <a:rPr lang="en-US" altLang="en-US" sz="1800" kern="1200" dirty="0" smtClean="0">
                <a:solidFill>
                  <a:srgbClr val="000000"/>
                </a:solidFill>
                <a:latin typeface="Consolas" panose="020B0609020204030204" pitchFamily="49" charset="0"/>
                <a:ea typeface="+mn-ea"/>
                <a:cs typeface="Consolas" panose="020B0609020204030204" pitchFamily="49" charset="0"/>
              </a:rPr>
              <a:t>output</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1800" kern="1200" dirty="0" smtClean="0">
                <a:solidFill>
                  <a:srgbClr val="000000"/>
                </a:solidFill>
                <a:latin typeface="Consolas" panose="020B0609020204030204" pitchFamily="49" charset="0"/>
                <a:ea typeface="+mn-ea"/>
                <a:cs typeface="Consolas" panose="020B0609020204030204" pitchFamily="49" charset="0"/>
              </a:rPr>
              <a:t>Array</a:t>
            </a:r>
            <a:r>
              <a:rPr lang="en-US" altLang="en-US" sz="1800" kern="1200" dirty="0" smtClean="0">
                <a:solidFill>
                  <a:srgbClr val="000000"/>
                </a:solidFill>
                <a:latin typeface="Arial (Body)"/>
                <a:ea typeface="+mn-ea"/>
                <a:cs typeface="+mn-cs"/>
              </a:rPr>
              <a:t> </a:t>
            </a:r>
            <a:r>
              <a:rPr lang="en-US" altLang="en-US" sz="1800" kern="1200" dirty="0">
                <a:solidFill>
                  <a:srgbClr val="000000"/>
                </a:solidFill>
                <a:latin typeface="Arial (Body)"/>
                <a:ea typeface="+mn-ea"/>
                <a:cs typeface="+mn-cs"/>
              </a:rPr>
              <a:t>that takes an </a:t>
            </a:r>
            <a:r>
              <a:rPr lang="en-US" altLang="en-US" sz="1800" kern="1200" dirty="0">
                <a:solidFill>
                  <a:srgbClr val="000000"/>
                </a:solidFill>
                <a:latin typeface="Consolas" panose="020B0609020204030204" pitchFamily="49" charset="0"/>
                <a:ea typeface="+mn-ea"/>
                <a:cs typeface="Consolas" panose="020B0609020204030204" pitchFamily="49" charset="0"/>
              </a:rPr>
              <a:t>int</a:t>
            </a:r>
            <a:r>
              <a:rPr lang="en-US" altLang="en-US" sz="1800" kern="1200" dirty="0">
                <a:solidFill>
                  <a:srgbClr val="000000"/>
                </a:solidFill>
                <a:latin typeface="Arial (Body)"/>
                <a:ea typeface="+mn-ea"/>
                <a:cs typeface="+mn-cs"/>
              </a:rPr>
              <a:t> argument.</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ea typeface="+mn-ea"/>
                <a:cs typeface="+mn-cs"/>
              </a:rPr>
              <a:t>The compiler determines whether class </a:t>
            </a:r>
            <a:r>
              <a:rPr lang="en-US" altLang="en-US" sz="1800" kern="1200" dirty="0">
                <a:solidFill>
                  <a:srgbClr val="000000"/>
                </a:solidFill>
                <a:latin typeface="Consolas" panose="020B0609020204030204" pitchFamily="49" charset="0"/>
                <a:ea typeface="+mn-ea"/>
                <a:cs typeface="Consolas" panose="020B0609020204030204" pitchFamily="49" charset="0"/>
              </a:rPr>
              <a:t>Array</a:t>
            </a:r>
            <a:r>
              <a:rPr lang="en-US" altLang="en-US" sz="1800" kern="1200" dirty="0">
                <a:solidFill>
                  <a:srgbClr val="000000"/>
                </a:solidFill>
                <a:latin typeface="Arial (Body)"/>
                <a:ea typeface="+mn-ea"/>
                <a:cs typeface="+mn-cs"/>
              </a:rPr>
              <a:t> provides a conversion constructor that can convert an int into an </a:t>
            </a:r>
            <a:r>
              <a:rPr lang="en-US" altLang="en-US" sz="1800" kern="1200" dirty="0">
                <a:solidFill>
                  <a:srgbClr val="000000"/>
                </a:solidFill>
                <a:latin typeface="Consolas" panose="020B0609020204030204" pitchFamily="49" charset="0"/>
                <a:ea typeface="+mn-ea"/>
                <a:cs typeface="Consolas" panose="020B0609020204030204" pitchFamily="49" charset="0"/>
              </a:rPr>
              <a:t>Array</a:t>
            </a:r>
            <a:r>
              <a:rPr lang="en-US" altLang="en-US" sz="1800" kern="1200" dirty="0" smtClean="0">
                <a:solidFill>
                  <a:srgbClr val="000000"/>
                </a:solidFill>
                <a:latin typeface="Arial (Body)"/>
                <a:ea typeface="+mn-ea"/>
                <a:cs typeface="+mn-cs"/>
              </a:rPr>
              <a:t>.</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rPr>
              <a:t>The compiler assumes the </a:t>
            </a:r>
            <a:r>
              <a:rPr lang="en-US" altLang="en-US" sz="1800" kern="1200" dirty="0">
                <a:solidFill>
                  <a:srgbClr val="000000"/>
                </a:solidFill>
                <a:latin typeface="Consolas" panose="020B0609020204030204" pitchFamily="49" charset="0"/>
                <a:cs typeface="Consolas" panose="020B0609020204030204" pitchFamily="49" charset="0"/>
              </a:rPr>
              <a:t>Array</a:t>
            </a:r>
            <a:r>
              <a:rPr lang="en-US" altLang="en-US" sz="1800" kern="1200" dirty="0">
                <a:solidFill>
                  <a:srgbClr val="000000"/>
                </a:solidFill>
                <a:latin typeface="Arial (Body)"/>
              </a:rPr>
              <a:t> constructor that receives a single int is a conversion constructor and uses it to convert the argument </a:t>
            </a:r>
            <a:r>
              <a:rPr lang="en-US" altLang="en-US" sz="1800" kern="1200" dirty="0">
                <a:solidFill>
                  <a:srgbClr val="000000"/>
                </a:solidFill>
                <a:latin typeface="Consolas" panose="020B0609020204030204" pitchFamily="49" charset="0"/>
                <a:cs typeface="Consolas" panose="020B0609020204030204" pitchFamily="49" charset="0"/>
              </a:rPr>
              <a:t>3</a:t>
            </a:r>
            <a:r>
              <a:rPr lang="en-US" altLang="en-US" sz="1800" kern="1200" dirty="0">
                <a:solidFill>
                  <a:srgbClr val="000000"/>
                </a:solidFill>
                <a:latin typeface="Arial (Body)"/>
              </a:rPr>
              <a:t> into a temporary </a:t>
            </a:r>
            <a:r>
              <a:rPr lang="en-US" altLang="en-US" sz="1800" kern="1200" dirty="0">
                <a:solidFill>
                  <a:srgbClr val="000000"/>
                </a:solidFill>
                <a:latin typeface="Consolas" panose="020B0609020204030204" pitchFamily="49" charset="0"/>
                <a:cs typeface="Consolas" panose="020B0609020204030204" pitchFamily="49" charset="0"/>
              </a:rPr>
              <a:t>Array</a:t>
            </a:r>
            <a:r>
              <a:rPr lang="en-US" altLang="en-US" sz="1800" kern="1200" dirty="0">
                <a:solidFill>
                  <a:srgbClr val="000000"/>
                </a:solidFill>
                <a:latin typeface="Arial (Body)"/>
              </a:rPr>
              <a:t> object that contains three elements.</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rPr>
              <a:t>Then, the compiler passes the temporary </a:t>
            </a:r>
            <a:r>
              <a:rPr lang="en-US" altLang="en-US" sz="1800" kern="1200" dirty="0">
                <a:solidFill>
                  <a:srgbClr val="000000"/>
                </a:solidFill>
                <a:latin typeface="Consolas" panose="020B0609020204030204" pitchFamily="49" charset="0"/>
                <a:cs typeface="Consolas" panose="020B0609020204030204" pitchFamily="49" charset="0"/>
              </a:rPr>
              <a:t>Array</a:t>
            </a:r>
            <a:r>
              <a:rPr lang="en-US" altLang="en-US" sz="1800" kern="1200" dirty="0">
                <a:solidFill>
                  <a:srgbClr val="000000"/>
                </a:solidFill>
                <a:latin typeface="Arial (Body)"/>
              </a:rPr>
              <a:t> object to function </a:t>
            </a:r>
            <a:r>
              <a:rPr lang="en-US" altLang="en-US" sz="1800" kern="1200" dirty="0" smtClean="0">
                <a:solidFill>
                  <a:srgbClr val="000000"/>
                </a:solidFill>
                <a:latin typeface="Consolas" panose="020B0609020204030204" pitchFamily="49" charset="0"/>
                <a:cs typeface="Consolas" panose="020B0609020204030204" pitchFamily="49" charset="0"/>
              </a:rPr>
              <a:t>output</a:t>
            </a:r>
            <a:r>
              <a:rPr lang="en-US" altLang="en-US" sz="100" kern="1200" dirty="0" smtClean="0">
                <a:solidFill>
                  <a:srgbClr val="000000"/>
                </a:solidFill>
                <a:latin typeface="Consolas" panose="020B0609020204030204" pitchFamily="49" charset="0"/>
                <a:cs typeface="Consolas" panose="020B0609020204030204" pitchFamily="49" charset="0"/>
              </a:rPr>
              <a:t> </a:t>
            </a:r>
            <a:r>
              <a:rPr lang="en-US" altLang="en-US" sz="1800" kern="1200" dirty="0" smtClean="0">
                <a:solidFill>
                  <a:srgbClr val="000000"/>
                </a:solidFill>
                <a:latin typeface="Consolas" panose="020B0609020204030204" pitchFamily="49" charset="0"/>
                <a:cs typeface="Consolas" panose="020B0609020204030204" pitchFamily="49" charset="0"/>
              </a:rPr>
              <a:t>Array</a:t>
            </a:r>
            <a:r>
              <a:rPr lang="en-US" altLang="en-US" sz="1800" kern="1200" dirty="0" smtClean="0">
                <a:solidFill>
                  <a:srgbClr val="000000"/>
                </a:solidFill>
                <a:latin typeface="Arial (Body)"/>
              </a:rPr>
              <a:t> </a:t>
            </a:r>
            <a:r>
              <a:rPr lang="en-US" altLang="en-US" sz="1800" kern="1200" dirty="0">
                <a:solidFill>
                  <a:srgbClr val="000000"/>
                </a:solidFill>
                <a:latin typeface="Arial (Body)"/>
              </a:rPr>
              <a:t>to output the </a:t>
            </a:r>
            <a:r>
              <a:rPr lang="en-US" altLang="en-US" sz="1800" kern="1200" dirty="0">
                <a:solidFill>
                  <a:srgbClr val="000000"/>
                </a:solidFill>
                <a:latin typeface="Consolas" panose="020B0609020204030204" pitchFamily="49" charset="0"/>
                <a:cs typeface="Consolas" panose="020B0609020204030204" pitchFamily="49" charset="0"/>
              </a:rPr>
              <a:t>Array</a:t>
            </a:r>
            <a:r>
              <a:rPr lang="en-US" altLang="en-US" sz="1800" kern="1200" dirty="0">
                <a:solidFill>
                  <a:srgbClr val="000000"/>
                </a:solidFill>
                <a:latin typeface="Arial (Body)"/>
              </a:rPr>
              <a:t>’s contents.</a:t>
            </a:r>
            <a:endParaRPr lang="en-US" altLang="en-US" sz="18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sz="3200" dirty="0"/>
              <a:t>Figure </a:t>
            </a:r>
            <a:r>
              <a:rPr lang="en-US" sz="3200" dirty="0" smtClean="0"/>
              <a:t>18.12 </a:t>
            </a:r>
            <a:r>
              <a:rPr lang="en-US" sz="3200" dirty="0"/>
              <a:t>Single-Argument Constructors and Implicit Conversions</a:t>
            </a:r>
            <a:r>
              <a:rPr lang="en-US" dirty="0"/>
              <a:t> </a:t>
            </a:r>
            <a:r>
              <a:rPr lang="en-US" sz="2000" b="0" dirty="0" smtClean="0"/>
              <a:t>(1 of 2)</a:t>
            </a:r>
            <a:endParaRPr lang="en-US" sz="2000" b="0" dirty="0"/>
          </a:p>
        </p:txBody>
      </p:sp>
      <p:pic>
        <p:nvPicPr>
          <p:cNvPr id="5" name="Picture 4" descr="The computer code has 21 lines. The lines read as follows. Line 1. forward slash forward slash F i g period 18 period 12 colon f i g 18 underscore 12 period c p p. Line 2. forward slash forward slash Single dash argument constructors and implicit conversions period. Line 3. hash include left angle bracket i o stream right angle bracket. Line 4. hash include double quote Array period h double quote. Line 5. using namespace s t d semicolon. Line 6. Blank. Line 7. void output Array left parenthesis c o n s t Array ampersand right parenthesis semicolon forward slash forward slash prototype. Line 8. Blank. Line 9. i n t main left parenthesis right parenthesis. Line 10. left brace. Line 11, indented once. Array integers1 left parenthesis 7 right parenthesis semicolon forward slash forward slash 7 dash element Array. Line 12, indented once. output Array left parenthesis integers1 right parenthesis semicolon forward slash forward slash output Array integers1. Line 13, indented once. output Array left parenthesis 3 right parenthesis semicolon forward slash forward slash convert 3 to an Array and output Array’s contents. Line 14. right brace forward slash forward slash end main. Line 15. Blank. Line 16. forward slash forward slash print Array contents. Line 17. void output Array left parenthesis c o n s t Array ampersand array To Output right parenthesis. Line 18. left brace. Line 19, indented once. c out left angle bracket left angle bracket double quote The Array received has double quote left angle bracket left angle bracket array To Output period get Size left parenthesis right parenthesis. Line 20, indented once. left angle bracket left angle bracket double quote elements period The contents are colon back slash n double quote left angle bracket left angle bracket array To Output left angle bracket left angle bracket end l semicolon. Line 21. right brace forward slash forward slash end output Array."/>
          <p:cNvPicPr>
            <a:picLocks noChangeAspect="1"/>
          </p:cNvPicPr>
          <p:nvPr/>
        </p:nvPicPr>
        <p:blipFill>
          <a:blip r:embed="rId2"/>
          <a:stretch>
            <a:fillRect/>
          </a:stretch>
        </p:blipFill>
        <p:spPr>
          <a:xfrm>
            <a:off x="664172" y="1810148"/>
            <a:ext cx="7815656" cy="4461512"/>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sz="3200" dirty="0"/>
              <a:t>Figure </a:t>
            </a:r>
            <a:r>
              <a:rPr lang="en-US" sz="3200" dirty="0" smtClean="0"/>
              <a:t>18.12 </a:t>
            </a:r>
            <a:r>
              <a:rPr lang="en-US" sz="3200" dirty="0"/>
              <a:t>Single-Argument Constructors and Implicit </a:t>
            </a:r>
            <a:r>
              <a:rPr lang="en-US" sz="3200" dirty="0" smtClean="0"/>
              <a:t>Conversions</a:t>
            </a:r>
            <a:r>
              <a:rPr lang="en-US" dirty="0" smtClean="0"/>
              <a:t> </a:t>
            </a:r>
            <a:r>
              <a:rPr lang="en-US" sz="2000" b="0" dirty="0" smtClean="0"/>
              <a:t>(2 of 2)</a:t>
            </a:r>
            <a:endParaRPr lang="en-US" sz="2000" b="0" dirty="0"/>
          </a:p>
        </p:txBody>
      </p:sp>
      <p:pic>
        <p:nvPicPr>
          <p:cNvPr id="6" name="Picture 5" descr="The computer code output has 5 lines. The lines read as follows. Line 1. The Array received has 7 elements period The contents are colon. Line 2. 0, 0, 0, 0. Line 3. 0, 0, 0. Line 4. The Array received has 3 elements period The contents are colon. Line 5. 0, 0, 0."/>
          <p:cNvPicPr>
            <a:picLocks noChangeAspect="1"/>
          </p:cNvPicPr>
          <p:nvPr/>
        </p:nvPicPr>
        <p:blipFill>
          <a:blip r:embed="rId2"/>
          <a:stretch>
            <a:fillRect/>
          </a:stretch>
        </p:blipFill>
        <p:spPr>
          <a:xfrm>
            <a:off x="518918" y="2595940"/>
            <a:ext cx="8106162" cy="1666120"/>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129"/>
            <a:ext cx="8229600" cy="1169521"/>
          </a:xfrm>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18.13 </a:t>
            </a:r>
            <a:r>
              <a:rPr lang="en-US" altLang="en-US" sz="3200" kern="1200" dirty="0" smtClean="0">
                <a:latin typeface="Consolas" panose="020B0609020204030204" pitchFamily="49" charset="0"/>
                <a:ea typeface="+mj-ea"/>
                <a:cs typeface="Consolas" panose="020B0609020204030204" pitchFamily="49" charset="0"/>
              </a:rPr>
              <a:t>explicit</a:t>
            </a:r>
            <a:r>
              <a:rPr lang="en-US" altLang="en-US" sz="3200" kern="1200" dirty="0" smtClean="0">
                <a:latin typeface="Times New Roman" panose="02020603050405020304" pitchFamily="18" charset="0"/>
                <a:ea typeface="+mj-ea"/>
                <a:cs typeface="+mj-cs"/>
              </a:rPr>
              <a:t> Constructors and Conversion Operators </a:t>
            </a:r>
            <a:r>
              <a:rPr lang="en-US" altLang="en-US" sz="2000" b="0" kern="1200" dirty="0" smtClean="0">
                <a:latin typeface="Times New Roman" panose="02020603050405020304" pitchFamily="18" charset="0"/>
                <a:ea typeface="+mj-ea"/>
                <a:cs typeface="+mj-cs"/>
              </a:rPr>
              <a:t>(3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685868"/>
          </a:xfrm>
        </p:spPr>
        <p:txBody>
          <a:bodyPr>
            <a:spAutoFit/>
          </a:bodyPr>
          <a:lstStyle/>
          <a:p>
            <a:pPr marL="0" indent="0" eaLnBrk="1" hangingPunct="1">
              <a:buNone/>
              <a:tabLst/>
              <a:defRPr/>
            </a:pPr>
            <a:r>
              <a:rPr lang="en-US" sz="2100" b="1" kern="1200" dirty="0">
                <a:solidFill>
                  <a:srgbClr val="000000"/>
                </a:solidFill>
                <a:latin typeface="Arial (Body)"/>
                <a:ea typeface="+mn-ea"/>
                <a:cs typeface="+mn-cs"/>
              </a:rPr>
              <a:t>Preventing Implicit Conversions with Single-Argument Constructors</a:t>
            </a:r>
          </a:p>
          <a:p>
            <a:pPr marL="255651" indent="-255651" eaLnBrk="1" hangingPunct="1">
              <a:tabLst/>
              <a:defRPr/>
            </a:pPr>
            <a:r>
              <a:rPr lang="en-US" sz="2100" kern="1200" dirty="0">
                <a:solidFill>
                  <a:srgbClr val="000000"/>
                </a:solidFill>
                <a:latin typeface="Arial (Body)"/>
                <a:ea typeface="+mn-ea"/>
                <a:cs typeface="+mn-cs"/>
              </a:rPr>
              <a:t>The reason we’ve been declaring every single-argument constructor preceded by the keyword </a:t>
            </a:r>
            <a:r>
              <a:rPr lang="en-US" sz="2100" b="1" kern="1200" dirty="0">
                <a:solidFill>
                  <a:srgbClr val="000000"/>
                </a:solidFill>
                <a:latin typeface="Consolas" panose="020B0609020204030204" pitchFamily="49" charset="0"/>
                <a:ea typeface="+mn-ea"/>
                <a:cs typeface="Consolas" panose="020B0609020204030204" pitchFamily="49" charset="0"/>
              </a:rPr>
              <a:t>explicit</a:t>
            </a:r>
            <a:r>
              <a:rPr lang="en-US" sz="2100" kern="1200" dirty="0">
                <a:solidFill>
                  <a:srgbClr val="000000"/>
                </a:solidFill>
                <a:latin typeface="Arial (Body)"/>
                <a:ea typeface="+mn-ea"/>
                <a:cs typeface="+mn-cs"/>
              </a:rPr>
              <a:t> is to </a:t>
            </a:r>
            <a:r>
              <a:rPr lang="en-US" sz="2100" b="1" kern="1200" dirty="0">
                <a:solidFill>
                  <a:srgbClr val="000000"/>
                </a:solidFill>
                <a:latin typeface="Arial (Body)"/>
                <a:ea typeface="+mn-ea"/>
                <a:cs typeface="+mn-cs"/>
              </a:rPr>
              <a:t>suppress implicit conversions via conversion constructors when such conversions should not be allowed.</a:t>
            </a:r>
          </a:p>
          <a:p>
            <a:pPr marL="255651" indent="-255651" eaLnBrk="1" hangingPunct="1">
              <a:tabLst/>
              <a:defRPr/>
            </a:pPr>
            <a:r>
              <a:rPr lang="en-US" sz="2100" kern="1200" dirty="0">
                <a:solidFill>
                  <a:srgbClr val="000000"/>
                </a:solidFill>
                <a:latin typeface="Arial (Body)"/>
                <a:ea typeface="+mn-ea"/>
                <a:cs typeface="+mn-cs"/>
              </a:rPr>
              <a:t>A constructor that is declared </a:t>
            </a:r>
            <a:r>
              <a:rPr lang="en-US" sz="2100" kern="1200" dirty="0">
                <a:solidFill>
                  <a:srgbClr val="000000"/>
                </a:solidFill>
                <a:latin typeface="Consolas" panose="020B0609020204030204" pitchFamily="49" charset="0"/>
                <a:ea typeface="+mn-ea"/>
                <a:cs typeface="Consolas" panose="020B0609020204030204" pitchFamily="49" charset="0"/>
              </a:rPr>
              <a:t>explicit</a:t>
            </a:r>
            <a:r>
              <a:rPr lang="en-US" sz="2100" kern="1200" dirty="0">
                <a:solidFill>
                  <a:srgbClr val="000000"/>
                </a:solidFill>
                <a:latin typeface="Arial (Body)"/>
                <a:ea typeface="+mn-ea"/>
                <a:cs typeface="+mn-cs"/>
              </a:rPr>
              <a:t> cannot be used in an implicit conversion.</a:t>
            </a:r>
          </a:p>
          <a:p>
            <a:pPr marL="255651" indent="-255651" eaLnBrk="1" hangingPunct="1">
              <a:tabLst/>
              <a:defRPr/>
            </a:pPr>
            <a:r>
              <a:rPr lang="en-US" sz="2100" kern="1200" dirty="0">
                <a:solidFill>
                  <a:srgbClr val="000000"/>
                </a:solidFill>
                <a:latin typeface="Arial (Body)"/>
                <a:ea typeface="+mn-ea"/>
                <a:cs typeface="+mn-cs"/>
              </a:rPr>
              <a:t>In the example if Figure </a:t>
            </a:r>
            <a:r>
              <a:rPr lang="en-US" sz="2100" kern="1200" dirty="0" smtClean="0">
                <a:solidFill>
                  <a:srgbClr val="000000"/>
                </a:solidFill>
                <a:latin typeface="Arial (Body)"/>
                <a:ea typeface="+mn-ea"/>
                <a:cs typeface="+mn-cs"/>
              </a:rPr>
              <a:t>18.13 </a:t>
            </a:r>
            <a:r>
              <a:rPr lang="en-US" altLang="en-US" sz="2100" kern="1200" dirty="0">
                <a:solidFill>
                  <a:srgbClr val="000000"/>
                </a:solidFill>
                <a:latin typeface="Arial (Body)"/>
              </a:rPr>
              <a:t>(see </a:t>
            </a:r>
            <a:r>
              <a:rPr lang="en-US" altLang="en-US" sz="2100" kern="1200" dirty="0" smtClean="0">
                <a:solidFill>
                  <a:srgbClr val="000000"/>
                </a:solidFill>
                <a:latin typeface="Arial (Body)"/>
              </a:rPr>
              <a:t>slides 140-141)</a:t>
            </a:r>
            <a:r>
              <a:rPr lang="en-US" sz="2100" kern="1200" dirty="0" smtClean="0">
                <a:solidFill>
                  <a:srgbClr val="000000"/>
                </a:solidFill>
                <a:latin typeface="Arial (Body)"/>
                <a:ea typeface="+mn-ea"/>
                <a:cs typeface="+mn-cs"/>
              </a:rPr>
              <a:t>, </a:t>
            </a:r>
            <a:r>
              <a:rPr lang="en-US" sz="2100" kern="1200" dirty="0">
                <a:solidFill>
                  <a:srgbClr val="000000"/>
                </a:solidFill>
                <a:latin typeface="Arial (Body)"/>
                <a:ea typeface="+mn-ea"/>
                <a:cs typeface="+mn-cs"/>
              </a:rPr>
              <a:t>we use the original version of </a:t>
            </a:r>
            <a:r>
              <a:rPr lang="en-US" sz="2100" kern="1200" dirty="0">
                <a:solidFill>
                  <a:srgbClr val="000000"/>
                </a:solidFill>
                <a:latin typeface="Consolas" panose="020B0609020204030204" pitchFamily="49" charset="0"/>
                <a:ea typeface="+mn-ea"/>
                <a:cs typeface="Consolas" panose="020B0609020204030204" pitchFamily="49" charset="0"/>
              </a:rPr>
              <a:t>Array.h</a:t>
            </a:r>
            <a:r>
              <a:rPr lang="en-US" sz="2100" kern="1200" dirty="0">
                <a:solidFill>
                  <a:srgbClr val="000000"/>
                </a:solidFill>
                <a:latin typeface="Arial (Body)"/>
                <a:ea typeface="+mn-ea"/>
                <a:cs typeface="+mn-cs"/>
              </a:rPr>
              <a:t> from </a:t>
            </a:r>
            <a:r>
              <a:rPr lang="en-US" sz="2100" kern="1200" dirty="0" smtClean="0">
                <a:solidFill>
                  <a:srgbClr val="000000"/>
                </a:solidFill>
                <a:latin typeface="Arial (Body)"/>
                <a:ea typeface="+mn-ea"/>
                <a:cs typeface="+mn-cs"/>
              </a:rPr>
              <a:t>Figure 18.10 </a:t>
            </a:r>
            <a:r>
              <a:rPr lang="en-US" altLang="en-US" sz="2100" kern="1200" dirty="0">
                <a:solidFill>
                  <a:srgbClr val="000000"/>
                </a:solidFill>
                <a:latin typeface="Arial (Body)"/>
              </a:rPr>
              <a:t>(see </a:t>
            </a:r>
            <a:r>
              <a:rPr lang="en-US" altLang="en-US" sz="2100" kern="1200" dirty="0" smtClean="0">
                <a:solidFill>
                  <a:srgbClr val="000000"/>
                </a:solidFill>
                <a:latin typeface="Arial (Body)"/>
              </a:rPr>
              <a:t>slide 91)</a:t>
            </a:r>
            <a:r>
              <a:rPr lang="en-US" sz="2100" kern="1200" dirty="0" smtClean="0">
                <a:solidFill>
                  <a:srgbClr val="000000"/>
                </a:solidFill>
                <a:latin typeface="Arial (Body)"/>
                <a:ea typeface="+mn-ea"/>
                <a:cs typeface="+mn-cs"/>
              </a:rPr>
              <a:t>, </a:t>
            </a:r>
            <a:r>
              <a:rPr lang="en-US" sz="2100" kern="1200" dirty="0">
                <a:solidFill>
                  <a:srgbClr val="000000"/>
                </a:solidFill>
                <a:latin typeface="Arial (Body)"/>
                <a:ea typeface="+mn-ea"/>
                <a:cs typeface="+mn-cs"/>
              </a:rPr>
              <a:t>which included the keyword </a:t>
            </a:r>
            <a:r>
              <a:rPr lang="en-US" sz="2100" kern="1200" dirty="0">
                <a:solidFill>
                  <a:srgbClr val="000000"/>
                </a:solidFill>
                <a:latin typeface="Consolas" panose="020B0609020204030204" pitchFamily="49" charset="0"/>
                <a:ea typeface="+mn-ea"/>
                <a:cs typeface="Consolas" panose="020B0609020204030204" pitchFamily="49" charset="0"/>
              </a:rPr>
              <a:t>explicit</a:t>
            </a:r>
            <a:r>
              <a:rPr lang="en-US" sz="2100" kern="1200" dirty="0">
                <a:solidFill>
                  <a:srgbClr val="000000"/>
                </a:solidFill>
                <a:latin typeface="Arial (Body)"/>
                <a:ea typeface="+mn-ea"/>
                <a:cs typeface="+mn-cs"/>
              </a:rPr>
              <a:t> in the declaration of the </a:t>
            </a:r>
            <a:r>
              <a:rPr lang="en-US" sz="2100" b="1" kern="1200" dirty="0">
                <a:solidFill>
                  <a:srgbClr val="000000"/>
                </a:solidFill>
                <a:latin typeface="Arial (Body)"/>
                <a:ea typeface="+mn-ea"/>
                <a:cs typeface="+mn-cs"/>
              </a:rPr>
              <a:t>single-argument constructor</a:t>
            </a:r>
            <a:r>
              <a:rPr lang="en-US" sz="2100" kern="1200" dirty="0">
                <a:solidFill>
                  <a:srgbClr val="000000"/>
                </a:solidFill>
                <a:latin typeface="Arial (Body)"/>
                <a:ea typeface="+mn-ea"/>
                <a:cs typeface="+mn-cs"/>
              </a:rPr>
              <a:t> in line 14.</a:t>
            </a: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129"/>
            <a:ext cx="8229600" cy="1169521"/>
          </a:xfrm>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18.13 </a:t>
            </a:r>
            <a:r>
              <a:rPr lang="en-US" altLang="en-US" sz="3200" kern="1200" dirty="0" smtClean="0">
                <a:latin typeface="Consolas" panose="020B0609020204030204" pitchFamily="49" charset="0"/>
                <a:ea typeface="+mj-ea"/>
                <a:cs typeface="Consolas" panose="020B0609020204030204" pitchFamily="49" charset="0"/>
              </a:rPr>
              <a:t>explicit</a:t>
            </a:r>
            <a:r>
              <a:rPr lang="en-US" altLang="en-US" sz="3200" kern="1200" dirty="0" smtClean="0">
                <a:latin typeface="Times New Roman" panose="02020603050405020304" pitchFamily="18" charset="0"/>
                <a:ea typeface="+mj-ea"/>
                <a:cs typeface="+mj-cs"/>
              </a:rPr>
              <a:t> Constructors and Conversion Operators </a:t>
            </a:r>
            <a:r>
              <a:rPr lang="en-US" altLang="en-US" sz="2000" b="0" kern="1200" dirty="0" smtClean="0">
                <a:latin typeface="Times New Roman" panose="02020603050405020304" pitchFamily="18" charset="0"/>
                <a:ea typeface="+mj-ea"/>
                <a:cs typeface="+mj-cs"/>
              </a:rPr>
              <a:t>(4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5009033"/>
          </a:xfrm>
        </p:spPr>
        <p:txBody>
          <a:bodyPr>
            <a:spAutoFit/>
          </a:bodyPr>
          <a:lstStyle/>
          <a:p>
            <a:pPr marL="255651" indent="-255651" eaLnBrk="1" hangingPunct="1">
              <a:tabLst/>
              <a:defRPr/>
            </a:pPr>
            <a:r>
              <a:rPr lang="en-US" altLang="en-US" sz="2300" kern="1200" dirty="0">
                <a:solidFill>
                  <a:srgbClr val="000000"/>
                </a:solidFill>
                <a:latin typeface="Arial (Body)"/>
                <a:ea typeface="+mn-ea"/>
                <a:cs typeface="+mn-cs"/>
              </a:rPr>
              <a:t>Figure </a:t>
            </a:r>
            <a:r>
              <a:rPr lang="en-US" altLang="en-US" sz="2300" kern="1200" dirty="0" smtClean="0">
                <a:solidFill>
                  <a:srgbClr val="000000"/>
                </a:solidFill>
                <a:latin typeface="Arial (Body)"/>
                <a:ea typeface="+mn-ea"/>
                <a:cs typeface="+mn-cs"/>
              </a:rPr>
              <a:t>18.13 </a:t>
            </a:r>
            <a:r>
              <a:rPr lang="en-US" altLang="en-US" sz="2300" kern="1200" dirty="0">
                <a:solidFill>
                  <a:srgbClr val="000000"/>
                </a:solidFill>
                <a:latin typeface="Arial (Body)"/>
              </a:rPr>
              <a:t>(see </a:t>
            </a:r>
            <a:r>
              <a:rPr lang="en-US" altLang="en-US" sz="2300" kern="1200" dirty="0" smtClean="0">
                <a:solidFill>
                  <a:srgbClr val="000000"/>
                </a:solidFill>
                <a:latin typeface="Arial (Body)"/>
              </a:rPr>
              <a:t>slides 140-141) </a:t>
            </a:r>
            <a:r>
              <a:rPr lang="en-US" altLang="en-US" sz="2300" kern="1200" dirty="0" smtClean="0">
                <a:solidFill>
                  <a:srgbClr val="000000"/>
                </a:solidFill>
                <a:latin typeface="Arial (Body)"/>
                <a:ea typeface="+mn-ea"/>
                <a:cs typeface="+mn-cs"/>
              </a:rPr>
              <a:t>presents </a:t>
            </a:r>
            <a:r>
              <a:rPr lang="en-US" altLang="en-US" sz="2300" kern="1200" dirty="0">
                <a:solidFill>
                  <a:srgbClr val="000000"/>
                </a:solidFill>
                <a:latin typeface="Arial (Body)"/>
                <a:ea typeface="+mn-ea"/>
                <a:cs typeface="+mn-cs"/>
              </a:rPr>
              <a:t>a slightly modified version of the program in </a:t>
            </a:r>
            <a:r>
              <a:rPr lang="en-US" altLang="en-US" sz="2300" kern="1200" dirty="0" smtClean="0">
                <a:solidFill>
                  <a:srgbClr val="000000"/>
                </a:solidFill>
                <a:latin typeface="Arial (Body)"/>
                <a:ea typeface="+mn-ea"/>
                <a:cs typeface="+mn-cs"/>
              </a:rPr>
              <a:t>Figure</a:t>
            </a:r>
            <a:r>
              <a:rPr lang="en-US" altLang="en-US" sz="2300" kern="1200" dirty="0">
                <a:solidFill>
                  <a:srgbClr val="000000"/>
                </a:solidFill>
                <a:latin typeface="Arial (Body)"/>
                <a:ea typeface="+mn-ea"/>
                <a:cs typeface="+mn-cs"/>
              </a:rPr>
              <a:t> </a:t>
            </a:r>
            <a:r>
              <a:rPr lang="en-US" altLang="en-US" sz="2300" kern="1200" dirty="0" smtClean="0">
                <a:solidFill>
                  <a:srgbClr val="000000"/>
                </a:solidFill>
                <a:latin typeface="Arial (Body)"/>
                <a:ea typeface="+mn-ea"/>
                <a:cs typeface="+mn-cs"/>
              </a:rPr>
              <a:t>18.12 </a:t>
            </a:r>
            <a:r>
              <a:rPr lang="en-US" altLang="en-US" sz="2300" kern="1200" dirty="0" smtClean="0">
                <a:solidFill>
                  <a:srgbClr val="000000"/>
                </a:solidFill>
                <a:latin typeface="Arial (Body)"/>
              </a:rPr>
              <a:t>(</a:t>
            </a:r>
            <a:r>
              <a:rPr lang="en-US" altLang="en-US" sz="2300" kern="1200" dirty="0">
                <a:solidFill>
                  <a:srgbClr val="000000"/>
                </a:solidFill>
                <a:latin typeface="Arial (Body)"/>
              </a:rPr>
              <a:t>see slides </a:t>
            </a:r>
            <a:r>
              <a:rPr lang="en-US" altLang="en-US" sz="2300" kern="1200" dirty="0" smtClean="0">
                <a:solidFill>
                  <a:srgbClr val="000000"/>
                </a:solidFill>
                <a:latin typeface="Arial (Body)"/>
              </a:rPr>
              <a:t>135-136)</a:t>
            </a:r>
            <a:r>
              <a:rPr lang="en-US" altLang="en-US" sz="2300" kern="1200" dirty="0" smtClean="0">
                <a:solidFill>
                  <a:srgbClr val="000000"/>
                </a:solidFill>
                <a:latin typeface="Arial (Body)"/>
                <a:ea typeface="+mn-ea"/>
                <a:cs typeface="+mn-cs"/>
              </a:rPr>
              <a:t>.</a:t>
            </a:r>
            <a:endParaRPr lang="en-US" altLang="en-US" sz="2300" kern="1200" dirty="0">
              <a:solidFill>
                <a:srgbClr val="000000"/>
              </a:solidFill>
              <a:latin typeface="Arial (Body)"/>
              <a:ea typeface="+mn-ea"/>
              <a:cs typeface="+mn-cs"/>
            </a:endParaRPr>
          </a:p>
          <a:p>
            <a:pPr marL="255651" indent="-255651" eaLnBrk="1" hangingPunct="1">
              <a:tabLst/>
              <a:defRPr/>
            </a:pPr>
            <a:r>
              <a:rPr lang="en-US" altLang="en-US" sz="2300" kern="1200" dirty="0">
                <a:solidFill>
                  <a:srgbClr val="000000"/>
                </a:solidFill>
                <a:latin typeface="Arial (Body)"/>
                <a:ea typeface="+mn-ea"/>
                <a:cs typeface="+mn-cs"/>
              </a:rPr>
              <a:t>When this program is compiled, the compiler produces an error message indicating that the integer value passed to </a:t>
            </a:r>
            <a:r>
              <a:rPr lang="en-US" altLang="en-US" sz="2300" kern="1200" dirty="0">
                <a:solidFill>
                  <a:srgbClr val="000000"/>
                </a:solidFill>
                <a:latin typeface="Consolas" panose="020B0609020204030204" pitchFamily="49" charset="0"/>
                <a:ea typeface="+mn-ea"/>
                <a:cs typeface="Consolas" panose="020B0609020204030204" pitchFamily="49" charset="0"/>
              </a:rPr>
              <a:t>outputArray</a:t>
            </a:r>
            <a:r>
              <a:rPr lang="en-US" altLang="en-US" sz="2300" kern="1200" dirty="0">
                <a:solidFill>
                  <a:srgbClr val="000000"/>
                </a:solidFill>
                <a:latin typeface="Arial (Body)"/>
                <a:ea typeface="+mn-ea"/>
                <a:cs typeface="+mn-cs"/>
              </a:rPr>
              <a:t> in line 13 cannot be converted to a </a:t>
            </a:r>
            <a:r>
              <a:rPr lang="en-US" altLang="en-US" sz="2300" kern="1200" dirty="0">
                <a:solidFill>
                  <a:srgbClr val="000000"/>
                </a:solidFill>
                <a:latin typeface="Consolas" panose="020B0609020204030204" pitchFamily="49" charset="0"/>
                <a:ea typeface="+mn-ea"/>
                <a:cs typeface="Consolas" panose="020B0609020204030204" pitchFamily="49" charset="0"/>
              </a:rPr>
              <a:t>const</a:t>
            </a:r>
            <a:r>
              <a:rPr lang="en-US" altLang="en-US" sz="2300" kern="1200" dirty="0">
                <a:solidFill>
                  <a:srgbClr val="000000"/>
                </a:solidFill>
                <a:latin typeface="Arial (Body)"/>
                <a:ea typeface="+mn-ea"/>
                <a:cs typeface="+mn-cs"/>
              </a:rPr>
              <a:t> </a:t>
            </a:r>
            <a:r>
              <a:rPr lang="en-US" altLang="en-US" sz="2300" kern="1200" dirty="0">
                <a:solidFill>
                  <a:srgbClr val="000000"/>
                </a:solidFill>
                <a:latin typeface="Consolas" panose="020B0609020204030204" pitchFamily="49" charset="0"/>
                <a:ea typeface="+mn-ea"/>
                <a:cs typeface="Consolas" panose="020B0609020204030204" pitchFamily="49" charset="0"/>
              </a:rPr>
              <a:t>Array &amp;</a:t>
            </a:r>
            <a:r>
              <a:rPr lang="en-US" altLang="en-US" sz="2300" kern="1200" dirty="0">
                <a:solidFill>
                  <a:srgbClr val="000000"/>
                </a:solidFill>
                <a:latin typeface="Arial (Body)"/>
                <a:ea typeface="+mn-ea"/>
                <a:cs typeface="+mn-cs"/>
              </a:rPr>
              <a:t>.</a:t>
            </a:r>
          </a:p>
          <a:p>
            <a:pPr marL="255651" indent="-255651" eaLnBrk="1" hangingPunct="1">
              <a:tabLst/>
              <a:defRPr/>
            </a:pPr>
            <a:r>
              <a:rPr lang="en-US" altLang="en-US" sz="2300" kern="1200" dirty="0">
                <a:solidFill>
                  <a:srgbClr val="000000"/>
                </a:solidFill>
                <a:latin typeface="Arial (Body)"/>
                <a:ea typeface="+mn-ea"/>
                <a:cs typeface="+mn-cs"/>
              </a:rPr>
              <a:t>The compiler error message (from Visual C++) is shown in the output window.</a:t>
            </a:r>
          </a:p>
          <a:p>
            <a:pPr marL="255651" indent="-255651" eaLnBrk="1" hangingPunct="1">
              <a:tabLst/>
              <a:defRPr/>
            </a:pPr>
            <a:r>
              <a:rPr lang="en-US" altLang="en-US" sz="2300" kern="1200" dirty="0">
                <a:solidFill>
                  <a:srgbClr val="000000"/>
                </a:solidFill>
                <a:latin typeface="Arial (Body)"/>
                <a:ea typeface="+mn-ea"/>
                <a:cs typeface="+mn-cs"/>
              </a:rPr>
              <a:t>Line 14 demonstrates how the </a:t>
            </a:r>
            <a:r>
              <a:rPr lang="en-US" altLang="en-US" sz="2300" kern="1200" dirty="0">
                <a:solidFill>
                  <a:srgbClr val="000000"/>
                </a:solidFill>
                <a:latin typeface="Consolas" panose="020B0609020204030204" pitchFamily="49" charset="0"/>
                <a:ea typeface="+mn-ea"/>
                <a:cs typeface="Consolas" panose="020B0609020204030204" pitchFamily="49" charset="0"/>
              </a:rPr>
              <a:t>explicit</a:t>
            </a:r>
            <a:r>
              <a:rPr lang="en-US" altLang="en-US" sz="2300" kern="1200" dirty="0">
                <a:solidFill>
                  <a:srgbClr val="000000"/>
                </a:solidFill>
                <a:latin typeface="Arial (Body)"/>
                <a:ea typeface="+mn-ea"/>
                <a:cs typeface="+mn-cs"/>
              </a:rPr>
              <a:t> constructor can be used to create a temporary </a:t>
            </a:r>
            <a:r>
              <a:rPr lang="en-US" altLang="en-US" sz="2300" kern="1200" dirty="0">
                <a:solidFill>
                  <a:srgbClr val="000000"/>
                </a:solidFill>
                <a:latin typeface="Consolas" panose="020B0609020204030204" pitchFamily="49" charset="0"/>
                <a:ea typeface="+mn-ea"/>
                <a:cs typeface="Consolas" panose="020B0609020204030204" pitchFamily="49" charset="0"/>
              </a:rPr>
              <a:t>Array</a:t>
            </a:r>
            <a:r>
              <a:rPr lang="en-US" altLang="en-US" sz="2300" kern="1200" dirty="0">
                <a:solidFill>
                  <a:srgbClr val="000000"/>
                </a:solidFill>
                <a:latin typeface="Arial (Body)"/>
                <a:ea typeface="+mn-ea"/>
                <a:cs typeface="+mn-cs"/>
              </a:rPr>
              <a:t> of 3 elements and pass it to function </a:t>
            </a:r>
            <a:r>
              <a:rPr lang="en-US" altLang="en-US" sz="2300" kern="1200" dirty="0">
                <a:solidFill>
                  <a:srgbClr val="000000"/>
                </a:solidFill>
                <a:latin typeface="Consolas" panose="020B0609020204030204" pitchFamily="49" charset="0"/>
                <a:ea typeface="+mn-ea"/>
                <a:cs typeface="Consolas" panose="020B0609020204030204" pitchFamily="49" charset="0"/>
              </a:rPr>
              <a:t>outputArray</a:t>
            </a:r>
            <a:r>
              <a:rPr lang="en-US" altLang="en-US" sz="2300" kern="1200" dirty="0">
                <a:solidFill>
                  <a:srgbClr val="000000"/>
                </a:solidFill>
                <a:latin typeface="Arial (Body)"/>
                <a:ea typeface="+mn-ea"/>
                <a:cs typeface="+mn-cs"/>
              </a:rPr>
              <a:t>.</a:t>
            </a:r>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Error-Prevention Tip </a:t>
            </a:r>
            <a:r>
              <a:rPr lang="en-US" dirty="0" smtClean="0"/>
              <a:t>18.4</a:t>
            </a:r>
            <a:endParaRPr lang="en-US" dirty="0"/>
          </a:p>
        </p:txBody>
      </p:sp>
      <p:sp>
        <p:nvSpPr>
          <p:cNvPr id="5" name="Text Placeholder 4"/>
          <p:cNvSpPr>
            <a:spLocks noGrp="1"/>
          </p:cNvSpPr>
          <p:nvPr>
            <p:ph type="body" idx="1"/>
          </p:nvPr>
        </p:nvSpPr>
        <p:spPr/>
        <p:txBody>
          <a:bodyPr/>
          <a:lstStyle/>
          <a:p>
            <a:pPr marL="0" indent="0">
              <a:buNone/>
            </a:pPr>
            <a:r>
              <a:rPr lang="en-US" sz="2400" dirty="0">
                <a:latin typeface="+mn-lt"/>
              </a:rPr>
              <a:t>Always use the </a:t>
            </a:r>
            <a:r>
              <a:rPr lang="en-US" sz="2400" dirty="0">
                <a:latin typeface="Consolas" panose="020B0609020204030204" pitchFamily="49" charset="0"/>
                <a:cs typeface="Consolas" panose="020B0609020204030204" pitchFamily="49" charset="0"/>
              </a:rPr>
              <a:t>explicit</a:t>
            </a:r>
            <a:r>
              <a:rPr lang="en-US" sz="2400" dirty="0">
                <a:latin typeface="+mn-lt"/>
              </a:rPr>
              <a:t> keyword on single-argument constructors unless they’re </a:t>
            </a:r>
            <a:r>
              <a:rPr lang="en-US" sz="2400" dirty="0" smtClean="0">
                <a:latin typeface="+mn-lt"/>
              </a:rPr>
              <a:t>intended to </a:t>
            </a:r>
            <a:r>
              <a:rPr lang="en-US" sz="2400" dirty="0">
                <a:latin typeface="+mn-lt"/>
              </a:rPr>
              <a:t>be used as conversion constructors.</a:t>
            </a: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18.13 </a:t>
            </a:r>
            <a:r>
              <a:rPr lang="en-US" dirty="0"/>
              <a:t>Demonstrating an </a:t>
            </a:r>
            <a:r>
              <a:rPr lang="en-US" dirty="0" smtClean="0">
                <a:latin typeface="Consolas" panose="020B0609020204030204" pitchFamily="49" charset="0"/>
                <a:cs typeface="Consolas" panose="020B0609020204030204" pitchFamily="49" charset="0"/>
              </a:rPr>
              <a:t>explicit</a:t>
            </a:r>
            <a:r>
              <a:rPr lang="en-US" dirty="0" smtClean="0"/>
              <a:t> </a:t>
            </a:r>
            <a:r>
              <a:rPr lang="en-US" dirty="0"/>
              <a:t>Constructor </a:t>
            </a:r>
            <a:r>
              <a:rPr lang="en-US" sz="2000" b="0" dirty="0" smtClean="0"/>
              <a:t>(1 of 2)</a:t>
            </a:r>
            <a:endParaRPr lang="en-US" sz="2000" b="0" dirty="0"/>
          </a:p>
        </p:txBody>
      </p:sp>
      <p:pic>
        <p:nvPicPr>
          <p:cNvPr id="4" name="Picture 3" descr="The computer code has 22 lines. The lines read as follows. Line 1. forward slash forward slash Fig period 18 period 13 colon fig18 underscore 13 period c p p. Line 2. forward slash forward slash Demonstrating an explicit constructor period. Line 3. hash include left angle bracket i o stream right angle bracket. Line 4. hash include double quote Array period h double quote. Line 5. using namespace s t d semicolon. Line 6. Blank. Line 7. void output Array left parenthesis c o n s t Array ampersand right parenthesis semicolon forward slash forward slash prototype. Line 8. Blank. Line 9. i n t main left parenthesis right parenthesis. Line 10. left brace. Line 11, indented once. Array integers1 left parenthesis 7 right parenthesis semicolon forward slash forward slash 7 dash element Array. Line 12, indented once. output Array left parenthesis integers1 right parenthesis semicolon forward slash forward slash output Array integers1. Line 13, indented once. output Array left parenthesis 3 right parenthesis semicolon forward slash forward slash convert 3 to an Array and output Array’s contents. Line 13 is highlighted. Line 14, indented once. output Array left parenthesis Array left parenthesis 3 right parenthesis right parenthesis semicolon forward slash forward slash explicit single dash argument constructor call. Line 15. right brace forward slash forward slash end main. Line 16. Blank. Line 17. forward slash forward slash print Array contents. Line 18. void output Array left parenthesis c o n s t Array ampersand array To Output right parenthesis. Line 19. left brace. Line 20, indented once. c out left angle bracket left angle bracket double quote The Array received has double quote left angle bracket left angle bracket array To Output period get Size left parenthesis right parenthesis. Line 21, indented once. left angle bracket left angle bracket double quote elements period The contents are colon back slash n double quote left angle bracket left angle bracket array To Output left angle bracket left angle bracket end l semicolon. Line 22. right brace forward slash forward slash end output Array."/>
          <p:cNvPicPr>
            <a:picLocks noChangeAspect="1"/>
          </p:cNvPicPr>
          <p:nvPr/>
        </p:nvPicPr>
        <p:blipFill>
          <a:blip r:embed="rId2"/>
          <a:stretch>
            <a:fillRect/>
          </a:stretch>
        </p:blipFill>
        <p:spPr>
          <a:xfrm>
            <a:off x="887975" y="1645789"/>
            <a:ext cx="7368050" cy="4444245"/>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18.13 </a:t>
            </a:r>
            <a:r>
              <a:rPr lang="en-US" dirty="0"/>
              <a:t>Demonstrating an </a:t>
            </a:r>
            <a:r>
              <a:rPr lang="en-US" dirty="0" smtClean="0">
                <a:latin typeface="Consolas" panose="020B0609020204030204" pitchFamily="49" charset="0"/>
                <a:cs typeface="Consolas" panose="020B0609020204030204" pitchFamily="49" charset="0"/>
              </a:rPr>
              <a:t>explicit</a:t>
            </a:r>
            <a:r>
              <a:rPr lang="en-US" dirty="0" smtClean="0"/>
              <a:t> </a:t>
            </a:r>
            <a:r>
              <a:rPr lang="en-US" dirty="0"/>
              <a:t>Constructor </a:t>
            </a:r>
            <a:r>
              <a:rPr lang="en-US" sz="2000" b="0" dirty="0" smtClean="0"/>
              <a:t>(2 </a:t>
            </a:r>
            <a:r>
              <a:rPr lang="en-US" sz="2000" b="0" dirty="0"/>
              <a:t>of 2)</a:t>
            </a:r>
            <a:endParaRPr lang="en-US" dirty="0"/>
          </a:p>
        </p:txBody>
      </p:sp>
      <p:pic>
        <p:nvPicPr>
          <p:cNvPr id="5" name="Picture 4" descr="The computer code output has 4 lines. The lines read as follows. Line 1. c colon back slash examples back slash c h 10 back slash f i g 10 underscore 13 back slash f i g 10 underscore 13 period c p p left parenthesis 13 right parenthesis colon error C 2664 colon single quote output Array single quote colon cannot. Line 2. convert parameter 1 from single quote i n t single quote to single quote c o n s t Array ampersand single quote. Line 3. Reason colon cannot convert from single quote i n t single quote to single quote c o n s t Array single quote. Line 4. Constructor for class single quote Array single quote is declared single quote explicit single quote."/>
          <p:cNvPicPr>
            <a:picLocks noChangeAspect="1"/>
          </p:cNvPicPr>
          <p:nvPr/>
        </p:nvPicPr>
        <p:blipFill>
          <a:blip r:embed="rId2"/>
          <a:stretch>
            <a:fillRect/>
          </a:stretch>
        </p:blipFill>
        <p:spPr>
          <a:xfrm>
            <a:off x="526796" y="2813514"/>
            <a:ext cx="8090409" cy="1230972"/>
          </a:xfrm>
          <a:prstGeom prst="rect">
            <a:avLst/>
          </a:prstGeom>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129"/>
            <a:ext cx="8229600" cy="1169521"/>
          </a:xfrm>
        </p:spPr>
        <p:txBody>
          <a:bodyPr>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18.13 </a:t>
            </a:r>
            <a:r>
              <a:rPr lang="en-US" altLang="en-US" sz="3200" kern="1200" dirty="0" smtClean="0">
                <a:latin typeface="Consolas" panose="020B0609020204030204" pitchFamily="49" charset="0"/>
                <a:ea typeface="+mj-ea"/>
                <a:cs typeface="Consolas" panose="020B0609020204030204" pitchFamily="49" charset="0"/>
              </a:rPr>
              <a:t>explicit</a:t>
            </a:r>
            <a:r>
              <a:rPr lang="en-US" altLang="en-US" sz="3200" kern="1200" dirty="0" smtClean="0">
                <a:latin typeface="Times New Roman" panose="02020603050405020304" pitchFamily="18" charset="0"/>
                <a:ea typeface="+mj-ea"/>
                <a:cs typeface="+mj-cs"/>
              </a:rPr>
              <a:t> Constructors and Conversion Operators </a:t>
            </a:r>
            <a:r>
              <a:rPr lang="en-US" altLang="en-US" sz="2000" b="0" kern="1200" dirty="0" smtClean="0">
                <a:latin typeface="Times New Roman" panose="02020603050405020304" pitchFamily="18" charset="0"/>
                <a:ea typeface="+mj-ea"/>
                <a:cs typeface="+mj-cs"/>
              </a:rPr>
              <a:t>(5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785348"/>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C++11: </a:t>
            </a:r>
            <a:r>
              <a:rPr lang="en-US" sz="2400" b="1" kern="1200" dirty="0">
                <a:solidFill>
                  <a:srgbClr val="000000"/>
                </a:solidFill>
                <a:latin typeface="Consolas" panose="020B0609020204030204" pitchFamily="49" charset="0"/>
                <a:ea typeface="+mn-ea"/>
                <a:cs typeface="Consolas" panose="020B0609020204030204" pitchFamily="49" charset="0"/>
              </a:rPr>
              <a:t>explicit</a:t>
            </a:r>
            <a:r>
              <a:rPr lang="en-US" sz="2400" b="1" kern="1200" dirty="0">
                <a:solidFill>
                  <a:srgbClr val="000000"/>
                </a:solidFill>
                <a:latin typeface="Arial (Body)"/>
                <a:ea typeface="+mn-ea"/>
                <a:cs typeface="+mn-cs"/>
              </a:rPr>
              <a:t> Conversion Operators</a:t>
            </a:r>
          </a:p>
          <a:p>
            <a:pPr marL="255651" indent="-255651" eaLnBrk="1" hangingPunct="1">
              <a:tabLst/>
              <a:defRPr/>
            </a:pPr>
            <a:r>
              <a:rPr lang="en-US" sz="2400" kern="1200" dirty="0">
                <a:solidFill>
                  <a:srgbClr val="000000"/>
                </a:solidFill>
                <a:latin typeface="Arial (Body)"/>
                <a:ea typeface="+mn-ea"/>
                <a:cs typeface="+mn-cs"/>
              </a:rPr>
              <a:t>As of C++11, similar to declaring single-argument constructors </a:t>
            </a:r>
            <a:r>
              <a:rPr lang="en-US" sz="2400" kern="1200" dirty="0">
                <a:solidFill>
                  <a:srgbClr val="000000"/>
                </a:solidFill>
                <a:latin typeface="Consolas" panose="020B0609020204030204" pitchFamily="49" charset="0"/>
                <a:ea typeface="+mn-ea"/>
                <a:cs typeface="Consolas" panose="020B0609020204030204" pitchFamily="49" charset="0"/>
              </a:rPr>
              <a:t>explicit</a:t>
            </a:r>
            <a:r>
              <a:rPr lang="en-US" sz="2400" kern="1200" dirty="0">
                <a:solidFill>
                  <a:srgbClr val="000000"/>
                </a:solidFill>
                <a:latin typeface="Arial (Body)"/>
                <a:ea typeface="+mn-ea"/>
                <a:cs typeface="+mn-cs"/>
              </a:rPr>
              <a:t>, you can declare conversion operators </a:t>
            </a:r>
            <a:r>
              <a:rPr lang="en-US" sz="2400" kern="1200" dirty="0">
                <a:solidFill>
                  <a:srgbClr val="000000"/>
                </a:solidFill>
                <a:latin typeface="Consolas" panose="020B0609020204030204" pitchFamily="49" charset="0"/>
                <a:ea typeface="+mn-ea"/>
                <a:cs typeface="Consolas" panose="020B0609020204030204" pitchFamily="49" charset="0"/>
              </a:rPr>
              <a:t>explicit</a:t>
            </a:r>
            <a:r>
              <a:rPr lang="en-US" sz="2400" kern="1200" dirty="0">
                <a:solidFill>
                  <a:srgbClr val="000000"/>
                </a:solidFill>
                <a:latin typeface="Arial (Body)"/>
                <a:ea typeface="+mn-ea"/>
                <a:cs typeface="+mn-cs"/>
              </a:rPr>
              <a:t> to prevent the compiler from using them to perform implicit </a:t>
            </a:r>
            <a:r>
              <a:rPr lang="en-US" sz="2400" kern="1200" dirty="0" smtClean="0">
                <a:solidFill>
                  <a:srgbClr val="000000"/>
                </a:solidFill>
                <a:latin typeface="Arial (Body)"/>
                <a:ea typeface="+mn-ea"/>
                <a:cs typeface="+mn-cs"/>
              </a:rPr>
              <a:t>conversions.</a:t>
            </a:r>
            <a:endParaRPr lang="en-US" sz="2400" kern="1200" dirty="0">
              <a:solidFill>
                <a:srgbClr val="000000"/>
              </a:solidFill>
              <a:latin typeface="Arial (Body)"/>
              <a:ea typeface="+mn-ea"/>
              <a:cs typeface="+mn-cs"/>
            </a:endParaRPr>
          </a:p>
          <a:p>
            <a:pPr marL="255651" indent="-255651" eaLnBrk="1" hangingPunct="1">
              <a:tabLst/>
              <a:defRPr/>
            </a:pPr>
            <a:r>
              <a:rPr lang="en-US" sz="2400" kern="1200" dirty="0">
                <a:solidFill>
                  <a:srgbClr val="000000"/>
                </a:solidFill>
                <a:latin typeface="Arial (Body)"/>
                <a:ea typeface="+mn-ea"/>
                <a:cs typeface="+mn-cs"/>
              </a:rPr>
              <a:t>For example, the </a:t>
            </a:r>
            <a:r>
              <a:rPr lang="en-US" sz="2400" kern="1200" dirty="0" smtClean="0">
                <a:solidFill>
                  <a:srgbClr val="000000"/>
                </a:solidFill>
                <a:latin typeface="Arial (Body)"/>
                <a:ea typeface="+mn-ea"/>
                <a:cs typeface="+mn-cs"/>
              </a:rPr>
              <a:t>prototype:</a:t>
            </a:r>
          </a:p>
        </p:txBody>
      </p:sp>
      <p:pic>
        <p:nvPicPr>
          <p:cNvPr id="6" name="Picture 5" descr="The computer reads as follows. explicit My Class colon colon operator c h a r asterisk left parenthesis right parenthesis c o n s t semicolon."/>
          <p:cNvPicPr>
            <a:picLocks noChangeAspect="1"/>
          </p:cNvPicPr>
          <p:nvPr/>
        </p:nvPicPr>
        <p:blipFill rotWithShape="1">
          <a:blip r:embed="rId3"/>
          <a:srcRect l="5255" t="16936" r="1942" b="15717"/>
          <a:stretch/>
        </p:blipFill>
        <p:spPr>
          <a:xfrm>
            <a:off x="1005321" y="4352408"/>
            <a:ext cx="7124214" cy="431869"/>
          </a:xfrm>
          <a:prstGeom prst="rect">
            <a:avLst/>
          </a:prstGeom>
        </p:spPr>
      </p:pic>
      <p:sp>
        <p:nvSpPr>
          <p:cNvPr id="5" name="Text Placeholder 4"/>
          <p:cNvSpPr>
            <a:spLocks noGrp="1"/>
          </p:cNvSpPr>
          <p:nvPr>
            <p:ph type="body" idx="2"/>
          </p:nvPr>
        </p:nvSpPr>
        <p:spPr>
          <a:xfrm>
            <a:off x="452628" y="4756981"/>
            <a:ext cx="8229600" cy="526032"/>
          </a:xfrm>
        </p:spPr>
        <p:txBody>
          <a:bodyPr/>
          <a:lstStyle/>
          <a:p>
            <a:r>
              <a:rPr lang="en-US" sz="2400" kern="1200" dirty="0">
                <a:solidFill>
                  <a:srgbClr val="000000"/>
                </a:solidFill>
                <a:latin typeface="Arial (Body)"/>
              </a:rPr>
              <a:t>declares </a:t>
            </a:r>
            <a:r>
              <a:rPr lang="en-US" sz="2400" kern="1200" dirty="0">
                <a:solidFill>
                  <a:srgbClr val="000000"/>
                </a:solidFill>
                <a:latin typeface="Consolas" panose="020B0609020204030204" pitchFamily="49" charset="0"/>
                <a:cs typeface="Consolas" panose="020B0609020204030204" pitchFamily="49" charset="0"/>
              </a:rPr>
              <a:t>MyClass</a:t>
            </a:r>
            <a:r>
              <a:rPr lang="en-US" sz="2400" kern="1200" dirty="0">
                <a:solidFill>
                  <a:srgbClr val="000000"/>
                </a:solidFill>
                <a:latin typeface="+mn-lt"/>
                <a:cs typeface="Consolas" panose="020B0609020204030204" pitchFamily="49" charset="0"/>
              </a:rPr>
              <a:t>’</a:t>
            </a:r>
            <a:r>
              <a:rPr lang="en-US" sz="2400" kern="1200" dirty="0">
                <a:solidFill>
                  <a:srgbClr val="000000"/>
                </a:solidFill>
                <a:latin typeface="+mn-lt"/>
              </a:rPr>
              <a:t>s</a:t>
            </a:r>
            <a:r>
              <a:rPr lang="en-US" sz="2400" kern="1200" dirty="0">
                <a:solidFill>
                  <a:srgbClr val="000000"/>
                </a:solidFill>
                <a:latin typeface="Arial (Body)"/>
              </a:rPr>
              <a:t> </a:t>
            </a:r>
            <a:r>
              <a:rPr lang="en-US" sz="2400" kern="1200" dirty="0" smtClean="0">
                <a:solidFill>
                  <a:srgbClr val="000000"/>
                </a:solidFill>
                <a:latin typeface="Consolas" panose="020B0609020204030204" pitchFamily="49" charset="0"/>
                <a:cs typeface="Consolas" panose="020B0609020204030204" pitchFamily="49" charset="0"/>
              </a:rPr>
              <a:t>char</a:t>
            </a:r>
            <a:endParaRPr lang="en-US" sz="2400" kern="1200" dirty="0">
              <a:solidFill>
                <a:srgbClr val="000000"/>
              </a:solidFill>
              <a:latin typeface="Arial (Body)"/>
            </a:endParaRPr>
          </a:p>
        </p:txBody>
      </p:sp>
      <p:graphicFrame>
        <p:nvGraphicFramePr>
          <p:cNvPr id="4" name="Object 3" descr="asterisk cast operator explicit."/>
          <p:cNvGraphicFramePr>
            <a:graphicFrameLocks noChangeAspect="1"/>
          </p:cNvGraphicFramePr>
          <p:nvPr>
            <p:extLst>
              <p:ext uri="{D42A27DB-BD31-4B8C-83A1-F6EECF244321}">
                <p14:modId xmlns:p14="http://schemas.microsoft.com/office/powerpoint/2010/main" val="674607409"/>
              </p:ext>
            </p:extLst>
          </p:nvPr>
        </p:nvGraphicFramePr>
        <p:xfrm>
          <a:off x="4240190" y="4876800"/>
          <a:ext cx="3486150" cy="395288"/>
        </p:xfrm>
        <a:graphic>
          <a:graphicData uri="http://schemas.openxmlformats.org/presentationml/2006/ole">
            <mc:AlternateContent xmlns:mc="http://schemas.openxmlformats.org/markup-compatibility/2006">
              <mc:Choice xmlns:v="urn:schemas-microsoft-com:vml" Requires="v">
                <p:oleObj spid="_x0000_s45128" name="Equation" r:id="rId4" imgW="1790640" imgH="203040" progId="Equation.DSMT4">
                  <p:embed/>
                </p:oleObj>
              </mc:Choice>
              <mc:Fallback>
                <p:oleObj name="Equation" r:id="rId4" imgW="1790640" imgH="203040" progId="Equation.DSMT4">
                  <p:embed/>
                  <p:pic>
                    <p:nvPicPr>
                      <p:cNvPr id="0" name=""/>
                      <p:cNvPicPr/>
                      <p:nvPr/>
                    </p:nvPicPr>
                    <p:blipFill>
                      <a:blip r:embed="rId5"/>
                      <a:stretch>
                        <a:fillRect/>
                      </a:stretch>
                    </p:blipFill>
                    <p:spPr>
                      <a:xfrm>
                        <a:off x="4240190" y="4876800"/>
                        <a:ext cx="3486150" cy="395288"/>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18.14 Overloading the Function Call Operator </a:t>
            </a:r>
            <a:r>
              <a:rPr lang="en-US" altLang="en-US" kern="1200" dirty="0" smtClean="0">
                <a:latin typeface="Consolas" panose="020B0609020204030204" pitchFamily="49" charset="0"/>
                <a:ea typeface="+mj-ea"/>
                <a:cs typeface="Consolas" panose="020B0609020204030204" pitchFamily="49" charset="0"/>
              </a:rPr>
              <a:t>()</a:t>
            </a:r>
            <a:r>
              <a:rPr lang="en-US" altLang="en-US" kern="1200" dirty="0" smtClean="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(1 of 3)</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147259"/>
          </a:xfrm>
        </p:spPr>
        <p:txBody>
          <a:bodyPr>
            <a:spAutoFit/>
          </a:bodyPr>
          <a:lstStyle/>
          <a:p>
            <a:pPr marL="255651" indent="-255651" eaLnBrk="1" hangingPunct="1">
              <a:tabLst/>
              <a:defRPr/>
            </a:pPr>
            <a:r>
              <a:rPr lang="en-US" sz="2000" kern="1200" dirty="0">
                <a:solidFill>
                  <a:srgbClr val="000000"/>
                </a:solidFill>
                <a:latin typeface="Arial (Body)"/>
                <a:ea typeface="+mn-ea"/>
                <a:cs typeface="+mn-cs"/>
              </a:rPr>
              <a:t>Overloading the </a:t>
            </a:r>
            <a:r>
              <a:rPr lang="en-US" sz="2000" b="1" kern="1200" dirty="0">
                <a:solidFill>
                  <a:srgbClr val="000000"/>
                </a:solidFill>
                <a:latin typeface="+mn-lt"/>
                <a:ea typeface="+mn-ea"/>
                <a:cs typeface="Consolas" panose="020B0609020204030204" pitchFamily="49" charset="0"/>
              </a:rPr>
              <a:t>function call operator ()</a:t>
            </a:r>
            <a:r>
              <a:rPr lang="en-US" sz="2000" kern="1200" dirty="0">
                <a:solidFill>
                  <a:srgbClr val="000000"/>
                </a:solidFill>
                <a:latin typeface="Arial (Body)"/>
                <a:ea typeface="+mn-ea"/>
                <a:cs typeface="+mn-cs"/>
              </a:rPr>
              <a:t> is powerful, because functions can take an arbitrary number of comma-separated parameters.</a:t>
            </a:r>
          </a:p>
          <a:p>
            <a:pPr marL="255651" indent="-255651" eaLnBrk="1" hangingPunct="1">
              <a:tabLst/>
              <a:defRPr/>
            </a:pPr>
            <a:r>
              <a:rPr lang="en-US" sz="2000" kern="1200" dirty="0">
                <a:solidFill>
                  <a:srgbClr val="000000"/>
                </a:solidFill>
                <a:latin typeface="Arial (Body)"/>
                <a:ea typeface="+mn-ea"/>
                <a:cs typeface="+mn-cs"/>
              </a:rPr>
              <a:t>In a </a:t>
            </a:r>
            <a:r>
              <a:rPr lang="en-US" sz="2000" b="1" kern="1200" dirty="0">
                <a:solidFill>
                  <a:srgbClr val="000000"/>
                </a:solidFill>
                <a:latin typeface="Arial (Body)"/>
                <a:ea typeface="+mn-ea"/>
                <a:cs typeface="+mn-cs"/>
              </a:rPr>
              <a:t>customized</a:t>
            </a:r>
            <a:r>
              <a:rPr lang="en-US" sz="2000" kern="1200" dirty="0">
                <a:solidFill>
                  <a:srgbClr val="000000"/>
                </a:solidFill>
                <a:latin typeface="Arial (Body)"/>
                <a:ea typeface="+mn-ea"/>
                <a:cs typeface="+mn-cs"/>
              </a:rPr>
              <a:t> </a:t>
            </a:r>
            <a:r>
              <a:rPr lang="en-US" sz="2000" kern="1200" dirty="0">
                <a:solidFill>
                  <a:srgbClr val="000000"/>
                </a:solidFill>
                <a:latin typeface="Consolas" panose="020B0609020204030204" pitchFamily="49" charset="0"/>
                <a:ea typeface="+mn-ea"/>
                <a:cs typeface="Consolas" panose="020B0609020204030204" pitchFamily="49" charset="0"/>
              </a:rPr>
              <a:t>String</a:t>
            </a:r>
            <a:r>
              <a:rPr lang="en-US" sz="2000" kern="1200" dirty="0">
                <a:solidFill>
                  <a:srgbClr val="000000"/>
                </a:solidFill>
                <a:latin typeface="Arial (Body)"/>
                <a:ea typeface="+mn-ea"/>
                <a:cs typeface="+mn-cs"/>
              </a:rPr>
              <a:t> class, for example, you could overload this operator to select a substring from a </a:t>
            </a:r>
            <a:r>
              <a:rPr lang="en-US" sz="2000" kern="1200" dirty="0">
                <a:solidFill>
                  <a:srgbClr val="000000"/>
                </a:solidFill>
                <a:latin typeface="Consolas" panose="020B0609020204030204" pitchFamily="49" charset="0"/>
                <a:ea typeface="+mn-ea"/>
                <a:cs typeface="Consolas" panose="020B0609020204030204" pitchFamily="49" charset="0"/>
              </a:rPr>
              <a:t>String—the</a:t>
            </a:r>
            <a:r>
              <a:rPr lang="en-US" sz="2000" kern="1200" dirty="0">
                <a:solidFill>
                  <a:srgbClr val="000000"/>
                </a:solidFill>
                <a:latin typeface="Arial (Body)"/>
                <a:ea typeface="+mn-ea"/>
                <a:cs typeface="+mn-cs"/>
              </a:rPr>
              <a:t> operator’s two integer parameters could specify the </a:t>
            </a:r>
            <a:r>
              <a:rPr lang="en-US" sz="2000" b="1" kern="1200" dirty="0">
                <a:solidFill>
                  <a:srgbClr val="000000"/>
                </a:solidFill>
                <a:latin typeface="Arial (Body)"/>
                <a:ea typeface="+mn-ea"/>
                <a:cs typeface="+mn-cs"/>
              </a:rPr>
              <a:t>start location</a:t>
            </a:r>
            <a:r>
              <a:rPr lang="en-US" sz="2000" kern="1200" dirty="0">
                <a:solidFill>
                  <a:srgbClr val="000000"/>
                </a:solidFill>
                <a:latin typeface="Arial (Body)"/>
                <a:ea typeface="+mn-ea"/>
                <a:cs typeface="+mn-cs"/>
              </a:rPr>
              <a:t> and the </a:t>
            </a:r>
            <a:r>
              <a:rPr lang="en-US" sz="2000" b="1" kern="1200" dirty="0">
                <a:solidFill>
                  <a:srgbClr val="000000"/>
                </a:solidFill>
                <a:latin typeface="Arial (Body)"/>
                <a:ea typeface="+mn-ea"/>
                <a:cs typeface="+mn-cs"/>
              </a:rPr>
              <a:t>length of the substring to be </a:t>
            </a:r>
            <a:r>
              <a:rPr lang="en-US" sz="2000" b="1" kern="1200" dirty="0" smtClean="0">
                <a:solidFill>
                  <a:srgbClr val="000000"/>
                </a:solidFill>
                <a:latin typeface="Arial (Body)"/>
                <a:ea typeface="+mn-ea"/>
                <a:cs typeface="+mn-cs"/>
              </a:rPr>
              <a:t>selected.</a:t>
            </a:r>
          </a:p>
          <a:p>
            <a:pPr marL="255651" indent="-255651" eaLnBrk="1" hangingPunct="1">
              <a:tabLst/>
              <a:defRPr/>
            </a:pPr>
            <a:r>
              <a:rPr lang="en-US" sz="2000" kern="1200" dirty="0">
                <a:solidFill>
                  <a:srgbClr val="000000"/>
                </a:solidFill>
                <a:latin typeface="Arial (Body)"/>
              </a:rPr>
              <a:t>The </a:t>
            </a:r>
            <a:r>
              <a:rPr lang="en-US" sz="2000" kern="1200" dirty="0">
                <a:solidFill>
                  <a:srgbClr val="000000"/>
                </a:solidFill>
                <a:latin typeface="Consolas" panose="020B0609020204030204" pitchFamily="49" charset="0"/>
                <a:cs typeface="Consolas" panose="020B0609020204030204" pitchFamily="49" charset="0"/>
              </a:rPr>
              <a:t>operator()</a:t>
            </a:r>
            <a:r>
              <a:rPr lang="en-US" sz="2000" kern="1200" dirty="0">
                <a:solidFill>
                  <a:srgbClr val="000000"/>
                </a:solidFill>
                <a:latin typeface="Arial (Body)"/>
              </a:rPr>
              <a:t> function could check for such errors as a </a:t>
            </a:r>
            <a:r>
              <a:rPr lang="en-US" sz="2000" b="1" kern="1200" dirty="0">
                <a:solidFill>
                  <a:srgbClr val="000000"/>
                </a:solidFill>
                <a:latin typeface="Arial (Body)"/>
              </a:rPr>
              <a:t>start location out of range</a:t>
            </a:r>
            <a:r>
              <a:rPr lang="en-US" sz="2000" kern="1200" dirty="0">
                <a:solidFill>
                  <a:srgbClr val="000000"/>
                </a:solidFill>
                <a:latin typeface="Arial (Body)"/>
              </a:rPr>
              <a:t> or a </a:t>
            </a:r>
            <a:r>
              <a:rPr lang="en-US" sz="2000" b="1" kern="1200" dirty="0">
                <a:solidFill>
                  <a:srgbClr val="000000"/>
                </a:solidFill>
                <a:latin typeface="Arial (Body)"/>
              </a:rPr>
              <a:t>negative substring length</a:t>
            </a:r>
            <a:r>
              <a:rPr lang="en-US" sz="2000" kern="1200" dirty="0">
                <a:solidFill>
                  <a:srgbClr val="000000"/>
                </a:solidFill>
                <a:latin typeface="Arial (Body)"/>
              </a:rPr>
              <a:t>.</a:t>
            </a:r>
          </a:p>
          <a:p>
            <a:pPr marL="255651" indent="-255651" eaLnBrk="1" hangingPunct="1">
              <a:tabLst/>
              <a:defRPr/>
            </a:pPr>
            <a:r>
              <a:rPr lang="en-US" sz="2000" kern="1200" dirty="0">
                <a:solidFill>
                  <a:srgbClr val="000000"/>
                </a:solidFill>
                <a:latin typeface="Arial (Body)"/>
              </a:rPr>
              <a:t>The overloaded function call operator must be a non-static member function </a:t>
            </a:r>
            <a:r>
              <a:rPr lang="en-US" sz="2000" kern="1200" dirty="0" smtClean="0">
                <a:solidFill>
                  <a:srgbClr val="000000"/>
                </a:solidFill>
                <a:latin typeface="Arial (Body)"/>
              </a:rPr>
              <a:t>and could </a:t>
            </a:r>
            <a:r>
              <a:rPr lang="en-US" sz="2000" kern="1200" dirty="0">
                <a:solidFill>
                  <a:srgbClr val="000000"/>
                </a:solidFill>
                <a:latin typeface="Arial (Body)"/>
              </a:rPr>
              <a:t>be defined with the first line:</a:t>
            </a:r>
            <a:endParaRPr lang="en-US" sz="2000" kern="1200" dirty="0">
              <a:solidFill>
                <a:srgbClr val="000000"/>
              </a:solidFill>
              <a:latin typeface="Arial (Body)"/>
              <a:ea typeface="+mn-ea"/>
              <a:cs typeface="+mn-cs"/>
            </a:endParaRPr>
          </a:p>
        </p:txBody>
      </p:sp>
      <p:pic>
        <p:nvPicPr>
          <p:cNvPr id="5" name="Picture 4" descr="The computer reads as follows. String String colon colon operator left parenthesis right parenthesis left parenthesis size underscore t index comma size underscore t length right parenthesis c o n s t."/>
          <p:cNvPicPr>
            <a:picLocks noChangeAspect="1"/>
          </p:cNvPicPr>
          <p:nvPr/>
        </p:nvPicPr>
        <p:blipFill rotWithShape="1">
          <a:blip r:embed="rId2"/>
          <a:srcRect l="5432" t="13602"/>
          <a:stretch/>
        </p:blipFill>
        <p:spPr>
          <a:xfrm>
            <a:off x="792549" y="5683463"/>
            <a:ext cx="7422799" cy="387518"/>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478"/>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18.14 Overloading the Function Call Operator </a:t>
            </a:r>
            <a:r>
              <a:rPr lang="en-US" altLang="en-US" kern="1200" dirty="0" smtClean="0">
                <a:latin typeface="Consolas" panose="020B0609020204030204" pitchFamily="49" charset="0"/>
                <a:ea typeface="+mj-ea"/>
                <a:cs typeface="Consolas" panose="020B0609020204030204" pitchFamily="49" charset="0"/>
              </a:rPr>
              <a:t>()</a:t>
            </a:r>
            <a:r>
              <a:rPr lang="en-US" altLang="en-US" kern="1200" dirty="0" smtClean="0">
                <a:latin typeface="Times New Roman" panose="02020603050405020304" pitchFamily="18" charset="0"/>
                <a:ea typeface="+mj-ea"/>
                <a:cs typeface="+mj-cs"/>
              </a:rPr>
              <a:t> </a:t>
            </a:r>
            <a:r>
              <a:rPr lang="en-US" altLang="en-US" sz="2000" b="0" kern="1200" dirty="0" smtClean="0">
                <a:latin typeface="Times New Roman" panose="02020603050405020304" pitchFamily="18" charset="0"/>
                <a:ea typeface="+mj-ea"/>
                <a:cs typeface="+mj-cs"/>
              </a:rPr>
              <a:t>(2 of 3)</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584960"/>
            <a:ext cx="8229600" cy="3154679"/>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In this case, it should be a </a:t>
            </a:r>
            <a:r>
              <a:rPr lang="en-US" altLang="en-US" sz="2400" kern="1200" dirty="0">
                <a:solidFill>
                  <a:srgbClr val="000000"/>
                </a:solidFill>
                <a:latin typeface="Consolas" panose="020B0609020204030204" pitchFamily="49" charset="0"/>
                <a:ea typeface="+mn-ea"/>
                <a:cs typeface="Consolas" panose="020B0609020204030204" pitchFamily="49" charset="0"/>
              </a:rPr>
              <a:t>const</a:t>
            </a:r>
            <a:r>
              <a:rPr lang="en-US" altLang="en-US" sz="2400" kern="1200" dirty="0">
                <a:solidFill>
                  <a:srgbClr val="000000"/>
                </a:solidFill>
                <a:latin typeface="Arial (Body)"/>
                <a:ea typeface="+mn-ea"/>
                <a:cs typeface="+mn-cs"/>
              </a:rPr>
              <a:t> member function because obtaining a substring should </a:t>
            </a:r>
            <a:r>
              <a:rPr lang="en-US" altLang="en-US" sz="2400" b="1" kern="1200" dirty="0">
                <a:solidFill>
                  <a:srgbClr val="000000"/>
                </a:solidFill>
                <a:latin typeface="Arial (Body)"/>
                <a:ea typeface="+mn-ea"/>
                <a:cs typeface="+mn-cs"/>
              </a:rPr>
              <a:t>not</a:t>
            </a:r>
            <a:r>
              <a:rPr lang="en-US" altLang="en-US" sz="2400" kern="1200" dirty="0">
                <a:solidFill>
                  <a:srgbClr val="000000"/>
                </a:solidFill>
                <a:latin typeface="Arial (Body)"/>
                <a:ea typeface="+mn-ea"/>
                <a:cs typeface="+mn-cs"/>
              </a:rPr>
              <a:t> modify the original String </a:t>
            </a:r>
            <a:r>
              <a:rPr lang="en-US" altLang="en-US" sz="2400" kern="1200" dirty="0" smtClean="0">
                <a:solidFill>
                  <a:srgbClr val="000000"/>
                </a:solidFill>
                <a:latin typeface="Arial (Body)"/>
                <a:ea typeface="+mn-ea"/>
                <a:cs typeface="+mn-cs"/>
              </a:rPr>
              <a:t>object.</a:t>
            </a:r>
            <a:endParaRPr lang="en-US" altLang="en-US" sz="2400" kern="1200" dirty="0">
              <a:solidFill>
                <a:srgbClr val="000000"/>
              </a:solidFill>
              <a:latin typeface="Arial (Body)"/>
              <a:ea typeface="+mn-ea"/>
              <a:cs typeface="+mn-cs"/>
            </a:endParaRPr>
          </a:p>
          <a:p>
            <a:pPr marL="255651" indent="-255651" eaLnBrk="1" hangingPunct="1">
              <a:tabLst/>
              <a:defRPr/>
            </a:pPr>
            <a:r>
              <a:rPr lang="en-US" altLang="en-US" sz="2400" kern="1200" dirty="0">
                <a:solidFill>
                  <a:srgbClr val="000000"/>
                </a:solidFill>
                <a:latin typeface="Arial (Body)"/>
                <a:ea typeface="+mn-ea"/>
                <a:cs typeface="+mn-cs"/>
              </a:rPr>
              <a:t>Suppose </a:t>
            </a:r>
            <a:r>
              <a:rPr lang="en-US" altLang="en-US" sz="2400" kern="1200" dirty="0">
                <a:solidFill>
                  <a:srgbClr val="000000"/>
                </a:solidFill>
                <a:latin typeface="Consolas" panose="020B0609020204030204" pitchFamily="49" charset="0"/>
                <a:ea typeface="+mn-ea"/>
                <a:cs typeface="Consolas" panose="020B0609020204030204" pitchFamily="49" charset="0"/>
              </a:rPr>
              <a:t>string1</a:t>
            </a:r>
            <a:r>
              <a:rPr lang="en-US" altLang="en-US" sz="2400" kern="1200" dirty="0">
                <a:solidFill>
                  <a:srgbClr val="000000"/>
                </a:solidFill>
                <a:latin typeface="Arial (Body)"/>
                <a:ea typeface="+mn-ea"/>
                <a:cs typeface="+mn-cs"/>
              </a:rPr>
              <a:t> is a String object containing the string "</a:t>
            </a:r>
            <a:r>
              <a:rPr lang="en-US" altLang="en-US" sz="2400" kern="1200" dirty="0" smtClean="0">
                <a:solidFill>
                  <a:srgbClr val="000000"/>
                </a:solidFill>
                <a:latin typeface="Consolas" panose="020B0609020204030204" pitchFamily="49" charset="0"/>
                <a:ea typeface="+mn-ea"/>
                <a:cs typeface="Consolas" panose="020B0609020204030204" pitchFamily="49" charset="0"/>
              </a:rPr>
              <a:t>A</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E</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I</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O</a:t>
            </a:r>
            <a:r>
              <a:rPr lang="en-US" altLang="en-US" sz="100" kern="1200" dirty="0" smtClean="0">
                <a:solidFill>
                  <a:srgbClr val="000000"/>
                </a:solidFill>
                <a:latin typeface="Consolas" panose="020B0609020204030204" pitchFamily="49" charset="0"/>
                <a:ea typeface="+mn-ea"/>
                <a:cs typeface="Consolas" panose="020B0609020204030204" pitchFamily="49" charset="0"/>
              </a:rPr>
              <a:t> </a:t>
            </a:r>
            <a:r>
              <a:rPr lang="en-US" altLang="en-US" sz="2400" kern="1200" dirty="0" smtClean="0">
                <a:solidFill>
                  <a:srgbClr val="000000"/>
                </a:solidFill>
                <a:latin typeface="Consolas" panose="020B0609020204030204" pitchFamily="49" charset="0"/>
                <a:ea typeface="+mn-ea"/>
                <a:cs typeface="Consolas" panose="020B0609020204030204" pitchFamily="49" charset="0"/>
              </a:rPr>
              <a:t>U</a:t>
            </a:r>
            <a:r>
              <a:rPr lang="en-US" altLang="en-US" sz="2400" kern="1200" dirty="0" smtClean="0">
                <a:solidFill>
                  <a:srgbClr val="000000"/>
                </a:solidFill>
                <a:latin typeface="Arial (Body)"/>
                <a:ea typeface="+mn-ea"/>
                <a:cs typeface="+mn-cs"/>
              </a:rPr>
              <a:t>".</a:t>
            </a:r>
            <a:endParaRPr lang="en-US" altLang="en-US" sz="2400" kern="1200" dirty="0">
              <a:solidFill>
                <a:srgbClr val="000000"/>
              </a:solidFill>
              <a:latin typeface="Arial (Body)"/>
              <a:ea typeface="+mn-ea"/>
              <a:cs typeface="+mn-cs"/>
            </a:endParaRPr>
          </a:p>
          <a:p>
            <a:pPr marL="255651" indent="-255651" eaLnBrk="1" hangingPunct="1">
              <a:tabLst/>
              <a:defRPr/>
            </a:pPr>
            <a:r>
              <a:rPr lang="en-US" altLang="en-US" sz="2400" kern="1200" dirty="0">
                <a:solidFill>
                  <a:srgbClr val="000000"/>
                </a:solidFill>
                <a:latin typeface="Arial (Body)"/>
                <a:ea typeface="+mn-ea"/>
                <a:cs typeface="+mn-cs"/>
              </a:rPr>
              <a:t>When the compiler encounters the expression </a:t>
            </a:r>
            <a:r>
              <a:rPr lang="en-US" altLang="en-US" sz="2400" kern="1200" dirty="0">
                <a:solidFill>
                  <a:srgbClr val="000000"/>
                </a:solidFill>
                <a:latin typeface="Consolas" panose="020B0609020204030204" pitchFamily="49" charset="0"/>
                <a:ea typeface="+mn-ea"/>
                <a:cs typeface="Consolas" panose="020B0609020204030204" pitchFamily="49" charset="0"/>
              </a:rPr>
              <a:t>string1(2, 3)</a:t>
            </a:r>
            <a:r>
              <a:rPr lang="en-US" altLang="en-US" sz="2400" kern="1200" dirty="0">
                <a:solidFill>
                  <a:srgbClr val="000000"/>
                </a:solidFill>
                <a:latin typeface="Arial (Body)"/>
                <a:ea typeface="+mn-ea"/>
                <a:cs typeface="+mn-cs"/>
              </a:rPr>
              <a:t>, it generates the member-function </a:t>
            </a:r>
            <a:r>
              <a:rPr lang="en-US" altLang="en-US" sz="2400" kern="1200" dirty="0" smtClean="0">
                <a:solidFill>
                  <a:srgbClr val="000000"/>
                </a:solidFill>
                <a:latin typeface="Arial (Body)"/>
                <a:ea typeface="+mn-ea"/>
                <a:cs typeface="+mn-cs"/>
              </a:rPr>
              <a:t>call</a:t>
            </a:r>
          </a:p>
        </p:txBody>
      </p:sp>
      <p:pic>
        <p:nvPicPr>
          <p:cNvPr id="6" name="Picture 5" descr="The computer reads as follows. string 1 period operator left parenthesis right parenthesis left parenthesis 2 comma 3 right parenthesis."/>
          <p:cNvPicPr>
            <a:picLocks noChangeAspect="1"/>
          </p:cNvPicPr>
          <p:nvPr/>
        </p:nvPicPr>
        <p:blipFill rotWithShape="1">
          <a:blip r:embed="rId2"/>
          <a:srcRect l="10108" t="9123" b="18204"/>
          <a:stretch/>
        </p:blipFill>
        <p:spPr>
          <a:xfrm>
            <a:off x="1271016" y="4745736"/>
            <a:ext cx="4203394" cy="429768"/>
          </a:xfrm>
          <a:prstGeom prst="rect">
            <a:avLst/>
          </a:prstGeom>
        </p:spPr>
      </p:pic>
      <p:sp>
        <p:nvSpPr>
          <p:cNvPr id="5" name="Text Placeholder 4"/>
          <p:cNvSpPr>
            <a:spLocks noGrp="1"/>
          </p:cNvSpPr>
          <p:nvPr>
            <p:ph type="body" idx="2"/>
          </p:nvPr>
        </p:nvSpPr>
        <p:spPr>
          <a:xfrm>
            <a:off x="457200" y="5235313"/>
            <a:ext cx="8229600" cy="701041"/>
          </a:xfrm>
        </p:spPr>
        <p:txBody>
          <a:bodyPr/>
          <a:lstStyle/>
          <a:p>
            <a:r>
              <a:rPr lang="en-US" altLang="en-US" sz="2400" kern="1200" dirty="0">
                <a:solidFill>
                  <a:srgbClr val="000000"/>
                </a:solidFill>
                <a:latin typeface="Arial (Body)"/>
              </a:rPr>
              <a:t>which returns a </a:t>
            </a:r>
            <a:r>
              <a:rPr lang="en-US" altLang="en-US" sz="2400" kern="1200" dirty="0">
                <a:solidFill>
                  <a:srgbClr val="000000"/>
                </a:solidFill>
                <a:latin typeface="Consolas" panose="020B0609020204030204" pitchFamily="49" charset="0"/>
                <a:cs typeface="Consolas" panose="020B0609020204030204" pitchFamily="49" charset="0"/>
              </a:rPr>
              <a:t>String</a:t>
            </a:r>
            <a:r>
              <a:rPr lang="en-US" altLang="en-US" sz="2400" kern="1200" dirty="0">
                <a:solidFill>
                  <a:srgbClr val="000000"/>
                </a:solidFill>
                <a:latin typeface="Arial (Body)"/>
              </a:rPr>
              <a:t> containing "</a:t>
            </a:r>
            <a:r>
              <a:rPr lang="en-US" altLang="en-US" sz="2400" kern="1200" dirty="0" smtClean="0">
                <a:solidFill>
                  <a:srgbClr val="000000"/>
                </a:solidFill>
                <a:latin typeface="Consolas" panose="020B0609020204030204" pitchFamily="49" charset="0"/>
                <a:cs typeface="Consolas" panose="020B0609020204030204" pitchFamily="49" charset="0"/>
              </a:rPr>
              <a:t>I</a:t>
            </a:r>
            <a:r>
              <a:rPr lang="en-US" altLang="en-US" sz="100" kern="1200" dirty="0" smtClean="0">
                <a:solidFill>
                  <a:srgbClr val="000000"/>
                </a:solidFill>
                <a:latin typeface="Consolas" panose="020B0609020204030204" pitchFamily="49" charset="0"/>
                <a:cs typeface="Consolas" panose="020B0609020204030204" pitchFamily="49" charset="0"/>
              </a:rPr>
              <a:t> </a:t>
            </a:r>
            <a:r>
              <a:rPr lang="en-US" altLang="en-US" sz="2400" kern="1200" dirty="0" smtClean="0">
                <a:solidFill>
                  <a:srgbClr val="000000"/>
                </a:solidFill>
                <a:latin typeface="Consolas" panose="020B0609020204030204" pitchFamily="49" charset="0"/>
                <a:cs typeface="Consolas" panose="020B0609020204030204" pitchFamily="49" charset="0"/>
              </a:rPr>
              <a:t>O</a:t>
            </a:r>
            <a:r>
              <a:rPr lang="en-US" altLang="en-US" sz="100" kern="1200" dirty="0" smtClean="0">
                <a:solidFill>
                  <a:srgbClr val="000000"/>
                </a:solidFill>
                <a:latin typeface="Consolas" panose="020B0609020204030204" pitchFamily="49" charset="0"/>
                <a:cs typeface="Consolas" panose="020B0609020204030204" pitchFamily="49" charset="0"/>
              </a:rPr>
              <a:t> </a:t>
            </a:r>
            <a:r>
              <a:rPr lang="en-US" altLang="en-US" sz="2400" kern="1200" dirty="0" smtClean="0">
                <a:solidFill>
                  <a:srgbClr val="000000"/>
                </a:solidFill>
                <a:latin typeface="Consolas" panose="020B0609020204030204" pitchFamily="49" charset="0"/>
                <a:cs typeface="Consolas" panose="020B0609020204030204" pitchFamily="49" charset="0"/>
              </a:rPr>
              <a:t>U</a:t>
            </a:r>
            <a:r>
              <a:rPr lang="en-US" altLang="en-US" sz="2400" kern="1200" dirty="0" smtClean="0">
                <a:solidFill>
                  <a:srgbClr val="000000"/>
                </a:solidFill>
                <a:latin typeface="Arial (Body)"/>
              </a:rPr>
              <a:t>".</a:t>
            </a:r>
            <a:endParaRPr lang="en-US" altLang="en-US" sz="24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rPr>
              <a:t>18.14 </a:t>
            </a:r>
            <a:r>
              <a:rPr lang="en-US" altLang="en-US" kern="1200" dirty="0">
                <a:latin typeface="Times New Roman" panose="02020603050405020304" pitchFamily="18" charset="0"/>
              </a:rPr>
              <a:t>Overloading the Function Call Operator </a:t>
            </a:r>
            <a:r>
              <a:rPr lang="en-US" altLang="en-US" kern="1200" dirty="0">
                <a:latin typeface="Consolas" panose="020B0609020204030204" pitchFamily="49" charset="0"/>
                <a:cs typeface="Consolas" panose="020B0609020204030204" pitchFamily="49" charset="0"/>
              </a:rPr>
              <a:t>()</a:t>
            </a:r>
            <a:r>
              <a:rPr lang="en-US" altLang="en-US" kern="1200" dirty="0">
                <a:latin typeface="Times New Roman" panose="02020603050405020304" pitchFamily="18" charset="0"/>
              </a:rPr>
              <a:t> </a:t>
            </a:r>
            <a:r>
              <a:rPr lang="en-US" altLang="en-US" sz="2000" b="0" kern="1200" dirty="0" smtClean="0">
                <a:latin typeface="Times New Roman" panose="02020603050405020304" pitchFamily="18" charset="0"/>
              </a:rPr>
              <a:t>(3 </a:t>
            </a:r>
            <a:r>
              <a:rPr lang="en-US" altLang="en-US" sz="2000" b="0" kern="1200" dirty="0">
                <a:latin typeface="Times New Roman" panose="02020603050405020304" pitchFamily="18" charset="0"/>
              </a:rPr>
              <a:t>of </a:t>
            </a:r>
            <a:r>
              <a:rPr lang="en-US" altLang="en-US" sz="2000" b="0" kern="1200" dirty="0" smtClean="0">
                <a:latin typeface="Times New Roman" panose="02020603050405020304" pitchFamily="18" charset="0"/>
              </a:rPr>
              <a:t>3)</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362456"/>
            <a:ext cx="8229600" cy="3331651"/>
          </a:xfrm>
        </p:spPr>
        <p:txBody>
          <a:bodyPr>
            <a:spAutoFit/>
          </a:bodyPr>
          <a:lstStyle/>
          <a:p>
            <a:pPr marL="255651" indent="-255651" eaLnBrk="1" hangingPunct="1">
              <a:tabLst/>
              <a:defRPr/>
            </a:pPr>
            <a:r>
              <a:rPr lang="en-US" altLang="en-US" sz="2400" kern="1200" dirty="0">
                <a:solidFill>
                  <a:srgbClr val="000000"/>
                </a:solidFill>
                <a:latin typeface="Arial (Body)"/>
              </a:rPr>
              <a:t>Another possible use of the function call operator is to enable an alternate </a:t>
            </a:r>
            <a:r>
              <a:rPr lang="en-US" altLang="en-US" sz="2400" kern="1200" dirty="0">
                <a:solidFill>
                  <a:srgbClr val="000000"/>
                </a:solidFill>
                <a:latin typeface="Consolas" panose="020B0609020204030204" pitchFamily="49" charset="0"/>
                <a:cs typeface="Consolas" panose="020B0609020204030204" pitchFamily="49" charset="0"/>
              </a:rPr>
              <a:t>Array</a:t>
            </a:r>
            <a:r>
              <a:rPr lang="en-US" altLang="en-US" sz="2400" kern="1200" dirty="0">
                <a:solidFill>
                  <a:srgbClr val="000000"/>
                </a:solidFill>
                <a:latin typeface="Arial (Body)"/>
              </a:rPr>
              <a:t> subscripting notation.</a:t>
            </a:r>
          </a:p>
          <a:p>
            <a:pPr marL="255651" indent="-255651" eaLnBrk="1" hangingPunct="1">
              <a:tabLst/>
              <a:defRPr/>
            </a:pPr>
            <a:r>
              <a:rPr lang="en-US" altLang="en-US" sz="2400" kern="1200" dirty="0">
                <a:solidFill>
                  <a:srgbClr val="000000"/>
                </a:solidFill>
                <a:latin typeface="Arial (Body)"/>
              </a:rPr>
              <a:t>Instead of using C++’s double-square-bracket notation, such as in </a:t>
            </a:r>
            <a:r>
              <a:rPr lang="en-US" altLang="en-US" sz="2400" kern="1200" dirty="0">
                <a:solidFill>
                  <a:srgbClr val="000000"/>
                </a:solidFill>
                <a:latin typeface="Consolas" panose="020B0609020204030204" pitchFamily="49" charset="0"/>
                <a:cs typeface="Consolas" panose="020B0609020204030204" pitchFamily="49" charset="0"/>
              </a:rPr>
              <a:t>chessBoard[row][column]</a:t>
            </a:r>
            <a:r>
              <a:rPr lang="en-US" altLang="en-US" sz="2400" kern="1200" dirty="0">
                <a:solidFill>
                  <a:srgbClr val="000000"/>
                </a:solidFill>
                <a:latin typeface="Arial (Body)"/>
              </a:rPr>
              <a:t>, you might prefer to overload the function call operator to enable the notation </a:t>
            </a:r>
            <a:r>
              <a:rPr lang="en-US" altLang="en-US" sz="2400" kern="1200" dirty="0">
                <a:solidFill>
                  <a:srgbClr val="000000"/>
                </a:solidFill>
                <a:latin typeface="Consolas" panose="020B0609020204030204" pitchFamily="49" charset="0"/>
                <a:cs typeface="Consolas" panose="020B0609020204030204" pitchFamily="49" charset="0"/>
              </a:rPr>
              <a:t>chessBoard(row, column)</a:t>
            </a:r>
            <a:r>
              <a:rPr lang="en-US" altLang="en-US" sz="2400" kern="1200" dirty="0">
                <a:solidFill>
                  <a:srgbClr val="000000"/>
                </a:solidFill>
                <a:latin typeface="Arial (Body)"/>
              </a:rPr>
              <a:t>, where </a:t>
            </a:r>
            <a:r>
              <a:rPr lang="en-US" altLang="en-US" sz="2400" kern="1200" dirty="0">
                <a:solidFill>
                  <a:srgbClr val="000000"/>
                </a:solidFill>
                <a:latin typeface="Consolas" panose="020B0609020204030204" pitchFamily="49" charset="0"/>
                <a:cs typeface="Consolas" panose="020B0609020204030204" pitchFamily="49" charset="0"/>
              </a:rPr>
              <a:t>chessBoard</a:t>
            </a:r>
            <a:r>
              <a:rPr lang="en-US" altLang="en-US" sz="2400" kern="1200" dirty="0">
                <a:solidFill>
                  <a:srgbClr val="000000"/>
                </a:solidFill>
                <a:latin typeface="Arial (Body)"/>
              </a:rPr>
              <a:t> is an object of a modified two-dimensional </a:t>
            </a:r>
            <a:r>
              <a:rPr lang="en-US" altLang="en-US" sz="2400" kern="1200" dirty="0">
                <a:solidFill>
                  <a:srgbClr val="000000"/>
                </a:solidFill>
                <a:latin typeface="Consolas" panose="020B0609020204030204" pitchFamily="49" charset="0"/>
                <a:cs typeface="Consolas" panose="020B0609020204030204" pitchFamily="49" charset="0"/>
              </a:rPr>
              <a:t>Array</a:t>
            </a:r>
            <a:r>
              <a:rPr lang="en-US" altLang="en-US" sz="2400" kern="1200" dirty="0">
                <a:solidFill>
                  <a:srgbClr val="000000"/>
                </a:solidFill>
                <a:latin typeface="Arial (Body)"/>
              </a:rPr>
              <a:t> class.</a:t>
            </a:r>
          </a:p>
        </p:txBody>
      </p:sp>
    </p:spTree>
    <p:extLst>
      <p:ext uri="{BB962C8B-B14F-4D97-AF65-F5344CB8AC3E}">
        <p14:creationId xmlns:p14="http://schemas.microsoft.com/office/powerpoint/2010/main" val="597130237"/>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itle 1"/>
          <p:cNvSpPr txBox="1">
            <a:spLocks noGrp="1"/>
          </p:cNvSpPr>
          <p:nvPr>
            <p:ph type="title"/>
          </p:nvPr>
        </p:nvSpPr>
        <p:spPr/>
        <p:txBody>
          <a:bodyPr>
            <a:spAutoFit/>
          </a:bodyPr>
          <a:lstStyle/>
          <a:p>
            <a:pPr eaLnBrk="1" hangingPunct="1">
              <a:spcBef>
                <a:spcPct val="0"/>
              </a:spcBef>
              <a:buFont typeface="Times New Roman" panose="02020603050405020304" pitchFamily="18" charset="0"/>
              <a:buNone/>
            </a:pPr>
            <a:r>
              <a:rPr lang="en-US" altLang="en-US" dirty="0" smtClean="0">
                <a:latin typeface="Times New Roman" panose="02020603050405020304" pitchFamily="18" charset="0"/>
                <a:cs typeface="Times New Roman" panose="02020603050405020304" pitchFamily="18" charset="0"/>
                <a:sym typeface="Times New Roman" panose="02020603050405020304" pitchFamily="18" charset="0"/>
              </a:rPr>
              <a:t>Copyright</a:t>
            </a:r>
          </a:p>
        </p:txBody>
      </p:sp>
      <p:pic>
        <p:nvPicPr>
          <p:cNvPr id="159747" name="Picture 2" descr="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425" y="2309813"/>
            <a:ext cx="742315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11001</TotalTime>
  <Words>7784</Words>
  <Application>Microsoft Office PowerPoint</Application>
  <PresentationFormat>On-screen Show (4:3)</PresentationFormat>
  <Paragraphs>563</Paragraphs>
  <Slides>146</Slides>
  <Notes>2</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146</vt:i4>
      </vt:variant>
    </vt:vector>
  </HeadingPairs>
  <TitlesOfParts>
    <vt:vector size="157" baseType="lpstr">
      <vt:lpstr>Arial</vt:lpstr>
      <vt:lpstr>Arial (Body)</vt:lpstr>
      <vt:lpstr>Cambria</vt:lpstr>
      <vt:lpstr>Consolas</vt:lpstr>
      <vt:lpstr>Noto Sans Symbols</vt:lpstr>
      <vt:lpstr>Times New Roman</vt:lpstr>
      <vt:lpstr>Verdana</vt:lpstr>
      <vt:lpstr>Wingdings 3</vt:lpstr>
      <vt:lpstr>508 Lecture</vt:lpstr>
      <vt:lpstr>1_508 Lecture</vt:lpstr>
      <vt:lpstr>Equation</vt:lpstr>
      <vt:lpstr>C How to Program</vt:lpstr>
      <vt:lpstr>Learning Objectives</vt:lpstr>
      <vt:lpstr>Outline (1 of 2)</vt:lpstr>
      <vt:lpstr>Outline (2 of 2)</vt:lpstr>
      <vt:lpstr>18.1 Introduction</vt:lpstr>
      <vt:lpstr>18.2 Using the Overloaded Operators of Standard Library Class string (1 of 4)</vt:lpstr>
      <vt:lpstr>Figure 18.1 Standard Library string Class Test Program (1 of 6)</vt:lpstr>
      <vt:lpstr>Figure 18.1 Standard Library string Class Test Program (2 of 6)</vt:lpstr>
      <vt:lpstr>Figure 18.1 Standard Library string Class Test Program (3 of 6)</vt:lpstr>
      <vt:lpstr>Figure 18.1 Standard Library string Class Test Program (4 of 6)</vt:lpstr>
      <vt:lpstr>Figure 18.1 Standard Library string Class Test Program (5 of 6)</vt:lpstr>
      <vt:lpstr>Figure 18.1 Standard Library string Class Test Program (6 of 6)</vt:lpstr>
      <vt:lpstr>18.2 Using the Overloaded Operators of Standard Library Class string (2 of 4)</vt:lpstr>
      <vt:lpstr>18.2 Using the Overloaded Operators of Standard Library Class string (3 of 4)</vt:lpstr>
      <vt:lpstr>18.2 Using the Overloaded Operators of Standard Library Class string (4 of 4)</vt:lpstr>
      <vt:lpstr>18.3 Fundamentals of Operator Overloading (1 of 7)</vt:lpstr>
      <vt:lpstr>18.3 Fundamentals of Operator Overloading (2 of 7)</vt:lpstr>
      <vt:lpstr>18.3 Fundamentals of Operator Overloading (3 of 7)</vt:lpstr>
      <vt:lpstr>18.3 Fundamentals of Operator Overloading (4 of 7)</vt:lpstr>
      <vt:lpstr>Figure 18.2 Operators That Cannot Be Overloaded</vt:lpstr>
      <vt:lpstr>18.3 Fundamentals of Operator Overloading (5 of 7)</vt:lpstr>
      <vt:lpstr>18.3 Fundamentals of Operator Overloading (6 of 7)</vt:lpstr>
      <vt:lpstr>18.3 Fundamentals of Operator Overloading (7 of 7)</vt:lpstr>
      <vt:lpstr>Software Engineering Observation 18.1</vt:lpstr>
      <vt:lpstr>18.4 Overloading Binary Operators</vt:lpstr>
      <vt:lpstr>18.5 Overloading the Binary Stream Insertion and Stream Extraction Operators (1 of 6)</vt:lpstr>
      <vt:lpstr>Figure 18.3 PhoneNumber Class with Overloaded Stream Insertion and Stream Extraction Operators as Friend Functions</vt:lpstr>
      <vt:lpstr>Figure 18.4 Overloaded Stream Insertion and Stream Extraction Operators for Class PhoneNumber (1 of 2)</vt:lpstr>
      <vt:lpstr>Figure 18.4 Overloaded Stream Insertion and Stream Extraction Operators for Class PhoneNumber (2 of 2)</vt:lpstr>
      <vt:lpstr>Figure 18.5 Overloaded Stream Insertion and Stream Extraction Operators (1 of 2)</vt:lpstr>
      <vt:lpstr>Figure 18.5 Overloaded Stream Insertion and Stream Extraction Operators (2 of 2)</vt:lpstr>
      <vt:lpstr>18.5 Overloading the Binary Stream Insertion and Stream Extraction Operators (2 of 6)</vt:lpstr>
      <vt:lpstr>18.5 Overloading the Binary Stream Insertion and Stream Extraction Operators (3 of 6)</vt:lpstr>
      <vt:lpstr>18.5 Overloading Stream Insertion and Stream Extraction Operators (1 of 3)</vt:lpstr>
      <vt:lpstr>Good Programming Practice 18.1</vt:lpstr>
      <vt:lpstr>18.5 Overloading Stream Insertion and Stream Extraction Operators</vt:lpstr>
      <vt:lpstr>18.5 Overloading the Binary Stream Insertion and Stream Extraction Operators (4 of 6)</vt:lpstr>
      <vt:lpstr>Software Engineering Observation 18.2</vt:lpstr>
      <vt:lpstr>18.5 Overloading the Binary Stream Insertion and Stream Extraction Operators (5 of 6)</vt:lpstr>
      <vt:lpstr>18.5 Overloading the Binary Stream Insertion and Stream Extraction Operators (6 of 6)</vt:lpstr>
      <vt:lpstr>18.6 Overloading Unary Operators</vt:lpstr>
      <vt:lpstr>18.7 Overloading the Unary Prefix and ++ and − −  Operators Postfix (1 of 4)</vt:lpstr>
      <vt:lpstr>18.7 Overloading the Unary Prefix and ++ and − −  Operators Postfix (2 of 4)</vt:lpstr>
      <vt:lpstr>18.7 Overloading the Unary Prefix and ++ and − −  Operators Postfix (3 of 4)</vt:lpstr>
      <vt:lpstr>18.7 Overloading the Unary Prefix and ++ and − −  Operators Postfix (4 of 4)</vt:lpstr>
      <vt:lpstr>Performance Tip 18.1</vt:lpstr>
      <vt:lpstr>18.8 Case Study: A Date Class (1 of 6)</vt:lpstr>
      <vt:lpstr>Figure 18.6 Date Class Definition with Overloaded Increment Operators (1 of 2)</vt:lpstr>
      <vt:lpstr>Figure 18.6 Date Class Definition with Overloaded Increment Operators (2 of 2)</vt:lpstr>
      <vt:lpstr>Figure 18.7 Date Class Member- and Friend-Function Definitions (1 of 6)</vt:lpstr>
      <vt:lpstr>Figure 18.7 Date Class Member- and Friend-Function Definitions (2 of 6)</vt:lpstr>
      <vt:lpstr>Figure 18.7 Date Class Member- and Friend-Function Definitions (3 of 6)</vt:lpstr>
      <vt:lpstr>Figure 18.7 Date Class Member- and Friend-Function Definitions (4 of 6)</vt:lpstr>
      <vt:lpstr>Figure 18.7 Date Class Member- and Friend-Function Definitions (5 of 6)</vt:lpstr>
      <vt:lpstr>Figure 18.7 Date Class Member- and Friend-Function Definitions (6 of 6)</vt:lpstr>
      <vt:lpstr>Figure 18.8 Date Class Test Program (1 of 2)</vt:lpstr>
      <vt:lpstr>Figure 18.8 Date Class Test Program (2 of 2)</vt:lpstr>
      <vt:lpstr>18.8 Case Study: A Date Class (2 of 6)</vt:lpstr>
      <vt:lpstr>18.8 Case Study: A Date Class (3 of 6)</vt:lpstr>
      <vt:lpstr>18.8 Case Study: A Date Class (4 of 6)</vt:lpstr>
      <vt:lpstr>18.8 Case Study: A Date Class (5 of 6)</vt:lpstr>
      <vt:lpstr>18.8 Case Study: A Date Class (6 of 6)</vt:lpstr>
      <vt:lpstr>Common Programming Error 18.1</vt:lpstr>
      <vt:lpstr>18.9 Dynamic Memory Management (1 of 8)</vt:lpstr>
      <vt:lpstr>18.9 Dynamic Memory Management (2 of 8)</vt:lpstr>
      <vt:lpstr>18.9 Dynamic Memory Management (3 of 8)</vt:lpstr>
      <vt:lpstr>Common Programming Error 18.2</vt:lpstr>
      <vt:lpstr>Error-Prevention Tip 18.1</vt:lpstr>
      <vt:lpstr>Error-Prevention Tip 18.2</vt:lpstr>
      <vt:lpstr>18.9 Dynamic Memory Management (4 of 8)</vt:lpstr>
      <vt:lpstr>18.9 Dynamic Memory Management (5 of 8)</vt:lpstr>
      <vt:lpstr>18.9 Dynamic Memory Management (6 of 8)</vt:lpstr>
      <vt:lpstr>18.9 Dynamic Memory Management (7 of 8)</vt:lpstr>
      <vt:lpstr>Common Programming Error 18.3</vt:lpstr>
      <vt:lpstr>18.9 Dynamic Memory Management (8 of 8)</vt:lpstr>
      <vt:lpstr>18.10 Case Study: Array Class (1 of 26)</vt:lpstr>
      <vt:lpstr>18.10 Case Study: Array Class (2 of 26)</vt:lpstr>
      <vt:lpstr>18.10 Case Study: Array Class (3 of 26)</vt:lpstr>
      <vt:lpstr>Figure 18.9 Array Class Test Program (1 of 7)</vt:lpstr>
      <vt:lpstr>Figure 18.9 Array Class Test Program (2 of 7)</vt:lpstr>
      <vt:lpstr>Figure 18.9 Array Class Test Program (3 of 7)</vt:lpstr>
      <vt:lpstr>Figure 18.9 Array Class Test Program (4 of 7)</vt:lpstr>
      <vt:lpstr>Figure 18.9 Array Class Test Program (5 of 7)</vt:lpstr>
      <vt:lpstr>Figure 18.9 Array Class Test Program (6 of 7)</vt:lpstr>
      <vt:lpstr>Figure 18.9 Array Class Test Program (7 of 7)</vt:lpstr>
      <vt:lpstr>18.10 Case Study: Array Class (4 of 26)</vt:lpstr>
      <vt:lpstr>18.10 Case Study: Array Class (5 of 26)</vt:lpstr>
      <vt:lpstr>18.10 Case Study: Array Class (6 of 26)</vt:lpstr>
      <vt:lpstr>18.10 Case Study: Array Class (7 of 26)</vt:lpstr>
      <vt:lpstr>18.10 Case Study: Array Class (8 of 26)</vt:lpstr>
      <vt:lpstr>Figure 18.10 Array Class Definition with Overloaded Operators (1 of 2)</vt:lpstr>
      <vt:lpstr>Figure 18.10 Array Class Definition with Overloaded Operators (2 of 2)</vt:lpstr>
      <vt:lpstr>Figure 18.11 Array Class Member- and Friend-Function Definitions (1 of 6)</vt:lpstr>
      <vt:lpstr>Figure 18.11 Array Class Member- and Friend-Function Definitions (2 of 6)</vt:lpstr>
      <vt:lpstr>Figure 18.11 Array Class Member- and Friend-Function Definitions (3 of 6)</vt:lpstr>
      <vt:lpstr>Figure 18.11 Array Class Member- and Friend-Function Definitions (4 of 6)</vt:lpstr>
      <vt:lpstr>Figure 18.11 Array Class Member- and Friend-Function Definitions (5 of 6)</vt:lpstr>
      <vt:lpstr>Figure 18.11 Array Class Member- and Friend-Function Definitions (6 of 6)</vt:lpstr>
      <vt:lpstr>18.10 Case Study: Array Class (9 of 26)</vt:lpstr>
      <vt:lpstr>18.10 Case Study: Array Class (10 of 26)</vt:lpstr>
      <vt:lpstr>18.10 Case Study: Array Class (11 of 26)</vt:lpstr>
      <vt:lpstr>Software Engineering Observation 18.3</vt:lpstr>
      <vt:lpstr>Common Programming Error 18.4</vt:lpstr>
      <vt:lpstr>18.10 Case Study: Array Class (12 of 26)</vt:lpstr>
      <vt:lpstr>Error-Prevention Tip 18.3</vt:lpstr>
      <vt:lpstr>18.10 Case Study: Array Class (13 of 26)</vt:lpstr>
      <vt:lpstr>18.10 Case Study: Array Class (14 of 26)</vt:lpstr>
      <vt:lpstr>Software Engineering Observation 18.4</vt:lpstr>
      <vt:lpstr>Common Programming Error 18.5</vt:lpstr>
      <vt:lpstr>18.10 Case Study: Array Class (15 of 26)</vt:lpstr>
      <vt:lpstr>18.10 Case Study: Array Class (16 of 26)</vt:lpstr>
      <vt:lpstr>18.10 Case Study: Array Class (17 of 26)</vt:lpstr>
      <vt:lpstr>18.10 Case Study: Array Class (18 of 26)</vt:lpstr>
      <vt:lpstr>18.10 Case Study: Array Class (19 of 26)</vt:lpstr>
      <vt:lpstr>18.10 Case Study: Array Class (20 of 26)</vt:lpstr>
      <vt:lpstr>18.10 Case Study: Array Class (21 of 26)</vt:lpstr>
      <vt:lpstr>18.10 Case Study: Array Class (22 of 26)</vt:lpstr>
      <vt:lpstr>18.10 Case Study: Array Class (23 of 26)</vt:lpstr>
      <vt:lpstr>Figure 7.4 Using the &amp; and * Pointer Operators (1 of 2)</vt:lpstr>
      <vt:lpstr>Figure 7.4 Using the &amp; and * Pointer Operators (2 of 2)</vt:lpstr>
      <vt:lpstr>18.10 Case Study: Array Class (24 of 26)</vt:lpstr>
      <vt:lpstr>18.10 Case Study: Array Class (25 of 26)</vt:lpstr>
      <vt:lpstr>18.10 Case Study: Array Class (26 of 26)</vt:lpstr>
      <vt:lpstr>18.11 Operators as Member versus. Non-Member Functions (1 of 2)</vt:lpstr>
      <vt:lpstr>18.11 Operators as Member versus. Non-Member Functions (2 of 2)</vt:lpstr>
      <vt:lpstr>18.12 Converting Between Types (1 of 5)</vt:lpstr>
      <vt:lpstr>18.12 Converting Between Types (2 of 5)</vt:lpstr>
      <vt:lpstr>18.12 Converting Between Types (3 of 5)</vt:lpstr>
      <vt:lpstr>18.12 Converting Between Types (4 of 5)</vt:lpstr>
      <vt:lpstr>18.12 Converting Between Types (5 of 5)</vt:lpstr>
      <vt:lpstr>Software Engineering Observation 18.5</vt:lpstr>
      <vt:lpstr>18.13 explicit Constructors and Conversion Operators (1 of 5)</vt:lpstr>
      <vt:lpstr>Common Programming Error 18.6</vt:lpstr>
      <vt:lpstr>18.13 explicit Constructors and Conversion Operators (2 of 5)</vt:lpstr>
      <vt:lpstr>Figure 18.12 Single-Argument Constructors and Implicit Conversions (1 of 2)</vt:lpstr>
      <vt:lpstr>Figure 18.12 Single-Argument Constructors and Implicit Conversions (2 of 2)</vt:lpstr>
      <vt:lpstr>18.13 explicit Constructors and Conversion Operators (3 of 5)</vt:lpstr>
      <vt:lpstr>18.13 explicit Constructors and Conversion Operators (4 of 5)</vt:lpstr>
      <vt:lpstr>Error-Prevention Tip 18.4</vt:lpstr>
      <vt:lpstr>Figure 18.13 Demonstrating an explicit Constructor (1 of 2)</vt:lpstr>
      <vt:lpstr>Figure 18.13 Demonstrating an explicit Constructor (2 of 2)</vt:lpstr>
      <vt:lpstr>18.13 explicit Constructors and Conversion Operators (5 of 5)</vt:lpstr>
      <vt:lpstr>18.14 Overloading the Function Call Operator () (1 of 3)</vt:lpstr>
      <vt:lpstr>18.14 Overloading the Function Call Operator () (2 of 3)</vt:lpstr>
      <vt:lpstr>18.14 Overloading the Function Call Operator () (3 of 3)</vt:lpstr>
      <vt:lpstr>Copyright</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How to Program, 8e</dc:title>
  <dc:subject>Computer Science</dc:subject>
  <dc:creator>Paul Deitel/Harvey Deitel</dc:creator>
  <cp:keywords>C How to Program</cp:keywords>
  <cp:lastModifiedBy>P, Pavendan (Cognizant)</cp:lastModifiedBy>
  <cp:revision>2293</cp:revision>
  <dcterms:modified xsi:type="dcterms:W3CDTF">2018-04-23T10:00:23Z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